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17_532A238D.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60"/>
  </p:notesMasterIdLst>
  <p:sldIdLst>
    <p:sldId id="279" r:id="rId2"/>
    <p:sldId id="326" r:id="rId3"/>
    <p:sldId id="327" r:id="rId4"/>
    <p:sldId id="328" r:id="rId5"/>
    <p:sldId id="329" r:id="rId6"/>
    <p:sldId id="281" r:id="rId7"/>
    <p:sldId id="330" r:id="rId8"/>
    <p:sldId id="331" r:id="rId9"/>
    <p:sldId id="332" r:id="rId10"/>
    <p:sldId id="280" r:id="rId11"/>
    <p:sldId id="333" r:id="rId12"/>
    <p:sldId id="334" r:id="rId13"/>
    <p:sldId id="335" r:id="rId14"/>
    <p:sldId id="288" r:id="rId15"/>
    <p:sldId id="336" r:id="rId16"/>
    <p:sldId id="337" r:id="rId17"/>
    <p:sldId id="338" r:id="rId18"/>
    <p:sldId id="339" r:id="rId19"/>
    <p:sldId id="289" r:id="rId20"/>
    <p:sldId id="340" r:id="rId21"/>
    <p:sldId id="341" r:id="rId22"/>
    <p:sldId id="342" r:id="rId23"/>
    <p:sldId id="290" r:id="rId24"/>
    <p:sldId id="291" r:id="rId25"/>
    <p:sldId id="292" r:id="rId26"/>
    <p:sldId id="293" r:id="rId27"/>
    <p:sldId id="294" r:id="rId28"/>
    <p:sldId id="306" r:id="rId29"/>
    <p:sldId id="310" r:id="rId30"/>
    <p:sldId id="311" r:id="rId31"/>
    <p:sldId id="315" r:id="rId32"/>
    <p:sldId id="316" r:id="rId33"/>
    <p:sldId id="317" r:id="rId34"/>
    <p:sldId id="318" r:id="rId35"/>
    <p:sldId id="319" r:id="rId36"/>
    <p:sldId id="320" r:id="rId37"/>
    <p:sldId id="309" r:id="rId38"/>
    <p:sldId id="296" r:id="rId39"/>
    <p:sldId id="323" r:id="rId40"/>
    <p:sldId id="322" r:id="rId41"/>
    <p:sldId id="325" r:id="rId42"/>
    <p:sldId id="321" r:id="rId43"/>
    <p:sldId id="297" r:id="rId44"/>
    <p:sldId id="298" r:id="rId45"/>
    <p:sldId id="299" r:id="rId46"/>
    <p:sldId id="300" r:id="rId47"/>
    <p:sldId id="301" r:id="rId48"/>
    <p:sldId id="302" r:id="rId49"/>
    <p:sldId id="303" r:id="rId50"/>
    <p:sldId id="304" r:id="rId51"/>
    <p:sldId id="305" r:id="rId52"/>
    <p:sldId id="312" r:id="rId53"/>
    <p:sldId id="313" r:id="rId54"/>
    <p:sldId id="314" r:id="rId55"/>
    <p:sldId id="324" r:id="rId56"/>
    <p:sldId id="307" r:id="rId57"/>
    <p:sldId id="308" r:id="rId58"/>
    <p:sldId id="282" r:id="rId59"/>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Zod vs Pydantic" id="{641B94D1-6105-7548-AC04-7525DBFBCA4C}">
          <p14:sldIdLst>
            <p14:sldId id="279"/>
            <p14:sldId id="326"/>
            <p14:sldId id="327"/>
            <p14:sldId id="328"/>
            <p14:sldId id="329"/>
          </p14:sldIdLst>
        </p14:section>
        <p14:section name="mething2" id="{DA1F0956-0BE9-0740-BD33-5C8F457CE5D7}">
          <p14:sldIdLst>
            <p14:sldId id="281"/>
            <p14:sldId id="330"/>
            <p14:sldId id="331"/>
            <p14:sldId id="332"/>
            <p14:sldId id="280"/>
            <p14:sldId id="333"/>
            <p14:sldId id="334"/>
            <p14:sldId id="335"/>
            <p14:sldId id="288"/>
            <p14:sldId id="336"/>
            <p14:sldId id="337"/>
            <p14:sldId id="338"/>
            <p14:sldId id="339"/>
            <p14:sldId id="289"/>
            <p14:sldId id="340"/>
            <p14:sldId id="341"/>
            <p14:sldId id="342"/>
            <p14:sldId id="290"/>
            <p14:sldId id="291"/>
            <p14:sldId id="292"/>
            <p14:sldId id="293"/>
            <p14:sldId id="294"/>
            <p14:sldId id="306"/>
            <p14:sldId id="310"/>
            <p14:sldId id="311"/>
            <p14:sldId id="315"/>
            <p14:sldId id="316"/>
            <p14:sldId id="317"/>
            <p14:sldId id="318"/>
            <p14:sldId id="319"/>
            <p14:sldId id="320"/>
            <p14:sldId id="309"/>
            <p14:sldId id="296"/>
            <p14:sldId id="323"/>
            <p14:sldId id="322"/>
            <p14:sldId id="325"/>
            <p14:sldId id="321"/>
            <p14:sldId id="297"/>
            <p14:sldId id="298"/>
            <p14:sldId id="299"/>
            <p14:sldId id="300"/>
            <p14:sldId id="301"/>
            <p14:sldId id="302"/>
            <p14:sldId id="303"/>
            <p14:sldId id="304"/>
            <p14:sldId id="305"/>
            <p14:sldId id="312"/>
            <p14:sldId id="313"/>
            <p14:sldId id="314"/>
            <p14:sldId id="324"/>
            <p14:sldId id="307"/>
            <p14:sldId id="308"/>
            <p14:sldId id="282"/>
          </p14:sldIdLst>
        </p14:section>
      </p14:sectionLst>
    </p:ex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744"/>
    <p:restoredTop sz="96283"/>
  </p:normalViewPr>
  <p:slideViewPr>
    <p:cSldViewPr snapToGrid="0">
      <p:cViewPr>
        <p:scale>
          <a:sx n="69" d="100"/>
          <a:sy n="69" d="100"/>
        </p:scale>
        <p:origin x="1728" y="144"/>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31.03.26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1</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30972-CC6F-2578-48F5-6AA077F39B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FCBFE3-0FE2-1652-D693-D5C6BF6255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04F619-0D13-3498-DF3B-069F4EC12789}"/>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CF77DF8B-24A1-E0AC-B920-9F9315733F88}"/>
              </a:ext>
            </a:extLst>
          </p:cNvPr>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0456317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4BB1A-5F87-5214-62C7-F84E102216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08686-A4C2-7CE0-0BE3-67F4AB75A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8055C6-7D8D-244E-328B-FCEF3A97702B}"/>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915C278C-5C77-7C8A-E636-B5CE51082C15}"/>
              </a:ext>
            </a:extLst>
          </p:cNvPr>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11012711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E2133-AEC8-CB5E-3E7B-2A29165BFB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71D8C8-20AE-ECA4-B0C2-DE56038741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24B50E-A416-CE7A-F8C0-CA2F8C67B3FC}"/>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4F3F7AF1-1B49-B078-333B-3994356E4782}"/>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21847681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95D69-E0AA-3346-FA18-1E7910316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88B3E-C73F-6B03-9949-744D30A8C0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2E0CE0-CCA0-B3C9-F551-2F0582025DFF}"/>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E45944C4-A097-6817-68E8-66B91EC8E51A}"/>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3945299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19</a:t>
            </a:fld>
            <a:endParaRPr lang="en-DE"/>
          </a:p>
        </p:txBody>
      </p:sp>
    </p:spTree>
    <p:extLst>
      <p:ext uri="{BB962C8B-B14F-4D97-AF65-F5344CB8AC3E}">
        <p14:creationId xmlns:p14="http://schemas.microsoft.com/office/powerpoint/2010/main" val="18322365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22217-BFE5-F846-C026-D75A234892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0FF393-E69D-231A-0E40-44F81BE0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BB0A56-C9B7-29DF-049F-048D91AD7500}"/>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2663315B-C91C-7714-50BD-EDE829FABE65}"/>
              </a:ext>
            </a:extLst>
          </p:cNvPr>
          <p:cNvSpPr>
            <a:spLocks noGrp="1"/>
          </p:cNvSpPr>
          <p:nvPr>
            <p:ph type="sldNum" sz="quarter" idx="5"/>
          </p:nvPr>
        </p:nvSpPr>
        <p:spPr/>
        <p:txBody>
          <a:bodyPr/>
          <a:lstStyle/>
          <a:p>
            <a:fld id="{B46D1A58-C582-AC49-9010-037E894CD422}" type="slidenum">
              <a:rPr lang="en-DE" smtClean="0"/>
              <a:t>20</a:t>
            </a:fld>
            <a:endParaRPr lang="en-DE"/>
          </a:p>
        </p:txBody>
      </p:sp>
    </p:spTree>
    <p:extLst>
      <p:ext uri="{BB962C8B-B14F-4D97-AF65-F5344CB8AC3E}">
        <p14:creationId xmlns:p14="http://schemas.microsoft.com/office/powerpoint/2010/main" val="18707804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7EBCB-939A-9B8D-E5A1-2F1ED7AEC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73D74D-65E3-1B5D-E93F-6F431E7D2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012F87-86C1-4610-9BF9-E7108C2F1233}"/>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4C012312-952B-9EB6-42B6-E8877A228FD0}"/>
              </a:ext>
            </a:extLst>
          </p:cNvPr>
          <p:cNvSpPr>
            <a:spLocks noGrp="1"/>
          </p:cNvSpPr>
          <p:nvPr>
            <p:ph type="sldNum" sz="quarter" idx="5"/>
          </p:nvPr>
        </p:nvSpPr>
        <p:spPr/>
        <p:txBody>
          <a:bodyPr/>
          <a:lstStyle/>
          <a:p>
            <a:fld id="{B46D1A58-C582-AC49-9010-037E894CD422}" type="slidenum">
              <a:rPr lang="en-DE" smtClean="0"/>
              <a:t>21</a:t>
            </a:fld>
            <a:endParaRPr lang="en-DE"/>
          </a:p>
        </p:txBody>
      </p:sp>
    </p:spTree>
    <p:extLst>
      <p:ext uri="{BB962C8B-B14F-4D97-AF65-F5344CB8AC3E}">
        <p14:creationId xmlns:p14="http://schemas.microsoft.com/office/powerpoint/2010/main" val="2770498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95CE6-A728-9CF3-905C-04683BC15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66C7CD-3DAD-4488-3ACD-071D9FE5A4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99E58-668B-6EAB-87FF-E98EE630226C}"/>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B0630C10-DF97-3C23-35F0-538D0EBEFDD4}"/>
              </a:ext>
            </a:extLst>
          </p:cNvPr>
          <p:cNvSpPr>
            <a:spLocks noGrp="1"/>
          </p:cNvSpPr>
          <p:nvPr>
            <p:ph type="sldNum" sz="quarter" idx="5"/>
          </p:nvPr>
        </p:nvSpPr>
        <p:spPr/>
        <p:txBody>
          <a:bodyPr/>
          <a:lstStyle/>
          <a:p>
            <a:fld id="{B46D1A58-C582-AC49-9010-037E894CD422}" type="slidenum">
              <a:rPr lang="en-DE" smtClean="0"/>
              <a:t>22</a:t>
            </a:fld>
            <a:endParaRPr lang="en-DE"/>
          </a:p>
        </p:txBody>
      </p:sp>
    </p:spTree>
    <p:extLst>
      <p:ext uri="{BB962C8B-B14F-4D97-AF65-F5344CB8AC3E}">
        <p14:creationId xmlns:p14="http://schemas.microsoft.com/office/powerpoint/2010/main" val="408487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3/31/26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1971302"/>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224166"/>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3/31/26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3/31/26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3/31/26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3/31/26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3/31/26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3/31/26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3/31/26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3/31/26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3/31/26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3/31/26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3/31/26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17_532A238D.xm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9.pn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4.svg"/><Relationship Id="rId4" Type="http://schemas.openxmlformats.org/officeDocument/2006/relationships/image" Target="../media/image13.sv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4.svg"/><Relationship Id="rId4" Type="http://schemas.openxmlformats.org/officeDocument/2006/relationships/image" Target="../media/image13.svg"/></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4.svg"/><Relationship Id="rId4" Type="http://schemas.openxmlformats.org/officeDocument/2006/relationships/image" Target="../media/image13.sv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25_E21438E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2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14.svg"/></Relationships>
</file>

<file path=ppt/slides/_rels/slide4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5.pn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37.png"/></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8.png"/></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2" Type="http://schemas.microsoft.com/office/2018/10/relationships/comments" Target="../comments/modernComment_12D_BEDEFA17.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5.png"/></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5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5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52.png"/></Relationships>
</file>

<file path=ppt/slides/_rels/slide5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Stop Manual Validation! </a:t>
            </a:r>
            <a:endParaRPr lang="en-DE" sz="7200" dirty="0">
              <a:ln w="0"/>
              <a:effectLst>
                <a:outerShdw blurRad="38100" dist="19050" dir="2700000" algn="tl" rotWithShape="0">
                  <a:schemeClr val="dk1">
                    <a:alpha val="40000"/>
                  </a:schemeClr>
                </a:outerShdw>
              </a:effectLst>
              <a:latin typeface="+mj-lt"/>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637263" y="4256074"/>
            <a:ext cx="9000000" cy="2862322"/>
          </a:xfrm>
          <a:prstGeom prst="rect">
            <a:avLst/>
          </a:prstGeom>
          <a:noFill/>
        </p:spPr>
        <p:txBody>
          <a:bodyPr wrap="square" rtlCol="0">
            <a:spAutoFit/>
          </a:bodyPr>
          <a:lstStyle/>
          <a:p>
            <a:pPr algn="just"/>
            <a:r>
              <a:rPr lang="en-GB" sz="6000" dirty="0">
                <a:latin typeface="Patrick Hand" pitchFamily="2" charset="77"/>
              </a:rPr>
              <a:t>If you need validation, use </a:t>
            </a:r>
            <a:r>
              <a:rPr lang="en-GB" sz="60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zod</a:t>
            </a:r>
            <a:r>
              <a:rPr lang="en-GB" sz="6000" dirty="0">
                <a:latin typeface="Patrick Hand" pitchFamily="2" charset="77"/>
              </a:rPr>
              <a:t> in Typescript and </a:t>
            </a:r>
            <a:r>
              <a:rPr lang="en-GB" sz="60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pydantic</a:t>
            </a:r>
            <a:r>
              <a:rPr lang="en-GB" sz="6000" dirty="0">
                <a:latin typeface="Patrick Hand" pitchFamily="2" charset="77"/>
              </a:rPr>
              <a:t> in Python </a:t>
            </a:r>
            <a:endParaRPr lang="en-DE" sz="6000" dirty="0">
              <a:latin typeface="Patrick Hand" pitchFamily="2" charset="77"/>
            </a:endParaRPr>
          </a:p>
        </p:txBody>
      </p:sp>
      <p:sp>
        <p:nvSpPr>
          <p:cNvPr id="29" name="TextBox 28">
            <a:extLst>
              <a:ext uri="{FF2B5EF4-FFF2-40B4-BE49-F238E27FC236}">
                <a16:creationId xmlns:a16="http://schemas.microsoft.com/office/drawing/2014/main" id="{11EABB6E-2AF5-A580-AFF3-F00672FA1B08}"/>
              </a:ext>
            </a:extLst>
          </p:cNvPr>
          <p:cNvSpPr txBox="1"/>
          <p:nvPr/>
        </p:nvSpPr>
        <p:spPr>
          <a:xfrm>
            <a:off x="-6054000" y="13084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2" name="TextBox 1">
            <a:extLst>
              <a:ext uri="{FF2B5EF4-FFF2-40B4-BE49-F238E27FC236}">
                <a16:creationId xmlns:a16="http://schemas.microsoft.com/office/drawing/2014/main" id="{D2C987EF-0A67-64A7-FF0F-628406F08C99}"/>
              </a:ext>
            </a:extLst>
          </p:cNvPr>
          <p:cNvSpPr txBox="1"/>
          <p:nvPr/>
        </p:nvSpPr>
        <p:spPr>
          <a:xfrm>
            <a:off x="637263" y="7939402"/>
            <a:ext cx="9000000" cy="1938992"/>
          </a:xfrm>
          <a:prstGeom prst="rect">
            <a:avLst/>
          </a:prstGeom>
          <a:noFill/>
        </p:spPr>
        <p:txBody>
          <a:bodyPr wrap="square" rtlCol="0">
            <a:spAutoFit/>
          </a:bodyPr>
          <a:lstStyle/>
          <a:p>
            <a:pPr algn="just"/>
            <a:r>
              <a:rPr lang="en-GB" sz="6000" dirty="0">
                <a:latin typeface="Patrick Hand" pitchFamily="2" charset="77"/>
              </a:rPr>
              <a:t>Typescript:</a:t>
            </a:r>
          </a:p>
          <a:p>
            <a:pPr algn="just"/>
            <a:r>
              <a:rPr lang="en-GB" sz="6000" dirty="0" err="1">
                <a:latin typeface="Patrick Hand" pitchFamily="2" charset="77"/>
              </a:rPr>
              <a:t>npm</a:t>
            </a:r>
            <a:r>
              <a:rPr lang="en-GB" sz="6000" dirty="0">
                <a:latin typeface="Patrick Hand" pitchFamily="2" charset="77"/>
              </a:rPr>
              <a:t> install </a:t>
            </a:r>
            <a:r>
              <a:rPr lang="en-GB" sz="60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zod</a:t>
            </a:r>
            <a:r>
              <a:rPr lang="en-GB" sz="6000" dirty="0">
                <a:latin typeface="Patrick Hand" pitchFamily="2" charset="77"/>
              </a:rPr>
              <a:t> </a:t>
            </a:r>
            <a:endParaRPr lang="en-DE" sz="6000" dirty="0">
              <a:latin typeface="Patrick Hand" pitchFamily="2" charset="77"/>
            </a:endParaRPr>
          </a:p>
        </p:txBody>
      </p:sp>
      <p:sp>
        <p:nvSpPr>
          <p:cNvPr id="3" name="TextBox 2">
            <a:extLst>
              <a:ext uri="{FF2B5EF4-FFF2-40B4-BE49-F238E27FC236}">
                <a16:creationId xmlns:a16="http://schemas.microsoft.com/office/drawing/2014/main" id="{301D9E90-69E3-DA6F-24C4-82725999EBA0}"/>
              </a:ext>
            </a:extLst>
          </p:cNvPr>
          <p:cNvSpPr txBox="1"/>
          <p:nvPr/>
        </p:nvSpPr>
        <p:spPr>
          <a:xfrm>
            <a:off x="637263" y="10699399"/>
            <a:ext cx="9000000" cy="2862322"/>
          </a:xfrm>
          <a:prstGeom prst="rect">
            <a:avLst/>
          </a:prstGeom>
          <a:noFill/>
        </p:spPr>
        <p:txBody>
          <a:bodyPr wrap="square" rtlCol="0">
            <a:spAutoFit/>
          </a:bodyPr>
          <a:lstStyle/>
          <a:p>
            <a:pPr algn="just"/>
            <a:r>
              <a:rPr lang="en-GB" sz="6000" dirty="0">
                <a:latin typeface="Patrick Hand" pitchFamily="2" charset="77"/>
              </a:rPr>
              <a:t>Python:</a:t>
            </a:r>
          </a:p>
          <a:p>
            <a:pPr algn="just"/>
            <a:r>
              <a:rPr lang="en-GB" sz="6000" dirty="0">
                <a:latin typeface="Patrick Hand" pitchFamily="2" charset="77"/>
              </a:rPr>
              <a:t>pip install </a:t>
            </a:r>
            <a:r>
              <a:rPr lang="en-GB" sz="60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pydantic</a:t>
            </a:r>
            <a:r>
              <a:rPr lang="en-GB"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a:t>
            </a:r>
          </a:p>
          <a:p>
            <a:pPr algn="just"/>
            <a:r>
              <a:rPr lang="en-GB" sz="6000" dirty="0">
                <a:latin typeface="Patrick Hand" pitchFamily="2" charset="77"/>
              </a:rPr>
              <a:t>pip install </a:t>
            </a:r>
            <a:r>
              <a:rPr lang="en-GB"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email-validator</a:t>
            </a:r>
            <a:endParaRPr lang="en-DE" sz="6000" dirty="0">
              <a:latin typeface="Patrick Hand" pitchFamily="2" charset="77"/>
            </a:endParaRPr>
          </a:p>
        </p:txBody>
      </p:sp>
      <p:cxnSp>
        <p:nvCxnSpPr>
          <p:cNvPr id="4" name="Straight Connector 3">
            <a:extLst>
              <a:ext uri="{FF2B5EF4-FFF2-40B4-BE49-F238E27FC236}">
                <a16:creationId xmlns:a16="http://schemas.microsoft.com/office/drawing/2014/main" id="{405AF816-4F19-31B1-375E-0C8F3D134491}"/>
              </a:ext>
            </a:extLst>
          </p:cNvPr>
          <p:cNvCxnSpPr>
            <a:cxnSpLocks/>
          </p:cNvCxnSpPr>
          <p:nvPr/>
        </p:nvCxnSpPr>
        <p:spPr>
          <a:xfrm>
            <a:off x="218136" y="1028889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ADAEC8B-9DE0-1534-45FD-BEB914C4D820}"/>
              </a:ext>
            </a:extLst>
          </p:cNvPr>
          <p:cNvCxnSpPr>
            <a:cxnSpLocks/>
          </p:cNvCxnSpPr>
          <p:nvPr/>
        </p:nvCxnSpPr>
        <p:spPr>
          <a:xfrm>
            <a:off x="218136" y="75288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Right Arrow 6">
            <a:extLst>
              <a:ext uri="{FF2B5EF4-FFF2-40B4-BE49-F238E27FC236}">
                <a16:creationId xmlns:a16="http://schemas.microsoft.com/office/drawing/2014/main" id="{978AC78F-10D4-579A-A6B9-955194F26FF8}"/>
              </a:ext>
            </a:extLst>
          </p:cNvPr>
          <p:cNvSpPr>
            <a:spLocks/>
          </p:cNvSpPr>
          <p:nvPr/>
        </p:nvSpPr>
        <p:spPr>
          <a:xfrm>
            <a:off x="4291806" y="15388035"/>
            <a:ext cx="1701801" cy="918765"/>
          </a:xfrm>
          <a:prstGeom prst="rightArrow">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7200" b="1" dirty="0">
              <a:ln w="6600">
                <a:solidFill>
                  <a:schemeClr val="accent2"/>
                </a:solidFill>
                <a:prstDash val="solid"/>
              </a:ln>
              <a:solidFill>
                <a:srgbClr val="FFFFFF"/>
              </a:solidFill>
              <a:effectLst>
                <a:outerShdw dist="38100" dir="2700000" algn="tl" rotWithShape="0">
                  <a:schemeClr val="accent2"/>
                </a:outerShdw>
              </a:effectLst>
              <a:latin typeface="+mj-lt"/>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E3570EB-9CBD-1603-30A6-DE14DBDD1EF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39AD7D6-370E-E420-5CD4-84C0F4C82A78}"/>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Zod</a:t>
            </a:r>
            <a:endParaRPr lang="en-DE" sz="7200" dirty="0">
              <a:ln w="0"/>
              <a:effectLst>
                <a:outerShdw blurRad="38100" dist="19050" dir="2700000" algn="tl" rotWithShape="0">
                  <a:schemeClr val="dk1">
                    <a:alpha val="40000"/>
                  </a:schemeClr>
                </a:outerShdw>
              </a:effectLst>
              <a:latin typeface="+mj-lt"/>
            </a:endParaRPr>
          </a:p>
        </p:txBody>
      </p:sp>
      <p:sp>
        <p:nvSpPr>
          <p:cNvPr id="29" name="TextBox 28">
            <a:extLst>
              <a:ext uri="{FF2B5EF4-FFF2-40B4-BE49-F238E27FC236}">
                <a16:creationId xmlns:a16="http://schemas.microsoft.com/office/drawing/2014/main" id="{D9CC1A78-4F48-EE44-5D8B-D3E9F604EB70}"/>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C3420FD4-89D9-993A-D1AD-0207EC2C53B9}"/>
              </a:ext>
            </a:extLst>
          </p:cNvPr>
          <p:cNvPicPr preferRelativeResize="0">
            <a:picLocks/>
          </p:cNvPicPr>
          <p:nvPr/>
        </p:nvPicPr>
        <p:blipFill rotWithShape="1">
          <a:blip r:embed="rId4"/>
          <a:srcRect l="20644" t="18372" r="13915" b="12376"/>
          <a:stretch>
            <a:fillRect/>
          </a:stretch>
        </p:blipFill>
        <p:spPr>
          <a:xfrm>
            <a:off x="223306" y="3761585"/>
            <a:ext cx="9838800" cy="10800000"/>
          </a:xfrm>
          <a:prstGeom prst="rect">
            <a:avLst/>
          </a:prstGeom>
        </p:spPr>
      </p:pic>
      <p:pic>
        <p:nvPicPr>
          <p:cNvPr id="4" name="Picture 3">
            <a:extLst>
              <a:ext uri="{FF2B5EF4-FFF2-40B4-BE49-F238E27FC236}">
                <a16:creationId xmlns:a16="http://schemas.microsoft.com/office/drawing/2014/main" id="{8EA89393-8A2B-6344-9C67-E8775E81D534}"/>
              </a:ext>
            </a:extLst>
          </p:cNvPr>
          <p:cNvPicPr>
            <a:picLocks noChangeAspect="1"/>
          </p:cNvPicPr>
          <p:nvPr/>
        </p:nvPicPr>
        <p:blipFill>
          <a:blip r:embed="rId5"/>
          <a:stretch>
            <a:fillRect/>
          </a:stretch>
        </p:blipFill>
        <p:spPr>
          <a:xfrm>
            <a:off x="321693" y="2502786"/>
            <a:ext cx="1062000" cy="1062000"/>
          </a:xfrm>
          <a:prstGeom prst="rect">
            <a:avLst/>
          </a:prstGeom>
        </p:spPr>
      </p:pic>
      <p:sp>
        <p:nvSpPr>
          <p:cNvPr id="5" name="Right Arrow 4">
            <a:extLst>
              <a:ext uri="{FF2B5EF4-FFF2-40B4-BE49-F238E27FC236}">
                <a16:creationId xmlns:a16="http://schemas.microsoft.com/office/drawing/2014/main" id="{2A784002-6F5F-3B09-ACA5-E662BB4A39DE}"/>
              </a:ext>
            </a:extLst>
          </p:cNvPr>
          <p:cNvSpPr>
            <a:spLocks/>
          </p:cNvSpPr>
          <p:nvPr/>
        </p:nvSpPr>
        <p:spPr>
          <a:xfrm>
            <a:off x="4291806" y="15388035"/>
            <a:ext cx="1701801" cy="918765"/>
          </a:xfrm>
          <a:prstGeom prst="rightArrow">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7200" b="1" dirty="0">
              <a:ln w="6600">
                <a:solidFill>
                  <a:schemeClr val="accent2"/>
                </a:solidFill>
                <a:prstDash val="solid"/>
              </a:ln>
              <a:solidFill>
                <a:srgbClr val="FFFFFF"/>
              </a:solidFill>
              <a:effectLst>
                <a:outerShdw dist="38100" dir="2700000" algn="tl" rotWithShape="0">
                  <a:schemeClr val="accent2"/>
                </a:outerShdw>
              </a:effectLst>
              <a:latin typeface="+mj-lt"/>
            </a:endParaRPr>
          </a:p>
        </p:txBody>
      </p:sp>
    </p:spTree>
    <p:extLst>
      <p:ext uri="{BB962C8B-B14F-4D97-AF65-F5344CB8AC3E}">
        <p14:creationId xmlns:p14="http://schemas.microsoft.com/office/powerpoint/2010/main" val="35899574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5A90681B-AD60-FBAD-ED91-0872573904CA}"/>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4F41D03-3A51-E61E-661E-5E7517F6F96A}"/>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7200" b="1" dirty="0" err="1">
                <a:ln w="6600">
                  <a:solidFill>
                    <a:schemeClr val="accent2"/>
                  </a:solidFill>
                  <a:prstDash val="solid"/>
                </a:ln>
                <a:solidFill>
                  <a:srgbClr val="FFFFFF"/>
                </a:solidFill>
                <a:effectLst>
                  <a:outerShdw dist="38100" dir="2700000" algn="tl" rotWithShape="0">
                    <a:schemeClr val="accent2"/>
                  </a:outerShdw>
                </a:effectLst>
                <a:latin typeface="+mj-lt"/>
              </a:rPr>
              <a:t>Pydantic</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E336793C-9951-3EB2-53E4-630834A328CA}"/>
              </a:ext>
            </a:extLst>
          </p:cNvPr>
          <p:cNvPicPr>
            <a:picLocks noChangeAspect="1"/>
          </p:cNvPicPr>
          <p:nvPr/>
        </p:nvPicPr>
        <p:blipFill>
          <a:blip r:embed="rId4"/>
          <a:stretch>
            <a:fillRect/>
          </a:stretch>
        </p:blipFill>
        <p:spPr>
          <a:xfrm>
            <a:off x="271852" y="2494115"/>
            <a:ext cx="1063167" cy="1063167"/>
          </a:xfrm>
          <a:prstGeom prst="rect">
            <a:avLst/>
          </a:prstGeom>
        </p:spPr>
      </p:pic>
      <p:sp>
        <p:nvSpPr>
          <p:cNvPr id="29" name="TextBox 28">
            <a:extLst>
              <a:ext uri="{FF2B5EF4-FFF2-40B4-BE49-F238E27FC236}">
                <a16:creationId xmlns:a16="http://schemas.microsoft.com/office/drawing/2014/main" id="{AD7710D5-6290-9C72-88D7-AA9295C60A4D}"/>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4" name="Picture 3">
            <a:extLst>
              <a:ext uri="{FF2B5EF4-FFF2-40B4-BE49-F238E27FC236}">
                <a16:creationId xmlns:a16="http://schemas.microsoft.com/office/drawing/2014/main" id="{34D3BE1D-5020-9673-88F4-FDE2447EDA1B}"/>
              </a:ext>
            </a:extLst>
          </p:cNvPr>
          <p:cNvPicPr preferRelativeResize="0">
            <a:picLocks/>
          </p:cNvPicPr>
          <p:nvPr/>
        </p:nvPicPr>
        <p:blipFill rotWithShape="1">
          <a:blip r:embed="rId5"/>
          <a:srcRect l="17432" t="18024" r="11259" b="12552"/>
          <a:stretch>
            <a:fillRect/>
          </a:stretch>
        </p:blipFill>
        <p:spPr>
          <a:xfrm>
            <a:off x="223306" y="3763104"/>
            <a:ext cx="9838800" cy="10800000"/>
          </a:xfrm>
          <a:prstGeom prst="rect">
            <a:avLst/>
          </a:prstGeom>
        </p:spPr>
      </p:pic>
      <p:sp>
        <p:nvSpPr>
          <p:cNvPr id="5" name="Right Arrow 4">
            <a:extLst>
              <a:ext uri="{FF2B5EF4-FFF2-40B4-BE49-F238E27FC236}">
                <a16:creationId xmlns:a16="http://schemas.microsoft.com/office/drawing/2014/main" id="{BEAE0E37-6671-3859-A7FF-8C190A8D7C9A}"/>
              </a:ext>
            </a:extLst>
          </p:cNvPr>
          <p:cNvSpPr>
            <a:spLocks/>
          </p:cNvSpPr>
          <p:nvPr/>
        </p:nvSpPr>
        <p:spPr>
          <a:xfrm>
            <a:off x="4291806" y="15388035"/>
            <a:ext cx="1701801" cy="918765"/>
          </a:xfrm>
          <a:prstGeom prst="rightArrow">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7200" b="1" dirty="0">
              <a:ln w="6600">
                <a:solidFill>
                  <a:schemeClr val="accent2"/>
                </a:solidFill>
                <a:prstDash val="solid"/>
              </a:ln>
              <a:solidFill>
                <a:srgbClr val="FFFFFF"/>
              </a:solidFill>
              <a:effectLst>
                <a:outerShdw dist="38100" dir="2700000" algn="tl" rotWithShape="0">
                  <a:schemeClr val="accent2"/>
                </a:outerShdw>
              </a:effectLst>
              <a:latin typeface="+mj-lt"/>
            </a:endParaRPr>
          </a:p>
        </p:txBody>
      </p:sp>
    </p:spTree>
    <p:extLst>
      <p:ext uri="{BB962C8B-B14F-4D97-AF65-F5344CB8AC3E}">
        <p14:creationId xmlns:p14="http://schemas.microsoft.com/office/powerpoint/2010/main" val="18985211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944410E2-9458-6A43-E80D-359F5136B59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35488CC-99EA-367C-5093-C8C966F5457D}"/>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Why we need Validation</a:t>
            </a:r>
            <a:endParaRPr lang="en-DE" sz="7200" dirty="0">
              <a:ln w="0"/>
              <a:effectLst>
                <a:outerShdw blurRad="38100" dist="19050" dir="2700000" algn="tl" rotWithShape="0">
                  <a:schemeClr val="dk1">
                    <a:alpha val="40000"/>
                  </a:schemeClr>
                </a:outerShdw>
              </a:effectLst>
              <a:latin typeface="+mj-lt"/>
            </a:endParaRPr>
          </a:p>
        </p:txBody>
      </p:sp>
      <p:sp>
        <p:nvSpPr>
          <p:cNvPr id="21" name="TextBox 20">
            <a:extLst>
              <a:ext uri="{FF2B5EF4-FFF2-40B4-BE49-F238E27FC236}">
                <a16:creationId xmlns:a16="http://schemas.microsoft.com/office/drawing/2014/main" id="{8FD03AB2-61E1-D55F-1186-E345F83A659D}"/>
              </a:ext>
            </a:extLst>
          </p:cNvPr>
          <p:cNvSpPr txBox="1"/>
          <p:nvPr/>
        </p:nvSpPr>
        <p:spPr>
          <a:xfrm>
            <a:off x="637263" y="3940764"/>
            <a:ext cx="9000000" cy="1938992"/>
          </a:xfrm>
          <a:prstGeom prst="rect">
            <a:avLst/>
          </a:prstGeom>
          <a:noFill/>
        </p:spPr>
        <p:txBody>
          <a:bodyPr wrap="square" rtlCol="0">
            <a:spAutoFit/>
          </a:bodyPr>
          <a:lstStyle/>
          <a:p>
            <a:pPr algn="just"/>
            <a:r>
              <a:rPr lang="en-GB"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Zero Runtime Crashes: </a:t>
            </a:r>
            <a:r>
              <a:rPr lang="en-GB" sz="6000" dirty="0">
                <a:latin typeface="Patrick Hand" pitchFamily="2" charset="77"/>
              </a:rPr>
              <a:t>Avoid throwing errors in the app.</a:t>
            </a:r>
          </a:p>
        </p:txBody>
      </p:sp>
      <p:sp>
        <p:nvSpPr>
          <p:cNvPr id="29" name="TextBox 28">
            <a:extLst>
              <a:ext uri="{FF2B5EF4-FFF2-40B4-BE49-F238E27FC236}">
                <a16:creationId xmlns:a16="http://schemas.microsoft.com/office/drawing/2014/main" id="{7A48CFC0-4106-E8FE-52A6-D00123DB7356}"/>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2" name="TextBox 1">
            <a:extLst>
              <a:ext uri="{FF2B5EF4-FFF2-40B4-BE49-F238E27FC236}">
                <a16:creationId xmlns:a16="http://schemas.microsoft.com/office/drawing/2014/main" id="{CB6908BD-62AF-82C9-A22C-6A2746DA7084}"/>
              </a:ext>
            </a:extLst>
          </p:cNvPr>
          <p:cNvSpPr txBox="1"/>
          <p:nvPr/>
        </p:nvSpPr>
        <p:spPr>
          <a:xfrm>
            <a:off x="637263" y="6167994"/>
            <a:ext cx="9000000" cy="2862322"/>
          </a:xfrm>
          <a:prstGeom prst="rect">
            <a:avLst/>
          </a:prstGeom>
          <a:noFill/>
        </p:spPr>
        <p:txBody>
          <a:bodyPr wrap="square" rtlCol="0">
            <a:spAutoFit/>
          </a:bodyPr>
          <a:lstStyle/>
          <a:p>
            <a:pPr algn="just"/>
            <a:r>
              <a:rPr lang="en-GB"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Self-Documenting: </a:t>
            </a:r>
            <a:r>
              <a:rPr lang="en-GB" sz="6000" dirty="0">
                <a:latin typeface="Patrick Hand" pitchFamily="2" charset="77"/>
              </a:rPr>
              <a:t>Like a contract, it describes the data it requires.</a:t>
            </a:r>
          </a:p>
        </p:txBody>
      </p:sp>
      <p:sp>
        <p:nvSpPr>
          <p:cNvPr id="3" name="TextBox 2">
            <a:extLst>
              <a:ext uri="{FF2B5EF4-FFF2-40B4-BE49-F238E27FC236}">
                <a16:creationId xmlns:a16="http://schemas.microsoft.com/office/drawing/2014/main" id="{6F762934-6598-D51C-FCC8-493F724BE02B}"/>
              </a:ext>
            </a:extLst>
          </p:cNvPr>
          <p:cNvSpPr txBox="1"/>
          <p:nvPr/>
        </p:nvSpPr>
        <p:spPr>
          <a:xfrm>
            <a:off x="637263" y="9318554"/>
            <a:ext cx="9000000" cy="1938992"/>
          </a:xfrm>
          <a:prstGeom prst="rect">
            <a:avLst/>
          </a:prstGeom>
          <a:noFill/>
        </p:spPr>
        <p:txBody>
          <a:bodyPr wrap="square" rtlCol="0">
            <a:spAutoFit/>
          </a:bodyPr>
          <a:lstStyle/>
          <a:p>
            <a:pPr algn="just"/>
            <a:r>
              <a:rPr lang="en-GB"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Automatic Casting: </a:t>
            </a:r>
            <a:r>
              <a:rPr lang="en-GB" sz="6000" dirty="0">
                <a:latin typeface="Patrick Hand" pitchFamily="2" charset="77"/>
              </a:rPr>
              <a:t>Data is cast automatically.</a:t>
            </a:r>
          </a:p>
        </p:txBody>
      </p:sp>
      <p:cxnSp>
        <p:nvCxnSpPr>
          <p:cNvPr id="4" name="Straight Connector 3">
            <a:extLst>
              <a:ext uri="{FF2B5EF4-FFF2-40B4-BE49-F238E27FC236}">
                <a16:creationId xmlns:a16="http://schemas.microsoft.com/office/drawing/2014/main" id="{EB1F43C7-EC91-B5E7-F450-1B3746273FC9}"/>
              </a:ext>
            </a:extLst>
          </p:cNvPr>
          <p:cNvCxnSpPr>
            <a:cxnSpLocks/>
          </p:cNvCxnSpPr>
          <p:nvPr/>
        </p:nvCxnSpPr>
        <p:spPr>
          <a:xfrm>
            <a:off x="218136" y="917443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76EF27B5-3F43-3A23-9103-194D0C39DE14}"/>
              </a:ext>
            </a:extLst>
          </p:cNvPr>
          <p:cNvCxnSpPr>
            <a:cxnSpLocks/>
          </p:cNvCxnSpPr>
          <p:nvPr/>
        </p:nvCxnSpPr>
        <p:spPr>
          <a:xfrm>
            <a:off x="218136" y="602387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58431E2-5819-9844-AF41-71D82B0542F4}"/>
              </a:ext>
            </a:extLst>
          </p:cNvPr>
          <p:cNvSpPr txBox="1"/>
          <p:nvPr/>
        </p:nvSpPr>
        <p:spPr>
          <a:xfrm>
            <a:off x="637263" y="11545785"/>
            <a:ext cx="9000000" cy="2862322"/>
          </a:xfrm>
          <a:prstGeom prst="rect">
            <a:avLst/>
          </a:prstGeom>
          <a:noFill/>
        </p:spPr>
        <p:txBody>
          <a:bodyPr wrap="square" rtlCol="0">
            <a:spAutoFit/>
          </a:bodyPr>
          <a:lstStyle/>
          <a:p>
            <a:pPr algn="just"/>
            <a:r>
              <a:rPr lang="en-GB"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Clean API: </a:t>
            </a:r>
            <a:r>
              <a:rPr lang="en-GB" sz="6000" dirty="0">
                <a:latin typeface="Patrick Hand" pitchFamily="2" charset="77"/>
              </a:rPr>
              <a:t>Prevents dirty data from entering the core of your system.</a:t>
            </a:r>
          </a:p>
        </p:txBody>
      </p:sp>
      <p:cxnSp>
        <p:nvCxnSpPr>
          <p:cNvPr id="7" name="Straight Connector 6">
            <a:extLst>
              <a:ext uri="{FF2B5EF4-FFF2-40B4-BE49-F238E27FC236}">
                <a16:creationId xmlns:a16="http://schemas.microsoft.com/office/drawing/2014/main" id="{F6A9C125-C2C6-68BC-4610-ADDB836B7EA1}"/>
              </a:ext>
            </a:extLst>
          </p:cNvPr>
          <p:cNvCxnSpPr>
            <a:cxnSpLocks/>
          </p:cNvCxnSpPr>
          <p:nvPr/>
        </p:nvCxnSpPr>
        <p:spPr>
          <a:xfrm>
            <a:off x="218136" y="114016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8" name="Right Arrow 7">
            <a:extLst>
              <a:ext uri="{FF2B5EF4-FFF2-40B4-BE49-F238E27FC236}">
                <a16:creationId xmlns:a16="http://schemas.microsoft.com/office/drawing/2014/main" id="{5A87E00E-DB89-25F8-F7FB-E4FEEBB8E614}"/>
              </a:ext>
            </a:extLst>
          </p:cNvPr>
          <p:cNvSpPr>
            <a:spLocks/>
          </p:cNvSpPr>
          <p:nvPr/>
        </p:nvSpPr>
        <p:spPr>
          <a:xfrm>
            <a:off x="4291806" y="15388035"/>
            <a:ext cx="1701801" cy="918765"/>
          </a:xfrm>
          <a:prstGeom prst="rightArrow">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7200" b="1" dirty="0">
              <a:ln w="6600">
                <a:solidFill>
                  <a:schemeClr val="accent2"/>
                </a:solidFill>
                <a:prstDash val="solid"/>
              </a:ln>
              <a:solidFill>
                <a:srgbClr val="FFFFFF"/>
              </a:solidFill>
              <a:effectLst>
                <a:outerShdw dist="38100" dir="2700000" algn="tl" rotWithShape="0">
                  <a:schemeClr val="accent2"/>
                </a:outerShdw>
              </a:effectLst>
              <a:latin typeface="+mj-lt"/>
            </a:endParaRPr>
          </a:p>
        </p:txBody>
      </p:sp>
    </p:spTree>
    <p:extLst>
      <p:ext uri="{BB962C8B-B14F-4D97-AF65-F5344CB8AC3E}">
        <p14:creationId xmlns:p14="http://schemas.microsoft.com/office/powerpoint/2010/main" val="1522233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E6A16182-CF86-19BC-7D39-ACB1CD5DA82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B3728D8-C386-E1AE-71C4-C2905DEAE8C9}"/>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Questions?</a:t>
            </a:r>
            <a:endParaRPr lang="en-DE" sz="7200" dirty="0">
              <a:ln w="0"/>
              <a:effectLst>
                <a:outerShdw blurRad="38100" dist="19050" dir="2700000" algn="tl" rotWithShape="0">
                  <a:schemeClr val="dk1">
                    <a:alpha val="40000"/>
                  </a:schemeClr>
                </a:outerShdw>
              </a:effectLst>
              <a:latin typeface="+mj-lt"/>
            </a:endParaRPr>
          </a:p>
        </p:txBody>
      </p:sp>
      <p:sp>
        <p:nvSpPr>
          <p:cNvPr id="21" name="TextBox 20">
            <a:extLst>
              <a:ext uri="{FF2B5EF4-FFF2-40B4-BE49-F238E27FC236}">
                <a16:creationId xmlns:a16="http://schemas.microsoft.com/office/drawing/2014/main" id="{CC17A5FA-D21A-28EB-A148-85A4B3E6AC4A}"/>
              </a:ext>
            </a:extLst>
          </p:cNvPr>
          <p:cNvSpPr txBox="1"/>
          <p:nvPr/>
        </p:nvSpPr>
        <p:spPr>
          <a:xfrm>
            <a:off x="433006" y="7251174"/>
            <a:ext cx="9419400" cy="3785652"/>
          </a:xfrm>
          <a:prstGeom prst="rect">
            <a:avLst/>
          </a:prstGeom>
          <a:noFill/>
        </p:spPr>
        <p:txBody>
          <a:bodyPr wrap="square" rtlCol="0">
            <a:spAutoFit/>
          </a:bodyPr>
          <a:lstStyle/>
          <a:p>
            <a:pPr algn="just"/>
            <a:r>
              <a:rPr lang="en-GB" sz="80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one do you prefer?</a:t>
            </a:r>
          </a:p>
          <a:p>
            <a:pPr algn="just"/>
            <a:r>
              <a:rPr lang="en-GB" sz="80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Tell me in the comments please</a:t>
            </a:r>
          </a:p>
        </p:txBody>
      </p:sp>
      <p:sp>
        <p:nvSpPr>
          <p:cNvPr id="29" name="TextBox 28">
            <a:extLst>
              <a:ext uri="{FF2B5EF4-FFF2-40B4-BE49-F238E27FC236}">
                <a16:creationId xmlns:a16="http://schemas.microsoft.com/office/drawing/2014/main" id="{D7BC52AC-CEA6-45DC-216B-6992C89BF39B}"/>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735237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r"/>
              <a:r>
                <a:rPr lang="en-GB" sz="6600" dirty="0" err="1"/>
                <a:t>RegExp</a:t>
              </a:r>
              <a:r>
                <a:rPr lang="en-GB" sz="6600" dirty="0"/>
                <a:t>: Stop Struggling!</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sp>
        <p:nvSpPr>
          <p:cNvPr id="11" name="TextBox 10">
            <a:extLst>
              <a:ext uri="{FF2B5EF4-FFF2-40B4-BE49-F238E27FC236}">
                <a16:creationId xmlns:a16="http://schemas.microsoft.com/office/drawing/2014/main" id="{3B956DD6-0D86-8B09-E89A-759DDDD3D6BC}"/>
              </a:ext>
            </a:extLst>
          </p:cNvPr>
          <p:cNvSpPr txBox="1"/>
          <p:nvPr/>
        </p:nvSpPr>
        <p:spPr>
          <a:xfrm>
            <a:off x="2305928" y="4487601"/>
            <a:ext cx="5673557" cy="707886"/>
          </a:xfrm>
          <a:prstGeom prst="rect">
            <a:avLst/>
          </a:prstGeom>
          <a:noFill/>
        </p:spPr>
        <p:txBody>
          <a:bodyPr wrap="square" rtlCol="0">
            <a:spAutoFit/>
          </a:bodyPr>
          <a:lstStyle/>
          <a:p>
            <a:r>
              <a:rPr lang="en-GB" sz="4000" dirty="0">
                <a:latin typeface="Patrick Hand" pitchFamily="2" charset="77"/>
              </a:rPr>
              <a:t>Goal: Extract Email Addresses </a:t>
            </a:r>
            <a:endParaRPr lang="en-DE" sz="4000" dirty="0">
              <a:latin typeface="Patrick Hand" pitchFamily="2" charset="77"/>
            </a:endParaRPr>
          </a:p>
        </p:txBody>
      </p:sp>
      <p:sp>
        <p:nvSpPr>
          <p:cNvPr id="12" name="TextBox 11">
            <a:extLst>
              <a:ext uri="{FF2B5EF4-FFF2-40B4-BE49-F238E27FC236}">
                <a16:creationId xmlns:a16="http://schemas.microsoft.com/office/drawing/2014/main" id="{A2A4893F-4945-B7EB-1C1A-4AFCB0335910}"/>
              </a:ext>
            </a:extLst>
          </p:cNvPr>
          <p:cNvSpPr txBox="1"/>
          <p:nvPr/>
        </p:nvSpPr>
        <p:spPr>
          <a:xfrm>
            <a:off x="595143" y="5702892"/>
            <a:ext cx="9095126" cy="584775"/>
          </a:xfrm>
          <a:prstGeom prst="rect">
            <a:avLst/>
          </a:prstGeom>
          <a:noFill/>
        </p:spPr>
        <p:txBody>
          <a:bodyPr wrap="square" rtlCol="0">
            <a:spAutoFit/>
          </a:bodyPr>
          <a:lstStyle/>
          <a:p>
            <a:r>
              <a:rPr lang="en-GB" sz="3200" b="1"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[a-zA-Z0-9._%+-]+</a:t>
            </a:r>
            <a:r>
              <a:rPr lang="en-GB" sz="3200" b="1" dirty="0">
                <a:ln w="0"/>
                <a:effectLst>
                  <a:outerShdw blurRad="38100" dist="19050" dir="2700000" algn="tl" rotWithShape="0">
                    <a:schemeClr val="dk1">
                      <a:alpha val="40000"/>
                    </a:schemeClr>
                  </a:outerShdw>
                </a:effectLst>
                <a:latin typeface="Arial" panose="020B0604020202020204" pitchFamily="34" charset="0"/>
                <a:cs typeface="Arial" panose="020B0604020202020204" pitchFamily="34" charset="0"/>
              </a:rPr>
              <a:t>@</a:t>
            </a:r>
            <a:r>
              <a:rPr lang="en-GB" sz="3200" b="1" dirty="0">
                <a:ln w="0"/>
                <a:solidFill>
                  <a:srgbClr val="00B050"/>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t>
            </a:r>
            <a:r>
              <a:rPr lang="en-GB" sz="3200" b="1" dirty="0">
                <a:solidFill>
                  <a:srgbClr val="00B050"/>
                </a:solidFill>
                <a:latin typeface="Arial" panose="020B0604020202020204" pitchFamily="34" charset="0"/>
                <a:cs typeface="Arial" panose="020B0604020202020204" pitchFamily="34" charset="0"/>
              </a:rPr>
              <a:t>a-zA-Z0-9.-]+</a:t>
            </a:r>
            <a:r>
              <a:rPr lang="en-GB" sz="3200" b="1" dirty="0">
                <a:latin typeface="Arial" panose="020B0604020202020204" pitchFamily="34" charset="0"/>
                <a:cs typeface="Arial" panose="020B0604020202020204" pitchFamily="34" charset="0"/>
              </a:rPr>
              <a:t>\.</a:t>
            </a:r>
            <a:r>
              <a:rPr lang="en-GB" sz="3200" b="1" dirty="0">
                <a:solidFill>
                  <a:srgbClr val="FF0000"/>
                </a:solidFill>
                <a:latin typeface="Arial" panose="020B0604020202020204" pitchFamily="34" charset="0"/>
                <a:cs typeface="Arial" panose="020B0604020202020204" pitchFamily="34" charset="0"/>
              </a:rPr>
              <a:t>[a-</a:t>
            </a:r>
            <a:r>
              <a:rPr lang="en-GB" sz="3200" b="1" dirty="0" err="1">
                <a:solidFill>
                  <a:srgbClr val="FF0000"/>
                </a:solidFill>
                <a:latin typeface="Arial" panose="020B0604020202020204" pitchFamily="34" charset="0"/>
                <a:cs typeface="Arial" panose="020B0604020202020204" pitchFamily="34" charset="0"/>
              </a:rPr>
              <a:t>zA</a:t>
            </a:r>
            <a:r>
              <a:rPr lang="en-GB" sz="3200" b="1" dirty="0">
                <a:solidFill>
                  <a:srgbClr val="FF0000"/>
                </a:solidFill>
                <a:latin typeface="Arial" panose="020B0604020202020204" pitchFamily="34" charset="0"/>
                <a:cs typeface="Arial" panose="020B0604020202020204" pitchFamily="34" charset="0"/>
              </a:rPr>
              <a:t>-Z]{2,}</a:t>
            </a:r>
            <a:endParaRPr lang="en-DE" sz="3200" b="1" dirty="0">
              <a:solidFill>
                <a:srgbClr val="FF0000"/>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2A68B83D-36C3-1AF4-295A-A3B5F70300FD}"/>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0" name="TextBox 9">
            <a:extLst>
              <a:ext uri="{FF2B5EF4-FFF2-40B4-BE49-F238E27FC236}">
                <a16:creationId xmlns:a16="http://schemas.microsoft.com/office/drawing/2014/main" id="{D4AF0727-B666-5054-B2C6-5FC6DBA7870E}"/>
              </a:ext>
            </a:extLst>
          </p:cNvPr>
          <p:cNvSpPr txBox="1"/>
          <p:nvPr/>
        </p:nvSpPr>
        <p:spPr>
          <a:xfrm>
            <a:off x="1382370" y="7406523"/>
            <a:ext cx="2065675" cy="523220"/>
          </a:xfrm>
          <a:prstGeom prst="rect">
            <a:avLst/>
          </a:prstGeom>
          <a:noFill/>
        </p:spPr>
        <p:txBody>
          <a:bodyPr wrap="square" rtlCol="0" anchor="ctr">
            <a:spAutoFit/>
          </a:bodyPr>
          <a:lstStyle/>
          <a:p>
            <a:r>
              <a:rPr lang="en-GB" sz="2800" dirty="0">
                <a:latin typeface="Arial" panose="020B0604020202020204" pitchFamily="34" charset="0"/>
                <a:cs typeface="Arial" panose="020B0604020202020204" pitchFamily="34" charset="0"/>
              </a:rPr>
              <a:t>User Name</a:t>
            </a:r>
          </a:p>
        </p:txBody>
      </p:sp>
      <p:sp>
        <p:nvSpPr>
          <p:cNvPr id="20" name="TextBox 19">
            <a:extLst>
              <a:ext uri="{FF2B5EF4-FFF2-40B4-BE49-F238E27FC236}">
                <a16:creationId xmlns:a16="http://schemas.microsoft.com/office/drawing/2014/main" id="{C9CB4B62-DF2D-4220-3D16-D0D78EA9E9EA}"/>
              </a:ext>
            </a:extLst>
          </p:cNvPr>
          <p:cNvSpPr txBox="1"/>
          <p:nvPr/>
        </p:nvSpPr>
        <p:spPr>
          <a:xfrm>
            <a:off x="4579458" y="7406523"/>
            <a:ext cx="2539378" cy="523220"/>
          </a:xfrm>
          <a:prstGeom prst="rect">
            <a:avLst/>
          </a:prstGeom>
          <a:noFill/>
        </p:spPr>
        <p:txBody>
          <a:bodyPr wrap="square" rtlCol="0" anchor="ctr">
            <a:spAutoFit/>
          </a:bodyPr>
          <a:lstStyle/>
          <a:p>
            <a:r>
              <a:rPr lang="en-GB" sz="2800" dirty="0">
                <a:latin typeface="Arial" panose="020B0604020202020204" pitchFamily="34" charset="0"/>
                <a:cs typeface="Arial" panose="020B0604020202020204" pitchFamily="34" charset="0"/>
              </a:rPr>
              <a:t>Domain Name</a:t>
            </a:r>
          </a:p>
        </p:txBody>
      </p:sp>
      <p:sp>
        <p:nvSpPr>
          <p:cNvPr id="24" name="Left Brace 23">
            <a:extLst>
              <a:ext uri="{FF2B5EF4-FFF2-40B4-BE49-F238E27FC236}">
                <a16:creationId xmlns:a16="http://schemas.microsoft.com/office/drawing/2014/main" id="{F0361F22-F1C8-8C67-4BC8-EB33989C4E2E}"/>
              </a:ext>
            </a:extLst>
          </p:cNvPr>
          <p:cNvSpPr/>
          <p:nvPr/>
        </p:nvSpPr>
        <p:spPr>
          <a:xfrm rot="16200000">
            <a:off x="2024685" y="5133582"/>
            <a:ext cx="742950" cy="3322979"/>
          </a:xfrm>
          <a:prstGeom prst="leftBrace">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26" name="Left Brace 25">
            <a:extLst>
              <a:ext uri="{FF2B5EF4-FFF2-40B4-BE49-F238E27FC236}">
                <a16:creationId xmlns:a16="http://schemas.microsoft.com/office/drawing/2014/main" id="{876648B2-3C77-D015-BB0F-47A6E0BDAFC4}"/>
              </a:ext>
            </a:extLst>
          </p:cNvPr>
          <p:cNvSpPr/>
          <p:nvPr/>
        </p:nvSpPr>
        <p:spPr>
          <a:xfrm rot="16200000">
            <a:off x="5464490" y="5525383"/>
            <a:ext cx="742950" cy="2539378"/>
          </a:xfrm>
          <a:prstGeom prst="leftBrace">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27" name="Left Brace 26">
            <a:extLst>
              <a:ext uri="{FF2B5EF4-FFF2-40B4-BE49-F238E27FC236}">
                <a16:creationId xmlns:a16="http://schemas.microsoft.com/office/drawing/2014/main" id="{A2A51972-8C81-3803-AF2B-8912E66968EF}"/>
              </a:ext>
            </a:extLst>
          </p:cNvPr>
          <p:cNvSpPr/>
          <p:nvPr/>
        </p:nvSpPr>
        <p:spPr>
          <a:xfrm rot="16200000">
            <a:off x="7982750" y="5776697"/>
            <a:ext cx="742950" cy="2036750"/>
          </a:xfrm>
          <a:prstGeom prst="leftBrace">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28" name="TextBox 27">
            <a:extLst>
              <a:ext uri="{FF2B5EF4-FFF2-40B4-BE49-F238E27FC236}">
                <a16:creationId xmlns:a16="http://schemas.microsoft.com/office/drawing/2014/main" id="{5792B89A-EFA3-1EF0-5CE8-A5B7212C6F33}"/>
              </a:ext>
            </a:extLst>
          </p:cNvPr>
          <p:cNvSpPr txBox="1"/>
          <p:nvPr/>
        </p:nvSpPr>
        <p:spPr>
          <a:xfrm>
            <a:off x="7469200" y="7406523"/>
            <a:ext cx="1750999" cy="954107"/>
          </a:xfrm>
          <a:prstGeom prst="rect">
            <a:avLst/>
          </a:prstGeom>
          <a:noFill/>
        </p:spPr>
        <p:txBody>
          <a:bodyPr wrap="square" rtlCol="0" anchor="ctr">
            <a:spAutoFit/>
          </a:bodyPr>
          <a:lstStyle/>
          <a:p>
            <a:r>
              <a:rPr lang="en-GB" sz="2800" dirty="0">
                <a:latin typeface="Arial" panose="020B0604020202020204" pitchFamily="34" charset="0"/>
                <a:cs typeface="Arial" panose="020B0604020202020204" pitchFamily="34" charset="0"/>
              </a:rPr>
              <a:t>Top Level Domain</a:t>
            </a:r>
          </a:p>
        </p:txBody>
      </p:sp>
      <p:cxnSp>
        <p:nvCxnSpPr>
          <p:cNvPr id="32" name="Straight Connector 31">
            <a:extLst>
              <a:ext uri="{FF2B5EF4-FFF2-40B4-BE49-F238E27FC236}">
                <a16:creationId xmlns:a16="http://schemas.microsoft.com/office/drawing/2014/main" id="{045A6FFA-9B20-7DA0-A82C-8BD9BA70CA18}"/>
              </a:ext>
            </a:extLst>
          </p:cNvPr>
          <p:cNvCxnSpPr>
            <a:cxnSpLocks/>
          </p:cNvCxnSpPr>
          <p:nvPr/>
        </p:nvCxnSpPr>
        <p:spPr>
          <a:xfrm>
            <a:off x="4286250" y="6175946"/>
            <a:ext cx="0" cy="4225354"/>
          </a:xfrm>
          <a:prstGeom prst="line">
            <a:avLst/>
          </a:prstGeom>
          <a:ln w="3175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CECF41A-4868-732E-A9C7-574BFC07E687}"/>
              </a:ext>
            </a:extLst>
          </p:cNvPr>
          <p:cNvCxnSpPr>
            <a:cxnSpLocks/>
          </p:cNvCxnSpPr>
          <p:nvPr/>
        </p:nvCxnSpPr>
        <p:spPr>
          <a:xfrm>
            <a:off x="7239000" y="6175946"/>
            <a:ext cx="0" cy="4225354"/>
          </a:xfrm>
          <a:prstGeom prst="line">
            <a:avLst/>
          </a:prstGeom>
          <a:ln w="3175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3077E3C6-B971-78ED-EED4-B49C021450C2}"/>
              </a:ext>
            </a:extLst>
          </p:cNvPr>
          <p:cNvSpPr txBox="1"/>
          <p:nvPr/>
        </p:nvSpPr>
        <p:spPr>
          <a:xfrm>
            <a:off x="1615988" y="8741979"/>
            <a:ext cx="1527257" cy="523220"/>
          </a:xfrm>
          <a:prstGeom prst="rect">
            <a:avLst/>
          </a:prstGeom>
          <a:noFill/>
        </p:spPr>
        <p:txBody>
          <a:bodyPr wrap="square" rtlCol="0" anchor="ctr">
            <a:spAutoFit/>
          </a:bodyPr>
          <a:lstStyle/>
          <a:p>
            <a:r>
              <a:rPr lang="en-GB" sz="2800" dirty="0" err="1">
                <a:latin typeface="Arial" panose="020B0604020202020204" pitchFamily="34" charset="0"/>
                <a:cs typeface="Arial" panose="020B0604020202020204" pitchFamily="34" charset="0"/>
              </a:rPr>
              <a:t>ebrahim</a:t>
            </a:r>
            <a:endParaRPr lang="en-DE" sz="2800" dirty="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D25C2502-8733-6D76-C927-AC4E4E87A2EC}"/>
              </a:ext>
            </a:extLst>
          </p:cNvPr>
          <p:cNvSpPr txBox="1"/>
          <p:nvPr/>
        </p:nvSpPr>
        <p:spPr>
          <a:xfrm>
            <a:off x="4502461" y="8741979"/>
            <a:ext cx="2539378" cy="523220"/>
          </a:xfrm>
          <a:prstGeom prst="rect">
            <a:avLst/>
          </a:prstGeom>
          <a:noFill/>
        </p:spPr>
        <p:txBody>
          <a:bodyPr wrap="square" rtlCol="0" anchor="ctr">
            <a:spAutoFit/>
          </a:bodyPr>
          <a:lstStyle/>
          <a:p>
            <a:r>
              <a:rPr lang="en-GB" sz="2800" dirty="0" err="1">
                <a:latin typeface="Arial" panose="020B0604020202020204" pitchFamily="34" charset="0"/>
                <a:cs typeface="Arial" panose="020B0604020202020204" pitchFamily="34" charset="0"/>
              </a:rPr>
              <a:t>gmail</a:t>
            </a:r>
            <a:r>
              <a:rPr lang="en-GB" sz="2800" dirty="0">
                <a:latin typeface="Arial" panose="020B0604020202020204" pitchFamily="34" charset="0"/>
                <a:cs typeface="Arial" panose="020B0604020202020204" pitchFamily="34" charset="0"/>
              </a:rPr>
              <a:t>, yahoo</a:t>
            </a:r>
            <a:endParaRPr lang="en-DE" sz="2800" dirty="0">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AD2C50E8-6149-1150-A604-793D37FE5B63}"/>
              </a:ext>
            </a:extLst>
          </p:cNvPr>
          <p:cNvSpPr txBox="1"/>
          <p:nvPr/>
        </p:nvSpPr>
        <p:spPr>
          <a:xfrm>
            <a:off x="7639050" y="8741979"/>
            <a:ext cx="1600197" cy="523220"/>
          </a:xfrm>
          <a:prstGeom prst="rect">
            <a:avLst/>
          </a:prstGeom>
          <a:noFill/>
        </p:spPr>
        <p:txBody>
          <a:bodyPr wrap="square" rtlCol="0" anchor="ctr">
            <a:spAutoFit/>
          </a:bodyPr>
          <a:lstStyle/>
          <a:p>
            <a:r>
              <a:rPr lang="en-GB" sz="2800" dirty="0">
                <a:latin typeface="Arial" panose="020B0604020202020204" pitchFamily="34" charset="0"/>
                <a:cs typeface="Arial" panose="020B0604020202020204" pitchFamily="34" charset="0"/>
              </a:rPr>
              <a:t>com, org</a:t>
            </a:r>
            <a:endParaRPr lang="en-DE"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35502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8180C18-47EF-E979-1E19-307ED258422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C4ED166-CBF8-3795-1265-10BC96779F93}"/>
              </a:ext>
            </a:extLst>
          </p:cNvPr>
          <p:cNvPicPr preferRelativeResize="0">
            <a:picLocks/>
          </p:cNvPicPr>
          <p:nvPr/>
        </p:nvPicPr>
        <p:blipFill rotWithShape="1">
          <a:blip r:embed="rId2"/>
          <a:srcRect l="15279" t="29281" r="11676" b="22400"/>
          <a:stretch>
            <a:fillRect/>
          </a:stretch>
        </p:blipFill>
        <p:spPr>
          <a:xfrm>
            <a:off x="223306" y="4113968"/>
            <a:ext cx="9838255" cy="4320000"/>
          </a:xfrm>
          <a:prstGeom prst="rect">
            <a:avLst/>
          </a:prstGeom>
        </p:spPr>
      </p:pic>
      <p:sp>
        <p:nvSpPr>
          <p:cNvPr id="4" name="TextBox 3">
            <a:extLst>
              <a:ext uri="{FF2B5EF4-FFF2-40B4-BE49-F238E27FC236}">
                <a16:creationId xmlns:a16="http://schemas.microsoft.com/office/drawing/2014/main" id="{37A5A074-AE99-6AD7-ADD6-BAEDAB9065B2}"/>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r"/>
            <a:r>
              <a:rPr lang="en-GB" sz="6600" dirty="0" err="1"/>
              <a:t>RegExp</a:t>
            </a:r>
            <a:r>
              <a:rPr lang="en-GB" sz="6600" dirty="0"/>
              <a:t>: Stop Struggling!</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sp>
        <p:nvSpPr>
          <p:cNvPr id="25" name="TextBox 24">
            <a:extLst>
              <a:ext uri="{FF2B5EF4-FFF2-40B4-BE49-F238E27FC236}">
                <a16:creationId xmlns:a16="http://schemas.microsoft.com/office/drawing/2014/main" id="{E1B0C98B-4350-491D-33B9-28EF91691323}"/>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3716A35F-9DDC-E802-31BF-CAEEF50FC677}"/>
              </a:ext>
            </a:extLst>
          </p:cNvPr>
          <p:cNvPicPr>
            <a:picLocks noChangeAspect="1"/>
          </p:cNvPicPr>
          <p:nvPr/>
        </p:nvPicPr>
        <p:blipFill>
          <a:blip r:embed="rId3"/>
          <a:stretch>
            <a:fillRect/>
          </a:stretch>
        </p:blipFill>
        <p:spPr>
          <a:xfrm>
            <a:off x="299372" y="2895198"/>
            <a:ext cx="1062000" cy="1062000"/>
          </a:xfrm>
          <a:prstGeom prst="rect">
            <a:avLst/>
          </a:prstGeom>
        </p:spPr>
      </p:pic>
      <p:sp>
        <p:nvSpPr>
          <p:cNvPr id="10" name="TextBox 9">
            <a:extLst>
              <a:ext uri="{FF2B5EF4-FFF2-40B4-BE49-F238E27FC236}">
                <a16:creationId xmlns:a16="http://schemas.microsoft.com/office/drawing/2014/main" id="{8C87D34F-9585-E390-7EC7-E00E5C4213B5}"/>
              </a:ext>
            </a:extLst>
          </p:cNvPr>
          <p:cNvSpPr txBox="1"/>
          <p:nvPr/>
        </p:nvSpPr>
        <p:spPr>
          <a:xfrm>
            <a:off x="642706" y="8619688"/>
            <a:ext cx="9000000" cy="1015663"/>
          </a:xfrm>
          <a:prstGeom prst="rect">
            <a:avLst/>
          </a:prstGeom>
          <a:noFill/>
        </p:spPr>
        <p:txBody>
          <a:bodyPr wrap="square" rtlCol="0">
            <a:spAutoFit/>
          </a:bodyPr>
          <a:lstStyle/>
          <a:p>
            <a:pPr algn="ctr"/>
            <a:r>
              <a:rPr lang="en-GB" sz="6000" b="1" dirty="0" err="1">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latin typeface="Patrick Hand" pitchFamily="2" charset="77"/>
              </a:rPr>
              <a:t>Javascript</a:t>
            </a:r>
            <a:r>
              <a:rPr lang="en-GB" sz="6000" b="1" dirty="0">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latin typeface="Patrick Hand" pitchFamily="2" charset="77"/>
              </a:rPr>
              <a:t> Code</a:t>
            </a:r>
          </a:p>
        </p:txBody>
      </p:sp>
    </p:spTree>
    <p:extLst>
      <p:ext uri="{BB962C8B-B14F-4D97-AF65-F5344CB8AC3E}">
        <p14:creationId xmlns:p14="http://schemas.microsoft.com/office/powerpoint/2010/main" val="27311859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A6C5944F-8266-A1C4-89F5-D64E17F616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5B09653-2C55-BA46-728C-EBDDF46F3534}"/>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r"/>
            <a:r>
              <a:rPr lang="en-GB" sz="6600" dirty="0" err="1"/>
              <a:t>RegExp</a:t>
            </a:r>
            <a:r>
              <a:rPr lang="en-GB" sz="6600" dirty="0"/>
              <a:t>: Stop Struggling!</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94B5D19A-AA2B-4A37-B571-4063EFAB9BCD}"/>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25" name="TextBox 24">
            <a:extLst>
              <a:ext uri="{FF2B5EF4-FFF2-40B4-BE49-F238E27FC236}">
                <a16:creationId xmlns:a16="http://schemas.microsoft.com/office/drawing/2014/main" id="{D5971788-DFDC-6EEB-6933-7A4C6D69CC42}"/>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0AC4B65-7011-EAF4-DDDF-FD817EBCE5A4}"/>
              </a:ext>
            </a:extLst>
          </p:cNvPr>
          <p:cNvPicPr preferRelativeResize="0">
            <a:picLocks/>
          </p:cNvPicPr>
          <p:nvPr/>
        </p:nvPicPr>
        <p:blipFill rotWithShape="1">
          <a:blip r:embed="rId3"/>
          <a:srcRect l="13119" t="29159" r="10714" b="22427"/>
          <a:stretch>
            <a:fillRect/>
          </a:stretch>
        </p:blipFill>
        <p:spPr>
          <a:xfrm>
            <a:off x="223305" y="4118517"/>
            <a:ext cx="9838800" cy="4320000"/>
          </a:xfrm>
          <a:prstGeom prst="rect">
            <a:avLst/>
          </a:prstGeom>
        </p:spPr>
      </p:pic>
      <p:sp>
        <p:nvSpPr>
          <p:cNvPr id="6" name="TextBox 5">
            <a:extLst>
              <a:ext uri="{FF2B5EF4-FFF2-40B4-BE49-F238E27FC236}">
                <a16:creationId xmlns:a16="http://schemas.microsoft.com/office/drawing/2014/main" id="{057C0001-2A3B-9DFD-6F17-93B7C7B466FA}"/>
              </a:ext>
            </a:extLst>
          </p:cNvPr>
          <p:cNvSpPr txBox="1"/>
          <p:nvPr/>
        </p:nvSpPr>
        <p:spPr>
          <a:xfrm>
            <a:off x="642706" y="8619688"/>
            <a:ext cx="9000000" cy="1015663"/>
          </a:xfrm>
          <a:prstGeom prst="rect">
            <a:avLst/>
          </a:prstGeom>
          <a:noFill/>
        </p:spPr>
        <p:txBody>
          <a:bodyPr wrap="square" rtlCol="0">
            <a:spAutoFit/>
          </a:bodyPr>
          <a:lstStyle/>
          <a:p>
            <a:pPr algn="ctr"/>
            <a:r>
              <a:rPr lang="en-GB" sz="6000" b="1" dirty="0">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latin typeface="Patrick Hand" pitchFamily="2" charset="77"/>
              </a:rPr>
              <a:t>Python Code</a:t>
            </a:r>
          </a:p>
        </p:txBody>
      </p:sp>
    </p:spTree>
    <p:extLst>
      <p:ext uri="{BB962C8B-B14F-4D97-AF65-F5344CB8AC3E}">
        <p14:creationId xmlns:p14="http://schemas.microsoft.com/office/powerpoint/2010/main" val="5036069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B0470730-155E-E1A2-8223-83CDB3E5DD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2036466-0049-260E-F783-5F4A4209A0A1}"/>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r"/>
            <a:r>
              <a:rPr lang="en-GB" sz="6600" dirty="0" err="1"/>
              <a:t>RegExp</a:t>
            </a:r>
            <a:r>
              <a:rPr lang="en-GB" sz="6600" dirty="0"/>
              <a:t>: Stop Struggling!</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03DEF6C1-15A4-72B3-533E-1121E24D3A0D}"/>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11" name="TextBox 10">
            <a:extLst>
              <a:ext uri="{FF2B5EF4-FFF2-40B4-BE49-F238E27FC236}">
                <a16:creationId xmlns:a16="http://schemas.microsoft.com/office/drawing/2014/main" id="{BE625123-12D4-F48D-227E-5F296D9C85A3}"/>
              </a:ext>
            </a:extLst>
          </p:cNvPr>
          <p:cNvSpPr txBox="1"/>
          <p:nvPr/>
        </p:nvSpPr>
        <p:spPr>
          <a:xfrm>
            <a:off x="1162377" y="4833549"/>
            <a:ext cx="7960659" cy="1938992"/>
          </a:xfrm>
          <a:prstGeom prst="rect">
            <a:avLst/>
          </a:prstGeom>
          <a:noFill/>
        </p:spPr>
        <p:txBody>
          <a:bodyPr wrap="square" rtlCol="0">
            <a:spAutoFit/>
          </a:bodyPr>
          <a:lstStyle/>
          <a:p>
            <a:r>
              <a:rPr lang="en-GB" sz="6000" dirty="0"/>
              <a:t>Which syntax is easier? JS or Python?</a:t>
            </a:r>
            <a:endParaRPr lang="en-DE" sz="6000" dirty="0">
              <a:latin typeface="Patrick Hand" pitchFamily="2" charset="77"/>
            </a:endParaRPr>
          </a:p>
        </p:txBody>
      </p:sp>
      <p:sp>
        <p:nvSpPr>
          <p:cNvPr id="25" name="TextBox 24">
            <a:extLst>
              <a:ext uri="{FF2B5EF4-FFF2-40B4-BE49-F238E27FC236}">
                <a16:creationId xmlns:a16="http://schemas.microsoft.com/office/drawing/2014/main" id="{DAFF8646-01DC-03DD-19F0-0D6C06419EE2}"/>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2" name="TextBox 1">
            <a:extLst>
              <a:ext uri="{FF2B5EF4-FFF2-40B4-BE49-F238E27FC236}">
                <a16:creationId xmlns:a16="http://schemas.microsoft.com/office/drawing/2014/main" id="{A529A459-7E3A-95EF-A283-FD102F72A508}"/>
              </a:ext>
            </a:extLst>
          </p:cNvPr>
          <p:cNvSpPr txBox="1"/>
          <p:nvPr/>
        </p:nvSpPr>
        <p:spPr>
          <a:xfrm>
            <a:off x="1162377" y="8343070"/>
            <a:ext cx="7960659" cy="707886"/>
          </a:xfrm>
          <a:prstGeom prst="rect">
            <a:avLst/>
          </a:prstGeom>
          <a:noFill/>
        </p:spPr>
        <p:txBody>
          <a:bodyPr wrap="square" rtlCol="0">
            <a:spAutoFit/>
          </a:bodyPr>
          <a:lstStyle/>
          <a:p>
            <a:r>
              <a:rPr lang="en-GB" sz="4000" dirty="0"/>
              <a:t>Save this Regex for your next project!</a:t>
            </a:r>
            <a:endParaRPr lang="en-DE" sz="4000" dirty="0">
              <a:latin typeface="Patrick Hand" pitchFamily="2" charset="77"/>
            </a:endParaRPr>
          </a:p>
        </p:txBody>
      </p:sp>
    </p:spTree>
    <p:extLst>
      <p:ext uri="{BB962C8B-B14F-4D97-AF65-F5344CB8AC3E}">
        <p14:creationId xmlns:p14="http://schemas.microsoft.com/office/powerpoint/2010/main" val="41110881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FCD5F8E-5A3A-CA33-0998-05B11014796B}"/>
              </a:ext>
            </a:extLst>
          </p:cNvPr>
          <p:cNvPicPr>
            <a:picLocks noChangeAspect="1"/>
          </p:cNvPicPr>
          <p:nvPr/>
        </p:nvPicPr>
        <p:blipFill rotWithShape="1">
          <a:blip r:embed="rId4"/>
          <a:srcRect l="19835" t="17232" r="15034" b="15518"/>
          <a:stretch>
            <a:fillRect/>
          </a:stretch>
        </p:blipFill>
        <p:spPr>
          <a:xfrm>
            <a:off x="223306" y="3759300"/>
            <a:ext cx="9838800" cy="11877352"/>
          </a:xfrm>
          <a:prstGeom prst="rect">
            <a:avLst/>
          </a:prstGeom>
        </p:spPr>
      </p:pic>
      <p:sp>
        <p:nvSpPr>
          <p:cNvPr id="38" name="TextBox 37">
            <a:extLst>
              <a:ext uri="{FF2B5EF4-FFF2-40B4-BE49-F238E27FC236}">
                <a16:creationId xmlns:a16="http://schemas.microsoft.com/office/drawing/2014/main" id="{02F516FD-316D-B719-C21B-68F85C795F3C}"/>
              </a:ext>
            </a:extLst>
          </p:cNvPr>
          <p:cNvSpPr txBox="1"/>
          <p:nvPr/>
        </p:nvSpPr>
        <p:spPr>
          <a:xfrm>
            <a:off x="223579" y="2496639"/>
            <a:ext cx="9838255" cy="1197347"/>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orm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ln w="0"/>
                <a:solidFill>
                  <a:schemeClr val="accent1"/>
                </a:solidFill>
                <a:effectLst>
                  <a:outerShdw blurRad="38100" dist="25400" dir="5400000" algn="ctr" rotWithShape="0">
                    <a:srgbClr val="6E747A">
                      <a:alpha val="43000"/>
                    </a:srgbClr>
                  </a:outerShdw>
                </a:effectLst>
                <a:latin typeface="Patrick Hand" pitchFamily="2" charset="77"/>
              </a:rPr>
              <a:t>Computed Property Names</a:t>
            </a:r>
            <a:endParaRPr lang="en-GB" sz="1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23792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13411" y="12111593"/>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913411" y="7338337"/>
            <a:ext cx="914400" cy="914400"/>
          </a:xfrm>
          <a:prstGeom prst="rect">
            <a:avLst/>
          </a:prstGeom>
        </p:spPr>
      </p:pic>
      <p:sp>
        <p:nvSpPr>
          <p:cNvPr id="52" name="TextBox 51">
            <a:extLst>
              <a:ext uri="{FF2B5EF4-FFF2-40B4-BE49-F238E27FC236}">
                <a16:creationId xmlns:a16="http://schemas.microsoft.com/office/drawing/2014/main" id="{B12A4097-8AAB-831B-3B48-4F55095ED0A3}"/>
              </a:ext>
            </a:extLst>
          </p:cNvPr>
          <p:cNvSpPr txBox="1"/>
          <p:nvPr/>
        </p:nvSpPr>
        <p:spPr>
          <a:xfrm>
            <a:off x="-7857400" y="2527667"/>
            <a:ext cx="653736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js_002_computed_property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4" name="Picture 3">
            <a:extLst>
              <a:ext uri="{FF2B5EF4-FFF2-40B4-BE49-F238E27FC236}">
                <a16:creationId xmlns:a16="http://schemas.microsoft.com/office/drawing/2014/main" id="{1C981023-EB57-B81A-BF19-1B65A29B5E0A}"/>
              </a:ext>
            </a:extLst>
          </p:cNvPr>
          <p:cNvPicPr>
            <a:picLocks noChangeAspect="1"/>
          </p:cNvPicPr>
          <p:nvPr/>
        </p:nvPicPr>
        <p:blipFill>
          <a:blip r:embed="rId7"/>
          <a:stretch>
            <a:fillRect/>
          </a:stretch>
        </p:blipFill>
        <p:spPr>
          <a:xfrm>
            <a:off x="299372" y="2568624"/>
            <a:ext cx="1062000" cy="10620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59A6B82-E4AD-BBE2-1B51-D19B37B734E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4B7A6E4-C1BF-5794-3618-44077E3E6604}"/>
              </a:ext>
            </a:extLst>
          </p:cNvPr>
          <p:cNvPicPr>
            <a:picLocks noChangeAspect="1"/>
          </p:cNvPicPr>
          <p:nvPr/>
        </p:nvPicPr>
        <p:blipFill rotWithShape="1">
          <a:blip r:embed="rId3"/>
          <a:srcRect l="20346" t="19502" r="12853" b="11330"/>
          <a:stretch>
            <a:fillRect/>
          </a:stretch>
        </p:blipFill>
        <p:spPr>
          <a:xfrm>
            <a:off x="223579" y="3765971"/>
            <a:ext cx="9838800" cy="10810227"/>
          </a:xfrm>
          <a:prstGeom prst="rect">
            <a:avLst/>
          </a:prstGeom>
        </p:spPr>
      </p:pic>
      <p:sp>
        <p:nvSpPr>
          <p:cNvPr id="38" name="TextBox 37">
            <a:extLst>
              <a:ext uri="{FF2B5EF4-FFF2-40B4-BE49-F238E27FC236}">
                <a16:creationId xmlns:a16="http://schemas.microsoft.com/office/drawing/2014/main" id="{59D2D553-43A7-72BE-1652-D02386AF0690}"/>
              </a:ext>
            </a:extLst>
          </p:cNvPr>
          <p:cNvSpPr txBox="1"/>
          <p:nvPr/>
        </p:nvSpPr>
        <p:spPr>
          <a:xfrm>
            <a:off x="223579" y="2496639"/>
            <a:ext cx="9838255" cy="1197347"/>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orm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ln w="0"/>
                <a:solidFill>
                  <a:schemeClr val="accent1"/>
                </a:solidFill>
                <a:effectLst>
                  <a:outerShdw blurRad="38100" dist="25400" dir="5400000" algn="ctr" rotWithShape="0">
                    <a:srgbClr val="6E747A">
                      <a:alpha val="43000"/>
                    </a:srgbClr>
                  </a:outerShdw>
                </a:effectLst>
                <a:latin typeface="Patrick Hand" pitchFamily="2" charset="77"/>
              </a:rPr>
              <a:t>Computed Property Names</a:t>
            </a:r>
            <a:endParaRPr lang="en-GB" sz="1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cxnSp>
        <p:nvCxnSpPr>
          <p:cNvPr id="40" name="Straight Connector 39">
            <a:extLst>
              <a:ext uri="{FF2B5EF4-FFF2-40B4-BE49-F238E27FC236}">
                <a16:creationId xmlns:a16="http://schemas.microsoft.com/office/drawing/2014/main" id="{7DC3D840-3065-2A73-0B94-39C02CC106A3}"/>
              </a:ext>
            </a:extLst>
          </p:cNvPr>
          <p:cNvCxnSpPr>
            <a:cxnSpLocks/>
          </p:cNvCxnSpPr>
          <p:nvPr/>
        </p:nvCxnSpPr>
        <p:spPr>
          <a:xfrm>
            <a:off x="223579" y="1012758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BB188E5-4AF0-0FFB-48D2-622878CFA4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13411" y="11001244"/>
            <a:ext cx="914400" cy="914400"/>
          </a:xfrm>
          <a:prstGeom prst="rect">
            <a:avLst/>
          </a:prstGeom>
        </p:spPr>
      </p:pic>
      <p:pic>
        <p:nvPicPr>
          <p:cNvPr id="42" name="Graphic 41" descr="Close with solid fill">
            <a:extLst>
              <a:ext uri="{FF2B5EF4-FFF2-40B4-BE49-F238E27FC236}">
                <a16:creationId xmlns:a16="http://schemas.microsoft.com/office/drawing/2014/main" id="{9FC69EB8-8E76-4BBD-99B8-E7504DFEF20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13411" y="6864806"/>
            <a:ext cx="914400" cy="914400"/>
          </a:xfrm>
          <a:prstGeom prst="rect">
            <a:avLst/>
          </a:prstGeom>
        </p:spPr>
      </p:pic>
      <p:sp>
        <p:nvSpPr>
          <p:cNvPr id="52" name="TextBox 51">
            <a:extLst>
              <a:ext uri="{FF2B5EF4-FFF2-40B4-BE49-F238E27FC236}">
                <a16:creationId xmlns:a16="http://schemas.microsoft.com/office/drawing/2014/main" id="{72A15AE0-1D2C-4A88-C6A0-516EF31FA069}"/>
              </a:ext>
            </a:extLst>
          </p:cNvPr>
          <p:cNvSpPr txBox="1"/>
          <p:nvPr/>
        </p:nvSpPr>
        <p:spPr>
          <a:xfrm>
            <a:off x="-7857400" y="2527667"/>
            <a:ext cx="662072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py_004_computed_property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3AF04EE9-D828-12D6-A775-0633CB196662}"/>
              </a:ext>
            </a:extLst>
          </p:cNvPr>
          <p:cNvPicPr>
            <a:picLocks noChangeAspect="1"/>
          </p:cNvPicPr>
          <p:nvPr/>
        </p:nvPicPr>
        <p:blipFill>
          <a:blip r:embed="rId6"/>
          <a:stretch>
            <a:fillRect/>
          </a:stretch>
        </p:blipFill>
        <p:spPr>
          <a:xfrm>
            <a:off x="312988" y="2563204"/>
            <a:ext cx="1063167" cy="1063167"/>
          </a:xfrm>
          <a:prstGeom prst="rect">
            <a:avLst/>
          </a:prstGeom>
        </p:spPr>
      </p:pic>
    </p:spTree>
    <p:extLst>
      <p:ext uri="{BB962C8B-B14F-4D97-AF65-F5344CB8AC3E}">
        <p14:creationId xmlns:p14="http://schemas.microsoft.com/office/powerpoint/2010/main" val="40807469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FEE4F9C-E2CC-5734-DF7A-94203A179759}"/>
            </a:ext>
          </a:extLst>
        </p:cNvPr>
        <p:cNvGrpSpPr/>
        <p:nvPr/>
      </p:nvGrpSpPr>
      <p:grpSpPr>
        <a:xfrm>
          <a:off x="0" y="0"/>
          <a:ext cx="0" cy="0"/>
          <a:chOff x="0" y="0"/>
          <a:chExt cx="0" cy="0"/>
        </a:xfrm>
      </p:grpSpPr>
      <p:sp>
        <p:nvSpPr>
          <p:cNvPr id="38" name="TextBox 37">
            <a:extLst>
              <a:ext uri="{FF2B5EF4-FFF2-40B4-BE49-F238E27FC236}">
                <a16:creationId xmlns:a16="http://schemas.microsoft.com/office/drawing/2014/main" id="{8C096810-3FEA-ED33-5249-E9C60BB26853}"/>
              </a:ext>
            </a:extLst>
          </p:cNvPr>
          <p:cNvSpPr txBox="1"/>
          <p:nvPr/>
        </p:nvSpPr>
        <p:spPr>
          <a:xfrm>
            <a:off x="223579" y="2496639"/>
            <a:ext cx="9838255" cy="1197347"/>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orm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ln w="0"/>
                <a:solidFill>
                  <a:schemeClr val="accent1"/>
                </a:solidFill>
                <a:effectLst>
                  <a:outerShdw blurRad="38100" dist="25400" dir="5400000" algn="ctr" rotWithShape="0">
                    <a:srgbClr val="6E747A">
                      <a:alpha val="43000"/>
                    </a:srgbClr>
                  </a:outerShdw>
                </a:effectLst>
                <a:latin typeface="Patrick Hand" pitchFamily="2" charset="77"/>
              </a:rPr>
              <a:t>Computed Property Names</a:t>
            </a:r>
            <a:endParaRPr lang="en-GB" sz="1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6" name="TextBox 5">
            <a:extLst>
              <a:ext uri="{FF2B5EF4-FFF2-40B4-BE49-F238E27FC236}">
                <a16:creationId xmlns:a16="http://schemas.microsoft.com/office/drawing/2014/main" id="{F6900F25-FAF9-D485-F690-D5CE93386C81}"/>
              </a:ext>
            </a:extLst>
          </p:cNvPr>
          <p:cNvSpPr txBox="1"/>
          <p:nvPr/>
        </p:nvSpPr>
        <p:spPr>
          <a:xfrm>
            <a:off x="642706" y="3940764"/>
            <a:ext cx="9000000" cy="6555641"/>
          </a:xfrm>
          <a:prstGeom prst="rect">
            <a:avLst/>
          </a:prstGeom>
          <a:noFill/>
        </p:spPr>
        <p:txBody>
          <a:bodyPr wrap="square" rtlCol="0">
            <a:spAutoFit/>
          </a:bodyPr>
          <a:lstStyle/>
          <a:p>
            <a:pPr algn="just"/>
            <a:r>
              <a:rPr lang="en-GB" sz="6000" dirty="0">
                <a:ln w="0"/>
                <a:effectLst>
                  <a:outerShdw blurRad="38100" dist="19050" dir="2700000" algn="tl" rotWithShape="0">
                    <a:schemeClr val="dk1">
                      <a:alpha val="40000"/>
                    </a:schemeClr>
                  </a:outerShdw>
                </a:effectLst>
                <a:latin typeface="Patrick Hand" pitchFamily="2" charset="77"/>
              </a:rPr>
              <a:t>Sometimes you need dynamic properties in your object s or dictionaries. Instead of adding them later, it’s better to use computed values during the declaration step.</a:t>
            </a:r>
          </a:p>
          <a:p>
            <a:pPr algn="just"/>
            <a:endParaRPr lang="en-GB" sz="6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216226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25AFEE2-6B05-F9E4-9741-F15D251A0FC6}"/>
            </a:ext>
          </a:extLst>
        </p:cNvPr>
        <p:cNvGrpSpPr/>
        <p:nvPr/>
      </p:nvGrpSpPr>
      <p:grpSpPr>
        <a:xfrm>
          <a:off x="0" y="0"/>
          <a:ext cx="0" cy="0"/>
          <a:chOff x="0" y="0"/>
          <a:chExt cx="0" cy="0"/>
        </a:xfrm>
      </p:grpSpPr>
      <p:sp>
        <p:nvSpPr>
          <p:cNvPr id="38" name="TextBox 37">
            <a:extLst>
              <a:ext uri="{FF2B5EF4-FFF2-40B4-BE49-F238E27FC236}">
                <a16:creationId xmlns:a16="http://schemas.microsoft.com/office/drawing/2014/main" id="{3CD3DEA0-1B31-CB84-45D8-0717837E4334}"/>
              </a:ext>
            </a:extLst>
          </p:cNvPr>
          <p:cNvSpPr txBox="1"/>
          <p:nvPr/>
        </p:nvSpPr>
        <p:spPr>
          <a:xfrm>
            <a:off x="223579" y="2496639"/>
            <a:ext cx="9838255" cy="1197347"/>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orm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ln w="0"/>
                <a:solidFill>
                  <a:schemeClr val="accent1"/>
                </a:solidFill>
                <a:effectLst>
                  <a:outerShdw blurRad="38100" dist="25400" dir="5400000" algn="ctr" rotWithShape="0">
                    <a:srgbClr val="6E747A">
                      <a:alpha val="43000"/>
                    </a:srgbClr>
                  </a:outerShdw>
                </a:effectLst>
                <a:latin typeface="Patrick Hand" pitchFamily="2" charset="77"/>
              </a:rPr>
              <a:t>Computed Property Names</a:t>
            </a:r>
            <a:endParaRPr lang="en-GB" sz="1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2" name="TextBox 1">
            <a:extLst>
              <a:ext uri="{FF2B5EF4-FFF2-40B4-BE49-F238E27FC236}">
                <a16:creationId xmlns:a16="http://schemas.microsoft.com/office/drawing/2014/main" id="{69A1B746-14AF-9EE0-99DA-9B3AAD683D73}"/>
              </a:ext>
            </a:extLst>
          </p:cNvPr>
          <p:cNvSpPr txBox="1"/>
          <p:nvPr/>
        </p:nvSpPr>
        <p:spPr>
          <a:xfrm>
            <a:off x="2768423" y="4833549"/>
            <a:ext cx="4748566" cy="1015663"/>
          </a:xfrm>
          <a:prstGeom prst="rect">
            <a:avLst/>
          </a:prstGeom>
          <a:noFill/>
        </p:spPr>
        <p:txBody>
          <a:bodyPr wrap="square" rtlCol="0">
            <a:spAutoFit/>
          </a:bodyPr>
          <a:lstStyle/>
          <a:p>
            <a:r>
              <a:rPr lang="en-GB" sz="6000" dirty="0"/>
              <a:t>Do you agree?</a:t>
            </a:r>
            <a:endParaRPr lang="en-DE" sz="6000" dirty="0">
              <a:latin typeface="Patrick Hand" pitchFamily="2" charset="77"/>
            </a:endParaRPr>
          </a:p>
        </p:txBody>
      </p:sp>
      <p:sp>
        <p:nvSpPr>
          <p:cNvPr id="3" name="TextBox 2">
            <a:extLst>
              <a:ext uri="{FF2B5EF4-FFF2-40B4-BE49-F238E27FC236}">
                <a16:creationId xmlns:a16="http://schemas.microsoft.com/office/drawing/2014/main" id="{7B425936-11E8-1F6A-FFE3-4DFD36C53AF3}"/>
              </a:ext>
            </a:extLst>
          </p:cNvPr>
          <p:cNvSpPr txBox="1"/>
          <p:nvPr/>
        </p:nvSpPr>
        <p:spPr>
          <a:xfrm>
            <a:off x="1658080" y="8343070"/>
            <a:ext cx="6969252" cy="707886"/>
          </a:xfrm>
          <a:prstGeom prst="rect">
            <a:avLst/>
          </a:prstGeom>
          <a:noFill/>
        </p:spPr>
        <p:txBody>
          <a:bodyPr wrap="square" rtlCol="0">
            <a:spAutoFit/>
          </a:bodyPr>
          <a:lstStyle/>
          <a:p>
            <a:r>
              <a:rPr lang="en-GB" sz="4000" dirty="0"/>
              <a:t>Please write in the comments !!!</a:t>
            </a:r>
            <a:endParaRPr lang="en-DE" sz="4000" dirty="0">
              <a:latin typeface="Patrick Hand" pitchFamily="2" charset="77"/>
            </a:endParaRPr>
          </a:p>
        </p:txBody>
      </p:sp>
    </p:spTree>
    <p:extLst>
      <p:ext uri="{BB962C8B-B14F-4D97-AF65-F5344CB8AC3E}">
        <p14:creationId xmlns:p14="http://schemas.microsoft.com/office/powerpoint/2010/main" val="2840718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89A9CD0-D129-FF15-EDDE-E9B6C8597A69}"/>
              </a:ext>
            </a:extLst>
          </p:cNvPr>
          <p:cNvPicPr>
            <a:picLocks noChangeAspect="1"/>
          </p:cNvPicPr>
          <p:nvPr/>
        </p:nvPicPr>
        <p:blipFill rotWithShape="1">
          <a:blip r:embed="rId3"/>
          <a:srcRect l="19095" t="18714" r="12992" b="13634"/>
          <a:stretch>
            <a:fillRect/>
          </a:stretch>
        </p:blipFill>
        <p:spPr>
          <a:xfrm>
            <a:off x="223306" y="3535817"/>
            <a:ext cx="9838800" cy="9800929"/>
          </a:xfrm>
          <a:prstGeom prst="rect">
            <a:avLst/>
          </a:prstGeom>
        </p:spPr>
      </p:pic>
      <p:sp>
        <p:nvSpPr>
          <p:cNvPr id="4" name="TextBox 3">
            <a:extLst>
              <a:ext uri="{FF2B5EF4-FFF2-40B4-BE49-F238E27FC236}">
                <a16:creationId xmlns:a16="http://schemas.microsoft.com/office/drawing/2014/main" id="{D9811DF6-DCA6-5BA5-173D-D3A1AD21181A}"/>
              </a:ext>
            </a:extLst>
          </p:cNvPr>
          <p:cNvSpPr txBox="1"/>
          <p:nvPr/>
        </p:nvSpPr>
        <p:spPr>
          <a:xfrm>
            <a:off x="223306" y="2317565"/>
            <a:ext cx="9838800" cy="1131543"/>
          </a:xfrm>
          <a:prstGeom prst="rect">
            <a:avLst/>
          </a:prstGeom>
          <a:ln/>
        </p:spPr>
        <p:style>
          <a:lnRef idx="0">
            <a:schemeClr val="dk1"/>
          </a:lnRef>
          <a:fillRef idx="3">
            <a:schemeClr val="dk1"/>
          </a:fillRef>
          <a:effectRef idx="3">
            <a:schemeClr val="dk1"/>
          </a:effectRef>
          <a:fontRef idx="minor">
            <a:schemeClr val="lt1"/>
          </a:fontRef>
        </p:style>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latin typeface="+mj-lt"/>
              </a:rPr>
              <a:t>Shorthand Method Definition</a:t>
            </a:r>
            <a:endParaRPr lang="en-GB" sz="1400" b="1" dirty="0">
              <a:ln w="0"/>
              <a:solidFill>
                <a:schemeClr val="tx1"/>
              </a:solidFill>
              <a:effectLst>
                <a:outerShdw blurRad="38100" dist="25400" dir="5400000" algn="ctr" rotWithShape="0">
                  <a:srgbClr val="6E747A">
                    <a:alpha val="43000"/>
                  </a:srgbClr>
                </a:outerShdw>
              </a:effectLst>
              <a:latin typeface="+mj-lt"/>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405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7870" y="9690303"/>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7870" y="4888470"/>
            <a:ext cx="914400" cy="914400"/>
          </a:xfrm>
          <a:prstGeom prst="rect">
            <a:avLst/>
          </a:prstGeom>
        </p:spPr>
      </p:pic>
      <p:sp>
        <p:nvSpPr>
          <p:cNvPr id="21" name="TextBox 20">
            <a:extLst>
              <a:ext uri="{FF2B5EF4-FFF2-40B4-BE49-F238E27FC236}">
                <a16:creationId xmlns:a16="http://schemas.microsoft.com/office/drawing/2014/main" id="{564E587C-A795-B2BF-C5C7-7BBE30BE9381}"/>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175A80C-BEDD-7C1F-9AFB-C4F421BA4D6F}"/>
              </a:ext>
            </a:extLst>
          </p:cNvPr>
          <p:cNvPicPr>
            <a:picLocks noChangeAspect="1"/>
          </p:cNvPicPr>
          <p:nvPr/>
        </p:nvPicPr>
        <p:blipFill>
          <a:blip r:embed="rId6"/>
          <a:stretch>
            <a:fillRect/>
          </a:stretch>
        </p:blipFill>
        <p:spPr>
          <a:xfrm>
            <a:off x="299372" y="2358762"/>
            <a:ext cx="1062000" cy="1062000"/>
          </a:xfrm>
          <a:prstGeom prst="rect">
            <a:avLst/>
          </a:prstGeom>
        </p:spPr>
      </p:pic>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D7EF9FF7-0EE9-4C04-B13D-F41C4138034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854525-82FF-D4FF-D569-5A239DC64D5B}"/>
              </a:ext>
            </a:extLst>
          </p:cNvPr>
          <p:cNvSpPr txBox="1"/>
          <p:nvPr/>
        </p:nvSpPr>
        <p:spPr>
          <a:xfrm>
            <a:off x="223306" y="2317565"/>
            <a:ext cx="9838800" cy="1131543"/>
          </a:xfrm>
          <a:prstGeom prst="rect">
            <a:avLst/>
          </a:prstGeom>
          <a:ln/>
        </p:spPr>
        <p:style>
          <a:lnRef idx="0">
            <a:schemeClr val="dk1"/>
          </a:lnRef>
          <a:fillRef idx="3">
            <a:schemeClr val="dk1"/>
          </a:fillRef>
          <a:effectRef idx="3">
            <a:schemeClr val="dk1"/>
          </a:effectRef>
          <a:fontRef idx="minor">
            <a:schemeClr val="lt1"/>
          </a:fontRef>
        </p:style>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latin typeface="+mj-lt"/>
              </a:rPr>
              <a:t>Shorthand Method Definition</a:t>
            </a:r>
            <a:endParaRPr lang="en-GB" sz="1400" b="1" dirty="0">
              <a:ln w="0"/>
              <a:solidFill>
                <a:schemeClr val="tx1"/>
              </a:solidFill>
              <a:effectLst>
                <a:outerShdw blurRad="38100" dist="25400" dir="5400000" algn="ctr" rotWithShape="0">
                  <a:srgbClr val="6E747A">
                    <a:alpha val="43000"/>
                  </a:srgbClr>
                </a:outerShdw>
              </a:effectLst>
              <a:latin typeface="+mj-lt"/>
            </a:endParaRPr>
          </a:p>
        </p:txBody>
      </p:sp>
      <p:sp>
        <p:nvSpPr>
          <p:cNvPr id="11" name="TextBox 10">
            <a:extLst>
              <a:ext uri="{FF2B5EF4-FFF2-40B4-BE49-F238E27FC236}">
                <a16:creationId xmlns:a16="http://schemas.microsoft.com/office/drawing/2014/main" id="{92F859A7-CC40-8334-EBB9-C59603C8F840}"/>
              </a:ext>
            </a:extLst>
          </p:cNvPr>
          <p:cNvSpPr txBox="1"/>
          <p:nvPr/>
        </p:nvSpPr>
        <p:spPr>
          <a:xfrm>
            <a:off x="691020" y="3824321"/>
            <a:ext cx="9000000" cy="2744922"/>
          </a:xfrm>
          <a:prstGeom prst="rect">
            <a:avLst/>
          </a:prstGeom>
          <a:noFill/>
        </p:spPr>
        <p:txBody>
          <a:bodyPr wrap="square" rtlCol="0">
            <a:noAutofit/>
          </a:bodyPr>
          <a:lstStyle/>
          <a:p>
            <a:pPr algn="just"/>
            <a:r>
              <a:rPr lang="en-GB" sz="4800" dirty="0">
                <a:latin typeface="Patrick Hand" pitchFamily="2" charset="77"/>
              </a:rPr>
              <a:t>Using </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{key: function()} </a:t>
            </a:r>
            <a:r>
              <a:rPr lang="en-GB" sz="4800" dirty="0">
                <a:latin typeface="Patrick Hand" pitchFamily="2" charset="77"/>
              </a:rPr>
              <a:t>is old-school and adds unnecessary noise to your object structure.</a:t>
            </a:r>
            <a:endParaRPr lang="en-DE" sz="4800" dirty="0">
              <a:latin typeface="Patrick Hand" pitchFamily="2" charset="77"/>
            </a:endParaRPr>
          </a:p>
        </p:txBody>
      </p:sp>
      <p:sp>
        <p:nvSpPr>
          <p:cNvPr id="21" name="TextBox 20">
            <a:extLst>
              <a:ext uri="{FF2B5EF4-FFF2-40B4-BE49-F238E27FC236}">
                <a16:creationId xmlns:a16="http://schemas.microsoft.com/office/drawing/2014/main" id="{D4DE11CC-D707-DBFC-CF6C-21A5699A34CA}"/>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91A5C4E7-FAE1-A7A6-5906-C05C0621AF7D}"/>
              </a:ext>
            </a:extLst>
          </p:cNvPr>
          <p:cNvPicPr>
            <a:picLocks noChangeAspect="1"/>
          </p:cNvPicPr>
          <p:nvPr/>
        </p:nvPicPr>
        <p:blipFill>
          <a:blip r:embed="rId2"/>
          <a:stretch>
            <a:fillRect/>
          </a:stretch>
        </p:blipFill>
        <p:spPr>
          <a:xfrm>
            <a:off x="299372" y="2358762"/>
            <a:ext cx="1062000" cy="1062000"/>
          </a:xfrm>
          <a:prstGeom prst="rect">
            <a:avLst/>
          </a:prstGeom>
        </p:spPr>
      </p:pic>
      <p:sp>
        <p:nvSpPr>
          <p:cNvPr id="5" name="TextBox 4">
            <a:extLst>
              <a:ext uri="{FF2B5EF4-FFF2-40B4-BE49-F238E27FC236}">
                <a16:creationId xmlns:a16="http://schemas.microsoft.com/office/drawing/2014/main" id="{44CAE316-F4FE-A7A3-E2A0-F8D3DECEA226}"/>
              </a:ext>
            </a:extLst>
          </p:cNvPr>
          <p:cNvSpPr txBox="1"/>
          <p:nvPr/>
        </p:nvSpPr>
        <p:spPr>
          <a:xfrm>
            <a:off x="691020" y="9559372"/>
            <a:ext cx="9000000" cy="4132565"/>
          </a:xfrm>
          <a:prstGeom prst="rect">
            <a:avLst/>
          </a:prstGeom>
          <a:noFill/>
        </p:spPr>
        <p:txBody>
          <a:bodyPr wrap="square" rtlCol="0">
            <a:noAutofit/>
          </a:bodyPr>
          <a:lstStyle/>
          <a:p>
            <a:pPr algn="just"/>
            <a:r>
              <a:rPr lang="en-GB" sz="4800" dirty="0">
                <a:latin typeface="Patrick Hand" pitchFamily="2" charset="77"/>
              </a:rPr>
              <a:t>Use Method Shorthand.</a:t>
            </a:r>
          </a:p>
          <a:p>
            <a:pPr algn="just"/>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{function(){}}</a:t>
            </a:r>
          </a:p>
          <a:p>
            <a:pPr algn="just"/>
            <a:r>
              <a:rPr lang="en-GB" sz="4800" dirty="0">
                <a:latin typeface="Patrick Hand" pitchFamily="2" charset="77"/>
              </a:rPr>
              <a:t> It’s cleaner, more concise, and the standard way to define functions inside objects in modern JS.</a:t>
            </a:r>
          </a:p>
          <a:p>
            <a:pPr algn="just"/>
            <a:endParaRPr lang="en-DE" sz="4800" dirty="0">
              <a:latin typeface="Patrick Hand" pitchFamily="2" charset="77"/>
            </a:endParaRPr>
          </a:p>
        </p:txBody>
      </p:sp>
      <p:cxnSp>
        <p:nvCxnSpPr>
          <p:cNvPr id="14" name="Straight Connector 13">
            <a:extLst>
              <a:ext uri="{FF2B5EF4-FFF2-40B4-BE49-F238E27FC236}">
                <a16:creationId xmlns:a16="http://schemas.microsoft.com/office/drawing/2014/main" id="{088C0585-19D6-8568-1378-5EED767E7787}"/>
              </a:ext>
            </a:extLst>
          </p:cNvPr>
          <p:cNvCxnSpPr>
            <a:cxnSpLocks/>
          </p:cNvCxnSpPr>
          <p:nvPr/>
        </p:nvCxnSpPr>
        <p:spPr>
          <a:xfrm>
            <a:off x="457164" y="8064308"/>
            <a:ext cx="9371084"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8385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1A2B112A-A4D3-6587-49A7-2AB420B77C8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E850A1C-ECCE-E1E2-3E8B-4D6BC430BF5F}"/>
              </a:ext>
            </a:extLst>
          </p:cNvPr>
          <p:cNvSpPr txBox="1"/>
          <p:nvPr/>
        </p:nvSpPr>
        <p:spPr>
          <a:xfrm>
            <a:off x="223306" y="2317565"/>
            <a:ext cx="9838800" cy="1131543"/>
          </a:xfrm>
          <a:prstGeom prst="rect">
            <a:avLst/>
          </a:prstGeom>
          <a:ln/>
        </p:spPr>
        <p:style>
          <a:lnRef idx="0">
            <a:schemeClr val="dk1"/>
          </a:lnRef>
          <a:fillRef idx="3">
            <a:schemeClr val="dk1"/>
          </a:fillRef>
          <a:effectRef idx="3">
            <a:schemeClr val="dk1"/>
          </a:effectRef>
          <a:fontRef idx="minor">
            <a:schemeClr val="lt1"/>
          </a:fontRef>
        </p:style>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latin typeface="+mj-lt"/>
              </a:rPr>
              <a:t>Shorthand Method Definition</a:t>
            </a:r>
            <a:endParaRPr lang="en-GB" sz="1400" b="1" dirty="0">
              <a:ln w="0"/>
              <a:solidFill>
                <a:schemeClr val="tx1"/>
              </a:solidFill>
              <a:effectLst>
                <a:outerShdw blurRad="38100" dist="25400" dir="5400000" algn="ctr" rotWithShape="0">
                  <a:srgbClr val="6E747A">
                    <a:alpha val="43000"/>
                  </a:srgbClr>
                </a:outerShdw>
              </a:effectLst>
              <a:latin typeface="+mj-lt"/>
            </a:endParaRPr>
          </a:p>
        </p:txBody>
      </p:sp>
      <p:sp>
        <p:nvSpPr>
          <p:cNvPr id="11" name="TextBox 10">
            <a:extLst>
              <a:ext uri="{FF2B5EF4-FFF2-40B4-BE49-F238E27FC236}">
                <a16:creationId xmlns:a16="http://schemas.microsoft.com/office/drawing/2014/main" id="{4E946473-9FA4-E3A1-698A-8991150C2A79}"/>
              </a:ext>
            </a:extLst>
          </p:cNvPr>
          <p:cNvSpPr txBox="1"/>
          <p:nvPr/>
        </p:nvSpPr>
        <p:spPr>
          <a:xfrm>
            <a:off x="711679" y="4425900"/>
            <a:ext cx="8862054" cy="1131543"/>
          </a:xfrm>
          <a:prstGeom prst="rect">
            <a:avLst/>
          </a:prstGeom>
          <a:noFill/>
        </p:spPr>
        <p:txBody>
          <a:bodyPr wrap="square" rtlCol="0">
            <a:noAutofit/>
          </a:bodyPr>
          <a:lstStyle/>
          <a:p>
            <a:pPr algn="just"/>
            <a:r>
              <a:rPr lang="en-GB" sz="6600" dirty="0">
                <a:latin typeface="Patrick Hand" pitchFamily="2" charset="77"/>
              </a:rPr>
              <a:t>Which method are you using?</a:t>
            </a:r>
            <a:endParaRPr lang="en-DE" sz="6600" dirty="0">
              <a:latin typeface="Patrick Hand" pitchFamily="2" charset="77"/>
            </a:endParaRPr>
          </a:p>
        </p:txBody>
      </p:sp>
      <p:sp>
        <p:nvSpPr>
          <p:cNvPr id="21" name="TextBox 20">
            <a:extLst>
              <a:ext uri="{FF2B5EF4-FFF2-40B4-BE49-F238E27FC236}">
                <a16:creationId xmlns:a16="http://schemas.microsoft.com/office/drawing/2014/main" id="{CC1EF677-C93D-3843-BC0C-8DA220B07D9B}"/>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7215984-DDAD-E7C2-0679-F91724785C22}"/>
              </a:ext>
            </a:extLst>
          </p:cNvPr>
          <p:cNvPicPr>
            <a:picLocks noChangeAspect="1"/>
          </p:cNvPicPr>
          <p:nvPr/>
        </p:nvPicPr>
        <p:blipFill>
          <a:blip r:embed="rId2"/>
          <a:stretch>
            <a:fillRect/>
          </a:stretch>
        </p:blipFill>
        <p:spPr>
          <a:xfrm>
            <a:off x="299372" y="2358762"/>
            <a:ext cx="1062000" cy="1062000"/>
          </a:xfrm>
          <a:prstGeom prst="rect">
            <a:avLst/>
          </a:prstGeom>
        </p:spPr>
      </p:pic>
      <p:sp>
        <p:nvSpPr>
          <p:cNvPr id="2" name="TextBox 1">
            <a:extLst>
              <a:ext uri="{FF2B5EF4-FFF2-40B4-BE49-F238E27FC236}">
                <a16:creationId xmlns:a16="http://schemas.microsoft.com/office/drawing/2014/main" id="{912EB7B5-7FED-2854-64B2-000B284D240C}"/>
              </a:ext>
            </a:extLst>
          </p:cNvPr>
          <p:cNvSpPr txBox="1"/>
          <p:nvPr/>
        </p:nvSpPr>
        <p:spPr>
          <a:xfrm>
            <a:off x="1658080" y="8343070"/>
            <a:ext cx="6969252" cy="707886"/>
          </a:xfrm>
          <a:prstGeom prst="rect">
            <a:avLst/>
          </a:prstGeom>
          <a:noFill/>
        </p:spPr>
        <p:txBody>
          <a:bodyPr wrap="square" rtlCol="0">
            <a:spAutoFit/>
          </a:bodyPr>
          <a:lstStyle/>
          <a:p>
            <a:r>
              <a:rPr lang="en-GB" sz="4000" dirty="0"/>
              <a:t>Please write in the comments !!!</a:t>
            </a:r>
            <a:endParaRPr lang="en-DE" sz="4000" dirty="0">
              <a:latin typeface="Patrick Hand" pitchFamily="2" charset="77"/>
            </a:endParaRPr>
          </a:p>
        </p:txBody>
      </p:sp>
    </p:spTree>
    <p:extLst>
      <p:ext uri="{BB962C8B-B14F-4D97-AF65-F5344CB8AC3E}">
        <p14:creationId xmlns:p14="http://schemas.microsoft.com/office/powerpoint/2010/main" val="36551312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72EA83A-23DF-D741-7EF4-4436E393D4A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86B9CC0-00CE-6164-AA3A-377C73F0B0FC}"/>
              </a:ext>
            </a:extLst>
          </p:cNvPr>
          <p:cNvPicPr preferRelativeResize="0">
            <a:picLocks/>
          </p:cNvPicPr>
          <p:nvPr/>
        </p:nvPicPr>
        <p:blipFill rotWithShape="1">
          <a:blip r:embed="rId3"/>
          <a:srcRect l="24508" t="23704" r="16791" b="19141"/>
          <a:stretch>
            <a:fillRect/>
          </a:stretch>
        </p:blipFill>
        <p:spPr>
          <a:xfrm>
            <a:off x="223306" y="4091883"/>
            <a:ext cx="9838800" cy="9000000"/>
          </a:xfrm>
          <a:prstGeom prst="rect">
            <a:avLst/>
          </a:prstGeom>
        </p:spPr>
      </p:pic>
      <p:sp>
        <p:nvSpPr>
          <p:cNvPr id="4" name="TextBox 3">
            <a:extLst>
              <a:ext uri="{FF2B5EF4-FFF2-40B4-BE49-F238E27FC236}">
                <a16:creationId xmlns:a16="http://schemas.microsoft.com/office/drawing/2014/main" id="{0A725730-E609-DE57-68F2-3DE611D684B6}"/>
              </a:ext>
            </a:extLst>
          </p:cNvPr>
          <p:cNvSpPr txBox="1"/>
          <p:nvPr/>
        </p:nvSpPr>
        <p:spPr>
          <a:xfrm>
            <a:off x="223306" y="2871017"/>
            <a:ext cx="9838800" cy="1131543"/>
          </a:xfrm>
          <a:prstGeom prst="rect">
            <a:avLst/>
          </a:prstGeom>
          <a:ln/>
        </p:spPr>
        <p:style>
          <a:lnRef idx="0">
            <a:schemeClr val="dk1"/>
          </a:lnRef>
          <a:fillRef idx="3">
            <a:schemeClr val="dk1"/>
          </a:fillRef>
          <a:effectRef idx="3">
            <a:schemeClr val="dk1"/>
          </a:effectRef>
          <a:fontRef idx="minor">
            <a:schemeClr val="lt1"/>
          </a:fontRef>
        </p:style>
        <p:txBody>
          <a:bodyPr wrap="squar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latin typeface="+mj-lt"/>
              </a:rPr>
              <a:t>Shorthand Property Value</a:t>
            </a:r>
            <a:endParaRPr lang="en-GB" sz="1400" b="1" dirty="0">
              <a:ln w="0"/>
              <a:solidFill>
                <a:schemeClr val="tx1"/>
              </a:solidFill>
              <a:effectLst>
                <a:outerShdw blurRad="38100" dist="25400" dir="5400000" algn="ctr" rotWithShape="0">
                  <a:srgbClr val="6E747A">
                    <a:alpha val="43000"/>
                  </a:srgbClr>
                </a:outerShdw>
              </a:effectLst>
              <a:latin typeface="+mj-lt"/>
            </a:endParaRPr>
          </a:p>
        </p:txBody>
      </p:sp>
      <p:cxnSp>
        <p:nvCxnSpPr>
          <p:cNvPr id="17" name="Straight Connector 16">
            <a:extLst>
              <a:ext uri="{FF2B5EF4-FFF2-40B4-BE49-F238E27FC236}">
                <a16:creationId xmlns:a16="http://schemas.microsoft.com/office/drawing/2014/main" id="{41BE738F-A251-4E4E-B194-9403CBDBC619}"/>
              </a:ext>
            </a:extLst>
          </p:cNvPr>
          <p:cNvCxnSpPr>
            <a:cxnSpLocks/>
          </p:cNvCxnSpPr>
          <p:nvPr/>
        </p:nvCxnSpPr>
        <p:spPr>
          <a:xfrm>
            <a:off x="235460" y="933839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B995CF6C-0836-B27F-0BD2-165B9A4458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7870" y="9738429"/>
            <a:ext cx="914400" cy="914400"/>
          </a:xfrm>
          <a:prstGeom prst="rect">
            <a:avLst/>
          </a:prstGeom>
        </p:spPr>
      </p:pic>
      <p:pic>
        <p:nvPicPr>
          <p:cNvPr id="19" name="Graphic 18" descr="Close with solid fill">
            <a:extLst>
              <a:ext uri="{FF2B5EF4-FFF2-40B4-BE49-F238E27FC236}">
                <a16:creationId xmlns:a16="http://schemas.microsoft.com/office/drawing/2014/main" id="{BB0225CA-B7EF-3562-5D86-65AB3572D3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7870" y="5826931"/>
            <a:ext cx="914400" cy="914400"/>
          </a:xfrm>
          <a:prstGeom prst="rect">
            <a:avLst/>
          </a:prstGeom>
        </p:spPr>
      </p:pic>
      <p:sp>
        <p:nvSpPr>
          <p:cNvPr id="21" name="TextBox 20">
            <a:extLst>
              <a:ext uri="{FF2B5EF4-FFF2-40B4-BE49-F238E27FC236}">
                <a16:creationId xmlns:a16="http://schemas.microsoft.com/office/drawing/2014/main" id="{C3C60C0C-DC91-4159-7A9E-2DAB326C780C}"/>
              </a:ext>
            </a:extLst>
          </p:cNvPr>
          <p:cNvSpPr txBox="1"/>
          <p:nvPr/>
        </p:nvSpPr>
        <p:spPr>
          <a:xfrm>
            <a:off x="-8795863" y="2612217"/>
            <a:ext cx="807464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js_004_property_value_shorthand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11D8BBF7-5EB6-9D33-3A95-15B14DB3FEAA}"/>
              </a:ext>
            </a:extLst>
          </p:cNvPr>
          <p:cNvPicPr>
            <a:picLocks noChangeAspect="1"/>
          </p:cNvPicPr>
          <p:nvPr/>
        </p:nvPicPr>
        <p:blipFill>
          <a:blip r:embed="rId6"/>
          <a:stretch>
            <a:fillRect/>
          </a:stretch>
        </p:blipFill>
        <p:spPr>
          <a:xfrm>
            <a:off x="299372" y="2912214"/>
            <a:ext cx="1062000" cy="1062000"/>
          </a:xfrm>
          <a:prstGeom prst="rect">
            <a:avLst/>
          </a:prstGeom>
        </p:spPr>
      </p:pic>
    </p:spTree>
    <p:extLst>
      <p:ext uri="{BB962C8B-B14F-4D97-AF65-F5344CB8AC3E}">
        <p14:creationId xmlns:p14="http://schemas.microsoft.com/office/powerpoint/2010/main" val="2143671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5EF17F2-19F5-E908-F2E5-3DA8824EE04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FD58CC3-D947-3AD4-BE7B-4C40DB6D405F}"/>
              </a:ext>
            </a:extLst>
          </p:cNvPr>
          <p:cNvSpPr txBox="1"/>
          <p:nvPr/>
        </p:nvSpPr>
        <p:spPr>
          <a:xfrm>
            <a:off x="223306" y="2871017"/>
            <a:ext cx="9838800" cy="1131543"/>
          </a:xfrm>
          <a:prstGeom prst="rect">
            <a:avLst/>
          </a:prstGeom>
          <a:ln/>
        </p:spPr>
        <p:style>
          <a:lnRef idx="0">
            <a:schemeClr val="dk1"/>
          </a:lnRef>
          <a:fillRef idx="3">
            <a:schemeClr val="dk1"/>
          </a:fillRef>
          <a:effectRef idx="3">
            <a:schemeClr val="dk1"/>
          </a:effectRef>
          <a:fontRef idx="minor">
            <a:schemeClr val="lt1"/>
          </a:fontRef>
        </p:style>
        <p:txBody>
          <a:bodyPr wrap="squar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latin typeface="+mj-lt"/>
              </a:rPr>
              <a:t>Shorthand Property Value</a:t>
            </a:r>
            <a:endParaRPr lang="en-GB" sz="1400" b="1" dirty="0">
              <a:ln w="0"/>
              <a:solidFill>
                <a:schemeClr val="tx1"/>
              </a:solidFill>
              <a:effectLst>
                <a:outerShdw blurRad="38100" dist="25400" dir="5400000" algn="ctr" rotWithShape="0">
                  <a:srgbClr val="6E747A">
                    <a:alpha val="43000"/>
                  </a:srgbClr>
                </a:outerShdw>
              </a:effectLst>
              <a:latin typeface="+mj-lt"/>
            </a:endParaRPr>
          </a:p>
        </p:txBody>
      </p:sp>
      <p:sp>
        <p:nvSpPr>
          <p:cNvPr id="21" name="TextBox 20">
            <a:extLst>
              <a:ext uri="{FF2B5EF4-FFF2-40B4-BE49-F238E27FC236}">
                <a16:creationId xmlns:a16="http://schemas.microsoft.com/office/drawing/2014/main" id="{0D21AB41-28C4-4114-048C-C26B428D7F53}"/>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E682B1F8-2B8C-01E7-6899-D771DBC29762}"/>
              </a:ext>
            </a:extLst>
          </p:cNvPr>
          <p:cNvPicPr>
            <a:picLocks noChangeAspect="1"/>
          </p:cNvPicPr>
          <p:nvPr/>
        </p:nvPicPr>
        <p:blipFill>
          <a:blip r:embed="rId3"/>
          <a:stretch>
            <a:fillRect/>
          </a:stretch>
        </p:blipFill>
        <p:spPr>
          <a:xfrm>
            <a:off x="299372" y="2912214"/>
            <a:ext cx="1062000" cy="1062000"/>
          </a:xfrm>
          <a:prstGeom prst="rect">
            <a:avLst/>
          </a:prstGeom>
        </p:spPr>
      </p:pic>
      <p:sp>
        <p:nvSpPr>
          <p:cNvPr id="2" name="TextBox 1">
            <a:extLst>
              <a:ext uri="{FF2B5EF4-FFF2-40B4-BE49-F238E27FC236}">
                <a16:creationId xmlns:a16="http://schemas.microsoft.com/office/drawing/2014/main" id="{C4F21203-6330-787B-DA91-97BCD8F2B823}"/>
              </a:ext>
            </a:extLst>
          </p:cNvPr>
          <p:cNvSpPr txBox="1"/>
          <p:nvPr/>
        </p:nvSpPr>
        <p:spPr>
          <a:xfrm>
            <a:off x="724868" y="5412488"/>
            <a:ext cx="8835676" cy="1131543"/>
          </a:xfrm>
          <a:prstGeom prst="rect">
            <a:avLst/>
          </a:prstGeom>
          <a:noFill/>
        </p:spPr>
        <p:txBody>
          <a:bodyPr wrap="square" rtlCol="0">
            <a:noAutofit/>
          </a:bodyPr>
          <a:lstStyle/>
          <a:p>
            <a:pPr algn="just"/>
            <a:r>
              <a:rPr lang="en-GB" sz="6600" dirty="0">
                <a:latin typeface="Patrick Hand" pitchFamily="2" charset="77"/>
              </a:rPr>
              <a:t>What’s your opinion on this?</a:t>
            </a:r>
            <a:endParaRPr lang="en-DE" sz="6600" dirty="0">
              <a:latin typeface="Patrick Hand" pitchFamily="2" charset="77"/>
            </a:endParaRPr>
          </a:p>
        </p:txBody>
      </p:sp>
      <p:sp>
        <p:nvSpPr>
          <p:cNvPr id="3" name="TextBox 2">
            <a:extLst>
              <a:ext uri="{FF2B5EF4-FFF2-40B4-BE49-F238E27FC236}">
                <a16:creationId xmlns:a16="http://schemas.microsoft.com/office/drawing/2014/main" id="{FA3040A9-D4D6-7B63-806C-0A7CD150632C}"/>
              </a:ext>
            </a:extLst>
          </p:cNvPr>
          <p:cNvSpPr txBox="1"/>
          <p:nvPr/>
        </p:nvSpPr>
        <p:spPr>
          <a:xfrm>
            <a:off x="1658080" y="8343070"/>
            <a:ext cx="6969252" cy="707886"/>
          </a:xfrm>
          <a:prstGeom prst="rect">
            <a:avLst/>
          </a:prstGeom>
          <a:noFill/>
        </p:spPr>
        <p:txBody>
          <a:bodyPr wrap="square" rtlCol="0">
            <a:spAutoFit/>
          </a:bodyPr>
          <a:lstStyle/>
          <a:p>
            <a:r>
              <a:rPr lang="en-GB" sz="4000" dirty="0"/>
              <a:t>Please write in the comments !!!</a:t>
            </a:r>
            <a:endParaRPr lang="en-DE" sz="4000" dirty="0">
              <a:latin typeface="Patrick Hand" pitchFamily="2" charset="77"/>
            </a:endParaRPr>
          </a:p>
        </p:txBody>
      </p:sp>
    </p:spTree>
    <p:extLst>
      <p:ext uri="{BB962C8B-B14F-4D97-AF65-F5344CB8AC3E}">
        <p14:creationId xmlns:p14="http://schemas.microsoft.com/office/powerpoint/2010/main" val="3341041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F05B7D4-F280-F06F-B39C-2F00BFC25F26}"/>
              </a:ext>
            </a:extLst>
          </p:cNvPr>
          <p:cNvSpPr txBox="1"/>
          <p:nvPr/>
        </p:nvSpPr>
        <p:spPr>
          <a:xfrm>
            <a:off x="223306" y="276573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Pytorch</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4"/>
          <a:stretch>
            <a:fillRect/>
          </a:stretch>
        </p:blipFill>
        <p:spPr>
          <a:xfrm>
            <a:off x="302958" y="2797078"/>
            <a:ext cx="1063167" cy="1063167"/>
          </a:xfrm>
          <a:prstGeom prst="rect">
            <a:avLst/>
          </a:prstGeom>
        </p:spPr>
      </p:pic>
      <p:sp>
        <p:nvSpPr>
          <p:cNvPr id="29" name="TextBox 28">
            <a:extLst>
              <a:ext uri="{FF2B5EF4-FFF2-40B4-BE49-F238E27FC236}">
                <a16:creationId xmlns:a16="http://schemas.microsoft.com/office/drawing/2014/main" id="{AAA0906F-C1A8-69EB-29A2-B230DC472ED4}"/>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7638F6FA-6017-F369-912E-E35B767DD54F}"/>
              </a:ext>
            </a:extLst>
          </p:cNvPr>
          <p:cNvSpPr txBox="1"/>
          <p:nvPr/>
        </p:nvSpPr>
        <p:spPr>
          <a:xfrm>
            <a:off x="462706" y="7798471"/>
            <a:ext cx="9360000" cy="1754326"/>
          </a:xfrm>
          <a:prstGeom prst="rect">
            <a:avLst/>
          </a:prstGeom>
          <a:noFill/>
        </p:spPr>
        <p:txBody>
          <a:bodyPr wrap="square" rtlCol="0">
            <a:spAutoFit/>
          </a:bodyPr>
          <a:lstStyle/>
          <a:p>
            <a:pPr algn="ctr"/>
            <a:r>
              <a:rPr lang="en-GB" sz="5400" dirty="0">
                <a:latin typeface="Patrick Hand" pitchFamily="2" charset="77"/>
              </a:rPr>
              <a:t>How to install:</a:t>
            </a:r>
          </a:p>
          <a:p>
            <a:pPr algn="ctr"/>
            <a:r>
              <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pip install torch</a:t>
            </a:r>
            <a:endPar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
        <p:nvSpPr>
          <p:cNvPr id="3" name="TextBox 2">
            <a:extLst>
              <a:ext uri="{FF2B5EF4-FFF2-40B4-BE49-F238E27FC236}">
                <a16:creationId xmlns:a16="http://schemas.microsoft.com/office/drawing/2014/main" id="{0DBF7B66-B42D-9EAB-A129-4CD9E5399450}"/>
              </a:ext>
            </a:extLst>
          </p:cNvPr>
          <p:cNvSpPr txBox="1"/>
          <p:nvPr/>
        </p:nvSpPr>
        <p:spPr>
          <a:xfrm>
            <a:off x="462706" y="4349514"/>
            <a:ext cx="9360000" cy="2862322"/>
          </a:xfrm>
          <a:prstGeom prst="rect">
            <a:avLst/>
          </a:prstGeom>
          <a:noFill/>
        </p:spPr>
        <p:txBody>
          <a:bodyPr wrap="square" rtlCol="0">
            <a:spAutoFit/>
          </a:bodyPr>
          <a:lstStyle/>
          <a:p>
            <a:pPr algn="ctr"/>
            <a:r>
              <a:rPr lang="en-GB" sz="60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Pytorch</a:t>
            </a:r>
            <a:r>
              <a:rPr lang="en-GB" sz="6000" dirty="0">
                <a:latin typeface="Patrick Hand" pitchFamily="2" charset="77"/>
              </a:rPr>
              <a:t> is a powerful machine learning framework designed for Deep Learning.</a:t>
            </a:r>
            <a:endParaRPr lang="en-DE" sz="6000" dirty="0">
              <a:latin typeface="Patrick Hand" pitchFamily="2" charset="77"/>
            </a:endParaRPr>
          </a:p>
        </p:txBody>
      </p:sp>
      <p:sp>
        <p:nvSpPr>
          <p:cNvPr id="5" name="Right Arrow 4">
            <a:extLst>
              <a:ext uri="{FF2B5EF4-FFF2-40B4-BE49-F238E27FC236}">
                <a16:creationId xmlns:a16="http://schemas.microsoft.com/office/drawing/2014/main" id="{0A7CC46E-4936-FF6B-5669-6610697847FE}"/>
              </a:ext>
            </a:extLst>
          </p:cNvPr>
          <p:cNvSpPr/>
          <p:nvPr/>
        </p:nvSpPr>
        <p:spPr>
          <a:xfrm>
            <a:off x="4484374" y="10139431"/>
            <a:ext cx="1316664" cy="794085"/>
          </a:xfrm>
          <a:prstGeom prst="rightArrow">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957DF845-062C-5016-C641-04EDB6B67D38}"/>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BA5A8C5E-D3E9-D39B-DC01-D8239503F399}"/>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476E697B-A333-4324-743A-250059ADA8AF}"/>
              </a:ext>
            </a:extLst>
          </p:cNvPr>
          <p:cNvPicPr preferRelativeResize="0">
            <a:picLocks/>
          </p:cNvPicPr>
          <p:nvPr/>
        </p:nvPicPr>
        <p:blipFill rotWithShape="1">
          <a:blip r:embed="rId4"/>
          <a:srcRect l="18053" t="27339" r="13871" b="15570"/>
          <a:stretch>
            <a:fillRect/>
          </a:stretch>
        </p:blipFill>
        <p:spPr>
          <a:xfrm>
            <a:off x="223306" y="4015407"/>
            <a:ext cx="9838800" cy="4320000"/>
          </a:xfrm>
          <a:prstGeom prst="rect">
            <a:avLst/>
          </a:prstGeom>
        </p:spPr>
      </p:pic>
      <p:sp>
        <p:nvSpPr>
          <p:cNvPr id="4" name="TextBox 3">
            <a:extLst>
              <a:ext uri="{FF2B5EF4-FFF2-40B4-BE49-F238E27FC236}">
                <a16:creationId xmlns:a16="http://schemas.microsoft.com/office/drawing/2014/main" id="{AD93F694-B17E-C812-31A3-B47A1C0B9129}"/>
              </a:ext>
            </a:extLst>
          </p:cNvPr>
          <p:cNvSpPr txBox="1"/>
          <p:nvPr/>
        </p:nvSpPr>
        <p:spPr>
          <a:xfrm>
            <a:off x="223306" y="276573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Pytorch</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8ECCEC9-66D7-8D23-2A2C-9EA3B4911A06}"/>
              </a:ext>
            </a:extLst>
          </p:cNvPr>
          <p:cNvPicPr>
            <a:picLocks noChangeAspect="1"/>
          </p:cNvPicPr>
          <p:nvPr/>
        </p:nvPicPr>
        <p:blipFill>
          <a:blip r:embed="rId5"/>
          <a:stretch>
            <a:fillRect/>
          </a:stretch>
        </p:blipFill>
        <p:spPr>
          <a:xfrm>
            <a:off x="302958" y="2797078"/>
            <a:ext cx="1063167" cy="1063167"/>
          </a:xfrm>
          <a:prstGeom prst="rect">
            <a:avLst/>
          </a:prstGeom>
        </p:spPr>
      </p:pic>
      <p:sp>
        <p:nvSpPr>
          <p:cNvPr id="7" name="Right Arrow 6">
            <a:extLst>
              <a:ext uri="{FF2B5EF4-FFF2-40B4-BE49-F238E27FC236}">
                <a16:creationId xmlns:a16="http://schemas.microsoft.com/office/drawing/2014/main" id="{B1592B40-936A-6A7A-824E-27627C58D503}"/>
              </a:ext>
            </a:extLst>
          </p:cNvPr>
          <p:cNvSpPr/>
          <p:nvPr/>
        </p:nvSpPr>
        <p:spPr>
          <a:xfrm>
            <a:off x="4484374" y="10139431"/>
            <a:ext cx="1316664" cy="794085"/>
          </a:xfrm>
          <a:prstGeom prst="rightArrow">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endParaRPr>
          </a:p>
        </p:txBody>
      </p:sp>
      <p:sp>
        <p:nvSpPr>
          <p:cNvPr id="8" name="TextBox 7">
            <a:extLst>
              <a:ext uri="{FF2B5EF4-FFF2-40B4-BE49-F238E27FC236}">
                <a16:creationId xmlns:a16="http://schemas.microsoft.com/office/drawing/2014/main" id="{1195B327-BFDB-0EE2-833E-FC630A18952E}"/>
              </a:ext>
            </a:extLst>
          </p:cNvPr>
          <p:cNvSpPr txBox="1"/>
          <p:nvPr/>
        </p:nvSpPr>
        <p:spPr>
          <a:xfrm>
            <a:off x="794716" y="8361584"/>
            <a:ext cx="8695980" cy="1938992"/>
          </a:xfrm>
          <a:prstGeom prst="rect">
            <a:avLst/>
          </a:prstGeom>
          <a:noFill/>
        </p:spPr>
        <p:txBody>
          <a:bodyPr wrap="square" rtlCol="0">
            <a:spAutoFit/>
          </a:bodyPr>
          <a:lstStyle/>
          <a:p>
            <a:pPr algn="ctr"/>
            <a:r>
              <a:rPr lang="en-GB" sz="4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Tensor</a:t>
            </a:r>
            <a:r>
              <a:rPr lang="en-GB" sz="4000" dirty="0">
                <a:latin typeface="Patrick Hand" pitchFamily="2" charset="77"/>
              </a:rPr>
              <a:t> is a fundamental building block of </a:t>
            </a:r>
            <a:r>
              <a:rPr lang="en-GB" sz="4000" dirty="0" err="1">
                <a:latin typeface="Patrick Hand" pitchFamily="2" charset="77"/>
              </a:rPr>
              <a:t>PyTorch</a:t>
            </a:r>
            <a:r>
              <a:rPr lang="en-GB" sz="4000" dirty="0">
                <a:latin typeface="Patrick Hand" pitchFamily="2" charset="77"/>
              </a:rPr>
              <a:t>, Think of multi dimensional array (like NumPy’s array).</a:t>
            </a:r>
            <a:endParaRPr lang="en-DE" sz="4000" dirty="0">
              <a:latin typeface="Patrick Hand" pitchFamily="2" charset="77"/>
            </a:endParaRPr>
          </a:p>
        </p:txBody>
      </p:sp>
    </p:spTree>
    <p:extLst>
      <p:ext uri="{BB962C8B-B14F-4D97-AF65-F5344CB8AC3E}">
        <p14:creationId xmlns:p14="http://schemas.microsoft.com/office/powerpoint/2010/main" val="3291150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3C9E34B-8076-8DF4-4F68-0B60C37F353F}"/>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7D438B2D-EFA9-FE1A-4A50-C89B73AAE5A7}"/>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CB355577-25DD-52D5-41ED-E77E515A42FC}"/>
              </a:ext>
            </a:extLst>
          </p:cNvPr>
          <p:cNvSpPr txBox="1"/>
          <p:nvPr/>
        </p:nvSpPr>
        <p:spPr>
          <a:xfrm>
            <a:off x="223306" y="276573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Pytorch</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D6F8946E-44B9-2438-354C-72CDEE3C29E5}"/>
              </a:ext>
            </a:extLst>
          </p:cNvPr>
          <p:cNvPicPr>
            <a:picLocks noChangeAspect="1"/>
          </p:cNvPicPr>
          <p:nvPr/>
        </p:nvPicPr>
        <p:blipFill>
          <a:blip r:embed="rId4"/>
          <a:stretch>
            <a:fillRect/>
          </a:stretch>
        </p:blipFill>
        <p:spPr>
          <a:xfrm>
            <a:off x="302958" y="2797078"/>
            <a:ext cx="1063167" cy="1063167"/>
          </a:xfrm>
          <a:prstGeom prst="rect">
            <a:avLst/>
          </a:prstGeom>
        </p:spPr>
      </p:pic>
      <p:pic>
        <p:nvPicPr>
          <p:cNvPr id="6" name="Picture 5">
            <a:extLst>
              <a:ext uri="{FF2B5EF4-FFF2-40B4-BE49-F238E27FC236}">
                <a16:creationId xmlns:a16="http://schemas.microsoft.com/office/drawing/2014/main" id="{E4233FA4-780E-1235-59D2-ABE492B05A29}"/>
              </a:ext>
            </a:extLst>
          </p:cNvPr>
          <p:cNvPicPr preferRelativeResize="0">
            <a:picLocks/>
          </p:cNvPicPr>
          <p:nvPr/>
        </p:nvPicPr>
        <p:blipFill rotWithShape="1">
          <a:blip r:embed="rId5"/>
          <a:srcRect l="17455" t="27615" r="12944" b="20961"/>
          <a:stretch>
            <a:fillRect/>
          </a:stretch>
        </p:blipFill>
        <p:spPr>
          <a:xfrm>
            <a:off x="223306" y="4012163"/>
            <a:ext cx="9838800" cy="4320000"/>
          </a:xfrm>
          <a:prstGeom prst="rect">
            <a:avLst/>
          </a:prstGeom>
        </p:spPr>
      </p:pic>
      <p:sp>
        <p:nvSpPr>
          <p:cNvPr id="9" name="Right Arrow 8">
            <a:extLst>
              <a:ext uri="{FF2B5EF4-FFF2-40B4-BE49-F238E27FC236}">
                <a16:creationId xmlns:a16="http://schemas.microsoft.com/office/drawing/2014/main" id="{5F02B868-D690-B125-3C01-C62189B4DD56}"/>
              </a:ext>
            </a:extLst>
          </p:cNvPr>
          <p:cNvSpPr/>
          <p:nvPr/>
        </p:nvSpPr>
        <p:spPr>
          <a:xfrm>
            <a:off x="4484374" y="10139431"/>
            <a:ext cx="1316664" cy="794085"/>
          </a:xfrm>
          <a:prstGeom prst="rightArrow">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endParaRPr>
          </a:p>
        </p:txBody>
      </p:sp>
    </p:spTree>
    <p:extLst>
      <p:ext uri="{BB962C8B-B14F-4D97-AF65-F5344CB8AC3E}">
        <p14:creationId xmlns:p14="http://schemas.microsoft.com/office/powerpoint/2010/main" val="2382801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962BA7CA-9620-C895-7B78-3313F54C32BF}"/>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5C18E03D-3386-B330-3414-1D185C290698}"/>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4247EC56-16D3-6F6E-F37C-C8D737BC9E2A}"/>
              </a:ext>
            </a:extLst>
          </p:cNvPr>
          <p:cNvSpPr txBox="1"/>
          <p:nvPr/>
        </p:nvSpPr>
        <p:spPr>
          <a:xfrm>
            <a:off x="223306" y="276573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Pytorch</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762108FA-DEC6-E414-3E10-B65201E54388}"/>
              </a:ext>
            </a:extLst>
          </p:cNvPr>
          <p:cNvPicPr>
            <a:picLocks noChangeAspect="1"/>
          </p:cNvPicPr>
          <p:nvPr/>
        </p:nvPicPr>
        <p:blipFill>
          <a:blip r:embed="rId4"/>
          <a:stretch>
            <a:fillRect/>
          </a:stretch>
        </p:blipFill>
        <p:spPr>
          <a:xfrm>
            <a:off x="302958" y="2797078"/>
            <a:ext cx="1063167" cy="1063167"/>
          </a:xfrm>
          <a:prstGeom prst="rect">
            <a:avLst/>
          </a:prstGeom>
        </p:spPr>
      </p:pic>
      <p:sp>
        <p:nvSpPr>
          <p:cNvPr id="2" name="TextBox 1">
            <a:extLst>
              <a:ext uri="{FF2B5EF4-FFF2-40B4-BE49-F238E27FC236}">
                <a16:creationId xmlns:a16="http://schemas.microsoft.com/office/drawing/2014/main" id="{AD819CAB-2BAD-D346-82FE-66F28EF3A50E}"/>
              </a:ext>
            </a:extLst>
          </p:cNvPr>
          <p:cNvSpPr txBox="1"/>
          <p:nvPr/>
        </p:nvSpPr>
        <p:spPr>
          <a:xfrm>
            <a:off x="724868" y="5412488"/>
            <a:ext cx="8835676" cy="1131543"/>
          </a:xfrm>
          <a:prstGeom prst="rect">
            <a:avLst/>
          </a:prstGeom>
          <a:noFill/>
        </p:spPr>
        <p:txBody>
          <a:bodyPr wrap="square" rtlCol="0">
            <a:noAutofit/>
          </a:bodyPr>
          <a:lstStyle/>
          <a:p>
            <a:pPr algn="just"/>
            <a:r>
              <a:rPr lang="en-GB" sz="6600" dirty="0">
                <a:latin typeface="Patrick Hand" pitchFamily="2" charset="77"/>
              </a:rPr>
              <a:t>What’s your opinion on this?</a:t>
            </a:r>
            <a:endParaRPr lang="en-DE" sz="6600" dirty="0">
              <a:latin typeface="Patrick Hand" pitchFamily="2" charset="77"/>
            </a:endParaRPr>
          </a:p>
        </p:txBody>
      </p:sp>
      <p:sp>
        <p:nvSpPr>
          <p:cNvPr id="3" name="TextBox 2">
            <a:extLst>
              <a:ext uri="{FF2B5EF4-FFF2-40B4-BE49-F238E27FC236}">
                <a16:creationId xmlns:a16="http://schemas.microsoft.com/office/drawing/2014/main" id="{C54BF0DE-344E-1284-A744-2A7B43E193D8}"/>
              </a:ext>
            </a:extLst>
          </p:cNvPr>
          <p:cNvSpPr txBox="1"/>
          <p:nvPr/>
        </p:nvSpPr>
        <p:spPr>
          <a:xfrm>
            <a:off x="1658080" y="8343070"/>
            <a:ext cx="6969252" cy="707886"/>
          </a:xfrm>
          <a:prstGeom prst="rect">
            <a:avLst/>
          </a:prstGeom>
          <a:noFill/>
        </p:spPr>
        <p:txBody>
          <a:bodyPr wrap="square" rtlCol="0">
            <a:spAutoFit/>
          </a:bodyPr>
          <a:lstStyle/>
          <a:p>
            <a:r>
              <a:rPr lang="en-GB" sz="4000" dirty="0"/>
              <a:t>Please write in the comments !!!</a:t>
            </a:r>
            <a:endParaRPr lang="en-DE" sz="4000" dirty="0">
              <a:latin typeface="Patrick Hand" pitchFamily="2" charset="77"/>
            </a:endParaRPr>
          </a:p>
        </p:txBody>
      </p:sp>
    </p:spTree>
    <p:extLst>
      <p:ext uri="{BB962C8B-B14F-4D97-AF65-F5344CB8AC3E}">
        <p14:creationId xmlns:p14="http://schemas.microsoft.com/office/powerpoint/2010/main" val="23720472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B527F96-D69C-E9DE-95C3-EFD7D7FB10AA}"/>
              </a:ext>
            </a:extLst>
          </p:cNvPr>
          <p:cNvPicPr>
            <a:picLocks noChangeAspect="1"/>
          </p:cNvPicPr>
          <p:nvPr/>
        </p:nvPicPr>
        <p:blipFill rotWithShape="1">
          <a:blip r:embed="rId3"/>
          <a:srcRect l="19291" t="19079" r="10810" b="12309"/>
          <a:stretch>
            <a:fillRect/>
          </a:stretch>
        </p:blipFill>
        <p:spPr>
          <a:xfrm>
            <a:off x="236178" y="4227986"/>
            <a:ext cx="9838800" cy="9514154"/>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872121"/>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872121"/>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955220"/>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945744"/>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6038319"/>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6019368"/>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4331" y="12429350"/>
            <a:ext cx="914400" cy="914400"/>
          </a:xfrm>
          <a:prstGeom prst="rect">
            <a:avLst/>
          </a:prstGeom>
        </p:spPr>
      </p:pic>
      <p:sp>
        <p:nvSpPr>
          <p:cNvPr id="25" name="TextBox 24">
            <a:extLst>
              <a:ext uri="{FF2B5EF4-FFF2-40B4-BE49-F238E27FC236}">
                <a16:creationId xmlns:a16="http://schemas.microsoft.com/office/drawing/2014/main" id="{E69FC5ED-505E-33C0-5388-8BBC9AF48473}"/>
              </a:ext>
            </a:extLst>
          </p:cNvPr>
          <p:cNvSpPr txBox="1"/>
          <p:nvPr/>
        </p:nvSpPr>
        <p:spPr>
          <a:xfrm>
            <a:off x="-7857400" y="2527667"/>
            <a:ext cx="710483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py_016_f_strings_vs_format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620ED27D-E93D-A20A-4C8F-B643F6E96957}"/>
              </a:ext>
            </a:extLst>
          </p:cNvPr>
          <p:cNvCxnSpPr>
            <a:cxnSpLocks/>
          </p:cNvCxnSpPr>
          <p:nvPr/>
        </p:nvCxnSpPr>
        <p:spPr>
          <a:xfrm>
            <a:off x="236451" y="87678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9" name="Graphic 18" descr="Close with solid fill">
            <a:extLst>
              <a:ext uri="{FF2B5EF4-FFF2-40B4-BE49-F238E27FC236}">
                <a16:creationId xmlns:a16="http://schemas.microsoft.com/office/drawing/2014/main" id="{C1FF8D1C-0DE8-68A0-48D5-B6ED8B1B7C7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7203" y="7809557"/>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065981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7203" y="9701540"/>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684609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24.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2872200"/>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1731083"/>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1731083"/>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2814182"/>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2804706"/>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3897281"/>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3878330"/>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pic>
        <p:nvPicPr>
          <p:cNvPr id="2" name="Picture 1">
            <a:extLst>
              <a:ext uri="{FF2B5EF4-FFF2-40B4-BE49-F238E27FC236}">
                <a16:creationId xmlns:a16="http://schemas.microsoft.com/office/drawing/2014/main" id="{6E6C76C4-FC93-6C5B-E086-9AF81FFBFE37}"/>
              </a:ext>
            </a:extLst>
          </p:cNvPr>
          <p:cNvPicPr>
            <a:picLocks noChangeAspect="1"/>
          </p:cNvPicPr>
          <p:nvPr/>
        </p:nvPicPr>
        <p:blipFill rotWithShape="1">
          <a:blip r:embed="rId3"/>
          <a:srcRect l="18633" t="23605" r="10338" b="13822"/>
          <a:stretch>
            <a:fillRect/>
          </a:stretch>
        </p:blipFill>
        <p:spPr>
          <a:xfrm>
            <a:off x="230584" y="4178515"/>
            <a:ext cx="9814357" cy="6647320"/>
          </a:xfrm>
          <a:prstGeom prst="rect">
            <a:avLst/>
          </a:prstGeom>
        </p:spPr>
      </p:pic>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0733" y="9487027"/>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00733" y="7132128"/>
            <a:ext cx="914400" cy="914400"/>
          </a:xfrm>
          <a:prstGeom prst="rect">
            <a:avLst/>
          </a:prstGeom>
        </p:spPr>
      </p:pic>
      <p:sp>
        <p:nvSpPr>
          <p:cNvPr id="25" name="TextBox 24">
            <a:extLst>
              <a:ext uri="{FF2B5EF4-FFF2-40B4-BE49-F238E27FC236}">
                <a16:creationId xmlns:a16="http://schemas.microsoft.com/office/drawing/2014/main" id="{74C48AE9-4418-800E-A60F-791956D2CB7B}"/>
              </a:ext>
            </a:extLst>
          </p:cNvPr>
          <p:cNvSpPr txBox="1"/>
          <p:nvPr/>
        </p:nvSpPr>
        <p:spPr>
          <a:xfrm>
            <a:off x="-7857400" y="2527667"/>
            <a:ext cx="50898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py_017_zip_function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CA573BE-E226-78A3-47CC-38072E91706A}"/>
              </a:ext>
            </a:extLst>
          </p:cNvPr>
          <p:cNvPicPr>
            <a:picLocks noChangeAspect="1"/>
          </p:cNvPicPr>
          <p:nvPr/>
        </p:nvPicPr>
        <p:blipFill rotWithShape="1">
          <a:blip r:embed="rId3"/>
          <a:srcRect l="19389" t="20603" r="10992" b="13377"/>
          <a:stretch>
            <a:fillRect/>
          </a:stretch>
        </p:blipFill>
        <p:spPr>
          <a:xfrm>
            <a:off x="225526" y="4234393"/>
            <a:ext cx="9834360" cy="8254377"/>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2872199"/>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2729563"/>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3606053"/>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81944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01805" y="9383896"/>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01805" y="5044653"/>
            <a:ext cx="914400" cy="914400"/>
          </a:xfrm>
          <a:prstGeom prst="rect">
            <a:avLst/>
          </a:prstGeom>
        </p:spPr>
      </p:pic>
      <p:sp>
        <p:nvSpPr>
          <p:cNvPr id="25" name="TextBox 24">
            <a:extLst>
              <a:ext uri="{FF2B5EF4-FFF2-40B4-BE49-F238E27FC236}">
                <a16:creationId xmlns:a16="http://schemas.microsoft.com/office/drawing/2014/main" id="{E90096C9-DC9C-60DF-715D-BEFC52B329EE}"/>
              </a:ext>
            </a:extLst>
          </p:cNvPr>
          <p:cNvSpPr txBox="1"/>
          <p:nvPr/>
        </p:nvSpPr>
        <p:spPr>
          <a:xfrm>
            <a:off x="-7857400" y="2527667"/>
            <a:ext cx="632897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py_018_default_dictionary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6.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2872200"/>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9710039"/>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0774187"/>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
        <p:nvSpPr>
          <p:cNvPr id="25" name="TextBox 24">
            <a:extLst>
              <a:ext uri="{FF2B5EF4-FFF2-40B4-BE49-F238E27FC236}">
                <a16:creationId xmlns:a16="http://schemas.microsoft.com/office/drawing/2014/main" id="{828DCDEF-BA59-D7CF-8D96-C9D844B20FCB}"/>
              </a:ext>
            </a:extLst>
          </p:cNvPr>
          <p:cNvSpPr txBox="1"/>
          <p:nvPr/>
        </p:nvSpPr>
        <p:spPr>
          <a:xfrm>
            <a:off x="-7857400" y="2527667"/>
            <a:ext cx="728757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py_019_multiple_return_value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9FE6B99-D46C-A40A-EACB-0A47DA17B4E4}"/>
              </a:ext>
            </a:extLst>
          </p:cNvPr>
          <p:cNvPicPr>
            <a:picLocks noChangeAspect="1"/>
          </p:cNvPicPr>
          <p:nvPr/>
        </p:nvPicPr>
        <p:blipFill rotWithShape="1">
          <a:blip r:embed="rId4"/>
          <a:srcRect l="16588" t="29466" r="10502" b="16686"/>
          <a:stretch>
            <a:fillRect/>
          </a:stretch>
        </p:blipFill>
        <p:spPr>
          <a:xfrm>
            <a:off x="223306" y="4448144"/>
            <a:ext cx="9838800" cy="4672609"/>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9F12D99-136F-A09F-9684-837C02B708BA}"/>
              </a:ext>
            </a:extLst>
          </p:cNvPr>
          <p:cNvPicPr>
            <a:picLocks noChangeAspect="1"/>
          </p:cNvPicPr>
          <p:nvPr/>
        </p:nvPicPr>
        <p:blipFill rotWithShape="1">
          <a:blip r:embed="rId3"/>
          <a:srcRect l="20644" t="25292" r="12123" b="18354"/>
          <a:stretch>
            <a:fillRect/>
          </a:stretch>
        </p:blipFill>
        <p:spPr>
          <a:xfrm>
            <a:off x="223306" y="4607791"/>
            <a:ext cx="9838800" cy="7095194"/>
          </a:xfrm>
          <a:prstGeom prst="rect">
            <a:avLst/>
          </a:prstGeom>
        </p:spPr>
      </p:pic>
      <p:sp>
        <p:nvSpPr>
          <p:cNvPr id="4" name="TextBox 3">
            <a:extLst>
              <a:ext uri="{FF2B5EF4-FFF2-40B4-BE49-F238E27FC236}">
                <a16:creationId xmlns:a16="http://schemas.microsoft.com/office/drawing/2014/main" id="{BD2AAB60-408C-1685-06B6-CEFFA4819386}"/>
              </a:ext>
            </a:extLst>
          </p:cNvPr>
          <p:cNvSpPr txBox="1"/>
          <p:nvPr/>
        </p:nvSpPr>
        <p:spPr>
          <a:xfrm>
            <a:off x="223306" y="2872199"/>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4"/>
          <a:stretch>
            <a:fillRect/>
          </a:stretch>
        </p:blipFill>
        <p:spPr>
          <a:xfrm>
            <a:off x="264001" y="3026420"/>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2005547"/>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3146897"/>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18372" y="9576401"/>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18372" y="7162202"/>
            <a:ext cx="914400" cy="914400"/>
          </a:xfrm>
          <a:prstGeom prst="rect">
            <a:avLst/>
          </a:prstGeom>
        </p:spPr>
      </p:pic>
      <p:sp>
        <p:nvSpPr>
          <p:cNvPr id="25" name="TextBox 24">
            <a:extLst>
              <a:ext uri="{FF2B5EF4-FFF2-40B4-BE49-F238E27FC236}">
                <a16:creationId xmlns:a16="http://schemas.microsoft.com/office/drawing/2014/main" id="{BD6816A8-8951-E4B8-DD67-E6D1C9D37E78}"/>
              </a:ext>
            </a:extLst>
          </p:cNvPr>
          <p:cNvSpPr txBox="1"/>
          <p:nvPr/>
        </p:nvSpPr>
        <p:spPr>
          <a:xfrm>
            <a:off x="-8470937" y="2490606"/>
            <a:ext cx="8358378"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py_020_avoid_key_error_with_get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7029593C-C36A-53A9-C866-D1F79A1C69C5}"/>
              </a:ext>
            </a:extLst>
          </p:cNvPr>
          <p:cNvPicPr>
            <a:picLocks noChangeAspect="1"/>
          </p:cNvPicPr>
          <p:nvPr/>
        </p:nvPicPr>
        <p:blipFill rotWithShape="1">
          <a:blip r:embed="rId2"/>
          <a:srcRect l="18635" t="14064" r="11103" b="9323"/>
          <a:stretch>
            <a:fillRect/>
          </a:stretch>
        </p:blipFill>
        <p:spPr>
          <a:xfrm>
            <a:off x="223306" y="3630425"/>
            <a:ext cx="9838800" cy="13278026"/>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F969DA98-2305-2E67-F6CA-9828665A0CD6}"/>
              </a:ext>
            </a:extLst>
          </p:cNvPr>
          <p:cNvSpPr txBox="1"/>
          <p:nvPr/>
        </p:nvSpPr>
        <p:spPr>
          <a:xfrm>
            <a:off x="-8470937" y="2490606"/>
            <a:ext cx="539923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py_021_guard_clauses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926376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BA022639-4272-05CB-2492-F553AE737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35B1D9-D160-7689-0835-C93F40878D70}"/>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D203E7-C11A-C84C-E096-19757866AB15}"/>
              </a:ext>
            </a:extLst>
          </p:cNvPr>
          <p:cNvPicPr>
            <a:picLocks noChangeAspect="1"/>
          </p:cNvPicPr>
          <p:nvPr/>
        </p:nvPicPr>
        <p:blipFill>
          <a:blip r:embed="rId2"/>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616324E3-C532-2DD3-3D6B-4A47E6319854}"/>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0A04A800-EA81-6142-3243-5E7FA473DB13}"/>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147C8A3-1665-E8A9-5854-B0DA470BB9B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8AA43972-6285-B821-61AB-42CD225959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D9ADCC63-695E-7B85-F85A-397F27C85199}"/>
              </a:ext>
            </a:extLst>
          </p:cNvPr>
          <p:cNvSpPr txBox="1"/>
          <p:nvPr/>
        </p:nvSpPr>
        <p:spPr>
          <a:xfrm>
            <a:off x="-8470937" y="2490606"/>
            <a:ext cx="679384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py_022_clean_if_statement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3538933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8F26F6C-D227-4DE8-9703-E15F54EBF454}"/>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0715138-4454-0073-6B94-B6FDC353190A}"/>
              </a:ext>
            </a:extLst>
          </p:cNvPr>
          <p:cNvPicPr>
            <a:picLocks noChangeAspect="1"/>
          </p:cNvPicPr>
          <p:nvPr/>
        </p:nvPicPr>
        <p:blipFill rotWithShape="1">
          <a:blip r:embed="rId3"/>
          <a:srcRect l="20480" t="18148" r="13247" b="17325"/>
          <a:stretch>
            <a:fillRect/>
          </a:stretch>
        </p:blipFill>
        <p:spPr>
          <a:xfrm>
            <a:off x="231312" y="3637723"/>
            <a:ext cx="9822787" cy="10391790"/>
          </a:xfrm>
          <a:prstGeom prst="rect">
            <a:avLst/>
          </a:prstGeom>
          <a:ln w="12700">
            <a:solidFill>
              <a:schemeClr val="bg1"/>
            </a:solidFill>
          </a:ln>
        </p:spPr>
      </p:pic>
      <p:sp>
        <p:nvSpPr>
          <p:cNvPr id="4" name="TextBox 3">
            <a:extLst>
              <a:ext uri="{FF2B5EF4-FFF2-40B4-BE49-F238E27FC236}">
                <a16:creationId xmlns:a16="http://schemas.microsoft.com/office/drawing/2014/main" id="{CC15B431-076A-5F66-8FB9-F09D56C7CEDD}"/>
              </a:ext>
            </a:extLst>
          </p:cNvPr>
          <p:cNvSpPr txBox="1"/>
          <p:nvPr/>
        </p:nvSpPr>
        <p:spPr>
          <a:xfrm>
            <a:off x="223306" y="2377920"/>
            <a:ext cx="9838800" cy="1189726"/>
          </a:xfrm>
          <a:prstGeom prst="rect">
            <a:avLst/>
          </a:prstGeom>
          <a:ln>
            <a:solidFill>
              <a:schemeClr val="bg1"/>
            </a:solidFill>
          </a:ln>
        </p:spPr>
        <p:style>
          <a:lnRef idx="0">
            <a:schemeClr val="accent5"/>
          </a:lnRef>
          <a:fillRef idx="3">
            <a:schemeClr val="accent5"/>
          </a:fillRef>
          <a:effectRef idx="3">
            <a:schemeClr val="accent5"/>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lambda function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CB5263E-6347-2F36-424A-BF26D026D950}"/>
              </a:ext>
            </a:extLst>
          </p:cNvPr>
          <p:cNvPicPr>
            <a:picLocks noChangeAspect="1"/>
          </p:cNvPicPr>
          <p:nvPr/>
        </p:nvPicPr>
        <p:blipFill>
          <a:blip r:embed="rId4"/>
          <a:stretch>
            <a:fillRect/>
          </a:stretch>
        </p:blipFill>
        <p:spPr>
          <a:xfrm>
            <a:off x="305222" y="2440699"/>
            <a:ext cx="1063167" cy="1063167"/>
          </a:xfrm>
          <a:prstGeom prst="rect">
            <a:avLst/>
          </a:prstGeom>
        </p:spPr>
      </p:pic>
      <p:sp>
        <p:nvSpPr>
          <p:cNvPr id="13" name="TextBox 12">
            <a:extLst>
              <a:ext uri="{FF2B5EF4-FFF2-40B4-BE49-F238E27FC236}">
                <a16:creationId xmlns:a16="http://schemas.microsoft.com/office/drawing/2014/main" id="{AE227B43-6F2C-EBC9-5B3C-0DD1D9227AEC}"/>
              </a:ext>
            </a:extLst>
          </p:cNvPr>
          <p:cNvSpPr txBox="1"/>
          <p:nvPr/>
        </p:nvSpPr>
        <p:spPr>
          <a:xfrm>
            <a:off x="223306" y="14120016"/>
            <a:ext cx="9838800"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 lambda function is a small anonymous function.</a:t>
            </a:r>
          </a:p>
        </p:txBody>
      </p:sp>
      <p:cxnSp>
        <p:nvCxnSpPr>
          <p:cNvPr id="17" name="Straight Connector 16">
            <a:extLst>
              <a:ext uri="{FF2B5EF4-FFF2-40B4-BE49-F238E27FC236}">
                <a16:creationId xmlns:a16="http://schemas.microsoft.com/office/drawing/2014/main" id="{3B9785E9-B110-9D2F-A7F9-D4623A1BA6B4}"/>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D1127E-1882-5BED-9C9E-FCE9E336B2DB}"/>
              </a:ext>
            </a:extLst>
          </p:cNvPr>
          <p:cNvSpPr txBox="1"/>
          <p:nvPr/>
        </p:nvSpPr>
        <p:spPr>
          <a:xfrm>
            <a:off x="-8470937" y="2490606"/>
            <a:ext cx="380905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py_023_lambda</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4824297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616D607-6D7C-5708-3226-2BC3BDCDFC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069CC8-16E8-EA19-357C-16B9FA375E35}"/>
              </a:ext>
            </a:extLst>
          </p:cNvPr>
          <p:cNvSpPr txBox="1"/>
          <p:nvPr/>
        </p:nvSpPr>
        <p:spPr>
          <a:xfrm>
            <a:off x="223306" y="2304768"/>
            <a:ext cx="9838800" cy="1189726"/>
          </a:xfrm>
          <a:prstGeom prst="rect">
            <a:avLst/>
          </a:prstGeom>
          <a:ln/>
        </p:spPr>
        <p:style>
          <a:lnRef idx="0">
            <a:schemeClr val="accent4"/>
          </a:lnRef>
          <a:fillRef idx="3">
            <a:schemeClr val="accent4"/>
          </a:fillRef>
          <a:effectRef idx="3">
            <a:schemeClr val="accent4"/>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SQL Injection!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DA1DC68-3EF7-26B8-CF04-89CD899DDD0E}"/>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DA14B190-437B-FFE1-006B-08447ECD5817}"/>
              </a:ext>
            </a:extLst>
          </p:cNvPr>
          <p:cNvSpPr txBox="1"/>
          <p:nvPr/>
        </p:nvSpPr>
        <p:spPr>
          <a:xfrm>
            <a:off x="223306" y="14120016"/>
            <a:ext cx="9838800" cy="2123658"/>
          </a:xfrm>
          <a:prstGeom prst="rect">
            <a:avLst/>
          </a:prstGeom>
          <a:noFill/>
        </p:spPr>
        <p:txBody>
          <a:bodyPr wrap="square" rtlCol="0">
            <a:spAutoFit/>
          </a:bodyPr>
          <a:lstStyle/>
          <a:p>
            <a:pPr algn="ctr"/>
            <a:r>
              <a:rPr lang="en-GB" sz="6600" dirty="0"/>
              <a:t>Always use parameters, never f-strings for queries!</a:t>
            </a:r>
          </a:p>
        </p:txBody>
      </p:sp>
      <p:cxnSp>
        <p:nvCxnSpPr>
          <p:cNvPr id="17" name="Straight Connector 16">
            <a:extLst>
              <a:ext uri="{FF2B5EF4-FFF2-40B4-BE49-F238E27FC236}">
                <a16:creationId xmlns:a16="http://schemas.microsoft.com/office/drawing/2014/main" id="{51306202-8B67-23C5-E6F7-4979FCF7EF6A}"/>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0E6AC77-7B65-8BE4-106B-AE9F78BB4B82}"/>
              </a:ext>
            </a:extLst>
          </p:cNvPr>
          <p:cNvSpPr txBox="1"/>
          <p:nvPr/>
        </p:nvSpPr>
        <p:spPr>
          <a:xfrm>
            <a:off x="-8470937" y="2490606"/>
            <a:ext cx="516359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py_024_sql_injection</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7512424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lgConfetti">
          <a:fgClr>
            <a:schemeClr val="accent6">
              <a:lumMod val="60000"/>
              <a:lumOff val="40000"/>
            </a:schemeClr>
          </a:fgClr>
          <a:bgClr>
            <a:schemeClr val="bg1"/>
          </a:bgClr>
        </a:pattFill>
        <a:effectLst/>
      </p:bgPr>
    </p:bg>
    <p:spTree>
      <p:nvGrpSpPr>
        <p:cNvPr id="1" name="">
          <a:extLst>
            <a:ext uri="{FF2B5EF4-FFF2-40B4-BE49-F238E27FC236}">
              <a16:creationId xmlns:a16="http://schemas.microsoft.com/office/drawing/2014/main" id="{9FBFAFEA-B050-870A-9752-067D9BC40E4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212A72-D3A6-7961-2ECE-0EA82DC7AD9E}"/>
              </a:ext>
            </a:extLst>
          </p:cNvPr>
          <p:cNvSpPr txBox="1"/>
          <p:nvPr/>
        </p:nvSpPr>
        <p:spPr>
          <a:xfrm>
            <a:off x="223306" y="2304768"/>
            <a:ext cx="9838800" cy="118972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Automatic DB Cleanup</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16480D7D-F3E3-CC44-3BBE-6C10B36F67E5}"/>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BED94CDF-C212-6E9B-BF61-990317EF31DE}"/>
              </a:ext>
            </a:extLst>
          </p:cNvPr>
          <p:cNvSpPr txBox="1"/>
          <p:nvPr/>
        </p:nvSpPr>
        <p:spPr>
          <a:xfrm>
            <a:off x="1" y="14120016"/>
            <a:ext cx="10285412" cy="3139321"/>
          </a:xfrm>
          <a:prstGeom prst="rect">
            <a:avLst/>
          </a:prstGeom>
          <a:noFill/>
        </p:spPr>
        <p:txBody>
          <a:bodyPr wrap="square" rtlCol="0">
            <a:spAutoFit/>
          </a:bodyPr>
          <a:lstStyle/>
          <a:p>
            <a:pPr algn="ctr"/>
            <a:r>
              <a:rPr lang="en-GB" sz="6600" dirty="0"/>
              <a:t>Use the </a:t>
            </a:r>
            <a:r>
              <a:rPr lang="en-GB" sz="6600" dirty="0">
                <a:solidFill>
                  <a:srgbClr val="FF0000"/>
                </a:solidFill>
              </a:rPr>
              <a:t>with</a:t>
            </a:r>
            <a:r>
              <a:rPr lang="en-GB" sz="6600" dirty="0"/>
              <a:t> block to handle the heavy lifting of closing sessions automatically.</a:t>
            </a:r>
            <a:endParaRPr lang="en-GB" sz="6600" dirty="0">
              <a:ln w="0"/>
              <a:solidFill>
                <a:schemeClr val="accent6">
                  <a:lumMod val="50000"/>
                </a:schemeClr>
              </a:solidFill>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321AA455-2016-F848-D165-5057B4F9925A}"/>
              </a:ext>
            </a:extLst>
          </p:cNvPr>
          <p:cNvSpPr txBox="1"/>
          <p:nvPr/>
        </p:nvSpPr>
        <p:spPr>
          <a:xfrm>
            <a:off x="-8470937" y="2490606"/>
            <a:ext cx="7160935"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py_025_authomatic_db_client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989305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3F04921F-CA6C-EC03-C4BD-C3D6C3A993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937AAB-8755-D2AA-A0FA-6C717C97DCFC}"/>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Zero-Error Data Models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B008A6-3ECD-B688-1F38-1E0695A36E81}"/>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560F857C-9146-6986-0883-AE34D47554B8}"/>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Define a </a:t>
            </a:r>
            <a:r>
              <a:rPr lang="en-GB" sz="7200" dirty="0" err="1">
                <a:latin typeface="Patrick Hand" pitchFamily="2" charset="77"/>
              </a:rPr>
              <a:t>Pydantic</a:t>
            </a:r>
            <a:r>
              <a:rPr lang="en-GB" sz="7200" dirty="0">
                <a:latin typeface="Patrick Hand" pitchFamily="2" charset="77"/>
              </a:rPr>
              <a:t> model for autocomplete and type safety.</a:t>
            </a:r>
          </a:p>
        </p:txBody>
      </p:sp>
      <p:sp>
        <p:nvSpPr>
          <p:cNvPr id="25" name="TextBox 24">
            <a:extLst>
              <a:ext uri="{FF2B5EF4-FFF2-40B4-BE49-F238E27FC236}">
                <a16:creationId xmlns:a16="http://schemas.microsoft.com/office/drawing/2014/main" id="{5DE6F622-39BA-D71D-749C-BFFFFFC7B9F2}"/>
              </a:ext>
            </a:extLst>
          </p:cNvPr>
          <p:cNvSpPr txBox="1"/>
          <p:nvPr/>
        </p:nvSpPr>
        <p:spPr>
          <a:xfrm>
            <a:off x="-8470937" y="2490606"/>
            <a:ext cx="7975260"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py_026_zero_error_data_models</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3034700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A04E0-6230-FDBC-BCEA-B7BCF79D50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A06BD7-160F-7626-383E-35D904468A7E}"/>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Type-Safe SQL </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C2BD99C-E2E7-5771-1D14-889F7B0BB6FF}"/>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4C8299F1-AE5A-9B19-276B-B6CCB81E25FD}"/>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Stop writing SQL strings—use </a:t>
            </a:r>
            <a:r>
              <a:rPr lang="en-GB" sz="7200" dirty="0" err="1">
                <a:latin typeface="Patrick Hand" pitchFamily="2" charset="77"/>
              </a:rPr>
              <a:t>SQLAlchemy</a:t>
            </a:r>
            <a:r>
              <a:rPr lang="en-GB" sz="7200" dirty="0">
                <a:latin typeface="Patrick Hand" pitchFamily="2" charset="77"/>
              </a:rPr>
              <a:t> 2.0.</a:t>
            </a:r>
          </a:p>
        </p:txBody>
      </p:sp>
      <p:sp>
        <p:nvSpPr>
          <p:cNvPr id="25" name="TextBox 24">
            <a:extLst>
              <a:ext uri="{FF2B5EF4-FFF2-40B4-BE49-F238E27FC236}">
                <a16:creationId xmlns:a16="http://schemas.microsoft.com/office/drawing/2014/main" id="{8331D003-46CE-92A2-A6CC-026A0D0BB015}"/>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py_027_type_safe_sql</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20996140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5ACAD60-B8C2-D97F-075E-33591F97BC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32136E-8BFF-CE8A-6835-EE29F7629BC8}"/>
              </a:ext>
            </a:extLst>
          </p:cNvPr>
          <p:cNvSpPr txBox="1"/>
          <p:nvPr/>
        </p:nvSpPr>
        <p:spPr>
          <a:xfrm>
            <a:off x="223306" y="2304768"/>
            <a:ext cx="9838800" cy="1189726"/>
          </a:xfrm>
          <a:prstGeom prst="rect">
            <a:avLst/>
          </a:prstGeom>
          <a:ln/>
        </p:spPr>
        <p:style>
          <a:lnRef idx="0">
            <a:schemeClr val="accent1"/>
          </a:lnRef>
          <a:fillRef idx="3">
            <a:schemeClr val="accent1"/>
          </a:fillRef>
          <a:effectRef idx="3">
            <a:schemeClr val="accent1"/>
          </a:effectRef>
          <a:fontRef idx="minor">
            <a:schemeClr val="lt1"/>
          </a:fontRef>
        </p:style>
        <p:txBody>
          <a:bodyPr wrap="square" rtlCol="0" anchor="ctr" anchorCtr="0">
            <a:noAutofit/>
          </a:bodyPr>
          <a:lstStyle/>
          <a:p>
            <a:pPr algn="ctr"/>
            <a:r>
              <a:rPr lang="en-GB" sz="6000" dirty="0"/>
              <a:t>10x Faster DB Inserts</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5C7AB8C-B69C-751A-45FD-450350A9DF59}"/>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950FF06B-2875-2DA2-4C8A-9E288F020EA1}"/>
              </a:ext>
            </a:extLst>
          </p:cNvPr>
          <p:cNvSpPr txBox="1"/>
          <p:nvPr/>
        </p:nvSpPr>
        <p:spPr>
          <a:xfrm>
            <a:off x="1" y="14120016"/>
            <a:ext cx="10285412"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One by one is slow—bulk is better.</a:t>
            </a:r>
          </a:p>
        </p:txBody>
      </p:sp>
      <p:sp>
        <p:nvSpPr>
          <p:cNvPr id="25" name="TextBox 24">
            <a:extLst>
              <a:ext uri="{FF2B5EF4-FFF2-40B4-BE49-F238E27FC236}">
                <a16:creationId xmlns:a16="http://schemas.microsoft.com/office/drawing/2014/main" id="{B0F974BF-8BA9-8C10-951F-3A3C9D51D974}"/>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py_028_db_insert_10x_faster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4812666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dotDmnd">
          <a:fgClr>
            <a:srgbClr val="FF0000"/>
          </a:fgClr>
          <a:bgClr>
            <a:schemeClr val="bg1"/>
          </a:bgClr>
        </a:pattFill>
        <a:effectLst/>
      </p:bgPr>
    </p:bg>
    <p:spTree>
      <p:nvGrpSpPr>
        <p:cNvPr id="1" name="">
          <a:extLst>
            <a:ext uri="{FF2B5EF4-FFF2-40B4-BE49-F238E27FC236}">
              <a16:creationId xmlns:a16="http://schemas.microsoft.com/office/drawing/2014/main" id="{D060977A-3DC5-C105-50B9-F672BB049C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38FDD1-7691-C7ED-ECAD-7ACDF2DC466B}"/>
              </a:ext>
            </a:extLst>
          </p:cNvPr>
          <p:cNvSpPr txBox="1"/>
          <p:nvPr/>
        </p:nvSpPr>
        <p:spPr>
          <a:xfrm>
            <a:off x="223306" y="2304768"/>
            <a:ext cx="9838800" cy="118972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GB" sz="6000" dirty="0"/>
              <a:t>New idea</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148804F-FD93-3FD3-5659-225D695135E8}"/>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CB570680-209D-CEF5-3A98-56A2F9B9C366}"/>
              </a:ext>
            </a:extLst>
          </p:cNvPr>
          <p:cNvSpPr txBox="1"/>
          <p:nvPr/>
        </p:nvSpPr>
        <p:spPr>
          <a:xfrm>
            <a:off x="1" y="14120016"/>
            <a:ext cx="10285412" cy="1200329"/>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New idea</a:t>
            </a:r>
          </a:p>
        </p:txBody>
      </p:sp>
      <p:sp>
        <p:nvSpPr>
          <p:cNvPr id="25" name="TextBox 24">
            <a:extLst>
              <a:ext uri="{FF2B5EF4-FFF2-40B4-BE49-F238E27FC236}">
                <a16:creationId xmlns:a16="http://schemas.microsoft.com/office/drawing/2014/main" id="{EDA1F876-E7DF-E917-0EE1-51781C4A7722}"/>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py_029_db_insert_10x_faster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694630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570540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Image:py_001_dataclass</a:t>
            </a:r>
            <a:endParaRPr lang="en-DE" sz="4800" dirty="0">
              <a:solidFill>
                <a:srgbClr val="FF0000"/>
              </a:solidFill>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AAD5E814-7AB0-3226-F815-9DA6C74F88CF}"/>
              </a:ext>
            </a:extLst>
          </p:cNvPr>
          <p:cNvPicPr>
            <a:picLocks noChangeAspect="1"/>
          </p:cNvPicPr>
          <p:nvPr/>
        </p:nvPicPr>
        <p:blipFill rotWithShape="1">
          <a:blip r:embed="rId3"/>
          <a:srcRect l="16536" t="23589" r="11397" b="14888"/>
          <a:stretch>
            <a:fillRect/>
          </a:stretch>
        </p:blipFill>
        <p:spPr>
          <a:xfrm>
            <a:off x="205349" y="4089572"/>
            <a:ext cx="9874714" cy="5812666"/>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oAutofit/>
          </a:bodyPr>
          <a:lstStyle/>
          <a:p>
            <a:pPr algn="ctr"/>
            <a:r>
              <a:rPr lang="en-GB" sz="6000" b="1" dirty="0">
                <a:ln w="0"/>
                <a:solidFill>
                  <a:schemeClr val="tx1"/>
                </a:solidFill>
                <a:effectLst>
                  <a:outerShdw blurRad="38100" dist="19050" dir="2700000" algn="tl" rotWithShape="0">
                    <a:schemeClr val="dk1">
                      <a:alpha val="40000"/>
                    </a:schemeClr>
                  </a:outerShdw>
                </a:effectLst>
                <a:latin typeface="+mj-lt"/>
              </a:rPr>
              <a:t>Use </a:t>
            </a:r>
            <a:r>
              <a:rPr lang="en-GB" sz="6000" b="1" dirty="0" err="1">
                <a:ln w="0"/>
                <a:solidFill>
                  <a:schemeClr val="tx1"/>
                </a:solidFill>
                <a:effectLst>
                  <a:outerShdw blurRad="38100" dist="19050" dir="2700000" algn="tl" rotWithShape="0">
                    <a:schemeClr val="dk1">
                      <a:alpha val="40000"/>
                    </a:schemeClr>
                  </a:outerShdw>
                </a:effectLst>
                <a:latin typeface="+mj-lt"/>
              </a:rPr>
              <a:t>OrderedDict</a:t>
            </a:r>
            <a:endParaRPr lang="en-GB" sz="60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1643992" y="9973750"/>
            <a:ext cx="6997428" cy="1938992"/>
          </a:xfrm>
          <a:prstGeom prst="rect">
            <a:avLst/>
          </a:prstGeom>
          <a:noFill/>
        </p:spPr>
        <p:txBody>
          <a:bodyPr wrap="none" rtlCol="0">
            <a:spAutoFit/>
          </a:bodyPr>
          <a:lstStyle/>
          <a:p>
            <a:pPr algn="ctr"/>
            <a:r>
              <a:rPr lang="en-GB" sz="6000" dirty="0">
                <a:latin typeface="Patrick Hand" pitchFamily="2" charset="77"/>
              </a:rPr>
              <a:t>Python Tip: </a:t>
            </a:r>
          </a:p>
          <a:p>
            <a:pPr algn="ctr"/>
            <a:r>
              <a:rPr lang="en-GB" sz="6000" dirty="0">
                <a:latin typeface="Patrick Hand" pitchFamily="2" charset="77"/>
              </a:rPr>
              <a:t>Order Is Logic, Not Style</a:t>
            </a:r>
          </a:p>
        </p:txBody>
      </p:sp>
      <p:sp>
        <p:nvSpPr>
          <p:cNvPr id="25" name="TextBox 24">
            <a:extLst>
              <a:ext uri="{FF2B5EF4-FFF2-40B4-BE49-F238E27FC236}">
                <a16:creationId xmlns:a16="http://schemas.microsoft.com/office/drawing/2014/main" id="{51D39732-5649-870D-B280-D7B7125EB72F}"/>
              </a:ext>
            </a:extLst>
          </p:cNvPr>
          <p:cNvSpPr txBox="1"/>
          <p:nvPr/>
        </p:nvSpPr>
        <p:spPr>
          <a:xfrm>
            <a:off x="-7857400" y="2527667"/>
            <a:ext cx="774603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Shorts/py_022_use_OrderedDict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958C6B02-89C9-83F3-99C4-B1A8D216284F}"/>
              </a:ext>
            </a:extLst>
          </p:cNvPr>
          <p:cNvPicPr>
            <a:picLocks noChangeAspect="1"/>
          </p:cNvPicPr>
          <p:nvPr/>
        </p:nvPicPr>
        <p:blipFill>
          <a:blip r:embed="rId4"/>
          <a:stretch>
            <a:fillRect/>
          </a:stretch>
        </p:blipFill>
        <p:spPr>
          <a:xfrm>
            <a:off x="324721" y="2866375"/>
            <a:ext cx="1063167" cy="1063167"/>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D243605E-1F32-3EF9-6D56-2B51274C381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C2846CC-BDA2-418B-929E-2B961DE75841}"/>
              </a:ext>
            </a:extLst>
          </p:cNvPr>
          <p:cNvPicPr>
            <a:picLocks noChangeAspect="1"/>
          </p:cNvPicPr>
          <p:nvPr/>
        </p:nvPicPr>
        <p:blipFill rotWithShape="1">
          <a:blip r:embed="rId2"/>
          <a:srcRect l="17787" t="17210" r="11405" b="11371"/>
          <a:stretch>
            <a:fillRect/>
          </a:stretch>
        </p:blipFill>
        <p:spPr>
          <a:xfrm>
            <a:off x="223306" y="4043212"/>
            <a:ext cx="9838255" cy="10751769"/>
          </a:xfrm>
          <a:prstGeom prst="rect">
            <a:avLst/>
          </a:prstGeom>
        </p:spPr>
      </p:pic>
      <p:sp>
        <p:nvSpPr>
          <p:cNvPr id="4" name="TextBox 3">
            <a:extLst>
              <a:ext uri="{FF2B5EF4-FFF2-40B4-BE49-F238E27FC236}">
                <a16:creationId xmlns:a16="http://schemas.microsoft.com/office/drawing/2014/main" id="{25D99BC3-F907-6C88-2DEB-D99CD360842F}"/>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oAutofit/>
          </a:bodyPr>
          <a:lstStyle/>
          <a:p>
            <a:pPr algn="ctr"/>
            <a:r>
              <a:rPr lang="en-GB" sz="6000" b="1" dirty="0">
                <a:ln w="0"/>
                <a:solidFill>
                  <a:schemeClr val="tx1"/>
                </a:solidFill>
                <a:effectLst>
                  <a:outerShdw blurRad="38100" dist="19050" dir="2700000" algn="tl" rotWithShape="0">
                    <a:schemeClr val="dk1">
                      <a:alpha val="40000"/>
                    </a:schemeClr>
                  </a:outerShdw>
                </a:effectLst>
                <a:latin typeface="+mj-lt"/>
              </a:rPr>
              <a:t>Avoid Bare Exception</a:t>
            </a:r>
          </a:p>
        </p:txBody>
      </p:sp>
      <p:sp>
        <p:nvSpPr>
          <p:cNvPr id="25" name="TextBox 24">
            <a:extLst>
              <a:ext uri="{FF2B5EF4-FFF2-40B4-BE49-F238E27FC236}">
                <a16:creationId xmlns:a16="http://schemas.microsoft.com/office/drawing/2014/main" id="{1EA8E0A0-4630-EC8F-21D3-3375A9CC32D2}"/>
              </a:ext>
            </a:extLst>
          </p:cNvPr>
          <p:cNvSpPr txBox="1"/>
          <p:nvPr/>
        </p:nvSpPr>
        <p:spPr>
          <a:xfrm>
            <a:off x="-10674740" y="2743200"/>
            <a:ext cx="824296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Shorts/py_025_avoid_bare_except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294AAF5-FCB5-710C-FC62-5260A4C6ED70}"/>
              </a:ext>
            </a:extLst>
          </p:cNvPr>
          <p:cNvPicPr>
            <a:picLocks noChangeAspect="1"/>
          </p:cNvPicPr>
          <p:nvPr/>
        </p:nvPicPr>
        <p:blipFill>
          <a:blip r:embed="rId3"/>
          <a:stretch>
            <a:fillRect/>
          </a:stretch>
        </p:blipFill>
        <p:spPr>
          <a:xfrm>
            <a:off x="324721" y="2866375"/>
            <a:ext cx="1063167" cy="1063167"/>
          </a:xfrm>
          <a:prstGeom prst="rect">
            <a:avLst/>
          </a:prstGeom>
        </p:spPr>
      </p:pic>
      <p:cxnSp>
        <p:nvCxnSpPr>
          <p:cNvPr id="8" name="Straight Connector 7">
            <a:extLst>
              <a:ext uri="{FF2B5EF4-FFF2-40B4-BE49-F238E27FC236}">
                <a16:creationId xmlns:a16="http://schemas.microsoft.com/office/drawing/2014/main" id="{A9A22871-A013-96E8-4A4E-1598403F6C77}"/>
              </a:ext>
            </a:extLst>
          </p:cNvPr>
          <p:cNvCxnSpPr>
            <a:cxnSpLocks/>
          </p:cNvCxnSpPr>
          <p:nvPr/>
        </p:nvCxnSpPr>
        <p:spPr>
          <a:xfrm>
            <a:off x="223579" y="91107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5918CA44-AD5B-7DF1-2666-50B49F8A8A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8372" y="10380383"/>
            <a:ext cx="914400" cy="914400"/>
          </a:xfrm>
          <a:prstGeom prst="rect">
            <a:avLst/>
          </a:prstGeom>
        </p:spPr>
      </p:pic>
      <p:pic>
        <p:nvPicPr>
          <p:cNvPr id="11" name="Graphic 10" descr="Close with solid fill">
            <a:extLst>
              <a:ext uri="{FF2B5EF4-FFF2-40B4-BE49-F238E27FC236}">
                <a16:creationId xmlns:a16="http://schemas.microsoft.com/office/drawing/2014/main" id="{EBB776D1-0303-B235-E894-B28F28B586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18372" y="6914262"/>
            <a:ext cx="914400" cy="914400"/>
          </a:xfrm>
          <a:prstGeom prst="rect">
            <a:avLst/>
          </a:prstGeom>
        </p:spPr>
      </p:pic>
      <p:cxnSp>
        <p:nvCxnSpPr>
          <p:cNvPr id="6" name="Straight Connector 5">
            <a:extLst>
              <a:ext uri="{FF2B5EF4-FFF2-40B4-BE49-F238E27FC236}">
                <a16:creationId xmlns:a16="http://schemas.microsoft.com/office/drawing/2014/main" id="{6AA19B62-3B79-F9C2-B146-7D6BD06FEAAB}"/>
              </a:ext>
            </a:extLst>
          </p:cNvPr>
          <p:cNvCxnSpPr>
            <a:cxnSpLocks/>
          </p:cNvCxnSpPr>
          <p:nvPr/>
        </p:nvCxnSpPr>
        <p:spPr>
          <a:xfrm>
            <a:off x="219566" y="603864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66687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B668354-586B-B455-688B-2301AB3E60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F27DB6-8989-D8B1-A0D3-3E05CE53AEDB}"/>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oAutofit/>
          </a:bodyPr>
          <a:lstStyle/>
          <a:p>
            <a:pPr algn="r"/>
            <a:r>
              <a:rPr lang="en-GB" sz="6000" b="1" dirty="0">
                <a:ln w="0"/>
                <a:solidFill>
                  <a:schemeClr val="tx1"/>
                </a:solidFill>
                <a:effectLst>
                  <a:outerShdw blurRad="38100" dist="19050" dir="2700000" algn="tl" rotWithShape="0">
                    <a:schemeClr val="dk1">
                      <a:alpha val="40000"/>
                    </a:schemeClr>
                  </a:outerShdw>
                </a:effectLst>
                <a:latin typeface="+mj-lt"/>
              </a:rPr>
              <a:t>Mutable Default Arguments</a:t>
            </a:r>
          </a:p>
        </p:txBody>
      </p:sp>
      <p:sp>
        <p:nvSpPr>
          <p:cNvPr id="25" name="TextBox 24">
            <a:extLst>
              <a:ext uri="{FF2B5EF4-FFF2-40B4-BE49-F238E27FC236}">
                <a16:creationId xmlns:a16="http://schemas.microsoft.com/office/drawing/2014/main" id="{B081F3C8-FDCD-B51F-AE16-B97C5DE5102B}"/>
              </a:ext>
            </a:extLst>
          </p:cNvPr>
          <p:cNvSpPr txBox="1"/>
          <p:nvPr/>
        </p:nvSpPr>
        <p:spPr>
          <a:xfrm>
            <a:off x="-10674740" y="2743200"/>
            <a:ext cx="1038457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Shorts/py_024_mutable_default_arguments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05B71BFE-1C77-8EC2-8B1A-C48C773947FF}"/>
              </a:ext>
            </a:extLst>
          </p:cNvPr>
          <p:cNvPicPr>
            <a:picLocks noChangeAspect="1"/>
          </p:cNvPicPr>
          <p:nvPr/>
        </p:nvPicPr>
        <p:blipFill>
          <a:blip r:embed="rId2"/>
          <a:stretch>
            <a:fillRect/>
          </a:stretch>
        </p:blipFill>
        <p:spPr>
          <a:xfrm>
            <a:off x="324721" y="2866375"/>
            <a:ext cx="1063167" cy="1063167"/>
          </a:xfrm>
          <a:prstGeom prst="rect">
            <a:avLst/>
          </a:prstGeom>
        </p:spPr>
      </p:pic>
      <p:pic>
        <p:nvPicPr>
          <p:cNvPr id="7" name="Picture 6">
            <a:extLst>
              <a:ext uri="{FF2B5EF4-FFF2-40B4-BE49-F238E27FC236}">
                <a16:creationId xmlns:a16="http://schemas.microsoft.com/office/drawing/2014/main" id="{8CEB66D2-A7C6-5FF4-1D37-613E398AD7E9}"/>
              </a:ext>
            </a:extLst>
          </p:cNvPr>
          <p:cNvPicPr>
            <a:picLocks noChangeAspect="1"/>
          </p:cNvPicPr>
          <p:nvPr/>
        </p:nvPicPr>
        <p:blipFill rotWithShape="1">
          <a:blip r:embed="rId3"/>
          <a:srcRect l="18204" t="15042" r="12122" b="10300"/>
          <a:stretch>
            <a:fillRect/>
          </a:stretch>
        </p:blipFill>
        <p:spPr>
          <a:xfrm>
            <a:off x="223306" y="4031655"/>
            <a:ext cx="9838800" cy="12834342"/>
          </a:xfrm>
          <a:prstGeom prst="rect">
            <a:avLst/>
          </a:prstGeom>
        </p:spPr>
      </p:pic>
      <p:cxnSp>
        <p:nvCxnSpPr>
          <p:cNvPr id="8" name="Straight Connector 7">
            <a:extLst>
              <a:ext uri="{FF2B5EF4-FFF2-40B4-BE49-F238E27FC236}">
                <a16:creationId xmlns:a16="http://schemas.microsoft.com/office/drawing/2014/main" id="{83397120-8765-3851-38F6-7D712B50DA3A}"/>
              </a:ext>
            </a:extLst>
          </p:cNvPr>
          <p:cNvCxnSpPr>
            <a:cxnSpLocks/>
          </p:cNvCxnSpPr>
          <p:nvPr/>
        </p:nvCxnSpPr>
        <p:spPr>
          <a:xfrm>
            <a:off x="223579" y="995291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CC41BAAD-A66E-2FDB-217A-B1234357CB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8372" y="12642326"/>
            <a:ext cx="914400" cy="914400"/>
          </a:xfrm>
          <a:prstGeom prst="rect">
            <a:avLst/>
          </a:prstGeom>
        </p:spPr>
      </p:pic>
      <p:pic>
        <p:nvPicPr>
          <p:cNvPr id="11" name="Graphic 10" descr="Close with solid fill">
            <a:extLst>
              <a:ext uri="{FF2B5EF4-FFF2-40B4-BE49-F238E27FC236}">
                <a16:creationId xmlns:a16="http://schemas.microsoft.com/office/drawing/2014/main" id="{70443D1D-D1C9-8A93-493B-3951482214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18372" y="6445028"/>
            <a:ext cx="914400" cy="914400"/>
          </a:xfrm>
          <a:prstGeom prst="rect">
            <a:avLst/>
          </a:prstGeom>
        </p:spPr>
      </p:pic>
    </p:spTree>
    <p:extLst>
      <p:ext uri="{BB962C8B-B14F-4D97-AF65-F5344CB8AC3E}">
        <p14:creationId xmlns:p14="http://schemas.microsoft.com/office/powerpoint/2010/main" val="13669926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4E817BF-9C74-E15F-5758-1060D0EEC27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688E64B-B8D8-A257-E652-8A7D99B98633}"/>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r"/>
            <a:r>
              <a:rPr lang="en-GB" sz="6000" dirty="0"/>
              <a:t>String </a:t>
            </a:r>
            <a:r>
              <a:rPr lang="en-GB" sz="6000" dirty="0">
                <a:ln w="0"/>
                <a:solidFill>
                  <a:schemeClr val="accent1"/>
                </a:solidFill>
                <a:effectLst>
                  <a:outerShdw blurRad="38100" dist="25400" dir="5400000" algn="ctr" rotWithShape="0">
                    <a:srgbClr val="6E747A">
                      <a:alpha val="43000"/>
                    </a:srgbClr>
                  </a:outerShdw>
                </a:effectLst>
              </a:rPr>
              <a:t>vs</a:t>
            </a:r>
            <a:r>
              <a:rPr lang="en-GB" sz="6000" dirty="0"/>
              <a:t> Concatenation</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53D1B21-5CBE-A84B-E5A4-348FB48D04C1}"/>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EAB3BD2A-0B52-BAFF-8345-210B9328BE34}"/>
              </a:ext>
            </a:extLst>
          </p:cNvPr>
          <p:cNvSpPr txBox="1"/>
          <p:nvPr/>
        </p:nvSpPr>
        <p:spPr>
          <a:xfrm>
            <a:off x="223306" y="9219550"/>
            <a:ext cx="9838800" cy="3416320"/>
          </a:xfrm>
          <a:prstGeom prst="rect">
            <a:avLst/>
          </a:prstGeom>
          <a:noFill/>
        </p:spPr>
        <p:txBody>
          <a:bodyPr wrap="square" rtlCol="0">
            <a:spAutoFit/>
          </a:bodyPr>
          <a:lstStyle/>
          <a:p>
            <a:pPr algn="ctr"/>
            <a:r>
              <a:rPr lang="en-GB" sz="7200" dirty="0">
                <a:latin typeface="Patrick Hand" pitchFamily="2" charset="77"/>
              </a:rPr>
              <a:t>Stop building strings with </a:t>
            </a:r>
            <a:r>
              <a:rPr lang="en-GB" sz="72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7200" dirty="0">
                <a:latin typeface="Patrick Hand" pitchFamily="2" charset="77"/>
              </a:rPr>
              <a:t> in Python! Use </a:t>
            </a:r>
            <a:r>
              <a:rPr lang="en-GB" sz="7200" dirty="0">
                <a:ln w="0"/>
                <a:solidFill>
                  <a:schemeClr val="accent1"/>
                </a:solidFill>
                <a:effectLst>
                  <a:outerShdw blurRad="38100" dist="25400" dir="5400000" algn="ctr" rotWithShape="0">
                    <a:srgbClr val="6E747A">
                      <a:alpha val="43000"/>
                    </a:srgbClr>
                  </a:outerShdw>
                </a:effectLst>
                <a:latin typeface="Patrick Hand" pitchFamily="2" charset="77"/>
              </a:rPr>
              <a:t>F-strings</a:t>
            </a:r>
            <a:r>
              <a:rPr lang="en-GB" sz="7200" dirty="0">
                <a:latin typeface="Patrick Hand" pitchFamily="2" charset="77"/>
              </a:rPr>
              <a:t> instead.</a:t>
            </a:r>
          </a:p>
        </p:txBody>
      </p:sp>
      <p:sp>
        <p:nvSpPr>
          <p:cNvPr id="25" name="TextBox 24">
            <a:extLst>
              <a:ext uri="{FF2B5EF4-FFF2-40B4-BE49-F238E27FC236}">
                <a16:creationId xmlns:a16="http://schemas.microsoft.com/office/drawing/2014/main" id="{3CFCEDB9-1833-B06F-BE59-3E9D7AB8CB90}"/>
              </a:ext>
            </a:extLst>
          </p:cNvPr>
          <p:cNvSpPr txBox="1"/>
          <p:nvPr/>
        </p:nvSpPr>
        <p:spPr>
          <a:xfrm>
            <a:off x="-9586452" y="2490606"/>
            <a:ext cx="926198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py_026_f_string_vs_concatenation</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035B2AFB-186B-CA83-11C0-65CDBD3E423C}"/>
              </a:ext>
            </a:extLst>
          </p:cNvPr>
          <p:cNvPicPr>
            <a:picLocks noChangeAspect="1"/>
          </p:cNvPicPr>
          <p:nvPr/>
        </p:nvPicPr>
        <p:blipFill rotWithShape="1">
          <a:blip r:embed="rId4"/>
          <a:srcRect l="17462" t="23263" r="11762" b="19988"/>
          <a:stretch>
            <a:fillRect/>
          </a:stretch>
        </p:blipFill>
        <p:spPr>
          <a:xfrm>
            <a:off x="223306" y="3557271"/>
            <a:ext cx="9838800" cy="5599502"/>
          </a:xfrm>
          <a:prstGeom prst="rect">
            <a:avLst/>
          </a:prstGeom>
        </p:spPr>
      </p:pic>
      <p:cxnSp>
        <p:nvCxnSpPr>
          <p:cNvPr id="6" name="Straight Connector 5">
            <a:extLst>
              <a:ext uri="{FF2B5EF4-FFF2-40B4-BE49-F238E27FC236}">
                <a16:creationId xmlns:a16="http://schemas.microsoft.com/office/drawing/2014/main" id="{101BB08D-6D2B-05EC-C683-84844607FF89}"/>
              </a:ext>
            </a:extLst>
          </p:cNvPr>
          <p:cNvCxnSpPr>
            <a:cxnSpLocks/>
          </p:cNvCxnSpPr>
          <p:nvPr/>
        </p:nvCxnSpPr>
        <p:spPr>
          <a:xfrm>
            <a:off x="223579" y="712950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0D0A7A31-9D33-B643-6082-FF936D0B4DD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18372" y="7171972"/>
            <a:ext cx="914400" cy="914400"/>
          </a:xfrm>
          <a:prstGeom prst="rect">
            <a:avLst/>
          </a:prstGeom>
        </p:spPr>
      </p:pic>
      <p:pic>
        <p:nvPicPr>
          <p:cNvPr id="8" name="Graphic 7" descr="Close with solid fill">
            <a:extLst>
              <a:ext uri="{FF2B5EF4-FFF2-40B4-BE49-F238E27FC236}">
                <a16:creationId xmlns:a16="http://schemas.microsoft.com/office/drawing/2014/main" id="{7810A12A-A6AE-8185-88BC-78AA48DEFB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18372" y="4792689"/>
            <a:ext cx="914400" cy="914400"/>
          </a:xfrm>
          <a:prstGeom prst="rect">
            <a:avLst/>
          </a:prstGeom>
        </p:spPr>
      </p:pic>
      <p:cxnSp>
        <p:nvCxnSpPr>
          <p:cNvPr id="9" name="Straight Connector 8">
            <a:extLst>
              <a:ext uri="{FF2B5EF4-FFF2-40B4-BE49-F238E27FC236}">
                <a16:creationId xmlns:a16="http://schemas.microsoft.com/office/drawing/2014/main" id="{ABEF364D-1E0A-B95F-6713-C43B16038B99}"/>
              </a:ext>
            </a:extLst>
          </p:cNvPr>
          <p:cNvCxnSpPr>
            <a:cxnSpLocks/>
          </p:cNvCxnSpPr>
          <p:nvPr/>
        </p:nvCxnSpPr>
        <p:spPr>
          <a:xfrm>
            <a:off x="215559" y="473121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37039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4E1390C-0298-3B9F-D4CD-234E49DDFA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F77E9A-665B-0E73-E94F-584B6CC0BCF1}"/>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6" name="Picture 15">
            <a:extLst>
              <a:ext uri="{FF2B5EF4-FFF2-40B4-BE49-F238E27FC236}">
                <a16:creationId xmlns:a16="http://schemas.microsoft.com/office/drawing/2014/main" id="{C8327CAB-59DC-E4E7-F09D-3E33BB6E79C6}"/>
              </a:ext>
            </a:extLst>
          </p:cNvPr>
          <p:cNvPicPr>
            <a:picLocks noChangeAspect="1"/>
          </p:cNvPicPr>
          <p:nvPr/>
        </p:nvPicPr>
        <p:blipFill rotWithShape="1">
          <a:blip r:embed="rId2"/>
          <a:srcRect l="16277" t="17900" r="9050" b="11866"/>
          <a:stretch>
            <a:fillRect/>
          </a:stretch>
        </p:blipFill>
        <p:spPr>
          <a:xfrm>
            <a:off x="223306" y="4035924"/>
            <a:ext cx="9838800" cy="8441904"/>
          </a:xfrm>
          <a:prstGeom prst="rect">
            <a:avLst/>
          </a:prstGeom>
        </p:spPr>
      </p:pic>
      <p:sp>
        <p:nvSpPr>
          <p:cNvPr id="8" name="TextBox 7">
            <a:extLst>
              <a:ext uri="{FF2B5EF4-FFF2-40B4-BE49-F238E27FC236}">
                <a16:creationId xmlns:a16="http://schemas.microsoft.com/office/drawing/2014/main" id="{0C7A049A-ABB7-6A7E-5994-8596D7FC1FEE}"/>
              </a:ext>
            </a:extLst>
          </p:cNvPr>
          <p:cNvSpPr txBox="1"/>
          <p:nvPr/>
        </p:nvSpPr>
        <p:spPr>
          <a:xfrm>
            <a:off x="2372910" y="12566809"/>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A27ED781-0D1C-AAC0-B3CC-22F0FBD63706}"/>
              </a:ext>
            </a:extLst>
          </p:cNvPr>
          <p:cNvSpPr txBox="1"/>
          <p:nvPr/>
        </p:nvSpPr>
        <p:spPr>
          <a:xfrm>
            <a:off x="324721" y="13571712"/>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13EAA026-2369-05A3-A723-230E8B86435C}"/>
              </a:ext>
            </a:extLst>
          </p:cNvPr>
          <p:cNvCxnSpPr>
            <a:cxnSpLocks/>
          </p:cNvCxnSpPr>
          <p:nvPr/>
        </p:nvCxnSpPr>
        <p:spPr>
          <a:xfrm>
            <a:off x="223579" y="101845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B4DC3CA5-6703-201B-0DFE-56633A50FC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0859" y="11350215"/>
            <a:ext cx="914400" cy="914400"/>
          </a:xfrm>
          <a:prstGeom prst="rect">
            <a:avLst/>
          </a:prstGeom>
        </p:spPr>
      </p:pic>
      <p:pic>
        <p:nvPicPr>
          <p:cNvPr id="19" name="Graphic 18" descr="Close with solid fill">
            <a:extLst>
              <a:ext uri="{FF2B5EF4-FFF2-40B4-BE49-F238E27FC236}">
                <a16:creationId xmlns:a16="http://schemas.microsoft.com/office/drawing/2014/main" id="{56868B19-9901-C17F-40ED-39F52D4798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0859" y="8176287"/>
            <a:ext cx="914400" cy="914400"/>
          </a:xfrm>
          <a:prstGeom prst="rect">
            <a:avLst/>
          </a:prstGeom>
        </p:spPr>
      </p:pic>
      <p:sp>
        <p:nvSpPr>
          <p:cNvPr id="25" name="TextBox 24">
            <a:extLst>
              <a:ext uri="{FF2B5EF4-FFF2-40B4-BE49-F238E27FC236}">
                <a16:creationId xmlns:a16="http://schemas.microsoft.com/office/drawing/2014/main" id="{9E80C178-C899-0135-DF03-96DF4C390996}"/>
              </a:ext>
            </a:extLst>
          </p:cNvPr>
          <p:cNvSpPr txBox="1"/>
          <p:nvPr/>
        </p:nvSpPr>
        <p:spPr>
          <a:xfrm>
            <a:off x="-7857400" y="2527667"/>
            <a:ext cx="610135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ts_001_optional_chaining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C53E820-E9D0-53CC-F1F5-76F26D955695}"/>
              </a:ext>
            </a:extLst>
          </p:cNvPr>
          <p:cNvPicPr>
            <a:picLocks noChangeAspect="1"/>
          </p:cNvPicPr>
          <p:nvPr/>
        </p:nvPicPr>
        <p:blipFill>
          <a:blip r:embed="rId5"/>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28BFCF27-37A7-3C02-B077-ACB2A287BFCD}"/>
              </a:ext>
            </a:extLst>
          </p:cNvPr>
          <p:cNvCxnSpPr>
            <a:cxnSpLocks/>
          </p:cNvCxnSpPr>
          <p:nvPr/>
        </p:nvCxnSpPr>
        <p:spPr>
          <a:xfrm>
            <a:off x="216954" y="70570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0889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3FC508-8AA7-71FB-7B39-EF0B2F395D7C}"/>
              </a:ext>
            </a:extLst>
          </p:cNvPr>
          <p:cNvPicPr>
            <a:picLocks noChangeAspect="1"/>
          </p:cNvPicPr>
          <p:nvPr/>
        </p:nvPicPr>
        <p:blipFill rotWithShape="1">
          <a:blip r:embed="rId4"/>
          <a:srcRect l="19447" t="20088" r="11373" b="13667"/>
          <a:stretch>
            <a:fillRect/>
          </a:stretch>
        </p:blipFill>
        <p:spPr>
          <a:xfrm>
            <a:off x="223306" y="4032667"/>
            <a:ext cx="9838800" cy="8753303"/>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342061"/>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346964"/>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4FAB7A07-A5D2-5B75-E1E6-213DC4AC8F9C}"/>
              </a:ext>
            </a:extLst>
          </p:cNvPr>
          <p:cNvCxnSpPr>
            <a:cxnSpLocks/>
          </p:cNvCxnSpPr>
          <p:nvPr/>
        </p:nvCxnSpPr>
        <p:spPr>
          <a:xfrm>
            <a:off x="223579" y="982676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16965" y="11668268"/>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16965" y="8720011"/>
            <a:ext cx="914400" cy="914400"/>
          </a:xfrm>
          <a:prstGeom prst="rect">
            <a:avLst/>
          </a:prstGeom>
        </p:spPr>
      </p:pic>
      <p:sp>
        <p:nvSpPr>
          <p:cNvPr id="25" name="TextBox 24">
            <a:extLst>
              <a:ext uri="{FF2B5EF4-FFF2-40B4-BE49-F238E27FC236}">
                <a16:creationId xmlns:a16="http://schemas.microsoft.com/office/drawing/2014/main" id="{E90C4F95-4805-3356-C552-C0F711B83DAA}"/>
              </a:ext>
            </a:extLst>
          </p:cNvPr>
          <p:cNvSpPr txBox="1"/>
          <p:nvPr/>
        </p:nvSpPr>
        <p:spPr>
          <a:xfrm>
            <a:off x="-7857400" y="2527667"/>
            <a:ext cx="63177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ts_002_nullish_coalescing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7"/>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25583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BEBF28A-B1DD-3570-6C10-BA1F09F0967B}"/>
              </a:ext>
            </a:extLst>
          </p:cNvPr>
          <p:cNvPicPr>
            <a:picLocks noChangeAspect="1"/>
          </p:cNvPicPr>
          <p:nvPr/>
        </p:nvPicPr>
        <p:blipFill rotWithShape="1">
          <a:blip r:embed="rId4"/>
          <a:srcRect l="19964" t="18385" r="11101" b="11305"/>
          <a:stretch>
            <a:fillRect/>
          </a:stretch>
        </p:blipFill>
        <p:spPr>
          <a:xfrm>
            <a:off x="223306" y="4075680"/>
            <a:ext cx="9838800" cy="10649470"/>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223306" y="2743200"/>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578" y="15078822"/>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579" y="1215431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A15AA0E-167E-2884-E0A9-497ADE2BE311}"/>
              </a:ext>
            </a:extLst>
          </p:cNvPr>
          <p:cNvSpPr txBox="1"/>
          <p:nvPr/>
        </p:nvSpPr>
        <p:spPr>
          <a:xfrm>
            <a:off x="-7857400" y="2527667"/>
            <a:ext cx="643798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ts_003_interface_merging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232778" y="2838684"/>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5.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E599E1-1617-8360-BFA0-78A46D947F30}"/>
              </a:ext>
            </a:extLst>
          </p:cNvPr>
          <p:cNvPicPr>
            <a:picLocks noChangeAspect="1"/>
          </p:cNvPicPr>
          <p:nvPr/>
        </p:nvPicPr>
        <p:blipFill rotWithShape="1">
          <a:blip r:embed="rId3"/>
          <a:srcRect l="19773" t="18113" r="11084" b="10431"/>
          <a:stretch>
            <a:fillRect/>
          </a:stretch>
        </p:blipFill>
        <p:spPr>
          <a:xfrm>
            <a:off x="223306" y="3739782"/>
            <a:ext cx="9838800" cy="11279625"/>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337263" y="15076080"/>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5F6758BB-DAF7-8735-25EE-D8015845545A}"/>
              </a:ext>
            </a:extLst>
          </p:cNvPr>
          <p:cNvSpPr txBox="1"/>
          <p:nvPr/>
        </p:nvSpPr>
        <p:spPr>
          <a:xfrm>
            <a:off x="-7857400" y="2527667"/>
            <a:ext cx="487665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ts_004_union_types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2407302"/>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337263" y="14143019"/>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25" name="TextBox 24">
            <a:extLst>
              <a:ext uri="{FF2B5EF4-FFF2-40B4-BE49-F238E27FC236}">
                <a16:creationId xmlns:a16="http://schemas.microsoft.com/office/drawing/2014/main" id="{B17CFF70-2477-94C2-EDA5-BC0FAAC4AB6D}"/>
              </a:ext>
            </a:extLst>
          </p:cNvPr>
          <p:cNvSpPr txBox="1"/>
          <p:nvPr/>
        </p:nvSpPr>
        <p:spPr>
          <a:xfrm>
            <a:off x="-7857400" y="2527667"/>
            <a:ext cx="673934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ts_005_readonly_properties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11" name="Picture 10">
            <a:extLst>
              <a:ext uri="{FF2B5EF4-FFF2-40B4-BE49-F238E27FC236}">
                <a16:creationId xmlns:a16="http://schemas.microsoft.com/office/drawing/2014/main" id="{AFD4C0BD-FEF6-1B68-95B4-8C25C6C5582E}"/>
              </a:ext>
            </a:extLst>
          </p:cNvPr>
          <p:cNvPicPr>
            <a:picLocks noChangeAspect="1"/>
          </p:cNvPicPr>
          <p:nvPr/>
        </p:nvPicPr>
        <p:blipFill rotWithShape="1">
          <a:blip r:embed="rId3"/>
          <a:srcRect l="18025" t="17562" r="10090" b="9986"/>
          <a:stretch>
            <a:fillRect/>
          </a:stretch>
        </p:blipFill>
        <p:spPr>
          <a:xfrm>
            <a:off x="223306" y="3739782"/>
            <a:ext cx="9838800" cy="10150318"/>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2407302"/>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12637013"/>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BAC82234-693A-1D8A-9862-C1DD8CB0C7BA}"/>
              </a:ext>
            </a:extLst>
          </p:cNvPr>
          <p:cNvSpPr txBox="1"/>
          <p:nvPr/>
        </p:nvSpPr>
        <p:spPr>
          <a:xfrm>
            <a:off x="-7857400" y="2527667"/>
            <a:ext cx="496001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ts_006_partial_type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2502786"/>
            <a:ext cx="1062000" cy="1062000"/>
          </a:xfrm>
          <a:prstGeom prst="rect">
            <a:avLst/>
          </a:prstGeom>
        </p:spPr>
      </p:pic>
      <p:pic>
        <p:nvPicPr>
          <p:cNvPr id="2" name="Picture 1">
            <a:extLst>
              <a:ext uri="{FF2B5EF4-FFF2-40B4-BE49-F238E27FC236}">
                <a16:creationId xmlns:a16="http://schemas.microsoft.com/office/drawing/2014/main" id="{914494C8-D3CA-D30D-C3EF-2C59A1E0B0D3}"/>
              </a:ext>
            </a:extLst>
          </p:cNvPr>
          <p:cNvPicPr>
            <a:picLocks noChangeAspect="1"/>
          </p:cNvPicPr>
          <p:nvPr/>
        </p:nvPicPr>
        <p:blipFill rotWithShape="1">
          <a:blip r:embed="rId5"/>
          <a:srcRect l="19922" t="21072" r="10658" b="11971"/>
          <a:stretch>
            <a:fillRect/>
          </a:stretch>
        </p:blipFill>
        <p:spPr>
          <a:xfrm>
            <a:off x="223306" y="3739783"/>
            <a:ext cx="9838800" cy="8763521"/>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2407302"/>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323014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F51B8957-A49F-CA43-B97A-5F923F1C2534}"/>
              </a:ext>
            </a:extLst>
          </p:cNvPr>
          <p:cNvSpPr txBox="1"/>
          <p:nvPr/>
        </p:nvSpPr>
        <p:spPr>
          <a:xfrm>
            <a:off x="-7857400" y="2527667"/>
            <a:ext cx="45384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ts_007_omit_type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6D8BAD7C-88C4-D7CD-22A0-5C343A7BB9C2}"/>
              </a:ext>
            </a:extLst>
          </p:cNvPr>
          <p:cNvPicPr>
            <a:picLocks noChangeAspect="1"/>
          </p:cNvPicPr>
          <p:nvPr/>
        </p:nvPicPr>
        <p:blipFill rotWithShape="1">
          <a:blip r:embed="rId4"/>
          <a:srcRect l="18099" t="18876" r="10223" b="11204"/>
          <a:stretch>
            <a:fillRect/>
          </a:stretch>
        </p:blipFill>
        <p:spPr>
          <a:xfrm>
            <a:off x="223306" y="3739782"/>
            <a:ext cx="9838800" cy="926367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356A027F-6549-CCA1-52BB-E724D987F407}"/>
              </a:ext>
            </a:extLst>
          </p:cNvPr>
          <p:cNvPicPr>
            <a:picLocks noChangeAspect="1"/>
          </p:cNvPicPr>
          <p:nvPr/>
        </p:nvPicPr>
        <p:blipFill rotWithShape="1">
          <a:blip r:embed="rId3"/>
          <a:srcRect l="19081" t="16339" r="10588" b="9291"/>
          <a:stretch>
            <a:fillRect/>
          </a:stretch>
        </p:blipFill>
        <p:spPr>
          <a:xfrm>
            <a:off x="223306" y="3739781"/>
            <a:ext cx="9838800" cy="12263363"/>
          </a:xfrm>
          <a:prstGeom prst="rect">
            <a:avLst/>
          </a:prstGeom>
        </p:spPr>
      </p:pic>
      <p:sp>
        <p:nvSpPr>
          <p:cNvPr id="4" name="TextBox 3">
            <a:extLst>
              <a:ext uri="{FF2B5EF4-FFF2-40B4-BE49-F238E27FC236}">
                <a16:creationId xmlns:a16="http://schemas.microsoft.com/office/drawing/2014/main" id="{D331AA02-2652-E0D7-4EDB-07645D7BC375}"/>
              </a:ext>
            </a:extLst>
          </p:cNvPr>
          <p:cNvSpPr txBox="1"/>
          <p:nvPr/>
        </p:nvSpPr>
        <p:spPr>
          <a:xfrm>
            <a:off x="223306" y="2407302"/>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403306" y="16098627"/>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239D0D4F-28B6-1236-5B46-A163181988CA}"/>
              </a:ext>
            </a:extLst>
          </p:cNvPr>
          <p:cNvSpPr txBox="1"/>
          <p:nvPr/>
        </p:nvSpPr>
        <p:spPr>
          <a:xfrm>
            <a:off x="-7857400" y="2527667"/>
            <a:ext cx="43781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ts_008_pick_type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12108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D0EF5681-94E5-C68C-2651-870A8A8726E2}"/>
              </a:ext>
            </a:extLst>
          </p:cNvPr>
          <p:cNvSpPr txBox="1"/>
          <p:nvPr/>
        </p:nvSpPr>
        <p:spPr>
          <a:xfrm>
            <a:off x="-7857400" y="2527667"/>
            <a:ext cx="489108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ts_009_record_type</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A61B4792-CCDC-6CFF-C30F-4EB5565D408C}"/>
              </a:ext>
            </a:extLst>
          </p:cNvPr>
          <p:cNvPicPr>
            <a:picLocks noChangeAspect="1"/>
          </p:cNvPicPr>
          <p:nvPr/>
        </p:nvPicPr>
        <p:blipFill rotWithShape="1">
          <a:blip r:embed="rId3"/>
          <a:srcRect l="17849" t="22441" r="10214" b="13394"/>
          <a:stretch>
            <a:fillRect/>
          </a:stretch>
        </p:blipFill>
        <p:spPr>
          <a:xfrm>
            <a:off x="224660" y="3739781"/>
            <a:ext cx="9836092" cy="7084737"/>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337263" y="13197018"/>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C40E98EB-4C55-6A2D-7D63-C475C28FDE30}"/>
              </a:ext>
            </a:extLst>
          </p:cNvPr>
          <p:cNvSpPr txBox="1"/>
          <p:nvPr/>
        </p:nvSpPr>
        <p:spPr>
          <a:xfrm>
            <a:off x="-7857400" y="2527667"/>
            <a:ext cx="6099747"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ts_010_template_literals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9" name="Picture 8">
            <a:extLst>
              <a:ext uri="{FF2B5EF4-FFF2-40B4-BE49-F238E27FC236}">
                <a16:creationId xmlns:a16="http://schemas.microsoft.com/office/drawing/2014/main" id="{A00E3FBF-B619-73FD-C7E1-9DD9DA92285D}"/>
              </a:ext>
            </a:extLst>
          </p:cNvPr>
          <p:cNvPicPr>
            <a:picLocks noChangeAspect="1"/>
          </p:cNvPicPr>
          <p:nvPr/>
        </p:nvPicPr>
        <p:blipFill rotWithShape="1">
          <a:blip r:embed="rId3"/>
          <a:srcRect l="18070" t="18887" r="10108" b="10982"/>
          <a:stretch>
            <a:fillRect/>
          </a:stretch>
        </p:blipFill>
        <p:spPr>
          <a:xfrm>
            <a:off x="223306" y="3739782"/>
            <a:ext cx="9838800" cy="9403751"/>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5EA5F98-D57D-652A-7B72-FE9B1FBC41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1F613D-85BF-D828-1EBE-CD5EFA4FB6CA}"/>
              </a:ext>
            </a:extLst>
          </p:cNvPr>
          <p:cNvSpPr txBox="1"/>
          <p:nvPr/>
        </p:nvSpPr>
        <p:spPr>
          <a:xfrm>
            <a:off x="223306" y="2503554"/>
            <a:ext cx="9838800" cy="1236996"/>
          </a:xfrm>
          <a:prstGeom prst="rect">
            <a:avLst/>
          </a:prstGeom>
          <a:ln w="12700">
            <a:solidFill>
              <a:schemeClr val="tx1"/>
            </a:solidFill>
          </a:ln>
        </p:spPr>
        <p:style>
          <a:lnRef idx="1">
            <a:schemeClr val="accent1"/>
          </a:lnRef>
          <a:fillRef idx="3">
            <a:schemeClr val="accent1"/>
          </a:fillRef>
          <a:effectRef idx="2">
            <a:schemeClr val="accent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Key Access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7F6D300A-7DAA-5857-17A7-5B9520965244}"/>
              </a:ext>
            </a:extLst>
          </p:cNvPr>
          <p:cNvSpPr txBox="1"/>
          <p:nvPr/>
        </p:nvSpPr>
        <p:spPr>
          <a:xfrm>
            <a:off x="0" y="11031333"/>
            <a:ext cx="10285413" cy="2780919"/>
          </a:xfrm>
          <a:prstGeom prst="rect">
            <a:avLst/>
          </a:prstGeom>
          <a:noFill/>
        </p:spPr>
        <p:txBody>
          <a:bodyPr wrap="square" rtlCol="0">
            <a:noAutofit/>
          </a:bodyPr>
          <a:lstStyle/>
          <a:p>
            <a:pPr algn="ctr"/>
            <a:r>
              <a:rPr lang="en-GB" sz="7200" dirty="0">
                <a:ln w="0"/>
                <a:effectLst>
                  <a:outerShdw blurRad="38100" dist="19050" dir="2700000" algn="tl" rotWithShape="0">
                    <a:schemeClr val="dk1">
                      <a:alpha val="40000"/>
                    </a:schemeClr>
                  </a:outerShdw>
                </a:effectLst>
                <a:latin typeface="Patrick Hand" pitchFamily="2" charset="77"/>
              </a:rPr>
              <a:t>Ensure you only access properties that actually exist</a:t>
            </a:r>
            <a:endParaRPr lang="en-DE" sz="72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AAA5D1AD-9390-7FD0-FEC1-08C8057FCA21}"/>
              </a:ext>
            </a:extLst>
          </p:cNvPr>
          <p:cNvSpPr txBox="1"/>
          <p:nvPr/>
        </p:nvSpPr>
        <p:spPr>
          <a:xfrm>
            <a:off x="-7857400" y="2527667"/>
            <a:ext cx="6774611"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ts_011_dynamic_key_access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D296145-3247-2B7D-5EA6-6A523E690797}"/>
              </a:ext>
            </a:extLst>
          </p:cNvPr>
          <p:cNvPicPr>
            <a:picLocks noChangeAspect="1"/>
          </p:cNvPicPr>
          <p:nvPr/>
        </p:nvPicPr>
        <p:blipFill>
          <a:blip r:embed="rId3"/>
          <a:stretch>
            <a:fillRect/>
          </a:stretch>
        </p:blipFill>
        <p:spPr>
          <a:xfrm>
            <a:off x="321693" y="2599038"/>
            <a:ext cx="1062000" cy="1062000"/>
          </a:xfrm>
          <a:prstGeom prst="rect">
            <a:avLst/>
          </a:prstGeom>
          <a:ln w="12700">
            <a:solidFill>
              <a:schemeClr val="bg1"/>
            </a:solidFill>
          </a:ln>
        </p:spPr>
      </p:pic>
      <p:pic>
        <p:nvPicPr>
          <p:cNvPr id="2" name="Picture 1">
            <a:extLst>
              <a:ext uri="{FF2B5EF4-FFF2-40B4-BE49-F238E27FC236}">
                <a16:creationId xmlns:a16="http://schemas.microsoft.com/office/drawing/2014/main" id="{6438B134-73D7-67FF-E803-199269A6F633}"/>
              </a:ext>
            </a:extLst>
          </p:cNvPr>
          <p:cNvPicPr>
            <a:picLocks noChangeAspect="1"/>
          </p:cNvPicPr>
          <p:nvPr/>
        </p:nvPicPr>
        <p:blipFill rotWithShape="1">
          <a:blip r:embed="rId4"/>
          <a:srcRect l="20729" t="24303" r="12963" b="19000"/>
          <a:stretch>
            <a:fillRect/>
          </a:stretch>
        </p:blipFill>
        <p:spPr>
          <a:xfrm>
            <a:off x="224385" y="3836034"/>
            <a:ext cx="9836642" cy="6823944"/>
          </a:xfrm>
          <a:prstGeom prst="rect">
            <a:avLst/>
          </a:prstGeom>
        </p:spPr>
      </p:pic>
    </p:spTree>
    <p:extLst>
      <p:ext uri="{BB962C8B-B14F-4D97-AF65-F5344CB8AC3E}">
        <p14:creationId xmlns:p14="http://schemas.microsoft.com/office/powerpoint/2010/main" val="20726517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pattFill prst="pct90">
          <a:fgClr>
            <a:srgbClr val="92D050"/>
          </a:fgClr>
          <a:bgClr>
            <a:schemeClr val="bg1"/>
          </a:bgClr>
        </a:pattFill>
        <a:effectLst/>
      </p:bgPr>
    </p:bg>
    <p:spTree>
      <p:nvGrpSpPr>
        <p:cNvPr id="1" name="">
          <a:extLst>
            <a:ext uri="{FF2B5EF4-FFF2-40B4-BE49-F238E27FC236}">
              <a16:creationId xmlns:a16="http://schemas.microsoft.com/office/drawing/2014/main" id="{9C98234D-1DE6-5FAC-19D6-4E9C0F52547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9E651B8-719E-FD51-AF97-C3FBA7408B61}"/>
              </a:ext>
            </a:extLst>
          </p:cNvPr>
          <p:cNvSpPr txBox="1"/>
          <p:nvPr/>
        </p:nvSpPr>
        <p:spPr>
          <a:xfrm>
            <a:off x="111653" y="2326572"/>
            <a:ext cx="10062106" cy="1236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Use </a:t>
            </a:r>
            <a:r>
              <a:rPr lang="en-US" sz="6000" b="1" dirty="0">
                <a:ln w="0"/>
                <a:solidFill>
                  <a:srgbClr val="FF0000"/>
                </a:solidFill>
                <a:effectLst>
                  <a:outerShdw blurRad="38100" dist="19050" dir="2700000" algn="tl" rotWithShape="0">
                    <a:schemeClr val="dk1">
                      <a:alpha val="40000"/>
                    </a:schemeClr>
                  </a:outerShdw>
                </a:effectLst>
                <a:latin typeface="+mj-lt"/>
              </a:rPr>
              <a:t>unknown</a:t>
            </a:r>
            <a:r>
              <a:rPr lang="en-US" sz="6000" b="1" dirty="0">
                <a:ln w="0"/>
                <a:solidFill>
                  <a:schemeClr val="tx1"/>
                </a:solidFill>
                <a:effectLst>
                  <a:outerShdw blurRad="38100" dist="19050" dir="2700000" algn="tl" rotWithShape="0">
                    <a:schemeClr val="dk1">
                      <a:alpha val="40000"/>
                    </a:schemeClr>
                  </a:outerShdw>
                </a:effectLst>
                <a:latin typeface="+mj-lt"/>
              </a:rPr>
              <a:t> instead of </a:t>
            </a:r>
            <a:r>
              <a:rPr lang="en-US" sz="6000" b="1" dirty="0">
                <a:ln w="0"/>
                <a:solidFill>
                  <a:srgbClr val="FF0000"/>
                </a:solidFill>
                <a:effectLst>
                  <a:outerShdw blurRad="38100" dist="19050" dir="2700000" algn="tl" rotWithShape="0">
                    <a:schemeClr val="dk1">
                      <a:alpha val="40000"/>
                    </a:schemeClr>
                  </a:outerShdw>
                </a:effectLst>
                <a:latin typeface="+mj-lt"/>
              </a:rPr>
              <a:t>any</a:t>
            </a:r>
            <a:endParaRPr lang="en-GB" sz="5400" b="1" dirty="0">
              <a:ln w="0"/>
              <a:solidFill>
                <a:srgbClr val="FF0000"/>
              </a:solidFill>
              <a:effectLst>
                <a:outerShdw blurRad="38100" dist="19050" dir="2700000" algn="tl" rotWithShape="0">
                  <a:schemeClr val="dk1">
                    <a:alpha val="40000"/>
                  </a:schemeClr>
                </a:outerShdw>
              </a:effectLst>
              <a:latin typeface="+mj-lt"/>
            </a:endParaRPr>
          </a:p>
        </p:txBody>
      </p:sp>
      <p:sp>
        <p:nvSpPr>
          <p:cNvPr id="25" name="TextBox 24">
            <a:extLst>
              <a:ext uri="{FF2B5EF4-FFF2-40B4-BE49-F238E27FC236}">
                <a16:creationId xmlns:a16="http://schemas.microsoft.com/office/drawing/2014/main" id="{DEE1934B-1E95-9576-DB0E-8C41A821EE5C}"/>
              </a:ext>
            </a:extLst>
          </p:cNvPr>
          <p:cNvSpPr txBox="1"/>
          <p:nvPr/>
        </p:nvSpPr>
        <p:spPr>
          <a:xfrm>
            <a:off x="-9180874" y="2503554"/>
            <a:ext cx="89723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ts_012_use_unknown_instead_of_any</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DED8CD5-5A52-AF06-C9FB-70800F73F7D1}"/>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22" name="Picture 21">
            <a:extLst>
              <a:ext uri="{FF2B5EF4-FFF2-40B4-BE49-F238E27FC236}">
                <a16:creationId xmlns:a16="http://schemas.microsoft.com/office/drawing/2014/main" id="{36AB0BB6-4D4B-8E96-E658-655EFEFE52ED}"/>
              </a:ext>
            </a:extLst>
          </p:cNvPr>
          <p:cNvPicPr>
            <a:picLocks noChangeAspect="1"/>
          </p:cNvPicPr>
          <p:nvPr/>
        </p:nvPicPr>
        <p:blipFill rotWithShape="1">
          <a:blip r:embed="rId3"/>
          <a:srcRect l="20607" t="17055" r="14322" b="11212"/>
          <a:stretch>
            <a:fillRect/>
          </a:stretch>
        </p:blipFill>
        <p:spPr>
          <a:xfrm>
            <a:off x="111653" y="3607992"/>
            <a:ext cx="10062106" cy="13961774"/>
          </a:xfrm>
          <a:prstGeom prst="rect">
            <a:avLst/>
          </a:prstGeom>
        </p:spPr>
      </p:pic>
      <p:sp>
        <p:nvSpPr>
          <p:cNvPr id="24" name="Process 23">
            <a:extLst>
              <a:ext uri="{FF2B5EF4-FFF2-40B4-BE49-F238E27FC236}">
                <a16:creationId xmlns:a16="http://schemas.microsoft.com/office/drawing/2014/main" id="{7243700C-5C6D-EEAC-2364-2B1B6FF65C01}"/>
              </a:ext>
            </a:extLst>
          </p:cNvPr>
          <p:cNvSpPr/>
          <p:nvPr/>
        </p:nvSpPr>
        <p:spPr>
          <a:xfrm>
            <a:off x="914400" y="5751871"/>
            <a:ext cx="4483510"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6" name="Process 25">
            <a:extLst>
              <a:ext uri="{FF2B5EF4-FFF2-40B4-BE49-F238E27FC236}">
                <a16:creationId xmlns:a16="http://schemas.microsoft.com/office/drawing/2014/main" id="{363E8C05-347E-1C50-5CA2-C3C6E7A52205}"/>
              </a:ext>
            </a:extLst>
          </p:cNvPr>
          <p:cNvSpPr/>
          <p:nvPr/>
        </p:nvSpPr>
        <p:spPr>
          <a:xfrm>
            <a:off x="2035277" y="12688528"/>
            <a:ext cx="3952626"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0683971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circle">
            <a:fillToRect l="50000" t="130000" r="50000" b="-30000"/>
          </a:path>
          <a:tileRect/>
        </a:gradFill>
        <a:effectLst/>
      </p:bgPr>
    </p:bg>
    <p:spTree>
      <p:nvGrpSpPr>
        <p:cNvPr id="1" name="">
          <a:extLst>
            <a:ext uri="{FF2B5EF4-FFF2-40B4-BE49-F238E27FC236}">
              <a16:creationId xmlns:a16="http://schemas.microsoft.com/office/drawing/2014/main" id="{C0AA37A6-A127-C1A6-3EF0-228E8BA920F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6762DA-CE46-EAF0-819B-68A735719855}"/>
              </a:ext>
            </a:extLst>
          </p:cNvPr>
          <p:cNvSpPr txBox="1"/>
          <p:nvPr/>
        </p:nvSpPr>
        <p:spPr>
          <a:xfrm>
            <a:off x="111653" y="2326572"/>
            <a:ext cx="10062106" cy="1236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nchor="ctr" anchorCtr="0">
            <a:noAutofit/>
          </a:bodyPr>
          <a:lstStyle/>
          <a:p>
            <a:pPr algn="ct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Type Guard </a:t>
            </a:r>
            <a:r>
              <a:rPr lang="en-GB" sz="4800" dirty="0">
                <a:ln w="0"/>
                <a:solidFill>
                  <a:schemeClr val="tx1"/>
                </a:solidFill>
                <a:effectLst>
                  <a:outerShdw blurRad="38100" dist="19050" dir="2700000" algn="tl" rotWithShape="0">
                    <a:schemeClr val="dk1">
                      <a:alpha val="40000"/>
                    </a:schemeClr>
                  </a:outerShdw>
                </a:effectLst>
              </a:rPr>
              <a:t>vs</a:t>
            </a: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 Boolean Check</a:t>
            </a:r>
            <a:endParaRPr lang="en-GB" sz="13800" b="1" spc="50" dirty="0">
              <a:ln w="9525" cmpd="sng">
                <a:solidFill>
                  <a:schemeClr val="accent1"/>
                </a:solidFill>
                <a:prstDash val="solid"/>
              </a:ln>
              <a:solidFill>
                <a:srgbClr val="70AD47">
                  <a:tint val="1000"/>
                </a:srgbClr>
              </a:solidFill>
              <a:effectLst>
                <a:glow rad="38100">
                  <a:schemeClr val="accent1">
                    <a:alpha val="40000"/>
                  </a:schemeClr>
                </a:glow>
              </a:effectLst>
              <a:latin typeface="+mj-lt"/>
            </a:endParaRPr>
          </a:p>
        </p:txBody>
      </p:sp>
      <p:sp>
        <p:nvSpPr>
          <p:cNvPr id="25" name="TextBox 24">
            <a:extLst>
              <a:ext uri="{FF2B5EF4-FFF2-40B4-BE49-F238E27FC236}">
                <a16:creationId xmlns:a16="http://schemas.microsoft.com/office/drawing/2014/main" id="{085AEB53-581B-5BA5-733C-B8E2E4DA1A51}"/>
              </a:ext>
            </a:extLst>
          </p:cNvPr>
          <p:cNvSpPr txBox="1"/>
          <p:nvPr/>
        </p:nvSpPr>
        <p:spPr>
          <a:xfrm>
            <a:off x="-9431886" y="2422056"/>
            <a:ext cx="920636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ts_013_type_guard_vs_Boolean_check</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58945B3-E6D4-5B98-FFF3-21843611A002}"/>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61" name="Picture 60">
            <a:extLst>
              <a:ext uri="{FF2B5EF4-FFF2-40B4-BE49-F238E27FC236}">
                <a16:creationId xmlns:a16="http://schemas.microsoft.com/office/drawing/2014/main" id="{2E7780D2-F26D-FE77-86C7-027D265E3D5E}"/>
              </a:ext>
            </a:extLst>
          </p:cNvPr>
          <p:cNvPicPr>
            <a:picLocks noChangeAspect="1"/>
          </p:cNvPicPr>
          <p:nvPr/>
        </p:nvPicPr>
        <p:blipFill rotWithShape="1">
          <a:blip r:embed="rId3"/>
          <a:srcRect l="15464" t="14798" r="8888" b="8387"/>
          <a:stretch>
            <a:fillRect/>
          </a:stretch>
        </p:blipFill>
        <p:spPr>
          <a:xfrm>
            <a:off x="111653" y="3659052"/>
            <a:ext cx="10062106" cy="11219250"/>
          </a:xfrm>
          <a:prstGeom prst="rect">
            <a:avLst/>
          </a:prstGeom>
        </p:spPr>
      </p:pic>
      <p:cxnSp>
        <p:nvCxnSpPr>
          <p:cNvPr id="63" name="Straight Connector 62">
            <a:extLst>
              <a:ext uri="{FF2B5EF4-FFF2-40B4-BE49-F238E27FC236}">
                <a16:creationId xmlns:a16="http://schemas.microsoft.com/office/drawing/2014/main" id="{4C18699B-2376-8DED-5AD6-87FF20ED84B2}"/>
              </a:ext>
            </a:extLst>
          </p:cNvPr>
          <p:cNvCxnSpPr>
            <a:cxnSpLocks/>
          </p:cNvCxnSpPr>
          <p:nvPr/>
        </p:nvCxnSpPr>
        <p:spPr>
          <a:xfrm>
            <a:off x="111653" y="9412941"/>
            <a:ext cx="1006210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5" name="Graphic 64" descr="Shield Tick with solid fill">
            <a:extLst>
              <a:ext uri="{FF2B5EF4-FFF2-40B4-BE49-F238E27FC236}">
                <a16:creationId xmlns:a16="http://schemas.microsoft.com/office/drawing/2014/main" id="{205B227F-0815-7752-546E-226548DE42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64069" y="11793770"/>
            <a:ext cx="914400" cy="914400"/>
          </a:xfrm>
          <a:prstGeom prst="rect">
            <a:avLst/>
          </a:prstGeom>
        </p:spPr>
      </p:pic>
      <p:pic>
        <p:nvPicPr>
          <p:cNvPr id="66" name="Graphic 65" descr="Close with solid fill">
            <a:extLst>
              <a:ext uri="{FF2B5EF4-FFF2-40B4-BE49-F238E27FC236}">
                <a16:creationId xmlns:a16="http://schemas.microsoft.com/office/drawing/2014/main" id="{9B7CAE36-F8AD-5BE2-E1BF-B804F4812CE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64069" y="5164397"/>
            <a:ext cx="914400" cy="914400"/>
          </a:xfrm>
          <a:prstGeom prst="rect">
            <a:avLst/>
          </a:prstGeom>
        </p:spPr>
      </p:pic>
      <p:sp>
        <p:nvSpPr>
          <p:cNvPr id="68" name="Process 67">
            <a:extLst>
              <a:ext uri="{FF2B5EF4-FFF2-40B4-BE49-F238E27FC236}">
                <a16:creationId xmlns:a16="http://schemas.microsoft.com/office/drawing/2014/main" id="{37FC2236-6353-0508-F53D-D78D5EDC9054}"/>
              </a:ext>
            </a:extLst>
          </p:cNvPr>
          <p:cNvSpPr/>
          <p:nvPr/>
        </p:nvSpPr>
        <p:spPr>
          <a:xfrm>
            <a:off x="914400" y="5218185"/>
            <a:ext cx="1577788"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69" name="Process 68">
            <a:extLst>
              <a:ext uri="{FF2B5EF4-FFF2-40B4-BE49-F238E27FC236}">
                <a16:creationId xmlns:a16="http://schemas.microsoft.com/office/drawing/2014/main" id="{27AD91C2-3990-AA3E-4EE8-6EF7B74042ED}"/>
              </a:ext>
            </a:extLst>
          </p:cNvPr>
          <p:cNvSpPr/>
          <p:nvPr/>
        </p:nvSpPr>
        <p:spPr>
          <a:xfrm>
            <a:off x="914399" y="10378074"/>
            <a:ext cx="3209365"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70" name="TextBox 69">
            <a:extLst>
              <a:ext uri="{FF2B5EF4-FFF2-40B4-BE49-F238E27FC236}">
                <a16:creationId xmlns:a16="http://schemas.microsoft.com/office/drawing/2014/main" id="{4B61AD5C-CB0B-1671-E30E-A1FCAB944713}"/>
              </a:ext>
            </a:extLst>
          </p:cNvPr>
          <p:cNvSpPr txBox="1"/>
          <p:nvPr/>
        </p:nvSpPr>
        <p:spPr>
          <a:xfrm>
            <a:off x="6226797" y="9897761"/>
            <a:ext cx="2381806" cy="707886"/>
          </a:xfrm>
          <a:prstGeom prst="rect">
            <a:avLst/>
          </a:prstGeom>
          <a:noFill/>
        </p:spPr>
        <p:txBody>
          <a:bodyPr wrap="none" rtlCol="0">
            <a:spAutoFit/>
          </a:bodyPr>
          <a:lstStyle/>
          <a:p>
            <a:pPr algn="l"/>
            <a:r>
              <a:rPr lang="en-DE" sz="4000" dirty="0">
                <a:solidFill>
                  <a:schemeClr val="bg1"/>
                </a:solidFill>
                <a:latin typeface="Arial Narrow" panose="020B0604020202020204" pitchFamily="34" charset="0"/>
                <a:cs typeface="Arial Narrow" panose="020B0604020202020204" pitchFamily="34" charset="0"/>
              </a:rPr>
              <a:t>Type Guard</a:t>
            </a:r>
          </a:p>
        </p:txBody>
      </p:sp>
      <p:sp>
        <p:nvSpPr>
          <p:cNvPr id="71" name="Right Arrow 70">
            <a:extLst>
              <a:ext uri="{FF2B5EF4-FFF2-40B4-BE49-F238E27FC236}">
                <a16:creationId xmlns:a16="http://schemas.microsoft.com/office/drawing/2014/main" id="{F143C983-9928-B1DA-9B34-1400C80E20B9}"/>
              </a:ext>
            </a:extLst>
          </p:cNvPr>
          <p:cNvSpPr/>
          <p:nvPr/>
        </p:nvSpPr>
        <p:spPr>
          <a:xfrm>
            <a:off x="4123764" y="10001924"/>
            <a:ext cx="2037886" cy="465438"/>
          </a:xfrm>
          <a:prstGeom prst="right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2572458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BBDC7FE-3BFB-19D1-B209-C8083540C92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CEB762-03C0-AA29-FEE4-455C4791DBFB}"/>
              </a:ext>
            </a:extLst>
          </p:cNvPr>
          <p:cNvSpPr txBox="1"/>
          <p:nvPr/>
        </p:nvSpPr>
        <p:spPr>
          <a:xfrm>
            <a:off x="223306" y="2340265"/>
            <a:ext cx="9838800" cy="1236996"/>
          </a:xfrm>
          <a:prstGeom prst="rect">
            <a:avLst/>
          </a:prstGeom>
          <a:ln w="12700">
            <a:solidFill>
              <a:schemeClr val="tx1"/>
            </a:solidFill>
          </a:ln>
        </p:spPr>
        <p:style>
          <a:lnRef idx="1">
            <a:schemeClr val="accent1"/>
          </a:lnRef>
          <a:fillRef idx="3">
            <a:schemeClr val="accent1"/>
          </a:fillRef>
          <a:effectRef idx="2">
            <a:schemeClr val="accent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Key Access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059F1B1B-4AA8-DE45-F2EF-CCB4CB58F9F3}"/>
              </a:ext>
            </a:extLst>
          </p:cNvPr>
          <p:cNvSpPr txBox="1"/>
          <p:nvPr/>
        </p:nvSpPr>
        <p:spPr>
          <a:xfrm>
            <a:off x="-6077586" y="2405884"/>
            <a:ext cx="5578771"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ts_014_keyof_operator</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72D8409E-777F-3FE6-2708-9236719AF0FC}"/>
              </a:ext>
            </a:extLst>
          </p:cNvPr>
          <p:cNvPicPr>
            <a:picLocks noChangeAspect="1"/>
          </p:cNvPicPr>
          <p:nvPr/>
        </p:nvPicPr>
        <p:blipFill>
          <a:blip r:embed="rId3"/>
          <a:stretch>
            <a:fillRect/>
          </a:stretch>
        </p:blipFill>
        <p:spPr>
          <a:xfrm>
            <a:off x="321693" y="2435749"/>
            <a:ext cx="1062000" cy="1062000"/>
          </a:xfrm>
          <a:prstGeom prst="rect">
            <a:avLst/>
          </a:prstGeom>
          <a:ln w="12700">
            <a:solidFill>
              <a:schemeClr val="bg1"/>
            </a:solidFill>
          </a:ln>
        </p:spPr>
      </p:pic>
      <p:pic>
        <p:nvPicPr>
          <p:cNvPr id="6" name="Picture 5">
            <a:extLst>
              <a:ext uri="{FF2B5EF4-FFF2-40B4-BE49-F238E27FC236}">
                <a16:creationId xmlns:a16="http://schemas.microsoft.com/office/drawing/2014/main" id="{1887C571-3F1B-5F3E-6FCD-47B0196ED618}"/>
              </a:ext>
            </a:extLst>
          </p:cNvPr>
          <p:cNvPicPr preferRelativeResize="0">
            <a:picLocks/>
          </p:cNvPicPr>
          <p:nvPr/>
        </p:nvPicPr>
        <p:blipFill rotWithShape="1">
          <a:blip r:embed="rId4"/>
          <a:srcRect l="21069" t="13723" r="13950" b="8403"/>
          <a:stretch>
            <a:fillRect/>
          </a:stretch>
        </p:blipFill>
        <p:spPr>
          <a:xfrm>
            <a:off x="223306" y="3623756"/>
            <a:ext cx="9838800" cy="13521237"/>
          </a:xfrm>
          <a:prstGeom prst="rect">
            <a:avLst/>
          </a:prstGeom>
        </p:spPr>
      </p:pic>
      <p:cxnSp>
        <p:nvCxnSpPr>
          <p:cNvPr id="7" name="Straight Connector 6">
            <a:extLst>
              <a:ext uri="{FF2B5EF4-FFF2-40B4-BE49-F238E27FC236}">
                <a16:creationId xmlns:a16="http://schemas.microsoft.com/office/drawing/2014/main" id="{BB4F3F8D-47C8-6350-05C8-6B1B50A937E9}"/>
              </a:ext>
            </a:extLst>
          </p:cNvPr>
          <p:cNvCxnSpPr>
            <a:cxnSpLocks/>
          </p:cNvCxnSpPr>
          <p:nvPr/>
        </p:nvCxnSpPr>
        <p:spPr>
          <a:xfrm>
            <a:off x="209626" y="7143267"/>
            <a:ext cx="9852480"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B5DEE22C-1149-62F6-A893-E3AB2ADFC2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64069" y="8658680"/>
            <a:ext cx="914400" cy="914400"/>
          </a:xfrm>
          <a:prstGeom prst="rect">
            <a:avLst/>
          </a:prstGeom>
        </p:spPr>
      </p:pic>
      <p:pic>
        <p:nvPicPr>
          <p:cNvPr id="9" name="Graphic 8" descr="Close with solid fill">
            <a:extLst>
              <a:ext uri="{FF2B5EF4-FFF2-40B4-BE49-F238E27FC236}">
                <a16:creationId xmlns:a16="http://schemas.microsoft.com/office/drawing/2014/main" id="{84B5CBBE-463A-B7C8-9B7E-ECFA988369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64069" y="4527584"/>
            <a:ext cx="914400" cy="914400"/>
          </a:xfrm>
          <a:prstGeom prst="rect">
            <a:avLst/>
          </a:prstGeom>
        </p:spPr>
      </p:pic>
      <p:cxnSp>
        <p:nvCxnSpPr>
          <p:cNvPr id="11" name="Straight Connector 10">
            <a:extLst>
              <a:ext uri="{FF2B5EF4-FFF2-40B4-BE49-F238E27FC236}">
                <a16:creationId xmlns:a16="http://schemas.microsoft.com/office/drawing/2014/main" id="{1E902722-98CF-4FFF-CAD9-A83267FE76A9}"/>
              </a:ext>
            </a:extLst>
          </p:cNvPr>
          <p:cNvCxnSpPr>
            <a:cxnSpLocks/>
          </p:cNvCxnSpPr>
          <p:nvPr/>
        </p:nvCxnSpPr>
        <p:spPr>
          <a:xfrm>
            <a:off x="215066" y="10594044"/>
            <a:ext cx="9852480"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0B40CD9-FE74-522C-D289-BB058CD2061E}"/>
              </a:ext>
            </a:extLst>
          </p:cNvPr>
          <p:cNvCxnSpPr>
            <a:cxnSpLocks/>
          </p:cNvCxnSpPr>
          <p:nvPr/>
        </p:nvCxnSpPr>
        <p:spPr>
          <a:xfrm>
            <a:off x="187851" y="12020076"/>
            <a:ext cx="9852480"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5A52385-BCFF-6EF3-33C8-026D1FEFE7E0}"/>
              </a:ext>
            </a:extLst>
          </p:cNvPr>
          <p:cNvCxnSpPr>
            <a:cxnSpLocks/>
          </p:cNvCxnSpPr>
          <p:nvPr/>
        </p:nvCxnSpPr>
        <p:spPr>
          <a:xfrm>
            <a:off x="187850" y="14551004"/>
            <a:ext cx="9852480"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69795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569049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57484</TotalTime>
  <Words>1294</Words>
  <Application>Microsoft Macintosh PowerPoint</Application>
  <PresentationFormat>Custom</PresentationFormat>
  <Paragraphs>217</Paragraphs>
  <Slides>58</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58</vt:i4>
      </vt:variant>
    </vt:vector>
  </HeadingPairs>
  <TitlesOfParts>
    <vt:vector size="65"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651</cp:revision>
  <cp:lastPrinted>2025-12-17T08:49:37Z</cp:lastPrinted>
  <dcterms:created xsi:type="dcterms:W3CDTF">2025-12-17T08:13:25Z</dcterms:created>
  <dcterms:modified xsi:type="dcterms:W3CDTF">2026-04-04T17:15:53Z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