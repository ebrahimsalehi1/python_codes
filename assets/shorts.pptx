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1_495F277A.xml" ContentType="application/vnd.ms-powerpoint.comments+xml"/>
  <Override PartName="/ppt/comments/modernComment_114_90382018.xml" ContentType="application/vnd.ms-powerpoint.comments+xml"/>
  <Override PartName="/ppt/comments/modernComment_115_9CE3D27C.xml" ContentType="application/vnd.ms-powerpoint.comments+xml"/>
  <Override PartName="/ppt/comments/modernComment_116_9D718DED.xml" ContentType="application/vnd.ms-powerpoint.comments+xml"/>
  <Override PartName="/ppt/notesSlides/notesSlide6.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7.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49"/>
  </p:notesMasterIdLst>
  <p:sldIdLst>
    <p:sldId id="263" r:id="rId2"/>
    <p:sldId id="271" r:id="rId3"/>
    <p:sldId id="266" r:id="rId4"/>
    <p:sldId id="267" r:id="rId5"/>
    <p:sldId id="264" r:id="rId6"/>
    <p:sldId id="274" r:id="rId7"/>
    <p:sldId id="275" r:id="rId8"/>
    <p:sldId id="273" r:id="rId9"/>
    <p:sldId id="276" r:id="rId10"/>
    <p:sldId id="277" r:id="rId11"/>
    <p:sldId id="278" r:id="rId12"/>
    <p:sldId id="279" r:id="rId13"/>
    <p:sldId id="280" r:id="rId14"/>
    <p:sldId id="281" r:id="rId15"/>
    <p:sldId id="288" r:id="rId16"/>
    <p:sldId id="289" r:id="rId17"/>
    <p:sldId id="290" r:id="rId18"/>
    <p:sldId id="291" r:id="rId19"/>
    <p:sldId id="292" r:id="rId20"/>
    <p:sldId id="293" r:id="rId21"/>
    <p:sldId id="294" r:id="rId22"/>
    <p:sldId id="306" r:id="rId23"/>
    <p:sldId id="310" r:id="rId24"/>
    <p:sldId id="311" r:id="rId25"/>
    <p:sldId id="315" r:id="rId26"/>
    <p:sldId id="316" r:id="rId27"/>
    <p:sldId id="317" r:id="rId28"/>
    <p:sldId id="318" r:id="rId29"/>
    <p:sldId id="319" r:id="rId30"/>
    <p:sldId id="320" r:id="rId31"/>
    <p:sldId id="309" r:id="rId32"/>
    <p:sldId id="296" r:id="rId33"/>
    <p:sldId id="297" r:id="rId34"/>
    <p:sldId id="298" r:id="rId35"/>
    <p:sldId id="299" r:id="rId36"/>
    <p:sldId id="300" r:id="rId37"/>
    <p:sldId id="301" r:id="rId38"/>
    <p:sldId id="302" r:id="rId39"/>
    <p:sldId id="303" r:id="rId40"/>
    <p:sldId id="304" r:id="rId41"/>
    <p:sldId id="305" r:id="rId42"/>
    <p:sldId id="312" r:id="rId43"/>
    <p:sldId id="313" r:id="rId44"/>
    <p:sldId id="314" r:id="rId45"/>
    <p:sldId id="307" r:id="rId46"/>
    <p:sldId id="308" r:id="rId47"/>
    <p:sldId id="282" r:id="rId48"/>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208"/>
    <p:restoredTop sz="96287"/>
  </p:normalViewPr>
  <p:slideViewPr>
    <p:cSldViewPr snapToGrid="0">
      <p:cViewPr>
        <p:scale>
          <a:sx n="43" d="100"/>
          <a:sy n="43" d="100"/>
        </p:scale>
        <p:origin x="2512" y="816"/>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1_495F277A.xml><?xml version="1.0" encoding="utf-8"?>
<p188:cmLst xmlns:a="http://schemas.openxmlformats.org/drawingml/2006/main" xmlns:r="http://schemas.openxmlformats.org/officeDocument/2006/relationships" xmlns:p188="http://schemas.microsoft.com/office/powerpoint/2018/8/main">
  <p188:cm id="{D9AA41E5-7F1A-814B-A122-E04A052682B1}" authorId="{8860045D-B334-310D-0A4E-9E20AA0B149E}" created="2025-12-31T15:40:41.497">
    <pc:sldMkLst xmlns:pc="http://schemas.microsoft.com/office/powerpoint/2013/main/command">
      <pc:docMk/>
      <pc:sldMk cId="1230972794" sldId="273"/>
    </pc:sldMkLst>
    <p188:replyLst>
      <p188:reply id="{C9715592-8908-484F-890E-9064472D8F44}" authorId="{8860045D-B334-310D-0A4E-9E20AA0B149E}" created="2025-12-31T15:41:01.364">
        <p188:txBody>
          <a:bodyPr/>
          <a:lstStyle/>
          <a:p>
            <a:r>
              <a:rPr lang="en-DE"/>
              <a:t>TikTok
Caption:
2026 is the year of Clean Code! 🐍✨
Stop repeating yourself and start using the Walrus Operator :=. It’s faster, shorter, and much more professional. 🚀
Which Python feature do you want to master this year? Let me know below! 👇
#CodeWithEbrahim #PythonTips #TechTok #Coding2026 #Programmer #LearnPython #SoftwareDev
</a:t>
            </a:r>
          </a:p>
        </p188:txBody>
      </p188:reply>
    </p188:replyLst>
    <p188:txBody>
      <a:bodyPr/>
      <a:lstStyle/>
      <a:p>
        <a:r>
          <a:rPr lang="en-DE"/>
          <a:t>YouTube Shorts
Title Options:
Level Up Your Python in 2026! 🐍🦭
The Only Python Operator You Need This Year!
Master the Walrus Operator in 60 Seconds 🔥
Python Tips 2026: Write Faster, Cleaner Code
Description:
Happy 2026! 🚀 Let's start the year by mastering one of Python's most powerful tools: The Walrus Operator (:=).
In this video, we see why Senior Developers prefer "Assignment Expressions" over traditional variable assignments.
💡 Why use Walrus?
Reduces code repetition.
Assignments happen inside the expression.
Makes your if and while loops incredibly clean.
✅ Follow @CodeWithEbrahim for a year full of coding excellence!
#Python2026 #WalrusOperator #CleanCode #ProgrammingTips #SoftwareEngineer #CodingLife #PythonTutorial</a:t>
        </a:r>
      </a:p>
    </p188:txBody>
  </p188:cm>
</p188:cmLst>
</file>

<file path=ppt/comments/modernComment_114_90382018.xml><?xml version="1.0" encoding="utf-8"?>
<p188:cmLst xmlns:a="http://schemas.openxmlformats.org/drawingml/2006/main" xmlns:r="http://schemas.openxmlformats.org/officeDocument/2006/relationships" xmlns:p188="http://schemas.microsoft.com/office/powerpoint/2018/8/main">
  <p188:cm id="{4120432F-D95B-134A-AF1F-F641BC3F7A95}" authorId="{8860045D-B334-310D-0A4E-9E20AA0B149E}" created="2026-01-02T10:15:01.565">
    <pc:sldMkLst xmlns:pc="http://schemas.microsoft.com/office/powerpoint/2013/main/command">
      <pc:docMk/>
      <pc:sldMk cId="2419597336" sldId="276"/>
    </pc:sldMkLst>
    <p188:txBody>
      <a:bodyPr/>
      <a:lstStyle/>
      <a:p>
        <a:r>
          <a:rPr lang="en-DE"/>
          <a:t>TikTok:
Stop guessing if your code works! 🧪 Writing your first test with Pytest is the fastest way to level up. 🚀
#Python #Coding #SoftwareEngineering #Pytest #USA #Germany #Deutschland #Programming #TechTips #CodeWithEbrahim</a:t>
        </a:r>
      </a:p>
    </p188:txBody>
  </p188:cm>
</p188:cmLst>
</file>

<file path=ppt/comments/modernComment_115_9CE3D27C.xml><?xml version="1.0" encoding="utf-8"?>
<p188:cmLst xmlns:a="http://schemas.openxmlformats.org/drawingml/2006/main" xmlns:r="http://schemas.openxmlformats.org/officeDocument/2006/relationships" xmlns:p188="http://schemas.microsoft.com/office/powerpoint/2018/8/main">
  <p188:cm id="{E64800C0-A8FD-7049-8721-DDFAF8DB46DE}" authorId="{8860045D-B334-310D-0A4E-9E20AA0B149E}" created="2026-01-02T13:54:15.909">
    <pc:sldMkLst xmlns:pc="http://schemas.microsoft.com/office/powerpoint/2013/main/command">
      <pc:docMk/>
      <pc:sldMk cId="2632176252" sldId="277"/>
    </pc:sldMkLst>
    <p188:txBody>
      <a:bodyPr/>
      <a:lstStyle/>
      <a:p>
        <a:r>
          <a:rPr lang="en-DE"/>
          <a:t>tiktok
Stop using print() to handle bad data! 🛑 
Using raise makes your code professional and prevents silent crashes. 🐍🔥
#Python #CodingTips #SoftwareEngineering #USA #Germany #Deutschland #Backend #Programming #LearnToCode #CodeWithEbrahim</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01.02.26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This Slide was second one and has been made on 26.12.2025, </a:t>
            </a:r>
            <a:br>
              <a:rPr lang="en-DE" dirty="0"/>
            </a:br>
            <a:r>
              <a:rPr lang="en-DE" dirty="0"/>
              <a:t>the related file is :  </a:t>
            </a:r>
            <a:r>
              <a:rPr lang="en-GB" dirty="0"/>
              <a:t>list-</a:t>
            </a:r>
            <a:r>
              <a:rPr lang="en-GB" dirty="0" err="1"/>
              <a:t>comprehensions.py</a:t>
            </a:r>
            <a:endParaRPr lang="en-GB" dirty="0"/>
          </a:p>
          <a:p>
            <a:r>
              <a:rPr lang="en-GB" dirty="0"/>
              <a:t>Info:</a:t>
            </a:r>
          </a:p>
          <a:p>
            <a:r>
              <a:rPr lang="en-GB" dirty="0"/>
              <a:t>Video Number: 2</a:t>
            </a:r>
          </a:p>
          <a:p>
            <a:r>
              <a:rPr lang="en-GB" dirty="0"/>
              <a:t>Published Date: 26.12.2025</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File Name: list-</a:t>
            </a:r>
            <a:r>
              <a:rPr lang="en-GB" dirty="0" err="1"/>
              <a:t>comprehensions.py</a:t>
            </a:r>
            <a:endParaRPr lang="en-GB" dirty="0"/>
          </a:p>
          <a:p>
            <a:endParaRPr lang="en-GB" dirty="0"/>
          </a:p>
          <a:p>
            <a:endParaRPr lang="en-DE" dirty="0"/>
          </a:p>
          <a:p>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33347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E374C-FF6C-6A59-86BD-42037466D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0A34D-106F-9454-678C-79D548A98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F7E2D-684B-62F0-05F9-E7F57F4ED4A9}"/>
              </a:ext>
            </a:extLst>
          </p:cNvPr>
          <p:cNvSpPr>
            <a:spLocks noGrp="1"/>
          </p:cNvSpPr>
          <p:nvPr>
            <p:ph type="body" idx="1"/>
          </p:nvPr>
        </p:nvSpPr>
        <p:spPr/>
        <p:txBody>
          <a:bodyPr/>
          <a:lstStyle/>
          <a:p>
            <a:r>
              <a:rPr lang="en-DE" dirty="0"/>
              <a:t>Video 3</a:t>
            </a:r>
            <a:br>
              <a:rPr lang="en-DE" dirty="0"/>
            </a:br>
            <a:r>
              <a:rPr lang="en-DE" dirty="0"/>
              <a:t>published on 29.12.2025</a:t>
            </a:r>
          </a:p>
          <a:p>
            <a:endParaRPr lang="en-DE" dirty="0"/>
          </a:p>
        </p:txBody>
      </p:sp>
      <p:sp>
        <p:nvSpPr>
          <p:cNvPr id="4" name="Slide Number Placeholder 3">
            <a:extLst>
              <a:ext uri="{FF2B5EF4-FFF2-40B4-BE49-F238E27FC236}">
                <a16:creationId xmlns:a16="http://schemas.microsoft.com/office/drawing/2014/main" id="{AF4968ED-7ED9-AFC4-BA26-CA9AA4C4C29D}"/>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4119523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4</a:t>
            </a:r>
            <a:br>
              <a:rPr lang="en-DE" dirty="0"/>
            </a:br>
            <a:r>
              <a:rPr lang="en-DE" dirty="0"/>
              <a:t>Published on 31.12.2025</a:t>
            </a:r>
          </a:p>
          <a:p>
            <a:r>
              <a:rPr lang="en-GB" dirty="0"/>
              <a:t>R</a:t>
            </a:r>
            <a:r>
              <a:rPr lang="en-DE" dirty="0"/>
              <a:t>elated files: </a:t>
            </a:r>
          </a:p>
        </p:txBody>
      </p:sp>
      <p:sp>
        <p:nvSpPr>
          <p:cNvPr id="4" name="Slide Number Placeholder 3"/>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48562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5</a:t>
            </a:r>
          </a:p>
          <a:p>
            <a:r>
              <a:rPr lang="en-DE" dirty="0"/>
              <a:t>Title: Swap Variables</a:t>
            </a:r>
          </a:p>
        </p:txBody>
      </p:sp>
      <p:sp>
        <p:nvSpPr>
          <p:cNvPr id="4" name="Slide Number Placeholder 3"/>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576375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6</a:t>
            </a:r>
          </a:p>
          <a:p>
            <a:r>
              <a:rPr lang="en-DE" dirty="0"/>
              <a:t>Title: enumerate</a:t>
            </a:r>
          </a:p>
        </p:txBody>
      </p:sp>
      <p:sp>
        <p:nvSpPr>
          <p:cNvPr id="4" name="Slide Number Placeholder 3"/>
          <p:cNvSpPr>
            <a:spLocks noGrp="1"/>
          </p:cNvSpPr>
          <p:nvPr>
            <p:ph type="sldNum" sz="quarter" idx="5"/>
          </p:nvPr>
        </p:nvSpPr>
        <p:spPr/>
        <p:txBody>
          <a:bodyPr/>
          <a:lstStyle/>
          <a:p>
            <a:fld id="{B46D1A58-C582-AC49-9010-037E894CD422}" type="slidenum">
              <a:rPr lang="en-DE" smtClean="0"/>
              <a:t>7</a:t>
            </a:fld>
            <a:endParaRPr lang="en-DE"/>
          </a:p>
        </p:txBody>
      </p:sp>
    </p:spTree>
    <p:extLst>
      <p:ext uri="{BB962C8B-B14F-4D97-AF65-F5344CB8AC3E}">
        <p14:creationId xmlns:p14="http://schemas.microsoft.com/office/powerpoint/2010/main" val="4123593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85709"/>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2/1/26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
        <p:nvSpPr>
          <p:cNvPr id="15" name="Title 14">
            <a:extLst>
              <a:ext uri="{FF2B5EF4-FFF2-40B4-BE49-F238E27FC236}">
                <a16:creationId xmlns:a16="http://schemas.microsoft.com/office/drawing/2014/main" id="{42277F46-4348-5215-811D-6AD5B4DDAF29}"/>
              </a:ext>
            </a:extLst>
          </p:cNvPr>
          <p:cNvSpPr>
            <a:spLocks noGrp="1"/>
          </p:cNvSpPr>
          <p:nvPr>
            <p:ph type="title"/>
          </p:nvPr>
        </p:nvSpPr>
        <p:spPr/>
        <p:txBody>
          <a:bodyPr/>
          <a:lstStyle/>
          <a:p>
            <a:r>
              <a:rPr lang="en-GB"/>
              <a:t>Click to edit Master title style</a:t>
            </a:r>
            <a:endParaRPr lang="en-DE"/>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2/1/26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2/1/26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2/1/26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2/1/26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4.png"/><Relationship Id="rId2" Type="http://schemas.microsoft.com/office/2018/10/relationships/comments" Target="../comments/modernComment_111_495F277A.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23.svg"/></Relationships>
</file>

<file path=ppt/slides/_rels/slide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4.png"/><Relationship Id="rId7" Type="http://schemas.openxmlformats.org/officeDocument/2006/relationships/image" Target="../media/image5.png"/><Relationship Id="rId2" Type="http://schemas.microsoft.com/office/2018/10/relationships/comments" Target="../comments/modernComment_114_9038201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7.png"/><Relationship Id="rId7" Type="http://schemas.openxmlformats.org/officeDocument/2006/relationships/image" Target="../media/image5.png"/><Relationship Id="rId2" Type="http://schemas.microsoft.com/office/2018/10/relationships/comments" Target="../comments/modernComment_115_9CE3D27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6_9D718DED.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6.svg"/><Relationship Id="rId3" Type="http://schemas.microsoft.com/office/2018/10/relationships/comments" Target="../comments/modernComment_117_532A238D.xml"/><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14.png"/><Relationship Id="rId10" Type="http://schemas.openxmlformats.org/officeDocument/2006/relationships/image" Target="../media/image6.svg"/><Relationship Id="rId4" Type="http://schemas.openxmlformats.org/officeDocument/2006/relationships/image" Target="../media/image30.png"/><Relationship Id="rId9"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2.png"/><Relationship Id="rId7" Type="http://schemas.openxmlformats.org/officeDocument/2006/relationships/image" Target="../media/image26.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3.png"/><Relationship Id="rId9" Type="http://schemas.openxmlformats.org/officeDocument/2006/relationships/image" Target="../media/image6.sv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4.png"/><Relationship Id="rId7" Type="http://schemas.openxmlformats.org/officeDocument/2006/relationships/image" Target="../media/image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6.png"/><Relationship Id="rId9" Type="http://schemas.openxmlformats.org/officeDocument/2006/relationships/image" Target="../media/image6.svg"/></Relationships>
</file>

<file path=ppt/slides/_rels/slide1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7.png"/><Relationship Id="rId7" Type="http://schemas.openxmlformats.org/officeDocument/2006/relationships/image" Target="../media/image5.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9.png"/><Relationship Id="rId7" Type="http://schemas.openxmlformats.org/officeDocument/2006/relationships/image" Target="../media/image5.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1.png"/><Relationship Id="rId7" Type="http://schemas.openxmlformats.org/officeDocument/2006/relationships/image" Target="../media/image5.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6.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8.png"/><Relationship Id="rId7" Type="http://schemas.openxmlformats.org/officeDocument/2006/relationships/image" Target="../media/image6.sv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3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5.png"/><Relationship Id="rId7" Type="http://schemas.openxmlformats.org/officeDocument/2006/relationships/image" Target="../media/image5.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50.png"/><Relationship Id="rId9" Type="http://schemas.openxmlformats.org/officeDocument/2006/relationships/image" Target="../media/image49.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3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4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4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sv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4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A8C943-7173-E95B-0FF8-8CA0E1171D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98A9D-9EB7-FFFD-3E62-4C29DAB94489}"/>
              </a:ext>
            </a:extLst>
          </p:cNvPr>
          <p:cNvSpPr txBox="1"/>
          <p:nvPr/>
        </p:nvSpPr>
        <p:spPr>
          <a:xfrm>
            <a:off x="414066" y="2702943"/>
            <a:ext cx="9647058" cy="9694962"/>
          </a:xfrm>
          <a:prstGeom prst="rect">
            <a:avLst/>
          </a:prstGeom>
          <a:noFill/>
        </p:spPr>
        <p:txBody>
          <a:bodyPr wrap="square" rtlCol="0">
            <a:spAutoFit/>
          </a:bodyPr>
          <a:lstStyle/>
          <a:p>
            <a:pPr marL="0" algn="l" defTabSz="457200" rtl="0" eaLnBrk="1" latinLnBrk="0" hangingPunct="1"/>
            <a:r>
              <a:rPr lang="en-US" sz="4800" dirty="0"/>
              <a:t>Statistics:</a:t>
            </a:r>
          </a:p>
          <a:p>
            <a:pPr marL="0" algn="l" defTabSz="457200" rtl="0" eaLnBrk="1" latinLnBrk="0" hangingPunct="1"/>
            <a:endParaRPr lang="en-US" sz="4800" dirty="0"/>
          </a:p>
          <a:p>
            <a:pPr marL="0" algn="l" defTabSz="457200" rtl="0" eaLnBrk="1" latinLnBrk="0" hangingPunct="1"/>
            <a:r>
              <a:rPr lang="en-US" sz="4800" dirty="0"/>
              <a:t>1-The arguments of Python’s print</a:t>
            </a:r>
          </a:p>
          <a:p>
            <a:pPr marL="0" algn="l" defTabSz="457200" rtl="0" eaLnBrk="1" latinLnBrk="0" hangingPunct="1"/>
            <a:endParaRPr lang="en-US" sz="4800" dirty="0"/>
          </a:p>
          <a:p>
            <a:pPr marL="0" algn="l" defTabSz="457200" rtl="0" eaLnBrk="1" latinLnBrk="0" hangingPunct="1"/>
            <a:r>
              <a:rPr lang="en-US" sz="4800" dirty="0"/>
              <a:t>Published on: Dec 26, 2025</a:t>
            </a:r>
          </a:p>
          <a:p>
            <a:pPr marL="0" algn="l" defTabSz="457200" rtl="0" eaLnBrk="1" latinLnBrk="0" hangingPunct="1"/>
            <a:r>
              <a:rPr lang="en-US" sz="4800" dirty="0"/>
              <a:t>View: 1,823</a:t>
            </a:r>
          </a:p>
          <a:p>
            <a:pPr marL="0" algn="l" defTabSz="457200" rtl="0" eaLnBrk="1" latinLnBrk="0" hangingPunct="1"/>
            <a:r>
              <a:rPr lang="en-DE" sz="4800" dirty="0"/>
              <a:t>Likes: 89.5 %</a:t>
            </a:r>
          </a:p>
          <a:p>
            <a:pPr marL="0" algn="l" defTabSz="457200" rtl="0" eaLnBrk="1" latinLnBrk="0" hangingPunct="1"/>
            <a:endParaRPr lang="en-DE" sz="4800" dirty="0"/>
          </a:p>
          <a:p>
            <a:pPr marL="0" algn="l" defTabSz="457200" rtl="0" eaLnBrk="1" latinLnBrk="0" hangingPunct="1"/>
            <a:r>
              <a:rPr lang="en-DE" sz="4800" dirty="0"/>
              <a:t>2-Stop using For-Loops for Lists</a:t>
            </a:r>
          </a:p>
          <a:p>
            <a:pPr marL="0" algn="l" defTabSz="457200" rtl="0" eaLnBrk="1" latinLnBrk="0" hangingPunct="1"/>
            <a:endParaRPr lang="en-DE" sz="4800" dirty="0"/>
          </a:p>
          <a:p>
            <a:pPr marL="0" algn="l" defTabSz="457200" rtl="0" eaLnBrk="1" latinLnBrk="0" hangingPunct="1"/>
            <a:r>
              <a:rPr lang="en-DE" sz="4800" dirty="0"/>
              <a:t>Pulished on: Dec 27, 2025</a:t>
            </a:r>
          </a:p>
          <a:p>
            <a:pPr marL="0" algn="l" defTabSz="457200" rtl="0" eaLnBrk="1" latinLnBrk="0" hangingPunct="1"/>
            <a:r>
              <a:rPr lang="en-DE" sz="4800" dirty="0"/>
              <a:t>Views: 1,444</a:t>
            </a:r>
          </a:p>
          <a:p>
            <a:pPr marL="0" algn="l" defTabSz="457200" rtl="0" eaLnBrk="1" latinLnBrk="0" hangingPunct="1"/>
            <a:r>
              <a:rPr lang="en-DE" sz="4800" dirty="0"/>
              <a:t>Likes: 82.4 %</a:t>
            </a:r>
          </a:p>
        </p:txBody>
      </p:sp>
    </p:spTree>
    <p:extLst>
      <p:ext uri="{BB962C8B-B14F-4D97-AF65-F5344CB8AC3E}">
        <p14:creationId xmlns:p14="http://schemas.microsoft.com/office/powerpoint/2010/main" val="243970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11F1-40B2-354A-AEA3-0367EC08A88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0A99E81-3FE3-5F86-D43D-9940369508F5}"/>
              </a:ext>
            </a:extLst>
          </p:cNvPr>
          <p:cNvSpPr/>
          <p:nvPr/>
        </p:nvSpPr>
        <p:spPr>
          <a:xfrm>
            <a:off x="2739710" y="8682335"/>
            <a:ext cx="4805996" cy="1754326"/>
          </a:xfrm>
          <a:prstGeom prst="rect">
            <a:avLst/>
          </a:prstGeom>
          <a:noFill/>
        </p:spPr>
        <p:txBody>
          <a:bodyPr wrap="none" lIns="91440" tIns="45720" rIns="91440" bIns="45720">
            <a:spAutoFit/>
          </a:bodyPr>
          <a:lstStyle/>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Video 1 </a:t>
            </a:r>
          </a:p>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Print arguments</a:t>
            </a:r>
            <a:endParaRPr lang="en-DE"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5" name="Rectangle 4">
            <a:extLst>
              <a:ext uri="{FF2B5EF4-FFF2-40B4-BE49-F238E27FC236}">
                <a16:creationId xmlns:a16="http://schemas.microsoft.com/office/drawing/2014/main" id="{F56907A9-1B63-0191-197F-5D8CE2A57CB7}"/>
              </a:ext>
            </a:extLst>
          </p:cNvPr>
          <p:cNvSpPr/>
          <p:nvPr/>
        </p:nvSpPr>
        <p:spPr>
          <a:xfrm>
            <a:off x="-5255086" y="2883701"/>
            <a:ext cx="371287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py_001_print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5186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C4AA3-0022-BA0D-9E7D-66B13B5B9A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B713812-7693-7A33-F95C-E7CBF82C0AC7}"/>
              </a:ext>
            </a:extLst>
          </p:cNvPr>
          <p:cNvSpPr/>
          <p:nvPr/>
        </p:nvSpPr>
        <p:spPr>
          <a:xfrm>
            <a:off x="-795" y="25399"/>
            <a:ext cx="10285413" cy="9144000"/>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389978CD-953A-DE5A-0C5E-B22506EFEBA5}"/>
              </a:ext>
            </a:extLst>
          </p:cNvPr>
          <p:cNvSpPr/>
          <p:nvPr/>
        </p:nvSpPr>
        <p:spPr>
          <a:xfrm>
            <a:off x="-794" y="9144000"/>
            <a:ext cx="10285413" cy="9144000"/>
          </a:xfrm>
          <a:prstGeom prst="rect">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pic>
        <p:nvPicPr>
          <p:cNvPr id="6" name="Picture 5">
            <a:extLst>
              <a:ext uri="{FF2B5EF4-FFF2-40B4-BE49-F238E27FC236}">
                <a16:creationId xmlns:a16="http://schemas.microsoft.com/office/drawing/2014/main" id="{E9CF1C6B-B5DF-DB15-335C-9EF9D02E2644}"/>
              </a:ext>
            </a:extLst>
          </p:cNvPr>
          <p:cNvPicPr>
            <a:picLocks noChangeAspect="1"/>
          </p:cNvPicPr>
          <p:nvPr/>
        </p:nvPicPr>
        <p:blipFill rotWithShape="1">
          <a:blip r:embed="rId3"/>
          <a:srcRect l="21500" t="36257" r="12564" b="17086"/>
          <a:stretch>
            <a:fillRect/>
          </a:stretch>
        </p:blipFill>
        <p:spPr>
          <a:xfrm>
            <a:off x="9333" y="2819400"/>
            <a:ext cx="10315977" cy="5486400"/>
          </a:xfrm>
          <a:prstGeom prst="rect">
            <a:avLst/>
          </a:prstGeom>
        </p:spPr>
      </p:pic>
      <p:pic>
        <p:nvPicPr>
          <p:cNvPr id="7" name="Picture 6">
            <a:extLst>
              <a:ext uri="{FF2B5EF4-FFF2-40B4-BE49-F238E27FC236}">
                <a16:creationId xmlns:a16="http://schemas.microsoft.com/office/drawing/2014/main" id="{F75C1FB9-F7E4-D807-6D39-929DB29A7EFE}"/>
              </a:ext>
            </a:extLst>
          </p:cNvPr>
          <p:cNvPicPr>
            <a:picLocks noChangeAspect="1"/>
          </p:cNvPicPr>
          <p:nvPr/>
        </p:nvPicPr>
        <p:blipFill rotWithShape="1">
          <a:blip r:embed="rId4"/>
          <a:srcRect l="15971" t="42773" r="9579" b="22419"/>
          <a:stretch>
            <a:fillRect/>
          </a:stretch>
        </p:blipFill>
        <p:spPr>
          <a:xfrm>
            <a:off x="-30564" y="12598400"/>
            <a:ext cx="10305074" cy="2006600"/>
          </a:xfrm>
          <a:prstGeom prst="rect">
            <a:avLst/>
          </a:prstGeom>
        </p:spPr>
      </p:pic>
      <p:sp>
        <p:nvSpPr>
          <p:cNvPr id="10" name="Rectangle 9">
            <a:extLst>
              <a:ext uri="{FF2B5EF4-FFF2-40B4-BE49-F238E27FC236}">
                <a16:creationId xmlns:a16="http://schemas.microsoft.com/office/drawing/2014/main" id="{F931037C-127C-092B-3046-21C5E1305743}"/>
              </a:ext>
            </a:extLst>
          </p:cNvPr>
          <p:cNvSpPr/>
          <p:nvPr/>
        </p:nvSpPr>
        <p:spPr>
          <a:xfrm>
            <a:off x="1577100" y="98167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DIRTY CODE</a:t>
            </a:r>
          </a:p>
        </p:txBody>
      </p:sp>
      <p:pic>
        <p:nvPicPr>
          <p:cNvPr id="12" name="Graphic 11" descr="Close with solid fill">
            <a:extLst>
              <a:ext uri="{FF2B5EF4-FFF2-40B4-BE49-F238E27FC236}">
                <a16:creationId xmlns:a16="http://schemas.microsoft.com/office/drawing/2014/main" id="{28F1D416-1464-F569-BAAC-4CE3AC639CD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78818" y="1219200"/>
            <a:ext cx="914400" cy="914400"/>
          </a:xfrm>
          <a:prstGeom prst="rect">
            <a:avLst/>
          </a:prstGeom>
        </p:spPr>
      </p:pic>
      <p:pic>
        <p:nvPicPr>
          <p:cNvPr id="14" name="Graphic 13" descr="Tick with solid fill">
            <a:extLst>
              <a:ext uri="{FF2B5EF4-FFF2-40B4-BE49-F238E27FC236}">
                <a16:creationId xmlns:a16="http://schemas.microsoft.com/office/drawing/2014/main" id="{F2663517-508C-9559-F50A-E9F1B59AB8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793912" y="10998200"/>
            <a:ext cx="914400" cy="914400"/>
          </a:xfrm>
          <a:prstGeom prst="rect">
            <a:avLst/>
          </a:prstGeom>
        </p:spPr>
      </p:pic>
      <p:sp>
        <p:nvSpPr>
          <p:cNvPr id="15" name="Rectangle 14">
            <a:extLst>
              <a:ext uri="{FF2B5EF4-FFF2-40B4-BE49-F238E27FC236}">
                <a16:creationId xmlns:a16="http://schemas.microsoft.com/office/drawing/2014/main" id="{3C884966-F1E0-E28C-8306-94E3476AE9EB}"/>
              </a:ext>
            </a:extLst>
          </p:cNvPr>
          <p:cNvSpPr/>
          <p:nvPr/>
        </p:nvSpPr>
        <p:spPr>
          <a:xfrm>
            <a:off x="1462006" y="1080506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2700">
                  <a:solidFill>
                    <a:srgbClr val="00B050"/>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CLEAN CODE</a:t>
            </a:r>
          </a:p>
        </p:txBody>
      </p:sp>
      <p:sp>
        <p:nvSpPr>
          <p:cNvPr id="18" name="Down Arrow 17">
            <a:extLst>
              <a:ext uri="{FF2B5EF4-FFF2-40B4-BE49-F238E27FC236}">
                <a16:creationId xmlns:a16="http://schemas.microsoft.com/office/drawing/2014/main" id="{F519B709-69F6-84B3-4A2B-206F2AAA7983}"/>
              </a:ext>
            </a:extLst>
          </p:cNvPr>
          <p:cNvSpPr/>
          <p:nvPr/>
        </p:nvSpPr>
        <p:spPr>
          <a:xfrm>
            <a:off x="3683000" y="8610600"/>
            <a:ext cx="2921000" cy="2194460"/>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3" name="Rectangle 2">
            <a:extLst>
              <a:ext uri="{FF2B5EF4-FFF2-40B4-BE49-F238E27FC236}">
                <a16:creationId xmlns:a16="http://schemas.microsoft.com/office/drawing/2014/main" id="{0A3573D3-02FD-8867-C498-4782AE7F0917}"/>
              </a:ext>
            </a:extLst>
          </p:cNvPr>
          <p:cNvSpPr/>
          <p:nvPr/>
        </p:nvSpPr>
        <p:spPr>
          <a:xfrm>
            <a:off x="-8208470" y="2819400"/>
            <a:ext cx="776847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py_002_list_comprehensions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67177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1B1B0-39CE-3C51-C24E-ABF73D9658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802CAF-95E1-EFA2-C49B-20ECF3FC9A84}"/>
              </a:ext>
            </a:extLst>
          </p:cNvPr>
          <p:cNvSpPr/>
          <p:nvPr/>
        </p:nvSpPr>
        <p:spPr>
          <a:xfrm>
            <a:off x="0" y="-4044"/>
            <a:ext cx="10285413" cy="9144000"/>
          </a:xfrm>
          <a:prstGeom prst="rect">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004D01AC-1DD0-FC59-5104-9672E73CED94}"/>
              </a:ext>
            </a:extLst>
          </p:cNvPr>
          <p:cNvSpPr/>
          <p:nvPr/>
        </p:nvSpPr>
        <p:spPr>
          <a:xfrm>
            <a:off x="0" y="9141359"/>
            <a:ext cx="10285413" cy="9144000"/>
          </a:xfrm>
          <a:prstGeom prst="rect">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10" name="Rectangle 9">
            <a:extLst>
              <a:ext uri="{FF2B5EF4-FFF2-40B4-BE49-F238E27FC236}">
                <a16:creationId xmlns:a16="http://schemas.microsoft.com/office/drawing/2014/main" id="{7F3DBDE4-CC7E-7734-1D50-B787AABC9551}"/>
              </a:ext>
            </a:extLst>
          </p:cNvPr>
          <p:cNvSpPr/>
          <p:nvPr/>
        </p:nvSpPr>
        <p:spPr>
          <a:xfrm>
            <a:off x="1460856" y="905470"/>
            <a:ext cx="7363700"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If-Else Overload!</a:t>
            </a:r>
          </a:p>
        </p:txBody>
      </p:sp>
      <p:sp>
        <p:nvSpPr>
          <p:cNvPr id="18" name="Down Arrow 17">
            <a:extLst>
              <a:ext uri="{FF2B5EF4-FFF2-40B4-BE49-F238E27FC236}">
                <a16:creationId xmlns:a16="http://schemas.microsoft.com/office/drawing/2014/main" id="{55772E81-9193-63D2-027C-D655766BEF2C}"/>
              </a:ext>
            </a:extLst>
          </p:cNvPr>
          <p:cNvSpPr/>
          <p:nvPr/>
        </p:nvSpPr>
        <p:spPr>
          <a:xfrm>
            <a:off x="4573952" y="8762893"/>
            <a:ext cx="1137508" cy="2110345"/>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grpSp>
        <p:nvGrpSpPr>
          <p:cNvPr id="25" name="Group 24">
            <a:extLst>
              <a:ext uri="{FF2B5EF4-FFF2-40B4-BE49-F238E27FC236}">
                <a16:creationId xmlns:a16="http://schemas.microsoft.com/office/drawing/2014/main" id="{132E734C-5EB8-8FD1-0EF7-E377017C85E8}"/>
              </a:ext>
            </a:extLst>
          </p:cNvPr>
          <p:cNvGrpSpPr/>
          <p:nvPr/>
        </p:nvGrpSpPr>
        <p:grpSpPr>
          <a:xfrm>
            <a:off x="730428" y="2843759"/>
            <a:ext cx="8824556" cy="5774756"/>
            <a:chOff x="730428" y="2338436"/>
            <a:chExt cx="8824556" cy="5774756"/>
          </a:xfrm>
        </p:grpSpPr>
        <p:pic>
          <p:nvPicPr>
            <p:cNvPr id="19" name="Picture 18">
              <a:extLst>
                <a:ext uri="{FF2B5EF4-FFF2-40B4-BE49-F238E27FC236}">
                  <a16:creationId xmlns:a16="http://schemas.microsoft.com/office/drawing/2014/main" id="{F594F334-1F68-A2D3-63B4-253FBA3BEE29}"/>
                </a:ext>
              </a:extLst>
            </p:cNvPr>
            <p:cNvPicPr>
              <a:picLocks noChangeAspect="1"/>
            </p:cNvPicPr>
            <p:nvPr/>
          </p:nvPicPr>
          <p:blipFill rotWithShape="1">
            <a:blip r:embed="rId3"/>
            <a:srcRect l="22460" t="31855" r="15333" b="19954"/>
            <a:stretch>
              <a:fillRect/>
            </a:stretch>
          </p:blipFill>
          <p:spPr>
            <a:xfrm>
              <a:off x="730428" y="2338436"/>
              <a:ext cx="8824556" cy="5774756"/>
            </a:xfrm>
            <a:prstGeom prst="rect">
              <a:avLst/>
            </a:prstGeom>
          </p:spPr>
        </p:pic>
        <p:pic>
          <p:nvPicPr>
            <p:cNvPr id="12" name="Graphic 11" descr="Close with solid fill">
              <a:extLst>
                <a:ext uri="{FF2B5EF4-FFF2-40B4-BE49-F238E27FC236}">
                  <a16:creationId xmlns:a16="http://schemas.microsoft.com/office/drawing/2014/main" id="{241A3745-1952-29BF-E870-F8620CD4D4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8804" y="7065294"/>
              <a:ext cx="914400" cy="914400"/>
            </a:xfrm>
            <a:prstGeom prst="rect">
              <a:avLst/>
            </a:prstGeom>
          </p:spPr>
        </p:pic>
      </p:grpSp>
      <p:sp>
        <p:nvSpPr>
          <p:cNvPr id="22" name="TextBox 21">
            <a:extLst>
              <a:ext uri="{FF2B5EF4-FFF2-40B4-BE49-F238E27FC236}">
                <a16:creationId xmlns:a16="http://schemas.microsoft.com/office/drawing/2014/main" id="{8F0CF991-83F3-5F12-62CF-6879ECDB3AAB}"/>
              </a:ext>
            </a:extLst>
          </p:cNvPr>
          <p:cNvSpPr txBox="1"/>
          <p:nvPr/>
        </p:nvSpPr>
        <p:spPr>
          <a:xfrm>
            <a:off x="0" y="10724463"/>
            <a:ext cx="10285413" cy="1323439"/>
          </a:xfrm>
          <a:prstGeom prst="rect">
            <a:avLst/>
          </a:prstGeom>
          <a:noFill/>
        </p:spPr>
        <p:txBody>
          <a:bodyPr wrap="square" rtlCol="0">
            <a:spAutoFit/>
          </a:bodyPr>
          <a:lstStyle/>
          <a:p>
            <a:pPr algn="ctr"/>
            <a:r>
              <a:rPr lang="en-DE" sz="8000" dirty="0">
                <a:solidFill>
                  <a:schemeClr val="bg1"/>
                </a:solidFill>
                <a:latin typeface="Patrick Hand" pitchFamily="2" charset="77"/>
              </a:rPr>
              <a:t>Cleaner and Faster</a:t>
            </a:r>
          </a:p>
        </p:txBody>
      </p:sp>
      <p:sp>
        <p:nvSpPr>
          <p:cNvPr id="23" name="TextBox 22">
            <a:extLst>
              <a:ext uri="{FF2B5EF4-FFF2-40B4-BE49-F238E27FC236}">
                <a16:creationId xmlns:a16="http://schemas.microsoft.com/office/drawing/2014/main" id="{FD0D34CB-C7DB-0D8F-EDEF-56289B6D433D}"/>
              </a:ext>
            </a:extLst>
          </p:cNvPr>
          <p:cNvSpPr txBox="1"/>
          <p:nvPr/>
        </p:nvSpPr>
        <p:spPr>
          <a:xfrm>
            <a:off x="0" y="17321163"/>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sp>
        <p:nvSpPr>
          <p:cNvPr id="24" name="TextBox 23">
            <a:extLst>
              <a:ext uri="{FF2B5EF4-FFF2-40B4-BE49-F238E27FC236}">
                <a16:creationId xmlns:a16="http://schemas.microsoft.com/office/drawing/2014/main" id="{739646EC-A33F-029A-5FD4-9F5CDA53A0A8}"/>
              </a:ext>
            </a:extLst>
          </p:cNvPr>
          <p:cNvSpPr txBox="1"/>
          <p:nvPr/>
        </p:nvSpPr>
        <p:spPr>
          <a:xfrm>
            <a:off x="32085" y="-20368"/>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grpSp>
        <p:nvGrpSpPr>
          <p:cNvPr id="29" name="Group 28">
            <a:extLst>
              <a:ext uri="{FF2B5EF4-FFF2-40B4-BE49-F238E27FC236}">
                <a16:creationId xmlns:a16="http://schemas.microsoft.com/office/drawing/2014/main" id="{78141ED9-21AC-2EB5-DCA8-1DB8344926A7}"/>
              </a:ext>
            </a:extLst>
          </p:cNvPr>
          <p:cNvGrpSpPr/>
          <p:nvPr/>
        </p:nvGrpSpPr>
        <p:grpSpPr>
          <a:xfrm>
            <a:off x="278238" y="12591891"/>
            <a:ext cx="9728936" cy="2852350"/>
            <a:chOff x="278238" y="12591891"/>
            <a:chExt cx="9728936" cy="2852350"/>
          </a:xfrm>
        </p:grpSpPr>
        <p:pic>
          <p:nvPicPr>
            <p:cNvPr id="28" name="Picture 27">
              <a:extLst>
                <a:ext uri="{FF2B5EF4-FFF2-40B4-BE49-F238E27FC236}">
                  <a16:creationId xmlns:a16="http://schemas.microsoft.com/office/drawing/2014/main" id="{BF600660-B2F5-DAD6-DEB6-D7E1D7FD3F72}"/>
                </a:ext>
              </a:extLst>
            </p:cNvPr>
            <p:cNvPicPr>
              <a:picLocks noChangeAspect="1"/>
            </p:cNvPicPr>
            <p:nvPr/>
          </p:nvPicPr>
          <p:blipFill rotWithShape="1">
            <a:blip r:embed="rId6"/>
            <a:srcRect l="14206" t="34999" r="11348" b="26848"/>
            <a:stretch>
              <a:fillRect/>
            </a:stretch>
          </p:blipFill>
          <p:spPr>
            <a:xfrm>
              <a:off x="278238" y="12591891"/>
              <a:ext cx="9728936" cy="2852350"/>
            </a:xfrm>
            <a:prstGeom prst="rect">
              <a:avLst/>
            </a:prstGeom>
          </p:spPr>
        </p:pic>
        <p:pic>
          <p:nvPicPr>
            <p:cNvPr id="14" name="Graphic 13" descr="Tick with solid fill">
              <a:extLst>
                <a:ext uri="{FF2B5EF4-FFF2-40B4-BE49-F238E27FC236}">
                  <a16:creationId xmlns:a16="http://schemas.microsoft.com/office/drawing/2014/main" id="{E90B67AF-3F53-5D57-802D-C842B28095F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25969" y="14422542"/>
              <a:ext cx="841273" cy="970615"/>
            </a:xfrm>
            <a:prstGeom prst="rect">
              <a:avLst/>
            </a:prstGeom>
          </p:spPr>
        </p:pic>
      </p:grpSp>
      <p:sp>
        <p:nvSpPr>
          <p:cNvPr id="3" name="Rectangle 2">
            <a:extLst>
              <a:ext uri="{FF2B5EF4-FFF2-40B4-BE49-F238E27FC236}">
                <a16:creationId xmlns:a16="http://schemas.microsoft.com/office/drawing/2014/main" id="{946FF087-C041-0658-59B7-B05AD6F4493E}"/>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py_003_dictionary_get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5051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EC0FC5C-9A1B-2F88-F479-50424DDDDE7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AC545B3-CE47-A03F-6421-E8C90CB6ADF2}"/>
              </a:ext>
            </a:extLst>
          </p:cNvPr>
          <p:cNvPicPr>
            <a:picLocks noChangeAspect="1"/>
          </p:cNvPicPr>
          <p:nvPr/>
        </p:nvPicPr>
        <p:blipFill rotWithShape="1">
          <a:blip r:embed="rId4"/>
          <a:srcRect l="17427" t="28769" r="11619" b="14751"/>
          <a:stretch>
            <a:fillRect/>
          </a:stretch>
        </p:blipFill>
        <p:spPr>
          <a:xfrm>
            <a:off x="-42917" y="4451710"/>
            <a:ext cx="10328330" cy="5375564"/>
          </a:xfrm>
          <a:prstGeom prst="rect">
            <a:avLst/>
          </a:prstGeom>
        </p:spPr>
      </p:pic>
      <p:pic>
        <p:nvPicPr>
          <p:cNvPr id="12" name="Picture 11">
            <a:extLst>
              <a:ext uri="{FF2B5EF4-FFF2-40B4-BE49-F238E27FC236}">
                <a16:creationId xmlns:a16="http://schemas.microsoft.com/office/drawing/2014/main" id="{8A0871C5-641B-5244-5AA7-5C85A833803D}"/>
              </a:ext>
            </a:extLst>
          </p:cNvPr>
          <p:cNvPicPr>
            <a:picLocks noChangeAspect="1"/>
          </p:cNvPicPr>
          <p:nvPr/>
        </p:nvPicPr>
        <p:blipFill rotWithShape="1">
          <a:blip r:embed="rId5"/>
          <a:srcRect l="16551" t="33107" r="11373" b="19724"/>
          <a:stretch>
            <a:fillRect/>
          </a:stretch>
        </p:blipFill>
        <p:spPr>
          <a:xfrm>
            <a:off x="-42918" y="11822323"/>
            <a:ext cx="10328400" cy="4207867"/>
          </a:xfrm>
          <a:prstGeom prst="rect">
            <a:avLst/>
          </a:prstGeom>
        </p:spPr>
      </p:pic>
      <p:sp>
        <p:nvSpPr>
          <p:cNvPr id="16" name="Rectangle 15">
            <a:extLst>
              <a:ext uri="{FF2B5EF4-FFF2-40B4-BE49-F238E27FC236}">
                <a16:creationId xmlns:a16="http://schemas.microsoft.com/office/drawing/2014/main" id="{2408F8D5-CBEF-DB53-71DD-415C735FFEF0}"/>
              </a:ext>
            </a:extLst>
          </p:cNvPr>
          <p:cNvSpPr/>
          <p:nvPr/>
        </p:nvSpPr>
        <p:spPr>
          <a:xfrm>
            <a:off x="2532857" y="2871992"/>
            <a:ext cx="5219698" cy="1569660"/>
          </a:xfrm>
          <a:prstGeom prst="rect">
            <a:avLst/>
          </a:prstGeom>
          <a:noFill/>
        </p:spPr>
        <p:txBody>
          <a:bodyPr wrap="none" lIns="91440" tIns="45720" rIns="91440" bIns="45720">
            <a:spAutoFit/>
          </a:bodyPr>
          <a:lstStyle/>
          <a:p>
            <a:pPr algn="ctr"/>
            <a:r>
              <a:rPr lang="en-GB" sz="9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Legacy Way</a:t>
            </a:r>
          </a:p>
        </p:txBody>
      </p:sp>
      <p:sp>
        <p:nvSpPr>
          <p:cNvPr id="17" name="Rectangle 16">
            <a:extLst>
              <a:ext uri="{FF2B5EF4-FFF2-40B4-BE49-F238E27FC236}">
                <a16:creationId xmlns:a16="http://schemas.microsoft.com/office/drawing/2014/main" id="{E70E9936-7110-450A-9576-39615EF11B30}"/>
              </a:ext>
            </a:extLst>
          </p:cNvPr>
          <p:cNvSpPr/>
          <p:nvPr/>
        </p:nvSpPr>
        <p:spPr>
          <a:xfrm>
            <a:off x="2090428" y="10228754"/>
            <a:ext cx="6104556" cy="1569660"/>
          </a:xfrm>
          <a:prstGeom prst="rect">
            <a:avLst/>
          </a:prstGeom>
          <a:noFill/>
        </p:spPr>
        <p:txBody>
          <a:bodyPr wrap="none" lIns="91440" tIns="45720" rIns="91440" bIns="45720">
            <a:spAutoFit/>
          </a:bodyPr>
          <a:lstStyle/>
          <a:p>
            <a:pPr algn="ctr"/>
            <a:r>
              <a:rPr lang="en-GB" sz="9600" dirty="0">
                <a:ln w="0"/>
                <a:solidFill>
                  <a:srgbClr val="002060"/>
                </a:solidFill>
                <a:effectLst>
                  <a:outerShdw blurRad="38100" dist="19050" dir="2700000" algn="tl" rotWithShape="0">
                    <a:schemeClr val="dk1">
                      <a:alpha val="40000"/>
                    </a:schemeClr>
                  </a:outerShdw>
                </a:effectLst>
                <a:latin typeface="Patrick Hand" pitchFamily="2" charset="77"/>
              </a:rPr>
              <a:t>Pythonic Way</a:t>
            </a:r>
          </a:p>
        </p:txBody>
      </p:sp>
      <p:sp>
        <p:nvSpPr>
          <p:cNvPr id="18" name="Curved Right Arrow 17">
            <a:extLst>
              <a:ext uri="{FF2B5EF4-FFF2-40B4-BE49-F238E27FC236}">
                <a16:creationId xmlns:a16="http://schemas.microsoft.com/office/drawing/2014/main" id="{E6FC7DB3-67EC-D839-66A1-97F35ACCD311}"/>
              </a:ext>
            </a:extLst>
          </p:cNvPr>
          <p:cNvSpPr/>
          <p:nvPr/>
        </p:nvSpPr>
        <p:spPr>
          <a:xfrm>
            <a:off x="2" y="7426033"/>
            <a:ext cx="1136071" cy="5375565"/>
          </a:xfrm>
          <a:prstGeom prst="curved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20" name="Picture 19">
            <a:extLst>
              <a:ext uri="{FF2B5EF4-FFF2-40B4-BE49-F238E27FC236}">
                <a16:creationId xmlns:a16="http://schemas.microsoft.com/office/drawing/2014/main" id="{B53D7D60-AD8E-40FA-06A8-4988EB02BFC1}"/>
              </a:ext>
            </a:extLst>
          </p:cNvPr>
          <p:cNvPicPr>
            <a:picLocks noChangeAspect="1"/>
          </p:cNvPicPr>
          <p:nvPr/>
        </p:nvPicPr>
        <p:blipFill>
          <a:blip r:embed="rId6"/>
          <a:stretch>
            <a:fillRect/>
          </a:stretch>
        </p:blipFill>
        <p:spPr>
          <a:xfrm>
            <a:off x="9139119" y="4534837"/>
            <a:ext cx="1063167" cy="1063167"/>
          </a:xfrm>
          <a:prstGeom prst="rect">
            <a:avLst/>
          </a:prstGeom>
        </p:spPr>
      </p:pic>
      <p:pic>
        <p:nvPicPr>
          <p:cNvPr id="26" name="Picture 25">
            <a:extLst>
              <a:ext uri="{FF2B5EF4-FFF2-40B4-BE49-F238E27FC236}">
                <a16:creationId xmlns:a16="http://schemas.microsoft.com/office/drawing/2014/main" id="{F8B3358B-03D9-F7B7-FBFC-221E87B77F12}"/>
              </a:ext>
            </a:extLst>
          </p:cNvPr>
          <p:cNvPicPr>
            <a:picLocks noChangeAspect="1"/>
          </p:cNvPicPr>
          <p:nvPr/>
        </p:nvPicPr>
        <p:blipFill>
          <a:blip r:embed="rId6"/>
          <a:stretch>
            <a:fillRect/>
          </a:stretch>
        </p:blipFill>
        <p:spPr>
          <a:xfrm>
            <a:off x="9031467" y="11933159"/>
            <a:ext cx="1063167" cy="1063167"/>
          </a:xfrm>
          <a:prstGeom prst="rect">
            <a:avLst/>
          </a:prstGeom>
        </p:spPr>
      </p:pic>
      <p:sp>
        <p:nvSpPr>
          <p:cNvPr id="29" name="Rectangle 28">
            <a:extLst>
              <a:ext uri="{FF2B5EF4-FFF2-40B4-BE49-F238E27FC236}">
                <a16:creationId xmlns:a16="http://schemas.microsoft.com/office/drawing/2014/main" id="{ECF38632-8D5A-997E-0904-548E4DA9ABDA}"/>
              </a:ext>
            </a:extLst>
          </p:cNvPr>
          <p:cNvSpPr/>
          <p:nvPr/>
        </p:nvSpPr>
        <p:spPr>
          <a:xfrm>
            <a:off x="-7708333" y="2819400"/>
            <a:ext cx="6768199"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py_004_sequence_slicing</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48365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B810988C-393A-23A2-9DF5-C9402B5BC58A}"/>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23AC5CE5-04A1-B6FD-83C8-F82209A884CA}"/>
              </a:ext>
            </a:extLst>
          </p:cNvPr>
          <p:cNvPicPr>
            <a:picLocks noChangeAspect="1"/>
          </p:cNvPicPr>
          <p:nvPr/>
        </p:nvPicPr>
        <p:blipFill>
          <a:blip r:embed="rId4"/>
          <a:stretch>
            <a:fillRect/>
          </a:stretch>
        </p:blipFill>
        <p:spPr>
          <a:xfrm>
            <a:off x="9114594" y="10519995"/>
            <a:ext cx="1063167" cy="1063167"/>
          </a:xfrm>
          <a:prstGeom prst="rect">
            <a:avLst/>
          </a:prstGeom>
        </p:spPr>
      </p:pic>
      <p:sp>
        <p:nvSpPr>
          <p:cNvPr id="10" name="TextBox 9">
            <a:extLst>
              <a:ext uri="{FF2B5EF4-FFF2-40B4-BE49-F238E27FC236}">
                <a16:creationId xmlns:a16="http://schemas.microsoft.com/office/drawing/2014/main" id="{06F44863-C29F-FCE4-E7E0-B9ABB8B5D9B5}"/>
              </a:ext>
            </a:extLst>
          </p:cNvPr>
          <p:cNvSpPr txBox="1"/>
          <p:nvPr/>
        </p:nvSpPr>
        <p:spPr>
          <a:xfrm>
            <a:off x="0" y="3590249"/>
            <a:ext cx="5141912" cy="1323439"/>
          </a:xfrm>
          <a:prstGeom prst="rect">
            <a:avLst/>
          </a:prstGeom>
          <a:noFill/>
        </p:spPr>
        <p:txBody>
          <a:bodyPr wrap="square" rtlCol="0">
            <a:spAutoFit/>
          </a:bodyPr>
          <a:lstStyle/>
          <a:p>
            <a:r>
              <a:rPr lang="en-DE" sz="8000" b="1" dirty="0">
                <a:ln w="22225">
                  <a:solidFill>
                    <a:schemeClr val="accent2"/>
                  </a:solidFill>
                  <a:prstDash val="solid"/>
                </a:ln>
                <a:solidFill>
                  <a:schemeClr val="accent2">
                    <a:lumMod val="40000"/>
                    <a:lumOff val="60000"/>
                  </a:schemeClr>
                </a:solidFill>
                <a:latin typeface="Patrick Hand" pitchFamily="2" charset="77"/>
              </a:rPr>
              <a:t>Normal Way</a:t>
            </a:r>
          </a:p>
        </p:txBody>
      </p:sp>
      <p:pic>
        <p:nvPicPr>
          <p:cNvPr id="3" name="Picture 2">
            <a:extLst>
              <a:ext uri="{FF2B5EF4-FFF2-40B4-BE49-F238E27FC236}">
                <a16:creationId xmlns:a16="http://schemas.microsoft.com/office/drawing/2014/main" id="{F58FC581-0BD0-5A6A-A485-3A1B1BC64D90}"/>
              </a:ext>
            </a:extLst>
          </p:cNvPr>
          <p:cNvPicPr>
            <a:picLocks noChangeAspect="1"/>
          </p:cNvPicPr>
          <p:nvPr/>
        </p:nvPicPr>
        <p:blipFill rotWithShape="1">
          <a:blip r:embed="rId5"/>
          <a:srcRect l="30671" t="35066" r="18959" b="19538"/>
          <a:stretch>
            <a:fillRect/>
          </a:stretch>
        </p:blipFill>
        <p:spPr>
          <a:xfrm>
            <a:off x="5141913" y="5832762"/>
            <a:ext cx="5151989" cy="5860474"/>
          </a:xfrm>
          <a:prstGeom prst="rect">
            <a:avLst/>
          </a:prstGeom>
          <a:ln>
            <a:noFill/>
          </a:ln>
        </p:spPr>
      </p:pic>
      <p:pic>
        <p:nvPicPr>
          <p:cNvPr id="4" name="Picture 3">
            <a:extLst>
              <a:ext uri="{FF2B5EF4-FFF2-40B4-BE49-F238E27FC236}">
                <a16:creationId xmlns:a16="http://schemas.microsoft.com/office/drawing/2014/main" id="{B943DB44-0373-2D09-5ACB-BE5BD55F24B6}"/>
              </a:ext>
            </a:extLst>
          </p:cNvPr>
          <p:cNvPicPr>
            <a:picLocks noChangeAspect="1"/>
          </p:cNvPicPr>
          <p:nvPr/>
        </p:nvPicPr>
        <p:blipFill rotWithShape="1">
          <a:blip r:embed="rId6"/>
          <a:srcRect l="30716" t="34385" r="19230" b="18534"/>
          <a:stretch>
            <a:fillRect/>
          </a:stretch>
        </p:blipFill>
        <p:spPr>
          <a:xfrm>
            <a:off x="-1" y="5832762"/>
            <a:ext cx="5141913" cy="5860474"/>
          </a:xfrm>
          <a:prstGeom prst="rect">
            <a:avLst/>
          </a:prstGeom>
        </p:spPr>
      </p:pic>
      <p:sp>
        <p:nvSpPr>
          <p:cNvPr id="11" name="TextBox 10">
            <a:extLst>
              <a:ext uri="{FF2B5EF4-FFF2-40B4-BE49-F238E27FC236}">
                <a16:creationId xmlns:a16="http://schemas.microsoft.com/office/drawing/2014/main" id="{43668048-DB41-672C-2A26-164430233908}"/>
              </a:ext>
            </a:extLst>
          </p:cNvPr>
          <p:cNvSpPr txBox="1"/>
          <p:nvPr/>
        </p:nvSpPr>
        <p:spPr>
          <a:xfrm>
            <a:off x="5151990" y="3590249"/>
            <a:ext cx="5141912" cy="1323439"/>
          </a:xfrm>
          <a:prstGeom prst="rect">
            <a:avLst/>
          </a:prstGeom>
          <a:noFill/>
        </p:spPr>
        <p:txBody>
          <a:bodyPr wrap="square" rtlCol="0">
            <a:spAutoFit/>
          </a:bodyPr>
          <a:lstStyle/>
          <a:p>
            <a:pPr algn="r"/>
            <a:r>
              <a:rPr lang="en-DE" sz="8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Pythonic Way</a:t>
            </a:r>
          </a:p>
        </p:txBody>
      </p:sp>
      <p:sp>
        <p:nvSpPr>
          <p:cNvPr id="21" name="Down Arrow 20">
            <a:extLst>
              <a:ext uri="{FF2B5EF4-FFF2-40B4-BE49-F238E27FC236}">
                <a16:creationId xmlns:a16="http://schemas.microsoft.com/office/drawing/2014/main" id="{A0E326E4-6752-ABE3-79D4-5CDE4020AD5E}"/>
              </a:ext>
            </a:extLst>
          </p:cNvPr>
          <p:cNvSpPr/>
          <p:nvPr/>
        </p:nvSpPr>
        <p:spPr>
          <a:xfrm>
            <a:off x="2052340"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7" name="Down Arrow 26">
            <a:extLst>
              <a:ext uri="{FF2B5EF4-FFF2-40B4-BE49-F238E27FC236}">
                <a16:creationId xmlns:a16="http://schemas.microsoft.com/office/drawing/2014/main" id="{F383A996-922C-DA85-9D37-6CC58FCBA2FF}"/>
              </a:ext>
            </a:extLst>
          </p:cNvPr>
          <p:cNvSpPr/>
          <p:nvPr/>
        </p:nvSpPr>
        <p:spPr>
          <a:xfrm>
            <a:off x="7513073"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ight Arrow 4">
            <a:extLst>
              <a:ext uri="{FF2B5EF4-FFF2-40B4-BE49-F238E27FC236}">
                <a16:creationId xmlns:a16="http://schemas.microsoft.com/office/drawing/2014/main" id="{B644678F-DD43-F00C-B900-A7B1E39CFE71}"/>
              </a:ext>
            </a:extLst>
          </p:cNvPr>
          <p:cNvSpPr/>
          <p:nvPr/>
        </p:nvSpPr>
        <p:spPr>
          <a:xfrm>
            <a:off x="4350325" y="7947287"/>
            <a:ext cx="1321200" cy="720000"/>
          </a:xfrm>
          <a:prstGeom prst="right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8" name="Rectangle 27">
            <a:extLst>
              <a:ext uri="{FF2B5EF4-FFF2-40B4-BE49-F238E27FC236}">
                <a16:creationId xmlns:a16="http://schemas.microsoft.com/office/drawing/2014/main" id="{37DF25F1-84EC-E55D-F294-EEE7333BFE9C}"/>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py_005_swap_variables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828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lgGrid">
          <a:fgClr>
            <a:schemeClr val="bg1"/>
          </a:fgClr>
          <a:bgClr>
            <a:schemeClr val="bg2"/>
          </a:bgClr>
        </a:pattFill>
        <a:effectLst/>
      </p:bgPr>
    </p:bg>
    <p:spTree>
      <p:nvGrpSpPr>
        <p:cNvPr id="1" name="">
          <a:extLst>
            <a:ext uri="{FF2B5EF4-FFF2-40B4-BE49-F238E27FC236}">
              <a16:creationId xmlns:a16="http://schemas.microsoft.com/office/drawing/2014/main" id="{2B73ACF6-9F08-4584-E579-88E9981577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405E72F4-E39E-8FAD-652F-B4C2D2EE8911}"/>
              </a:ext>
            </a:extLst>
          </p:cNvPr>
          <p:cNvSpPr txBox="1"/>
          <p:nvPr/>
        </p:nvSpPr>
        <p:spPr>
          <a:xfrm>
            <a:off x="336388" y="3210690"/>
            <a:ext cx="9611203" cy="92333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List</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 Index based</a:t>
            </a:r>
          </a:p>
        </p:txBody>
      </p:sp>
      <p:sp>
        <p:nvSpPr>
          <p:cNvPr id="11" name="TextBox 10">
            <a:extLst>
              <a:ext uri="{FF2B5EF4-FFF2-40B4-BE49-F238E27FC236}">
                <a16:creationId xmlns:a16="http://schemas.microsoft.com/office/drawing/2014/main" id="{3A73C1D9-D9C0-F838-3FED-6DC134F0D204}"/>
              </a:ext>
            </a:extLst>
          </p:cNvPr>
          <p:cNvSpPr txBox="1">
            <a:spLocks/>
          </p:cNvSpPr>
          <p:nvPr/>
        </p:nvSpPr>
        <p:spPr>
          <a:xfrm>
            <a:off x="336388" y="8876708"/>
            <a:ext cx="9609769" cy="230312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nchor="ctr">
            <a:noAutofit/>
          </a:bodyPr>
          <a:lstStyle/>
          <a:p>
            <a:pPr algn="ctr"/>
            <a:r>
              <a:rPr lang="en-GB"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M</a:t>
            </a:r>
            <a:r>
              <a:rPr lang="en-DE"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ore readable and prevents “IndexError” bugs</a:t>
            </a:r>
          </a:p>
        </p:txBody>
      </p:sp>
      <p:pic>
        <p:nvPicPr>
          <p:cNvPr id="2" name="Picture 1">
            <a:extLst>
              <a:ext uri="{FF2B5EF4-FFF2-40B4-BE49-F238E27FC236}">
                <a16:creationId xmlns:a16="http://schemas.microsoft.com/office/drawing/2014/main" id="{1C53E3FC-8572-55A5-8B29-A4E703BE9911}"/>
              </a:ext>
            </a:extLst>
          </p:cNvPr>
          <p:cNvPicPr>
            <a:picLocks noChangeAspect="1"/>
          </p:cNvPicPr>
          <p:nvPr/>
        </p:nvPicPr>
        <p:blipFill rotWithShape="1">
          <a:blip r:embed="rId3"/>
          <a:srcRect l="19320" t="33139" r="12833" b="18458"/>
          <a:stretch>
            <a:fillRect/>
          </a:stretch>
        </p:blipFill>
        <p:spPr>
          <a:xfrm>
            <a:off x="337823" y="4198000"/>
            <a:ext cx="9609769" cy="4609564"/>
          </a:xfrm>
          <a:prstGeom prst="rect">
            <a:avLst/>
          </a:prstGeom>
        </p:spPr>
      </p:pic>
      <p:pic>
        <p:nvPicPr>
          <p:cNvPr id="6" name="Picture 5">
            <a:extLst>
              <a:ext uri="{FF2B5EF4-FFF2-40B4-BE49-F238E27FC236}">
                <a16:creationId xmlns:a16="http://schemas.microsoft.com/office/drawing/2014/main" id="{D3BFD0B6-4AF1-C224-E230-00E04AF21B82}"/>
              </a:ext>
            </a:extLst>
          </p:cNvPr>
          <p:cNvPicPr>
            <a:picLocks noChangeAspect="1"/>
          </p:cNvPicPr>
          <p:nvPr/>
        </p:nvPicPr>
        <p:blipFill rotWithShape="1">
          <a:blip r:embed="rId4"/>
          <a:srcRect l="17225" t="32654" r="10336" b="17009"/>
          <a:stretch>
            <a:fillRect/>
          </a:stretch>
        </p:blipFill>
        <p:spPr>
          <a:xfrm>
            <a:off x="337822" y="11259625"/>
            <a:ext cx="9611203" cy="4000500"/>
          </a:xfrm>
          <a:prstGeom prst="rect">
            <a:avLst/>
          </a:prstGeom>
        </p:spPr>
      </p:pic>
      <p:pic>
        <p:nvPicPr>
          <p:cNvPr id="8" name="Picture 7">
            <a:extLst>
              <a:ext uri="{FF2B5EF4-FFF2-40B4-BE49-F238E27FC236}">
                <a16:creationId xmlns:a16="http://schemas.microsoft.com/office/drawing/2014/main" id="{DBB0DAB2-598A-C4B1-C3A9-530FCFC98BF1}"/>
              </a:ext>
            </a:extLst>
          </p:cNvPr>
          <p:cNvPicPr>
            <a:picLocks noChangeAspect="1"/>
          </p:cNvPicPr>
          <p:nvPr/>
        </p:nvPicPr>
        <p:blipFill>
          <a:blip r:embed="rId5"/>
          <a:stretch>
            <a:fillRect/>
          </a:stretch>
        </p:blipFill>
        <p:spPr>
          <a:xfrm>
            <a:off x="8754557" y="14070664"/>
            <a:ext cx="1063167" cy="1063167"/>
          </a:xfrm>
          <a:prstGeom prst="rect">
            <a:avLst/>
          </a:prstGeom>
        </p:spPr>
      </p:pic>
      <p:sp>
        <p:nvSpPr>
          <p:cNvPr id="7" name="Curved Left Arrow 6">
            <a:extLst>
              <a:ext uri="{FF2B5EF4-FFF2-40B4-BE49-F238E27FC236}">
                <a16:creationId xmlns:a16="http://schemas.microsoft.com/office/drawing/2014/main" id="{4F4EEE06-704E-18C9-AB2B-8C23A4B5BAC1}"/>
              </a:ext>
            </a:extLst>
          </p:cNvPr>
          <p:cNvSpPr/>
          <p:nvPr/>
        </p:nvSpPr>
        <p:spPr>
          <a:xfrm>
            <a:off x="8372281" y="6021236"/>
            <a:ext cx="1518251" cy="6452559"/>
          </a:xfrm>
          <a:prstGeom prst="curvedLef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3" name="Rectangle 12">
            <a:extLst>
              <a:ext uri="{FF2B5EF4-FFF2-40B4-BE49-F238E27FC236}">
                <a16:creationId xmlns:a16="http://schemas.microsoft.com/office/drawing/2014/main" id="{A5B73D5E-1D32-6F09-29CE-A81E7A6F23E4}"/>
              </a:ext>
            </a:extLst>
          </p:cNvPr>
          <p:cNvSpPr/>
          <p:nvPr/>
        </p:nvSpPr>
        <p:spPr>
          <a:xfrm>
            <a:off x="-6888397" y="2819400"/>
            <a:ext cx="512832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py_006_enumerate</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38538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ivot">
          <a:fgClr>
            <a:schemeClr val="bg1">
              <a:lumMod val="75000"/>
            </a:schemeClr>
          </a:fgClr>
          <a:bgClr>
            <a:schemeClr val="bg1"/>
          </a:bgClr>
        </a:pattFill>
        <a:effectLst/>
      </p:bgPr>
    </p:bg>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68936CF2-EFE7-0A56-5F22-A1457CF2CB86}"/>
              </a:ext>
            </a:extLst>
          </p:cNvPr>
          <p:cNvGrpSpPr/>
          <p:nvPr/>
        </p:nvGrpSpPr>
        <p:grpSpPr>
          <a:xfrm>
            <a:off x="297365" y="4382219"/>
            <a:ext cx="9690682" cy="4278703"/>
            <a:chOff x="232998" y="4382219"/>
            <a:chExt cx="9690682" cy="4278703"/>
          </a:xfrm>
        </p:grpSpPr>
        <p:pic>
          <p:nvPicPr>
            <p:cNvPr id="70" name="Picture 69">
              <a:extLst>
                <a:ext uri="{FF2B5EF4-FFF2-40B4-BE49-F238E27FC236}">
                  <a16:creationId xmlns:a16="http://schemas.microsoft.com/office/drawing/2014/main" id="{66BDBF16-7324-C359-13EB-C05F2D62C06C}"/>
                </a:ext>
              </a:extLst>
            </p:cNvPr>
            <p:cNvPicPr>
              <a:picLocks noChangeAspect="1"/>
            </p:cNvPicPr>
            <p:nvPr/>
          </p:nvPicPr>
          <p:blipFill rotWithShape="1">
            <a:blip r:embed="rId3"/>
            <a:srcRect l="18433" t="32757" r="11268" b="18316"/>
            <a:stretch>
              <a:fillRect/>
            </a:stretch>
          </p:blipFill>
          <p:spPr>
            <a:xfrm>
              <a:off x="232998" y="4382219"/>
              <a:ext cx="9690682" cy="4278703"/>
            </a:xfrm>
            <a:prstGeom prst="rect">
              <a:avLst/>
            </a:prstGeom>
          </p:spPr>
        </p:pic>
        <p:pic>
          <p:nvPicPr>
            <p:cNvPr id="86" name="Graphic 85" descr="Close with solid fill">
              <a:extLst>
                <a:ext uri="{FF2B5EF4-FFF2-40B4-BE49-F238E27FC236}">
                  <a16:creationId xmlns:a16="http://schemas.microsoft.com/office/drawing/2014/main" id="{6ED8EA4F-3558-5DA3-7EBB-C7E095FB29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69700" y="4707196"/>
              <a:ext cx="914400" cy="914400"/>
            </a:xfrm>
            <a:prstGeom prst="rect">
              <a:avLst/>
            </a:prstGeom>
          </p:spPr>
        </p:pic>
        <p:cxnSp>
          <p:nvCxnSpPr>
            <p:cNvPr id="98" name="Straight Arrow Connector 97">
              <a:extLst>
                <a:ext uri="{FF2B5EF4-FFF2-40B4-BE49-F238E27FC236}">
                  <a16:creationId xmlns:a16="http://schemas.microsoft.com/office/drawing/2014/main" id="{91BE2148-5B99-92E2-A86C-A2ED92CA6938}"/>
                </a:ext>
              </a:extLst>
            </p:cNvPr>
            <p:cNvCxnSpPr>
              <a:cxnSpLocks/>
            </p:cNvCxnSpPr>
            <p:nvPr/>
          </p:nvCxnSpPr>
          <p:spPr>
            <a:xfrm>
              <a:off x="5382883" y="5164396"/>
              <a:ext cx="3486817" cy="0"/>
            </a:xfrm>
            <a:prstGeom prst="straightConnector1">
              <a:avLst/>
            </a:prstGeom>
            <a:ln w="31750">
              <a:solidFill>
                <a:srgbClr val="FF000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FEEA5A16-A8AD-2CD6-D0B9-9E6047E39071}"/>
              </a:ext>
            </a:extLst>
          </p:cNvPr>
          <p:cNvGrpSpPr/>
          <p:nvPr/>
        </p:nvGrpSpPr>
        <p:grpSpPr>
          <a:xfrm>
            <a:off x="297365" y="8971470"/>
            <a:ext cx="9690682" cy="4278701"/>
            <a:chOff x="232998" y="8971470"/>
            <a:chExt cx="9690682" cy="4278701"/>
          </a:xfrm>
        </p:grpSpPr>
        <p:pic>
          <p:nvPicPr>
            <p:cNvPr id="83" name="Picture 82">
              <a:extLst>
                <a:ext uri="{FF2B5EF4-FFF2-40B4-BE49-F238E27FC236}">
                  <a16:creationId xmlns:a16="http://schemas.microsoft.com/office/drawing/2014/main" id="{B90F781D-CFEE-8ED8-F94E-C48D737E1DFA}"/>
                </a:ext>
              </a:extLst>
            </p:cNvPr>
            <p:cNvPicPr>
              <a:picLocks noChangeAspect="1"/>
            </p:cNvPicPr>
            <p:nvPr/>
          </p:nvPicPr>
          <p:blipFill rotWithShape="1">
            <a:blip r:embed="rId6"/>
            <a:srcRect l="18284" t="32749" r="11433" b="18336"/>
            <a:stretch>
              <a:fillRect/>
            </a:stretch>
          </p:blipFill>
          <p:spPr>
            <a:xfrm>
              <a:off x="232998" y="8971470"/>
              <a:ext cx="9690682" cy="4278701"/>
            </a:xfrm>
            <a:prstGeom prst="rect">
              <a:avLst/>
            </a:prstGeom>
          </p:spPr>
        </p:pic>
        <p:pic>
          <p:nvPicPr>
            <p:cNvPr id="84" name="Picture 83">
              <a:extLst>
                <a:ext uri="{FF2B5EF4-FFF2-40B4-BE49-F238E27FC236}">
                  <a16:creationId xmlns:a16="http://schemas.microsoft.com/office/drawing/2014/main" id="{C14DD266-0237-70CE-24DF-8074AAEEFD8D}"/>
                </a:ext>
              </a:extLst>
            </p:cNvPr>
            <p:cNvPicPr>
              <a:picLocks noChangeAspect="1"/>
            </p:cNvPicPr>
            <p:nvPr/>
          </p:nvPicPr>
          <p:blipFill>
            <a:blip r:embed="rId7"/>
            <a:stretch>
              <a:fillRect/>
            </a:stretch>
          </p:blipFill>
          <p:spPr>
            <a:xfrm>
              <a:off x="289677" y="12117992"/>
              <a:ext cx="1063167" cy="1063167"/>
            </a:xfrm>
            <a:prstGeom prst="rect">
              <a:avLst/>
            </a:prstGeom>
          </p:spPr>
        </p:pic>
        <p:pic>
          <p:nvPicPr>
            <p:cNvPr id="88" name="Graphic 87" descr="Checkbox Ticked with solid fill">
              <a:extLst>
                <a:ext uri="{FF2B5EF4-FFF2-40B4-BE49-F238E27FC236}">
                  <a16:creationId xmlns:a16="http://schemas.microsoft.com/office/drawing/2014/main" id="{B2AC9583-C2C6-6C42-BCA2-5941DBEC66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69700" y="9947674"/>
              <a:ext cx="914400" cy="914400"/>
            </a:xfrm>
            <a:prstGeom prst="rect">
              <a:avLst/>
            </a:prstGeom>
          </p:spPr>
        </p:pic>
        <p:cxnSp>
          <p:nvCxnSpPr>
            <p:cNvPr id="101" name="Straight Arrow Connector 100">
              <a:extLst>
                <a:ext uri="{FF2B5EF4-FFF2-40B4-BE49-F238E27FC236}">
                  <a16:creationId xmlns:a16="http://schemas.microsoft.com/office/drawing/2014/main" id="{5DE6B61C-48DF-C505-4BB6-1D08B15C9133}"/>
                </a:ext>
              </a:extLst>
            </p:cNvPr>
            <p:cNvCxnSpPr>
              <a:cxnSpLocks/>
            </p:cNvCxnSpPr>
            <p:nvPr/>
          </p:nvCxnSpPr>
          <p:spPr>
            <a:xfrm>
              <a:off x="6763109" y="10404874"/>
              <a:ext cx="2258991" cy="18758"/>
            </a:xfrm>
            <a:prstGeom prst="straightConnector1">
              <a:avLst/>
            </a:prstGeom>
            <a:ln w="31750">
              <a:solidFill>
                <a:srgbClr val="00B05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sp>
        <p:nvSpPr>
          <p:cNvPr id="103" name="TextBox 102">
            <a:extLst>
              <a:ext uri="{FF2B5EF4-FFF2-40B4-BE49-F238E27FC236}">
                <a16:creationId xmlns:a16="http://schemas.microsoft.com/office/drawing/2014/main" id="{FEF617D9-122A-AA15-1A86-D9BAE09F0F58}"/>
              </a:ext>
            </a:extLst>
          </p:cNvPr>
          <p:cNvSpPr txBox="1"/>
          <p:nvPr/>
        </p:nvSpPr>
        <p:spPr>
          <a:xfrm>
            <a:off x="739898" y="3160241"/>
            <a:ext cx="8805616" cy="830997"/>
          </a:xfrm>
          <a:prstGeom prst="rect">
            <a:avLst/>
          </a:prstGeom>
          <a:noFill/>
        </p:spPr>
        <p:txBody>
          <a:bodyPr wrap="none" rtlCol="0">
            <a:spAutoFit/>
          </a:bodyPr>
          <a:lstStyle/>
          <a:p>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Use </a:t>
            </a:r>
            <a:r>
              <a:rPr lang="en-DE" sz="4800" b="1" i="1" u="sng"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Walrus</a:t>
            </a:r>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Operator</a:t>
            </a:r>
            <a:r>
              <a:rPr lang="en-US"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your codes</a:t>
            </a:r>
            <a:endPar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112" name="Curved Right Arrow 111">
            <a:extLst>
              <a:ext uri="{FF2B5EF4-FFF2-40B4-BE49-F238E27FC236}">
                <a16:creationId xmlns:a16="http://schemas.microsoft.com/office/drawing/2014/main" id="{7A5F38A8-0653-BF91-CCDD-59BAEA1A169F}"/>
              </a:ext>
            </a:extLst>
          </p:cNvPr>
          <p:cNvSpPr/>
          <p:nvPr/>
        </p:nvSpPr>
        <p:spPr>
          <a:xfrm>
            <a:off x="436946" y="4054420"/>
            <a:ext cx="1223200" cy="6211012"/>
          </a:xfrm>
          <a:prstGeom prst="curvedRightArrow">
            <a:avLst/>
          </a:prstGeom>
          <a:solidFill>
            <a:srgbClr val="FFC000"/>
          </a:solidFill>
          <a:ln w="317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13" name="TextBox 112">
            <a:extLst>
              <a:ext uri="{FF2B5EF4-FFF2-40B4-BE49-F238E27FC236}">
                <a16:creationId xmlns:a16="http://schemas.microsoft.com/office/drawing/2014/main" id="{C955F01A-DD86-3AD9-6B7B-91D5259CC29E}"/>
              </a:ext>
            </a:extLst>
          </p:cNvPr>
          <p:cNvSpPr txBox="1"/>
          <p:nvPr/>
        </p:nvSpPr>
        <p:spPr>
          <a:xfrm>
            <a:off x="2928799" y="8965638"/>
            <a:ext cx="4427815" cy="830997"/>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none" rtlCol="0">
            <a:spAutoFit/>
          </a:bodyPr>
          <a:lstStyle/>
          <a:p>
            <a:pPr marL="0" algn="l" defTabSz="457200" rtl="0" eaLnBrk="1" latinLnBrk="0" hangingPunct="1"/>
            <a:r>
              <a:rPr lang="en-US"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Concise &amp; Readable</a:t>
            </a:r>
            <a:endParaRPr lang="en-DE"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
        <p:nvSpPr>
          <p:cNvPr id="114" name="Rectangle 113">
            <a:extLst>
              <a:ext uri="{FF2B5EF4-FFF2-40B4-BE49-F238E27FC236}">
                <a16:creationId xmlns:a16="http://schemas.microsoft.com/office/drawing/2014/main" id="{446986AC-1C3A-B474-6747-68140547BDEB}"/>
              </a:ext>
            </a:extLst>
          </p:cNvPr>
          <p:cNvSpPr/>
          <p:nvPr/>
        </p:nvSpPr>
        <p:spPr>
          <a:xfrm>
            <a:off x="-7666655" y="2819400"/>
            <a:ext cx="668484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py_007_walrus_operator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3097279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p:cNvGrpSpPr/>
        <p:nvPr/>
      </p:nvGrpSpPr>
      <p:grpSpPr>
        <a:xfrm>
          <a:off x="0" y="0"/>
          <a:ext cx="0" cy="0"/>
          <a:chOff x="0" y="0"/>
          <a:chExt cx="0" cy="0"/>
        </a:xfrm>
      </p:grpSpPr>
      <p:pic>
        <p:nvPicPr>
          <p:cNvPr id="68" name="Picture 67">
            <a:extLst>
              <a:ext uri="{FF2B5EF4-FFF2-40B4-BE49-F238E27FC236}">
                <a16:creationId xmlns:a16="http://schemas.microsoft.com/office/drawing/2014/main" id="{F27F718B-3075-03B3-8216-CB5C90C11593}"/>
              </a:ext>
            </a:extLst>
          </p:cNvPr>
          <p:cNvPicPr>
            <a:picLocks noChangeAspect="1"/>
          </p:cNvPicPr>
          <p:nvPr/>
        </p:nvPicPr>
        <p:blipFill rotWithShape="1">
          <a:blip r:embed="rId3"/>
          <a:srcRect l="19122" t="24607" r="11265" b="13804"/>
          <a:stretch>
            <a:fillRect/>
          </a:stretch>
        </p:blipFill>
        <p:spPr>
          <a:xfrm>
            <a:off x="338586" y="4196968"/>
            <a:ext cx="9544666" cy="6991756"/>
          </a:xfrm>
          <a:prstGeom prst="rect">
            <a:avLst/>
          </a:prstGeom>
        </p:spPr>
      </p:pic>
      <p:sp>
        <p:nvSpPr>
          <p:cNvPr id="8" name="TextBox 7">
            <a:extLst>
              <a:ext uri="{FF2B5EF4-FFF2-40B4-BE49-F238E27FC236}">
                <a16:creationId xmlns:a16="http://schemas.microsoft.com/office/drawing/2014/main" id="{9D88EAA7-EAD5-26FB-0617-9B43EF4A29B9}"/>
              </a:ext>
            </a:extLst>
          </p:cNvPr>
          <p:cNvSpPr txBox="1"/>
          <p:nvPr/>
        </p:nvSpPr>
        <p:spPr>
          <a:xfrm>
            <a:off x="338586" y="3131629"/>
            <a:ext cx="9544666" cy="923330"/>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wrap="square" rtlCol="0">
            <a:spAutoFit/>
          </a:bodyPr>
          <a:lstStyle/>
          <a:p>
            <a:pPr algn="ctr"/>
            <a:r>
              <a:rPr lang="en-GB" sz="5400" b="1" dirty="0">
                <a:ln w="22225">
                  <a:solidFill>
                    <a:schemeClr val="accent2"/>
                  </a:solidFill>
                  <a:prstDash val="solid"/>
                </a:ln>
                <a:solidFill>
                  <a:srgbClr val="C00000"/>
                </a:solidFill>
                <a:latin typeface="Patrick Hand" pitchFamily="2" charset="77"/>
              </a:rPr>
              <a:t>Stop using print() to test your code!</a:t>
            </a:r>
            <a:r>
              <a:rPr lang="en-US" sz="5400" b="1" dirty="0">
                <a:ln w="22225">
                  <a:solidFill>
                    <a:schemeClr val="accent2"/>
                  </a:solidFill>
                  <a:prstDash val="solid"/>
                </a:ln>
                <a:solidFill>
                  <a:srgbClr val="C00000"/>
                </a:solidFill>
                <a:latin typeface="Patrick Hand" pitchFamily="2" charset="77"/>
              </a:rPr>
              <a:t> </a:t>
            </a:r>
            <a:endParaRPr lang="en-DE" sz="5400" b="1" dirty="0">
              <a:ln w="22225">
                <a:solidFill>
                  <a:schemeClr val="accent2"/>
                </a:solidFill>
                <a:prstDash val="solid"/>
              </a:ln>
              <a:solidFill>
                <a:srgbClr val="C00000"/>
              </a:solidFill>
              <a:latin typeface="Patrick Hand" pitchFamily="2" charset="77"/>
            </a:endParaRPr>
          </a:p>
        </p:txBody>
      </p:sp>
      <p:sp>
        <p:nvSpPr>
          <p:cNvPr id="38" name="TextBox 37">
            <a:extLst>
              <a:ext uri="{FF2B5EF4-FFF2-40B4-BE49-F238E27FC236}">
                <a16:creationId xmlns:a16="http://schemas.microsoft.com/office/drawing/2014/main" id="{D9D67AC1-8CD7-9EA6-AA44-75765EDCB4D3}"/>
              </a:ext>
            </a:extLst>
          </p:cNvPr>
          <p:cNvSpPr txBox="1"/>
          <p:nvPr/>
        </p:nvSpPr>
        <p:spPr>
          <a:xfrm>
            <a:off x="338586" y="11505474"/>
            <a:ext cx="8919714" cy="1446550"/>
          </a:xfrm>
          <a:prstGeom prst="rect">
            <a:avLst/>
          </a:prstGeom>
          <a:noFill/>
        </p:spPr>
        <p:txBody>
          <a:bodyPr wrap="square" rtlCol="0">
            <a:spAutoFit/>
          </a:bodyPr>
          <a:lstStyle/>
          <a:p>
            <a:r>
              <a:rPr lang="en-DE" sz="4400" dirty="0">
                <a:ln w="0"/>
                <a:solidFill>
                  <a:srgbClr val="0070C0"/>
                </a:solidFill>
                <a:effectLst>
                  <a:outerShdw blurRad="38100" dist="25400" dir="5400000" algn="ctr" rotWithShape="0">
                    <a:srgbClr val="6E747A">
                      <a:alpha val="43000"/>
                    </a:srgbClr>
                  </a:outerShdw>
                </a:effectLst>
              </a:rPr>
              <a:t>Pre Requisite: pip install pytest</a:t>
            </a:r>
          </a:p>
          <a:p>
            <a:r>
              <a:rPr lang="en-GB" sz="4400" dirty="0">
                <a:ln w="0"/>
                <a:solidFill>
                  <a:srgbClr val="0070C0"/>
                </a:solidFill>
                <a:effectLst>
                  <a:outerShdw blurRad="38100" dist="25400" dir="5400000" algn="ctr" rotWithShape="0">
                    <a:srgbClr val="6E747A">
                      <a:alpha val="43000"/>
                    </a:srgbClr>
                  </a:outerShdw>
                </a:effectLst>
              </a:rPr>
              <a:t>R</a:t>
            </a:r>
            <a:r>
              <a:rPr lang="en-DE" sz="4400" dirty="0">
                <a:ln w="0"/>
                <a:solidFill>
                  <a:srgbClr val="0070C0"/>
                </a:solidFill>
                <a:effectLst>
                  <a:outerShdw blurRad="38100" dist="25400" dir="5400000" algn="ctr" rotWithShape="0">
                    <a:srgbClr val="6E747A">
                      <a:alpha val="43000"/>
                    </a:srgbClr>
                  </a:outerShdw>
                </a:effectLst>
              </a:rPr>
              <a:t>un: pytest</a:t>
            </a:r>
          </a:p>
        </p:txBody>
      </p:sp>
      <p:pic>
        <p:nvPicPr>
          <p:cNvPr id="39" name="Picture 38">
            <a:extLst>
              <a:ext uri="{FF2B5EF4-FFF2-40B4-BE49-F238E27FC236}">
                <a16:creationId xmlns:a16="http://schemas.microsoft.com/office/drawing/2014/main" id="{5D8269C7-709E-6998-5283-B107C7781FFA}"/>
              </a:ext>
            </a:extLst>
          </p:cNvPr>
          <p:cNvPicPr>
            <a:picLocks noChangeAspect="1"/>
          </p:cNvPicPr>
          <p:nvPr/>
        </p:nvPicPr>
        <p:blipFill>
          <a:blip r:embed="rId4"/>
          <a:stretch>
            <a:fillRect/>
          </a:stretch>
        </p:blipFill>
        <p:spPr>
          <a:xfrm>
            <a:off x="396662" y="10058156"/>
            <a:ext cx="1063167" cy="1063167"/>
          </a:xfrm>
          <a:prstGeom prst="rect">
            <a:avLst/>
          </a:prstGeom>
        </p:spPr>
      </p:pic>
      <p:cxnSp>
        <p:nvCxnSpPr>
          <p:cNvPr id="41" name="Straight Connector 40">
            <a:extLst>
              <a:ext uri="{FF2B5EF4-FFF2-40B4-BE49-F238E27FC236}">
                <a16:creationId xmlns:a16="http://schemas.microsoft.com/office/drawing/2014/main" id="{3DEC39D2-B0EB-4B63-00D7-3B3E21C2FDC1}"/>
              </a:ext>
            </a:extLst>
          </p:cNvPr>
          <p:cNvCxnSpPr>
            <a:cxnSpLocks/>
          </p:cNvCxnSpPr>
          <p:nvPr/>
        </p:nvCxnSpPr>
        <p:spPr>
          <a:xfrm>
            <a:off x="313276" y="6263285"/>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2728270-9B9A-7A9F-F2A8-323E7A58C200}"/>
              </a:ext>
            </a:extLst>
          </p:cNvPr>
          <p:cNvCxnSpPr>
            <a:cxnSpLocks/>
          </p:cNvCxnSpPr>
          <p:nvPr/>
        </p:nvCxnSpPr>
        <p:spPr>
          <a:xfrm>
            <a:off x="344905" y="8417013"/>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3" name="Graphic 72" descr="Shield Tick with solid fill">
            <a:extLst>
              <a:ext uri="{FF2B5EF4-FFF2-40B4-BE49-F238E27FC236}">
                <a16:creationId xmlns:a16="http://schemas.microsoft.com/office/drawing/2014/main" id="{3E10B054-0ABA-4495-55F7-5348E50616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1582" y="8556576"/>
            <a:ext cx="914400" cy="914400"/>
          </a:xfrm>
          <a:prstGeom prst="rect">
            <a:avLst/>
          </a:prstGeom>
        </p:spPr>
      </p:pic>
      <p:pic>
        <p:nvPicPr>
          <p:cNvPr id="77" name="Graphic 76" descr="Close with solid fill">
            <a:extLst>
              <a:ext uri="{FF2B5EF4-FFF2-40B4-BE49-F238E27FC236}">
                <a16:creationId xmlns:a16="http://schemas.microsoft.com/office/drawing/2014/main" id="{0045C14B-3459-5991-D210-53E90DC022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11582" y="6757642"/>
            <a:ext cx="914400" cy="914400"/>
          </a:xfrm>
          <a:prstGeom prst="rect">
            <a:avLst/>
          </a:prstGeom>
        </p:spPr>
      </p:pic>
      <p:sp>
        <p:nvSpPr>
          <p:cNvPr id="78" name="Rectangle 77">
            <a:extLst>
              <a:ext uri="{FF2B5EF4-FFF2-40B4-BE49-F238E27FC236}">
                <a16:creationId xmlns:a16="http://schemas.microsoft.com/office/drawing/2014/main" id="{1982C4BB-6191-68AC-3E62-B22939BA4D48}"/>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py_008_pytest_assert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1959733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chemeClr val="accent2"/>
          </a:fgClr>
          <a:bgClr>
            <a:schemeClr val="bg1"/>
          </a:bgClr>
        </a:patt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C989A062-81D4-7FA9-5D3B-97D7C84260BF}"/>
              </a:ext>
            </a:extLst>
          </p:cNvPr>
          <p:cNvGrpSpPr/>
          <p:nvPr/>
        </p:nvGrpSpPr>
        <p:grpSpPr>
          <a:xfrm>
            <a:off x="192450" y="4313208"/>
            <a:ext cx="9900512" cy="5656922"/>
            <a:chOff x="155122" y="4313208"/>
            <a:chExt cx="9900512" cy="5656922"/>
          </a:xfrm>
        </p:grpSpPr>
        <p:pic>
          <p:nvPicPr>
            <p:cNvPr id="27" name="Picture 26">
              <a:extLst>
                <a:ext uri="{FF2B5EF4-FFF2-40B4-BE49-F238E27FC236}">
                  <a16:creationId xmlns:a16="http://schemas.microsoft.com/office/drawing/2014/main" id="{5755EB69-8332-046F-562A-CD322CED908E}"/>
                </a:ext>
              </a:extLst>
            </p:cNvPr>
            <p:cNvPicPr>
              <a:picLocks noChangeAspect="1"/>
            </p:cNvPicPr>
            <p:nvPr/>
          </p:nvPicPr>
          <p:blipFill rotWithShape="1">
            <a:blip r:embed="rId3"/>
            <a:srcRect l="15798" t="24886" r="9749" b="14308"/>
            <a:stretch>
              <a:fillRect/>
            </a:stretch>
          </p:blipFill>
          <p:spPr>
            <a:xfrm>
              <a:off x="155276" y="4313208"/>
              <a:ext cx="9900358" cy="5656922"/>
            </a:xfrm>
            <a:prstGeom prst="rect">
              <a:avLst/>
            </a:prstGeom>
          </p:spPr>
        </p:pic>
        <p:pic>
          <p:nvPicPr>
            <p:cNvPr id="28" name="Picture 27">
              <a:extLst>
                <a:ext uri="{FF2B5EF4-FFF2-40B4-BE49-F238E27FC236}">
                  <a16:creationId xmlns:a16="http://schemas.microsoft.com/office/drawing/2014/main" id="{E405CAD7-F4B0-7F74-1DFC-8CF2E970C000}"/>
                </a:ext>
              </a:extLst>
            </p:cNvPr>
            <p:cNvPicPr>
              <a:picLocks noChangeAspect="1"/>
            </p:cNvPicPr>
            <p:nvPr/>
          </p:nvPicPr>
          <p:blipFill>
            <a:blip r:embed="rId4"/>
            <a:stretch>
              <a:fillRect/>
            </a:stretch>
          </p:blipFill>
          <p:spPr>
            <a:xfrm>
              <a:off x="8919562" y="8805718"/>
              <a:ext cx="1063167" cy="1063167"/>
            </a:xfrm>
            <a:prstGeom prst="rect">
              <a:avLst/>
            </a:prstGeom>
          </p:spPr>
        </p:pic>
        <p:pic>
          <p:nvPicPr>
            <p:cNvPr id="29" name="Graphic 28" descr="Shield Tick with solid fill">
              <a:extLst>
                <a:ext uri="{FF2B5EF4-FFF2-40B4-BE49-F238E27FC236}">
                  <a16:creationId xmlns:a16="http://schemas.microsoft.com/office/drawing/2014/main" id="{0CCABDA1-4CCF-B503-8099-FFC57C1D95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32274" y="6762284"/>
              <a:ext cx="914400" cy="914400"/>
            </a:xfrm>
            <a:prstGeom prst="rect">
              <a:avLst/>
            </a:prstGeom>
          </p:spPr>
        </p:pic>
        <p:pic>
          <p:nvPicPr>
            <p:cNvPr id="30" name="Graphic 29" descr="Close with solid fill">
              <a:extLst>
                <a:ext uri="{FF2B5EF4-FFF2-40B4-BE49-F238E27FC236}">
                  <a16:creationId xmlns:a16="http://schemas.microsoft.com/office/drawing/2014/main" id="{14362FE8-9002-3D9A-71C4-9C9B4C88211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32274" y="4549278"/>
              <a:ext cx="914400" cy="914400"/>
            </a:xfrm>
            <a:prstGeom prst="rect">
              <a:avLst/>
            </a:prstGeom>
          </p:spPr>
        </p:pic>
        <p:cxnSp>
          <p:nvCxnSpPr>
            <p:cNvPr id="31" name="Straight Connector 30">
              <a:extLst>
                <a:ext uri="{FF2B5EF4-FFF2-40B4-BE49-F238E27FC236}">
                  <a16:creationId xmlns:a16="http://schemas.microsoft.com/office/drawing/2014/main" id="{E3F613E7-6697-4EC0-8464-6D3C267DD305}"/>
                </a:ext>
              </a:extLst>
            </p:cNvPr>
            <p:cNvCxnSpPr>
              <a:cxnSpLocks/>
            </p:cNvCxnSpPr>
            <p:nvPr/>
          </p:nvCxnSpPr>
          <p:spPr>
            <a:xfrm>
              <a:off x="155122" y="8693061"/>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1B4CE6B-B7C7-47AA-F8CD-6C0FAC4DA742}"/>
                </a:ext>
              </a:extLst>
            </p:cNvPr>
            <p:cNvCxnSpPr>
              <a:cxnSpLocks/>
            </p:cNvCxnSpPr>
            <p:nvPr/>
          </p:nvCxnSpPr>
          <p:spPr>
            <a:xfrm>
              <a:off x="169498" y="6550836"/>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F7F61470-5978-9741-C789-354D64372206}"/>
              </a:ext>
            </a:extLst>
          </p:cNvPr>
          <p:cNvSpPr txBox="1"/>
          <p:nvPr/>
        </p:nvSpPr>
        <p:spPr>
          <a:xfrm>
            <a:off x="229149" y="3442094"/>
            <a:ext cx="9827115" cy="76944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4400" dirty="0"/>
              <a:t>Print is for YOU, Raise is for your CODE!</a:t>
            </a:r>
            <a:endParaRPr lang="en-DE" sz="4400" dirty="0">
              <a:solidFill>
                <a:srgbClr val="002060"/>
              </a:solidFill>
              <a:latin typeface="Patrick Hand" pitchFamily="2" charset="77"/>
            </a:endParaRPr>
          </a:p>
        </p:txBody>
      </p:sp>
      <p:pic>
        <p:nvPicPr>
          <p:cNvPr id="36" name="Picture 35">
            <a:extLst>
              <a:ext uri="{FF2B5EF4-FFF2-40B4-BE49-F238E27FC236}">
                <a16:creationId xmlns:a16="http://schemas.microsoft.com/office/drawing/2014/main" id="{66BE1470-D54F-6F8F-1C68-D491E457AF5A}"/>
              </a:ext>
            </a:extLst>
          </p:cNvPr>
          <p:cNvPicPr>
            <a:picLocks noChangeAspect="1"/>
          </p:cNvPicPr>
          <p:nvPr/>
        </p:nvPicPr>
        <p:blipFill>
          <a:blip r:embed="rId9"/>
          <a:stretch>
            <a:fillRect/>
          </a:stretch>
        </p:blipFill>
        <p:spPr>
          <a:xfrm>
            <a:off x="190906" y="10757495"/>
            <a:ext cx="9903600" cy="1722364"/>
          </a:xfrm>
          <a:prstGeom prst="rect">
            <a:avLst/>
          </a:prstGeom>
        </p:spPr>
      </p:pic>
      <p:sp>
        <p:nvSpPr>
          <p:cNvPr id="37" name="TextBox 36">
            <a:extLst>
              <a:ext uri="{FF2B5EF4-FFF2-40B4-BE49-F238E27FC236}">
                <a16:creationId xmlns:a16="http://schemas.microsoft.com/office/drawing/2014/main" id="{525B6729-E387-A933-1E10-01ACD25E6653}"/>
              </a:ext>
            </a:extLst>
          </p:cNvPr>
          <p:cNvSpPr txBox="1"/>
          <p:nvPr/>
        </p:nvSpPr>
        <p:spPr>
          <a:xfrm>
            <a:off x="183193" y="10081029"/>
            <a:ext cx="9827115" cy="64633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DE" sz="3600" dirty="0">
                <a:solidFill>
                  <a:schemeClr val="tx1"/>
                </a:solidFill>
                <a:latin typeface="Patrick Hand" pitchFamily="2" charset="77"/>
              </a:rPr>
              <a:t>Output</a:t>
            </a:r>
          </a:p>
        </p:txBody>
      </p:sp>
      <p:sp>
        <p:nvSpPr>
          <p:cNvPr id="39" name="Rectangle 38">
            <a:extLst>
              <a:ext uri="{FF2B5EF4-FFF2-40B4-BE49-F238E27FC236}">
                <a16:creationId xmlns:a16="http://schemas.microsoft.com/office/drawing/2014/main" id="{A27BD8FC-909C-7707-EADD-9BB7EF082556}"/>
              </a:ext>
            </a:extLst>
          </p:cNvPr>
          <p:cNvSpPr/>
          <p:nvPr/>
        </p:nvSpPr>
        <p:spPr>
          <a:xfrm>
            <a:off x="-7878251" y="2819400"/>
            <a:ext cx="710803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py_009_raise_value_error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63217625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5D077D-CD3B-2596-C167-87FF71AC3F96}"/>
              </a:ext>
            </a:extLst>
          </p:cNvPr>
          <p:cNvSpPr txBox="1"/>
          <p:nvPr/>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6" name="Group 5">
            <a:extLst>
              <a:ext uri="{FF2B5EF4-FFF2-40B4-BE49-F238E27FC236}">
                <a16:creationId xmlns:a16="http://schemas.microsoft.com/office/drawing/2014/main" id="{70DC9F19-7314-279A-182A-2FAC4145BABA}"/>
              </a:ext>
            </a:extLst>
          </p:cNvPr>
          <p:cNvGrpSpPr/>
          <p:nvPr/>
        </p:nvGrpSpPr>
        <p:grpSpPr>
          <a:xfrm>
            <a:off x="4153139" y="285709"/>
            <a:ext cx="1979135" cy="925200"/>
            <a:chOff x="4315976" y="15244200"/>
            <a:chExt cx="1979135" cy="925200"/>
          </a:xfrm>
        </p:grpSpPr>
        <p:pic>
          <p:nvPicPr>
            <p:cNvPr id="7" name="Picture 6">
              <a:extLst>
                <a:ext uri="{FF2B5EF4-FFF2-40B4-BE49-F238E27FC236}">
                  <a16:creationId xmlns:a16="http://schemas.microsoft.com/office/drawing/2014/main" id="{2F1D7D9B-24E8-EF51-6F2B-6644446DAA31}"/>
                </a:ext>
              </a:extLst>
            </p:cNvPr>
            <p:cNvPicPr>
              <a:picLocks noChangeAspect="1"/>
            </p:cNvPicPr>
            <p:nvPr/>
          </p:nvPicPr>
          <p:blipFill>
            <a:blip r:embed="rId3"/>
            <a:stretch>
              <a:fillRect/>
            </a:stretch>
          </p:blipFill>
          <p:spPr>
            <a:xfrm>
              <a:off x="5369911" y="15244200"/>
              <a:ext cx="925200" cy="925200"/>
            </a:xfrm>
            <a:prstGeom prst="rect">
              <a:avLst/>
            </a:prstGeom>
          </p:spPr>
        </p:pic>
        <p:pic>
          <p:nvPicPr>
            <p:cNvPr id="8" name="Picture 7">
              <a:extLst>
                <a:ext uri="{FF2B5EF4-FFF2-40B4-BE49-F238E27FC236}">
                  <a16:creationId xmlns:a16="http://schemas.microsoft.com/office/drawing/2014/main" id="{DC14211A-2572-ACC1-2CBC-A47458A5B4A6}"/>
                </a:ext>
              </a:extLst>
            </p:cNvPr>
            <p:cNvPicPr>
              <a:picLocks noChangeAspect="1"/>
            </p:cNvPicPr>
            <p:nvPr/>
          </p:nvPicPr>
          <p:blipFill>
            <a:blip r:embed="rId4"/>
            <a:stretch>
              <a:fillRect/>
            </a:stretch>
          </p:blipFill>
          <p:spPr>
            <a:xfrm>
              <a:off x="4315976" y="15244200"/>
              <a:ext cx="925200" cy="925200"/>
            </a:xfrm>
            <a:prstGeom prst="rect">
              <a:avLst/>
            </a:prstGeom>
          </p:spPr>
        </p:pic>
      </p:grpSp>
      <p:sp>
        <p:nvSpPr>
          <p:cNvPr id="9" name="Right Arrow 8">
            <a:extLst>
              <a:ext uri="{FF2B5EF4-FFF2-40B4-BE49-F238E27FC236}">
                <a16:creationId xmlns:a16="http://schemas.microsoft.com/office/drawing/2014/main" id="{6D1AAAEE-0C0E-C465-D0BA-EF033B7257D6}"/>
              </a:ext>
            </a:extLst>
          </p:cNvPr>
          <p:cNvSpPr/>
          <p:nvPr/>
        </p:nvSpPr>
        <p:spPr>
          <a:xfrm>
            <a:off x="2895857" y="11520905"/>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1" name="TextBox 10">
            <a:extLst>
              <a:ext uri="{FF2B5EF4-FFF2-40B4-BE49-F238E27FC236}">
                <a16:creationId xmlns:a16="http://schemas.microsoft.com/office/drawing/2014/main" id="{E832EE6B-9F95-6B10-FE37-021FF9EB4ECA}"/>
              </a:ext>
            </a:extLst>
          </p:cNvPr>
          <p:cNvSpPr txBox="1"/>
          <p:nvPr/>
        </p:nvSpPr>
        <p:spPr>
          <a:xfrm>
            <a:off x="276045" y="11313869"/>
            <a:ext cx="2124299" cy="646331"/>
          </a:xfrm>
          <a:prstGeom prst="rect">
            <a:avLst/>
          </a:prstGeom>
          <a:noFill/>
        </p:spPr>
        <p:txBody>
          <a:bodyPr wrap="none" rtlCol="0">
            <a:spAutoFit/>
          </a:bodyPr>
          <a:lstStyle/>
          <a:p>
            <a:r>
              <a:rPr lang="en-DE" sz="3600" dirty="0">
                <a:latin typeface="Patrick Hand" pitchFamily="2" charset="77"/>
              </a:rPr>
              <a:t>__name__</a:t>
            </a:r>
          </a:p>
        </p:txBody>
      </p:sp>
      <p:sp>
        <p:nvSpPr>
          <p:cNvPr id="12" name="TextBox 11">
            <a:extLst>
              <a:ext uri="{FF2B5EF4-FFF2-40B4-BE49-F238E27FC236}">
                <a16:creationId xmlns:a16="http://schemas.microsoft.com/office/drawing/2014/main" id="{CACCF012-097C-7EA9-8F50-D5B87AEF56C9}"/>
              </a:ext>
            </a:extLst>
          </p:cNvPr>
          <p:cNvSpPr txBox="1"/>
          <p:nvPr/>
        </p:nvSpPr>
        <p:spPr>
          <a:xfrm>
            <a:off x="5138462" y="11313869"/>
            <a:ext cx="4588115" cy="646331"/>
          </a:xfrm>
          <a:prstGeom prst="rect">
            <a:avLst/>
          </a:prstGeom>
          <a:noFill/>
        </p:spPr>
        <p:txBody>
          <a:bodyPr wrap="none" rtlCol="0">
            <a:spAutoFit/>
          </a:bodyPr>
          <a:lstStyle/>
          <a:p>
            <a:r>
              <a:rPr lang="en-DE" sz="3600" b="1" dirty="0">
                <a:ln w="0"/>
                <a:solidFill>
                  <a:schemeClr val="accent1"/>
                </a:solidFill>
                <a:effectLst>
                  <a:outerShdw blurRad="38100" dist="25400" dir="5400000" algn="ctr" rotWithShape="0">
                    <a:srgbClr val="6E747A">
                      <a:alpha val="43000"/>
                    </a:srgbClr>
                  </a:outerShdw>
                </a:effectLst>
                <a:latin typeface="Patrick Hand" pitchFamily="2" charset="77"/>
              </a:rPr>
              <a:t>__main__ </a:t>
            </a:r>
            <a:r>
              <a:rPr lang="en-DE" sz="3600" dirty="0">
                <a:latin typeface="Patrick Hand" pitchFamily="2" charset="77"/>
              </a:rPr>
              <a:t>or </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a:t>
            </a:r>
            <a:endParaRPr lang="en-DE" sz="3600" b="1" dirty="0">
              <a:latin typeface="Patrick Hand" pitchFamily="2" charset="77"/>
            </a:endParaRPr>
          </a:p>
        </p:txBody>
      </p:sp>
      <p:sp>
        <p:nvSpPr>
          <p:cNvPr id="13" name="Right Arrow 12">
            <a:extLst>
              <a:ext uri="{FF2B5EF4-FFF2-40B4-BE49-F238E27FC236}">
                <a16:creationId xmlns:a16="http://schemas.microsoft.com/office/drawing/2014/main" id="{D53344C2-B640-EC0B-B3FE-09DBE822B2C8}"/>
              </a:ext>
            </a:extLst>
          </p:cNvPr>
          <p:cNvSpPr/>
          <p:nvPr/>
        </p:nvSpPr>
        <p:spPr>
          <a:xfrm>
            <a:off x="2895857" y="12277158"/>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4" name="TextBox 13">
            <a:extLst>
              <a:ext uri="{FF2B5EF4-FFF2-40B4-BE49-F238E27FC236}">
                <a16:creationId xmlns:a16="http://schemas.microsoft.com/office/drawing/2014/main" id="{E4AC7F21-4968-CAF2-B4FB-989227F10953}"/>
              </a:ext>
            </a:extLst>
          </p:cNvPr>
          <p:cNvSpPr txBox="1"/>
          <p:nvPr/>
        </p:nvSpPr>
        <p:spPr>
          <a:xfrm>
            <a:off x="290421" y="12070122"/>
            <a:ext cx="1813317" cy="646331"/>
          </a:xfrm>
          <a:prstGeom prst="rect">
            <a:avLst/>
          </a:prstGeom>
          <a:noFill/>
        </p:spPr>
        <p:txBody>
          <a:bodyPr wrap="none" rtlCol="0">
            <a:spAutoFit/>
          </a:bodyPr>
          <a:lstStyle/>
          <a:p>
            <a:r>
              <a:rPr lang="en-DE" sz="3600" dirty="0">
                <a:latin typeface="Patrick Hand" pitchFamily="2" charset="77"/>
              </a:rPr>
              <a:t>__file__</a:t>
            </a:r>
          </a:p>
        </p:txBody>
      </p:sp>
      <p:sp>
        <p:nvSpPr>
          <p:cNvPr id="15" name="TextBox 14">
            <a:extLst>
              <a:ext uri="{FF2B5EF4-FFF2-40B4-BE49-F238E27FC236}">
                <a16:creationId xmlns:a16="http://schemas.microsoft.com/office/drawing/2014/main" id="{ABFB4053-217A-72C1-4F57-F783C3DD66BC}"/>
              </a:ext>
            </a:extLst>
          </p:cNvPr>
          <p:cNvSpPr txBox="1"/>
          <p:nvPr/>
        </p:nvSpPr>
        <p:spPr>
          <a:xfrm>
            <a:off x="5152838" y="12070122"/>
            <a:ext cx="3611886" cy="646331"/>
          </a:xfrm>
          <a:prstGeom prst="rect">
            <a:avLst/>
          </a:prstGeom>
          <a:noFill/>
        </p:spPr>
        <p:txBody>
          <a:bodyPr wrap="none" rtlCol="0">
            <a:spAutoFit/>
          </a:bodyPr>
          <a:lstStyle/>
          <a:p>
            <a:r>
              <a:rPr lang="en-GB" sz="3600" b="1" dirty="0">
                <a:ln w="0"/>
                <a:solidFill>
                  <a:schemeClr val="accent1"/>
                </a:solidFill>
                <a:effectLst>
                  <a:outerShdw blurRad="38100" dist="25400" dir="5400000" algn="ctr" rotWithShape="0">
                    <a:srgbClr val="6E747A">
                      <a:alpha val="43000"/>
                    </a:srgbClr>
                  </a:outerShdw>
                </a:effectLst>
                <a:latin typeface="Patrick Hand" pitchFamily="2" charset="77"/>
              </a:rPr>
              <a:t>/app/</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magic_vars.py</a:t>
            </a:r>
            <a:endParaRPr lang="en-DE" sz="3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16" name="Right Arrow 15">
            <a:extLst>
              <a:ext uri="{FF2B5EF4-FFF2-40B4-BE49-F238E27FC236}">
                <a16:creationId xmlns:a16="http://schemas.microsoft.com/office/drawing/2014/main" id="{ED996F69-B416-701A-0D10-21A8520837B2}"/>
              </a:ext>
            </a:extLst>
          </p:cNvPr>
          <p:cNvSpPr/>
          <p:nvPr/>
        </p:nvSpPr>
        <p:spPr>
          <a:xfrm>
            <a:off x="2895857" y="13126533"/>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7" name="TextBox 16">
            <a:extLst>
              <a:ext uri="{FF2B5EF4-FFF2-40B4-BE49-F238E27FC236}">
                <a16:creationId xmlns:a16="http://schemas.microsoft.com/office/drawing/2014/main" id="{440BFD03-FFCD-BB92-8561-2492420B1B39}"/>
              </a:ext>
            </a:extLst>
          </p:cNvPr>
          <p:cNvSpPr txBox="1"/>
          <p:nvPr/>
        </p:nvSpPr>
        <p:spPr>
          <a:xfrm>
            <a:off x="290421" y="12919497"/>
            <a:ext cx="2557110" cy="646331"/>
          </a:xfrm>
          <a:prstGeom prst="rect">
            <a:avLst/>
          </a:prstGeom>
          <a:noFill/>
        </p:spPr>
        <p:txBody>
          <a:bodyPr wrap="none" rtlCol="0">
            <a:spAutoFit/>
          </a:bodyPr>
          <a:lstStyle/>
          <a:p>
            <a:r>
              <a:rPr lang="en-DE" sz="3600" dirty="0">
                <a:latin typeface="Patrick Hand" pitchFamily="2" charset="77"/>
              </a:rPr>
              <a:t>__package__</a:t>
            </a:r>
          </a:p>
        </p:txBody>
      </p:sp>
      <p:sp>
        <p:nvSpPr>
          <p:cNvPr id="18" name="TextBox 17">
            <a:extLst>
              <a:ext uri="{FF2B5EF4-FFF2-40B4-BE49-F238E27FC236}">
                <a16:creationId xmlns:a16="http://schemas.microsoft.com/office/drawing/2014/main" id="{CA14FB69-C7B0-8E6F-30FF-6B27547214AD}"/>
              </a:ext>
            </a:extLst>
          </p:cNvPr>
          <p:cNvSpPr txBox="1"/>
          <p:nvPr/>
        </p:nvSpPr>
        <p:spPr>
          <a:xfrm>
            <a:off x="5152838" y="12919497"/>
            <a:ext cx="4355680" cy="646331"/>
          </a:xfrm>
          <a:prstGeom prst="rect">
            <a:avLst/>
          </a:prstGeom>
          <a:noFill/>
        </p:spPr>
        <p:txBody>
          <a:bodyPr wrap="none" rtlCol="0">
            <a:spAutoFit/>
          </a:bodyPr>
          <a:lstStyle/>
          <a:p>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None</a:t>
            </a:r>
            <a:r>
              <a:rPr lang="en-US" sz="3600" dirty="0">
                <a:latin typeface="Patrick Hand" pitchFamily="2" charset="77"/>
              </a:rPr>
              <a:t> or </a:t>
            </a:r>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name of package</a:t>
            </a:r>
            <a:endParaRPr lang="en-DE" sz="3600" b="1" dirty="0">
              <a:latin typeface="Patrick Hand" pitchFamily="2" charset="77"/>
            </a:endParaRPr>
          </a:p>
        </p:txBody>
      </p:sp>
      <p:pic>
        <p:nvPicPr>
          <p:cNvPr id="4" name="Picture 3">
            <a:extLst>
              <a:ext uri="{FF2B5EF4-FFF2-40B4-BE49-F238E27FC236}">
                <a16:creationId xmlns:a16="http://schemas.microsoft.com/office/drawing/2014/main" id="{100686C9-E18B-4DD3-305F-2EB19B28DD11}"/>
              </a:ext>
            </a:extLst>
          </p:cNvPr>
          <p:cNvPicPr>
            <a:picLocks noChangeAspect="1"/>
          </p:cNvPicPr>
          <p:nvPr/>
        </p:nvPicPr>
        <p:blipFill rotWithShape="1">
          <a:blip r:embed="rId5"/>
          <a:srcRect l="15264" t="20482" r="8581" b="11981"/>
          <a:stretch>
            <a:fillRect/>
          </a:stretch>
        </p:blipFill>
        <p:spPr>
          <a:xfrm>
            <a:off x="151141" y="3616891"/>
            <a:ext cx="9983131" cy="7286898"/>
          </a:xfrm>
          <a:prstGeom prst="rect">
            <a:avLst/>
          </a:prstGeom>
        </p:spPr>
      </p:pic>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6"/>
          <a:stretch>
            <a:fillRect/>
          </a:stretch>
        </p:blipFill>
        <p:spPr>
          <a:xfrm>
            <a:off x="8988573" y="9774866"/>
            <a:ext cx="1063167" cy="1063167"/>
          </a:xfrm>
          <a:prstGeom prst="rect">
            <a:avLst/>
          </a:prstGeom>
        </p:spPr>
      </p:pic>
      <p:sp>
        <p:nvSpPr>
          <p:cNvPr id="19" name="TextBox 18">
            <a:extLst>
              <a:ext uri="{FF2B5EF4-FFF2-40B4-BE49-F238E27FC236}">
                <a16:creationId xmlns:a16="http://schemas.microsoft.com/office/drawing/2014/main" id="{BA150DD2-452F-B188-4AC9-00A3258E6533}"/>
              </a:ext>
            </a:extLst>
          </p:cNvPr>
          <p:cNvSpPr txBox="1"/>
          <p:nvPr/>
        </p:nvSpPr>
        <p:spPr>
          <a:xfrm>
            <a:off x="6745857" y="3657597"/>
            <a:ext cx="3321743" cy="461665"/>
          </a:xfrm>
          <a:prstGeom prst="rect">
            <a:avLst/>
          </a:prstGeom>
          <a:noFill/>
        </p:spPr>
        <p:txBody>
          <a:bodyPr wrap="none" rtlCol="0">
            <a:spAutoFit/>
          </a:bodyPr>
          <a:lstStyle/>
          <a:p>
            <a:r>
              <a:rPr lang="en-GB" sz="2400" dirty="0">
                <a:solidFill>
                  <a:schemeClr val="bg1"/>
                </a:solidFill>
              </a:rPr>
              <a:t>F</a:t>
            </a:r>
            <a:r>
              <a:rPr lang="en-DE" sz="2400" dirty="0">
                <a:solidFill>
                  <a:schemeClr val="bg1"/>
                </a:solidFill>
              </a:rPr>
              <a:t>ile name: magic_vars.py</a:t>
            </a:r>
          </a:p>
        </p:txBody>
      </p:sp>
      <p:sp>
        <p:nvSpPr>
          <p:cNvPr id="20" name="TextBox 19">
            <a:extLst>
              <a:ext uri="{FF2B5EF4-FFF2-40B4-BE49-F238E27FC236}">
                <a16:creationId xmlns:a16="http://schemas.microsoft.com/office/drawing/2014/main" id="{8959F1A2-B22C-5219-5969-65113B4369B8}"/>
              </a:ext>
            </a:extLst>
          </p:cNvPr>
          <p:cNvSpPr txBox="1"/>
          <p:nvPr/>
        </p:nvSpPr>
        <p:spPr>
          <a:xfrm>
            <a:off x="151141" y="2468165"/>
            <a:ext cx="9982800" cy="1107996"/>
          </a:xfrm>
          <a:prstGeom prst="rect">
            <a:avLst/>
          </a:prstGeom>
          <a:solidFill>
            <a:srgbClr val="FFFF00"/>
          </a:solidFill>
          <a:ln>
            <a:solidFill>
              <a:schemeClr val="accent1">
                <a:shade val="15000"/>
              </a:schemeClr>
            </a:solidFill>
          </a:ln>
        </p:spPr>
        <p:txBody>
          <a:bodyPr wrap="square" rtlCol="0">
            <a:spAutoFit/>
          </a:bodyPr>
          <a:lstStyle/>
          <a:p>
            <a:pPr algn="ctr"/>
            <a:r>
              <a:rPr lang="en-DE" sz="6600" b="1" dirty="0">
                <a:ln w="0">
                  <a:solidFill>
                    <a:schemeClr val="bg1"/>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Patrick Hand" pitchFamily="2" charset="77"/>
              </a:rPr>
              <a:t>Python Special Variables</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2494115"/>
            <a:ext cx="1063167" cy="1063167"/>
          </a:xfrm>
          <a:prstGeom prst="rect">
            <a:avLst/>
          </a:prstGeom>
        </p:spPr>
      </p:pic>
      <p:pic>
        <p:nvPicPr>
          <p:cNvPr id="14" name="Picture 13">
            <a:extLst>
              <a:ext uri="{FF2B5EF4-FFF2-40B4-BE49-F238E27FC236}">
                <a16:creationId xmlns:a16="http://schemas.microsoft.com/office/drawing/2014/main" id="{F90E03DB-A5D0-7C3C-C45E-020B27EA03F4}"/>
              </a:ext>
            </a:extLst>
          </p:cNvPr>
          <p:cNvPicPr>
            <a:picLocks noChangeAspect="1"/>
          </p:cNvPicPr>
          <p:nvPr/>
        </p:nvPicPr>
        <p:blipFill rotWithShape="1">
          <a:blip r:embed="rId6"/>
          <a:srcRect l="15099" t="18381" r="8553" b="9940"/>
          <a:stretch>
            <a:fillRect/>
          </a:stretch>
        </p:blipFill>
        <p:spPr>
          <a:xfrm>
            <a:off x="223579" y="4037162"/>
            <a:ext cx="9838255" cy="7783974"/>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a:endCxn id="14" idx="3"/>
          </p:cNvCxnSpPr>
          <p:nvPr/>
        </p:nvCxnSpPr>
        <p:spPr>
          <a:xfrm>
            <a:off x="223579" y="792914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10358851"/>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68075" y="5575171"/>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2387532"/>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2387532"/>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3207674"/>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4027816"/>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3207674"/>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4027816"/>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971DBD18-ECBF-F0B4-AFE2-DCDA447C4C08}"/>
              </a:ext>
            </a:extLst>
          </p:cNvPr>
          <p:cNvPicPr>
            <a:picLocks noChangeAspect="1"/>
          </p:cNvPicPr>
          <p:nvPr/>
        </p:nvPicPr>
        <p:blipFill rotWithShape="1">
          <a:blip r:embed="rId4"/>
          <a:srcRect l="24246" t="23158" r="13251" b="12790"/>
          <a:stretch>
            <a:fillRect/>
          </a:stretch>
        </p:blipFill>
        <p:spPr>
          <a:xfrm>
            <a:off x="223306" y="4208562"/>
            <a:ext cx="9838800" cy="10771790"/>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306" y="2872200"/>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2906105"/>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039590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0890478"/>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6404513"/>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36905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py_012_python_truthiness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pic>
        <p:nvPicPr>
          <p:cNvPr id="6" name="Picture 5">
            <a:extLst>
              <a:ext uri="{FF2B5EF4-FFF2-40B4-BE49-F238E27FC236}">
                <a16:creationId xmlns:a16="http://schemas.microsoft.com/office/drawing/2014/main" id="{32D2F3E9-1457-70B6-481C-8273E393E203}"/>
              </a:ext>
            </a:extLst>
          </p:cNvPr>
          <p:cNvPicPr>
            <a:picLocks noChangeAspect="1"/>
          </p:cNvPicPr>
          <p:nvPr/>
        </p:nvPicPr>
        <p:blipFill rotWithShape="1">
          <a:blip r:embed="rId3"/>
          <a:srcRect l="18942" t="25483" r="11277" b="14650"/>
          <a:stretch>
            <a:fillRect/>
          </a:stretch>
        </p:blipFill>
        <p:spPr>
          <a:xfrm>
            <a:off x="223306" y="4282067"/>
            <a:ext cx="9838800" cy="6841548"/>
          </a:xfrm>
          <a:prstGeom prst="rect">
            <a:avLst/>
          </a:prstGeom>
        </p:spPr>
      </p:pic>
      <p:sp>
        <p:nvSpPr>
          <p:cNvPr id="7" name="TextBox 6">
            <a:extLst>
              <a:ext uri="{FF2B5EF4-FFF2-40B4-BE49-F238E27FC236}">
                <a16:creationId xmlns:a16="http://schemas.microsoft.com/office/drawing/2014/main" id="{4726C78F-5842-BADA-97BD-2A58BA5E5C84}"/>
              </a:ext>
            </a:extLst>
          </p:cNvPr>
          <p:cNvSpPr txBox="1"/>
          <p:nvPr/>
        </p:nvSpPr>
        <p:spPr>
          <a:xfrm>
            <a:off x="223306" y="11731083"/>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1731083"/>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2814182"/>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2804706"/>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3897281"/>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3878330"/>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68075" y="8637940"/>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6560627"/>
            <a:ext cx="914400" cy="914400"/>
          </a:xfrm>
          <a:prstGeom prst="rect">
            <a:avLst/>
          </a:prstGeom>
        </p:spPr>
      </p:pic>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735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1731083"/>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1731083"/>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2814182"/>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2804707"/>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3878330"/>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3878330"/>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pic>
        <p:nvPicPr>
          <p:cNvPr id="2" name="Picture 1">
            <a:extLst>
              <a:ext uri="{FF2B5EF4-FFF2-40B4-BE49-F238E27FC236}">
                <a16:creationId xmlns:a16="http://schemas.microsoft.com/office/drawing/2014/main" id="{6D698CA1-BEA0-6457-A8B8-5A203D1CE907}"/>
              </a:ext>
            </a:extLst>
          </p:cNvPr>
          <p:cNvPicPr>
            <a:picLocks noChangeAspect="1"/>
          </p:cNvPicPr>
          <p:nvPr/>
        </p:nvPicPr>
        <p:blipFill rotWithShape="1">
          <a:blip r:embed="rId4"/>
          <a:srcRect l="17574" t="23797" r="10300" b="14590"/>
          <a:stretch>
            <a:fillRect/>
          </a:stretch>
        </p:blipFill>
        <p:spPr>
          <a:xfrm>
            <a:off x="186673" y="4318974"/>
            <a:ext cx="9912067" cy="6765325"/>
          </a:xfrm>
          <a:prstGeom prst="rect">
            <a:avLst/>
          </a:prstGeom>
        </p:spPr>
      </p:pic>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687212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73493" y="7032169"/>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73493" y="4553412"/>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43F2C2-B062-5AB0-8070-46F523BB3B85}"/>
              </a:ext>
            </a:extLst>
          </p:cNvPr>
          <p:cNvPicPr>
            <a:picLocks noChangeAspect="1"/>
          </p:cNvPicPr>
          <p:nvPr/>
        </p:nvPicPr>
        <p:blipFill rotWithShape="1">
          <a:blip r:embed="rId4"/>
          <a:srcRect l="20069" t="16107" r="11536" b="8322"/>
          <a:stretch>
            <a:fillRect/>
          </a:stretch>
        </p:blipFill>
        <p:spPr>
          <a:xfrm>
            <a:off x="963121" y="3537654"/>
            <a:ext cx="8359169" cy="11860978"/>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963120" y="2356655"/>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1097040" y="2382605"/>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7661523"/>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8084006"/>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6333449"/>
            <a:ext cx="914400" cy="914400"/>
          </a:xfrm>
          <a:prstGeom prst="rect">
            <a:avLst/>
          </a:prstGeom>
        </p:spPr>
      </p:pic>
      <p:sp>
        <p:nvSpPr>
          <p:cNvPr id="20" name="TextBox 19">
            <a:extLst>
              <a:ext uri="{FF2B5EF4-FFF2-40B4-BE49-F238E27FC236}">
                <a16:creationId xmlns:a16="http://schemas.microsoft.com/office/drawing/2014/main" id="{55431B90-4C81-C2E6-27F3-4BE1F59B0FD5}"/>
              </a:ext>
            </a:extLst>
          </p:cNvPr>
          <p:cNvSpPr txBox="1"/>
          <p:nvPr/>
        </p:nvSpPr>
        <p:spPr>
          <a:xfrm>
            <a:off x="3104712" y="15407460"/>
            <a:ext cx="4509440" cy="707886"/>
          </a:xfrm>
          <a:prstGeom prst="rect">
            <a:avLst/>
          </a:prstGeom>
          <a:noFill/>
        </p:spPr>
        <p:txBody>
          <a:bodyPr wrap="none" rtlCol="0">
            <a:spAutoFit/>
          </a:bodyPr>
          <a:lstStyle/>
          <a:p>
            <a:pPr marL="0" algn="l" defTabSz="457200" rtl="0" eaLnBrk="1" latinLnBrk="0" hangingPunct="1"/>
            <a:r>
              <a:rPr lang="en-US" sz="4000" dirty="0">
                <a:solidFill>
                  <a:schemeClr val="bg1"/>
                </a:solidFill>
              </a:rPr>
              <a:t>Powerful &amp; Reusable</a:t>
            </a:r>
            <a:endParaRPr lang="en-DE" sz="4000" dirty="0">
              <a:solidFill>
                <a:schemeClr val="bg1"/>
              </a:solidFill>
            </a:endParaRPr>
          </a:p>
        </p:txBody>
      </p:sp>
      <p:sp>
        <p:nvSpPr>
          <p:cNvPr id="21" name="TextBox 20">
            <a:extLst>
              <a:ext uri="{FF2B5EF4-FFF2-40B4-BE49-F238E27FC236}">
                <a16:creationId xmlns:a16="http://schemas.microsoft.com/office/drawing/2014/main" id="{4CC720A1-BB63-65E7-EAD2-2F645218BC30}"/>
              </a:ext>
            </a:extLst>
          </p:cNvPr>
          <p:cNvSpPr txBox="1"/>
          <p:nvPr/>
        </p:nvSpPr>
        <p:spPr>
          <a:xfrm>
            <a:off x="202892" y="16076093"/>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py_021_guard_clauses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BA022639-4272-05CB-2492-F553AE737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35B1D9-D160-7689-0835-C93F40878D70}"/>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D203E7-C11A-C84C-E096-19757866AB15}"/>
              </a:ext>
            </a:extLst>
          </p:cNvPr>
          <p:cNvPicPr>
            <a:picLocks noChangeAspect="1"/>
          </p:cNvPicPr>
          <p:nvPr/>
        </p:nvPicPr>
        <p:blipFill>
          <a:blip r:embed="rId2"/>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616324E3-C532-2DD3-3D6B-4A47E6319854}"/>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0A04A800-EA81-6142-3243-5E7FA473DB13}"/>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147C8A3-1665-E8A9-5854-B0DA470BB9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8AA43972-6285-B821-61AB-42CD225959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D9ADCC63-695E-7B85-F85A-397F27C85199}"/>
              </a:ext>
            </a:extLst>
          </p:cNvPr>
          <p:cNvSpPr txBox="1"/>
          <p:nvPr/>
        </p:nvSpPr>
        <p:spPr>
          <a:xfrm>
            <a:off x="-8470937" y="2490606"/>
            <a:ext cx="679384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py_022_clean_if_statement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35389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8F26F6C-D227-4DE8-9703-E15F54EBF45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0715138-4454-0073-6B94-B6FDC353190A}"/>
              </a:ext>
            </a:extLst>
          </p:cNvPr>
          <p:cNvPicPr>
            <a:picLocks noChangeAspect="1"/>
          </p:cNvPicPr>
          <p:nvPr/>
        </p:nvPicPr>
        <p:blipFill rotWithShape="1">
          <a:blip r:embed="rId3"/>
          <a:srcRect l="20480" t="18148" r="13247" b="17325"/>
          <a:stretch>
            <a:fillRect/>
          </a:stretch>
        </p:blipFill>
        <p:spPr>
          <a:xfrm>
            <a:off x="231312" y="3637723"/>
            <a:ext cx="9822787" cy="10391790"/>
          </a:xfrm>
          <a:prstGeom prst="rect">
            <a:avLst/>
          </a:prstGeom>
          <a:ln w="12700">
            <a:solidFill>
              <a:schemeClr val="bg1"/>
            </a:solidFill>
          </a:ln>
        </p:spPr>
      </p:pic>
      <p:sp>
        <p:nvSpPr>
          <p:cNvPr id="4" name="TextBox 3">
            <a:extLst>
              <a:ext uri="{FF2B5EF4-FFF2-40B4-BE49-F238E27FC236}">
                <a16:creationId xmlns:a16="http://schemas.microsoft.com/office/drawing/2014/main" id="{CC15B431-076A-5F66-8FB9-F09D56C7CEDD}"/>
              </a:ext>
            </a:extLst>
          </p:cNvPr>
          <p:cNvSpPr txBox="1"/>
          <p:nvPr/>
        </p:nvSpPr>
        <p:spPr>
          <a:xfrm>
            <a:off x="223306" y="2377920"/>
            <a:ext cx="9838800" cy="1189726"/>
          </a:xfrm>
          <a:prstGeom prst="rect">
            <a:avLst/>
          </a:prstGeom>
          <a:ln>
            <a:solidFill>
              <a:schemeClr val="bg1"/>
            </a:solidFill>
          </a:ln>
        </p:spPr>
        <p:style>
          <a:lnRef idx="0">
            <a:schemeClr val="accent5"/>
          </a:lnRef>
          <a:fillRef idx="3">
            <a:schemeClr val="accent5"/>
          </a:fillRef>
          <a:effectRef idx="3">
            <a:schemeClr val="accent5"/>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lambda function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CB5263E-6347-2F36-424A-BF26D026D950}"/>
              </a:ext>
            </a:extLst>
          </p:cNvPr>
          <p:cNvPicPr>
            <a:picLocks noChangeAspect="1"/>
          </p:cNvPicPr>
          <p:nvPr/>
        </p:nvPicPr>
        <p:blipFill>
          <a:blip r:embed="rId4"/>
          <a:stretch>
            <a:fillRect/>
          </a:stretch>
        </p:blipFill>
        <p:spPr>
          <a:xfrm>
            <a:off x="305222" y="2440699"/>
            <a:ext cx="1063167" cy="1063167"/>
          </a:xfrm>
          <a:prstGeom prst="rect">
            <a:avLst/>
          </a:prstGeom>
        </p:spPr>
      </p:pic>
      <p:sp>
        <p:nvSpPr>
          <p:cNvPr id="13" name="TextBox 12">
            <a:extLst>
              <a:ext uri="{FF2B5EF4-FFF2-40B4-BE49-F238E27FC236}">
                <a16:creationId xmlns:a16="http://schemas.microsoft.com/office/drawing/2014/main" id="{AE227B43-6F2C-EBC9-5B3C-0DD1D9227AEC}"/>
              </a:ext>
            </a:extLst>
          </p:cNvPr>
          <p:cNvSpPr txBox="1"/>
          <p:nvPr/>
        </p:nvSpPr>
        <p:spPr>
          <a:xfrm>
            <a:off x="223306" y="14120016"/>
            <a:ext cx="9838800"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 lambda function is a small anonymous function.</a:t>
            </a:r>
          </a:p>
        </p:txBody>
      </p:sp>
      <p:cxnSp>
        <p:nvCxnSpPr>
          <p:cNvPr id="17" name="Straight Connector 16">
            <a:extLst>
              <a:ext uri="{FF2B5EF4-FFF2-40B4-BE49-F238E27FC236}">
                <a16:creationId xmlns:a16="http://schemas.microsoft.com/office/drawing/2014/main" id="{3B9785E9-B110-9D2F-A7F9-D4623A1BA6B4}"/>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D1127E-1882-5BED-9C9E-FCE9E336B2DB}"/>
              </a:ext>
            </a:extLst>
          </p:cNvPr>
          <p:cNvSpPr txBox="1"/>
          <p:nvPr/>
        </p:nvSpPr>
        <p:spPr>
          <a:xfrm>
            <a:off x="-8470937" y="2490606"/>
            <a:ext cx="380905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py_023_lambda</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482429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616D607-6D7C-5708-3226-2BC3BDCDFC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069CC8-16E8-EA19-357C-16B9FA375E35}"/>
              </a:ext>
            </a:extLst>
          </p:cNvPr>
          <p:cNvSpPr txBox="1"/>
          <p:nvPr/>
        </p:nvSpPr>
        <p:spPr>
          <a:xfrm>
            <a:off x="223306" y="2304768"/>
            <a:ext cx="9838800" cy="1189726"/>
          </a:xfrm>
          <a:prstGeom prst="rect">
            <a:avLst/>
          </a:prstGeom>
          <a:ln/>
        </p:spPr>
        <p:style>
          <a:lnRef idx="0">
            <a:schemeClr val="accent4"/>
          </a:lnRef>
          <a:fillRef idx="3">
            <a:schemeClr val="accent4"/>
          </a:fillRef>
          <a:effectRef idx="3">
            <a:schemeClr val="accent4"/>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SQL Injection!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DA1DC68-3EF7-26B8-CF04-89CD899DDD0E}"/>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DA14B190-437B-FFE1-006B-08447ECD5817}"/>
              </a:ext>
            </a:extLst>
          </p:cNvPr>
          <p:cNvSpPr txBox="1"/>
          <p:nvPr/>
        </p:nvSpPr>
        <p:spPr>
          <a:xfrm>
            <a:off x="223306" y="14120016"/>
            <a:ext cx="9838800" cy="2123658"/>
          </a:xfrm>
          <a:prstGeom prst="rect">
            <a:avLst/>
          </a:prstGeom>
          <a:noFill/>
        </p:spPr>
        <p:txBody>
          <a:bodyPr wrap="square" rtlCol="0">
            <a:spAutoFit/>
          </a:bodyPr>
          <a:lstStyle/>
          <a:p>
            <a:pPr algn="ctr"/>
            <a:r>
              <a:rPr lang="en-GB" sz="6600" dirty="0"/>
              <a:t>Always use parameters, never f-strings for queries!</a:t>
            </a:r>
          </a:p>
        </p:txBody>
      </p:sp>
      <p:cxnSp>
        <p:nvCxnSpPr>
          <p:cNvPr id="17" name="Straight Connector 16">
            <a:extLst>
              <a:ext uri="{FF2B5EF4-FFF2-40B4-BE49-F238E27FC236}">
                <a16:creationId xmlns:a16="http://schemas.microsoft.com/office/drawing/2014/main" id="{51306202-8B67-23C5-E6F7-4979FCF7EF6A}"/>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0E6AC77-7B65-8BE4-106B-AE9F78BB4B82}"/>
              </a:ext>
            </a:extLst>
          </p:cNvPr>
          <p:cNvSpPr txBox="1"/>
          <p:nvPr/>
        </p:nvSpPr>
        <p:spPr>
          <a:xfrm>
            <a:off x="-8470937" y="2490606"/>
            <a:ext cx="516359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py_024_sql_injection</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751242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lgConfetti">
          <a:fgClr>
            <a:schemeClr val="accent6">
              <a:lumMod val="60000"/>
              <a:lumOff val="40000"/>
            </a:schemeClr>
          </a:fgClr>
          <a:bgClr>
            <a:schemeClr val="bg1"/>
          </a:bgClr>
        </a:pattFill>
        <a:effectLst/>
      </p:bgPr>
    </p:bg>
    <p:spTree>
      <p:nvGrpSpPr>
        <p:cNvPr id="1" name="">
          <a:extLst>
            <a:ext uri="{FF2B5EF4-FFF2-40B4-BE49-F238E27FC236}">
              <a16:creationId xmlns:a16="http://schemas.microsoft.com/office/drawing/2014/main" id="{9FBFAFEA-B050-870A-9752-067D9BC40E4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212A72-D3A6-7961-2ECE-0EA82DC7AD9E}"/>
              </a:ext>
            </a:extLst>
          </p:cNvPr>
          <p:cNvSpPr txBox="1"/>
          <p:nvPr/>
        </p:nvSpPr>
        <p:spPr>
          <a:xfrm>
            <a:off x="223306" y="2304768"/>
            <a:ext cx="9838800" cy="118972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Automatic DB Cleanup</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16480D7D-F3E3-CC44-3BBE-6C10B36F67E5}"/>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BED94CDF-C212-6E9B-BF61-990317EF31DE}"/>
              </a:ext>
            </a:extLst>
          </p:cNvPr>
          <p:cNvSpPr txBox="1"/>
          <p:nvPr/>
        </p:nvSpPr>
        <p:spPr>
          <a:xfrm>
            <a:off x="1" y="14120016"/>
            <a:ext cx="10285412" cy="3139321"/>
          </a:xfrm>
          <a:prstGeom prst="rect">
            <a:avLst/>
          </a:prstGeom>
          <a:noFill/>
        </p:spPr>
        <p:txBody>
          <a:bodyPr wrap="square" rtlCol="0">
            <a:spAutoFit/>
          </a:bodyPr>
          <a:lstStyle/>
          <a:p>
            <a:pPr algn="ctr"/>
            <a:r>
              <a:rPr lang="en-GB" sz="6600" dirty="0"/>
              <a:t>Use the </a:t>
            </a:r>
            <a:r>
              <a:rPr lang="en-GB" sz="6600" dirty="0">
                <a:solidFill>
                  <a:srgbClr val="FF0000"/>
                </a:solidFill>
              </a:rPr>
              <a:t>with</a:t>
            </a:r>
            <a:r>
              <a:rPr lang="en-GB" sz="6600" dirty="0"/>
              <a:t> block to handle the heavy lifting of closing sessions automatically.</a:t>
            </a:r>
            <a:endParaRPr lang="en-GB" sz="6600" dirty="0">
              <a:ln w="0"/>
              <a:solidFill>
                <a:schemeClr val="accent6">
                  <a:lumMod val="50000"/>
                </a:schemeClr>
              </a:solidFill>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321AA455-2016-F848-D165-5057B4F9925A}"/>
              </a:ext>
            </a:extLst>
          </p:cNvPr>
          <p:cNvSpPr txBox="1"/>
          <p:nvPr/>
        </p:nvSpPr>
        <p:spPr>
          <a:xfrm>
            <a:off x="-8470937" y="2490606"/>
            <a:ext cx="7160935"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py_025_authomatic_db_client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989305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3F04921F-CA6C-EC03-C4BD-C3D6C3A993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37AAB-8755-D2AA-A0FA-6C717C97DCFC}"/>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Zero-Error Data Models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B008A6-3ECD-B688-1F38-1E0695A36E81}"/>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560F857C-9146-6986-0883-AE34D47554B8}"/>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Define a </a:t>
            </a:r>
            <a:r>
              <a:rPr lang="en-GB" sz="7200" dirty="0" err="1">
                <a:latin typeface="Patrick Hand" pitchFamily="2" charset="77"/>
              </a:rPr>
              <a:t>Pydantic</a:t>
            </a:r>
            <a:r>
              <a:rPr lang="en-GB" sz="7200" dirty="0">
                <a:latin typeface="Patrick Hand" pitchFamily="2" charset="77"/>
              </a:rPr>
              <a:t> model for autocomplete and type safety.</a:t>
            </a:r>
          </a:p>
        </p:txBody>
      </p:sp>
      <p:sp>
        <p:nvSpPr>
          <p:cNvPr id="25" name="TextBox 24">
            <a:extLst>
              <a:ext uri="{FF2B5EF4-FFF2-40B4-BE49-F238E27FC236}">
                <a16:creationId xmlns:a16="http://schemas.microsoft.com/office/drawing/2014/main" id="{5DE6F622-39BA-D71D-749C-BFFFFFC7B9F2}"/>
              </a:ext>
            </a:extLst>
          </p:cNvPr>
          <p:cNvSpPr txBox="1"/>
          <p:nvPr/>
        </p:nvSpPr>
        <p:spPr>
          <a:xfrm>
            <a:off x="-8470937" y="2490606"/>
            <a:ext cx="7975260"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py_026_zero_error_data_models</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3034700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A04E0-6230-FDBC-BCEA-B7BCF79D50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A06BD7-160F-7626-383E-35D904468A7E}"/>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Type-Safe SQL </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C2BD99C-E2E7-5771-1D14-889F7B0BB6FF}"/>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4C8299F1-AE5A-9B19-276B-B6CCB81E25FD}"/>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Stop writing SQL strings—use </a:t>
            </a:r>
            <a:r>
              <a:rPr lang="en-GB" sz="7200" dirty="0" err="1">
                <a:latin typeface="Patrick Hand" pitchFamily="2" charset="77"/>
              </a:rPr>
              <a:t>SQLAlchemy</a:t>
            </a:r>
            <a:r>
              <a:rPr lang="en-GB" sz="7200" dirty="0">
                <a:latin typeface="Patrick Hand" pitchFamily="2" charset="77"/>
              </a:rPr>
              <a:t> 2.0.</a:t>
            </a:r>
          </a:p>
        </p:txBody>
      </p:sp>
      <p:sp>
        <p:nvSpPr>
          <p:cNvPr id="25" name="TextBox 24">
            <a:extLst>
              <a:ext uri="{FF2B5EF4-FFF2-40B4-BE49-F238E27FC236}">
                <a16:creationId xmlns:a16="http://schemas.microsoft.com/office/drawing/2014/main" id="{8331D003-46CE-92A2-A6CC-026A0D0BB015}"/>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py_027_type_safe_sql</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20996140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5ACAD60-B8C2-D97F-075E-33591F97BC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32136E-8BFF-CE8A-6835-EE29F7629BC8}"/>
              </a:ext>
            </a:extLst>
          </p:cNvPr>
          <p:cNvSpPr txBox="1"/>
          <p:nvPr/>
        </p:nvSpPr>
        <p:spPr>
          <a:xfrm>
            <a:off x="223306" y="2304768"/>
            <a:ext cx="9838800" cy="1189726"/>
          </a:xfrm>
          <a:prstGeom prst="rect">
            <a:avLst/>
          </a:prstGeom>
          <a:ln/>
        </p:spPr>
        <p:style>
          <a:lnRef idx="0">
            <a:schemeClr val="accent1"/>
          </a:lnRef>
          <a:fillRef idx="3">
            <a:schemeClr val="accent1"/>
          </a:fillRef>
          <a:effectRef idx="3">
            <a:schemeClr val="accent1"/>
          </a:effectRef>
          <a:fontRef idx="minor">
            <a:schemeClr val="lt1"/>
          </a:fontRef>
        </p:style>
        <p:txBody>
          <a:bodyPr wrap="square" rtlCol="0" anchor="ctr" anchorCtr="0">
            <a:noAutofit/>
          </a:bodyPr>
          <a:lstStyle/>
          <a:p>
            <a:pPr algn="ctr"/>
            <a:r>
              <a:rPr lang="en-GB" sz="6000" dirty="0"/>
              <a:t>10x Faster DB Inserts</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5C7AB8C-B69C-751A-45FD-450350A9DF59}"/>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950FF06B-2875-2DA2-4C8A-9E288F020EA1}"/>
              </a:ext>
            </a:extLst>
          </p:cNvPr>
          <p:cNvSpPr txBox="1"/>
          <p:nvPr/>
        </p:nvSpPr>
        <p:spPr>
          <a:xfrm>
            <a:off x="1" y="14120016"/>
            <a:ext cx="10285412"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One by one is slow—bulk is better.</a:t>
            </a:r>
          </a:p>
        </p:txBody>
      </p:sp>
      <p:sp>
        <p:nvSpPr>
          <p:cNvPr id="25" name="TextBox 24">
            <a:extLst>
              <a:ext uri="{FF2B5EF4-FFF2-40B4-BE49-F238E27FC236}">
                <a16:creationId xmlns:a16="http://schemas.microsoft.com/office/drawing/2014/main" id="{B0F974BF-8BA9-8C10-951F-3A3C9D51D974}"/>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py_028_db_insert_10x_faster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481266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dotDmnd">
          <a:fgClr>
            <a:srgbClr val="FF0000"/>
          </a:fgClr>
          <a:bgClr>
            <a:schemeClr val="bg1"/>
          </a:bgClr>
        </a:pattFill>
        <a:effectLst/>
      </p:bgPr>
    </p:bg>
    <p:spTree>
      <p:nvGrpSpPr>
        <p:cNvPr id="1" name="">
          <a:extLst>
            <a:ext uri="{FF2B5EF4-FFF2-40B4-BE49-F238E27FC236}">
              <a16:creationId xmlns:a16="http://schemas.microsoft.com/office/drawing/2014/main" id="{D060977A-3DC5-C105-50B9-F672BB049C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38FDD1-7691-C7ED-ECAD-7ACDF2DC466B}"/>
              </a:ext>
            </a:extLst>
          </p:cNvPr>
          <p:cNvSpPr txBox="1"/>
          <p:nvPr/>
        </p:nvSpPr>
        <p:spPr>
          <a:xfrm>
            <a:off x="223306" y="2304768"/>
            <a:ext cx="9838800" cy="118972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GB" sz="6000" dirty="0"/>
              <a:t>New idea</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148804F-FD93-3FD3-5659-225D695135E8}"/>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CB570680-209D-CEF5-3A98-56A2F9B9C366}"/>
              </a:ext>
            </a:extLst>
          </p:cNvPr>
          <p:cNvSpPr txBox="1"/>
          <p:nvPr/>
        </p:nvSpPr>
        <p:spPr>
          <a:xfrm>
            <a:off x="1" y="14120016"/>
            <a:ext cx="10285412" cy="1200329"/>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New idea</a:t>
            </a:r>
          </a:p>
        </p:txBody>
      </p:sp>
      <p:sp>
        <p:nvSpPr>
          <p:cNvPr id="25" name="TextBox 24">
            <a:extLst>
              <a:ext uri="{FF2B5EF4-FFF2-40B4-BE49-F238E27FC236}">
                <a16:creationId xmlns:a16="http://schemas.microsoft.com/office/drawing/2014/main" id="{EDA1F876-E7DF-E917-0EE1-51781C4A7722}"/>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py_029_db_insert_10x_faster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694630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0ED9D3F-4183-5128-2961-A8CDB335B64D}"/>
              </a:ext>
            </a:extLst>
          </p:cNvPr>
          <p:cNvPicPr>
            <a:picLocks noChangeAspect="1"/>
          </p:cNvPicPr>
          <p:nvPr/>
        </p:nvPicPr>
        <p:blipFill rotWithShape="1">
          <a:blip r:embed="rId3"/>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2929DF9-28B4-596B-3779-93529974DF88}"/>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8"/>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9"/>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35.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5EA5F98-D57D-652A-7B72-FE9B1FBC41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1F613D-85BF-D828-1EBE-CD5EFA4FB6CA}"/>
              </a:ext>
            </a:extLst>
          </p:cNvPr>
          <p:cNvSpPr txBox="1"/>
          <p:nvPr/>
        </p:nvSpPr>
        <p:spPr>
          <a:xfrm>
            <a:off x="223306" y="2503554"/>
            <a:ext cx="9838800" cy="1236996"/>
          </a:xfrm>
          <a:prstGeom prst="rect">
            <a:avLst/>
          </a:prstGeom>
          <a:ln w="12700">
            <a:solidFill>
              <a:schemeClr val="tx1"/>
            </a:solidFill>
          </a:ln>
        </p:spPr>
        <p:style>
          <a:lnRef idx="1">
            <a:schemeClr val="accent1"/>
          </a:lnRef>
          <a:fillRef idx="3">
            <a:schemeClr val="accent1"/>
          </a:fillRef>
          <a:effectRef idx="2">
            <a:schemeClr val="accent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Key Access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7F6D300A-7DAA-5857-17A7-5B9520965244}"/>
              </a:ext>
            </a:extLst>
          </p:cNvPr>
          <p:cNvSpPr txBox="1"/>
          <p:nvPr/>
        </p:nvSpPr>
        <p:spPr>
          <a:xfrm>
            <a:off x="0" y="11031333"/>
            <a:ext cx="10285413" cy="2780919"/>
          </a:xfrm>
          <a:prstGeom prst="rect">
            <a:avLst/>
          </a:prstGeom>
          <a:noFill/>
        </p:spPr>
        <p:txBody>
          <a:bodyPr wrap="square" rtlCol="0">
            <a:noAutofit/>
          </a:bodyPr>
          <a:lstStyle/>
          <a:p>
            <a:pPr algn="ctr"/>
            <a:r>
              <a:rPr lang="en-GB" sz="7200" dirty="0">
                <a:ln w="0"/>
                <a:effectLst>
                  <a:outerShdw blurRad="38100" dist="19050" dir="2700000" algn="tl" rotWithShape="0">
                    <a:schemeClr val="dk1">
                      <a:alpha val="40000"/>
                    </a:schemeClr>
                  </a:outerShdw>
                </a:effectLst>
                <a:latin typeface="Patrick Hand" pitchFamily="2" charset="77"/>
              </a:rPr>
              <a:t>Ensure you only access properties that actually exist</a:t>
            </a:r>
            <a:endParaRPr lang="en-DE" sz="72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AAA5D1AD-9390-7FD0-FEC1-08C8057FCA21}"/>
              </a:ext>
            </a:extLst>
          </p:cNvPr>
          <p:cNvSpPr txBox="1"/>
          <p:nvPr/>
        </p:nvSpPr>
        <p:spPr>
          <a:xfrm>
            <a:off x="-7857400" y="2527667"/>
            <a:ext cx="6774611"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ts_011_dynamic_key_access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D296145-3247-2B7D-5EA6-6A523E690797}"/>
              </a:ext>
            </a:extLst>
          </p:cNvPr>
          <p:cNvPicPr>
            <a:picLocks noChangeAspect="1"/>
          </p:cNvPicPr>
          <p:nvPr/>
        </p:nvPicPr>
        <p:blipFill>
          <a:blip r:embed="rId3"/>
          <a:stretch>
            <a:fillRect/>
          </a:stretch>
        </p:blipFill>
        <p:spPr>
          <a:xfrm>
            <a:off x="321693" y="2599038"/>
            <a:ext cx="1062000" cy="1062000"/>
          </a:xfrm>
          <a:prstGeom prst="rect">
            <a:avLst/>
          </a:prstGeom>
          <a:ln w="12700">
            <a:solidFill>
              <a:schemeClr val="bg1"/>
            </a:solidFill>
          </a:ln>
        </p:spPr>
      </p:pic>
      <p:pic>
        <p:nvPicPr>
          <p:cNvPr id="2" name="Picture 1">
            <a:extLst>
              <a:ext uri="{FF2B5EF4-FFF2-40B4-BE49-F238E27FC236}">
                <a16:creationId xmlns:a16="http://schemas.microsoft.com/office/drawing/2014/main" id="{6438B134-73D7-67FF-E803-199269A6F633}"/>
              </a:ext>
            </a:extLst>
          </p:cNvPr>
          <p:cNvPicPr>
            <a:picLocks noChangeAspect="1"/>
          </p:cNvPicPr>
          <p:nvPr/>
        </p:nvPicPr>
        <p:blipFill rotWithShape="1">
          <a:blip r:embed="rId4"/>
          <a:srcRect l="20729" t="24303" r="12963" b="19000"/>
          <a:stretch>
            <a:fillRect/>
          </a:stretch>
        </p:blipFill>
        <p:spPr>
          <a:xfrm>
            <a:off x="224385" y="3836034"/>
            <a:ext cx="9836642" cy="6823944"/>
          </a:xfrm>
          <a:prstGeom prst="rect">
            <a:avLst/>
          </a:prstGeom>
        </p:spPr>
      </p:pic>
    </p:spTree>
    <p:extLst>
      <p:ext uri="{BB962C8B-B14F-4D97-AF65-F5344CB8AC3E}">
        <p14:creationId xmlns:p14="http://schemas.microsoft.com/office/powerpoint/2010/main" val="20726517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pattFill prst="pct90">
          <a:fgClr>
            <a:srgbClr val="92D050"/>
          </a:fgClr>
          <a:bgClr>
            <a:schemeClr val="bg1"/>
          </a:bgClr>
        </a:pattFill>
        <a:effectLst/>
      </p:bgPr>
    </p:bg>
    <p:spTree>
      <p:nvGrpSpPr>
        <p:cNvPr id="1" name="">
          <a:extLst>
            <a:ext uri="{FF2B5EF4-FFF2-40B4-BE49-F238E27FC236}">
              <a16:creationId xmlns:a16="http://schemas.microsoft.com/office/drawing/2014/main" id="{9C98234D-1DE6-5FAC-19D6-4E9C0F52547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9E651B8-719E-FD51-AF97-C3FBA7408B61}"/>
              </a:ext>
            </a:extLst>
          </p:cNvPr>
          <p:cNvSpPr txBox="1"/>
          <p:nvPr/>
        </p:nvSpPr>
        <p:spPr>
          <a:xfrm>
            <a:off x="111653" y="2326572"/>
            <a:ext cx="10062106" cy="1236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Use </a:t>
            </a:r>
            <a:r>
              <a:rPr lang="en-US" sz="6000" b="1" dirty="0">
                <a:ln w="0"/>
                <a:solidFill>
                  <a:srgbClr val="FF0000"/>
                </a:solidFill>
                <a:effectLst>
                  <a:outerShdw blurRad="38100" dist="19050" dir="2700000" algn="tl" rotWithShape="0">
                    <a:schemeClr val="dk1">
                      <a:alpha val="40000"/>
                    </a:schemeClr>
                  </a:outerShdw>
                </a:effectLst>
                <a:latin typeface="+mj-lt"/>
              </a:rPr>
              <a:t>unknown</a:t>
            </a:r>
            <a:r>
              <a:rPr lang="en-US" sz="6000" b="1" dirty="0">
                <a:ln w="0"/>
                <a:solidFill>
                  <a:schemeClr val="tx1"/>
                </a:solidFill>
                <a:effectLst>
                  <a:outerShdw blurRad="38100" dist="19050" dir="2700000" algn="tl" rotWithShape="0">
                    <a:schemeClr val="dk1">
                      <a:alpha val="40000"/>
                    </a:schemeClr>
                  </a:outerShdw>
                </a:effectLst>
                <a:latin typeface="+mj-lt"/>
              </a:rPr>
              <a:t> instead of </a:t>
            </a:r>
            <a:r>
              <a:rPr lang="en-US" sz="6000" b="1" dirty="0">
                <a:ln w="0"/>
                <a:solidFill>
                  <a:srgbClr val="FF0000"/>
                </a:solidFill>
                <a:effectLst>
                  <a:outerShdw blurRad="38100" dist="19050" dir="2700000" algn="tl" rotWithShape="0">
                    <a:schemeClr val="dk1">
                      <a:alpha val="40000"/>
                    </a:schemeClr>
                  </a:outerShdw>
                </a:effectLst>
                <a:latin typeface="+mj-lt"/>
              </a:rPr>
              <a:t>any</a:t>
            </a:r>
            <a:endParaRPr lang="en-GB" sz="5400" b="1" dirty="0">
              <a:ln w="0"/>
              <a:solidFill>
                <a:srgbClr val="FF0000"/>
              </a:solidFill>
              <a:effectLst>
                <a:outerShdw blurRad="38100" dist="19050" dir="2700000" algn="tl" rotWithShape="0">
                  <a:schemeClr val="dk1">
                    <a:alpha val="40000"/>
                  </a:schemeClr>
                </a:outerShdw>
              </a:effectLst>
              <a:latin typeface="+mj-lt"/>
            </a:endParaRPr>
          </a:p>
        </p:txBody>
      </p:sp>
      <p:sp>
        <p:nvSpPr>
          <p:cNvPr id="25" name="TextBox 24">
            <a:extLst>
              <a:ext uri="{FF2B5EF4-FFF2-40B4-BE49-F238E27FC236}">
                <a16:creationId xmlns:a16="http://schemas.microsoft.com/office/drawing/2014/main" id="{DEE1934B-1E95-9576-DB0E-8C41A821EE5C}"/>
              </a:ext>
            </a:extLst>
          </p:cNvPr>
          <p:cNvSpPr txBox="1"/>
          <p:nvPr/>
        </p:nvSpPr>
        <p:spPr>
          <a:xfrm>
            <a:off x="-9180874" y="2503554"/>
            <a:ext cx="89723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ts_012_use_unknown_instead_of_any</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DED8CD5-5A52-AF06-C9FB-70800F73F7D1}"/>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22" name="Picture 21">
            <a:extLst>
              <a:ext uri="{FF2B5EF4-FFF2-40B4-BE49-F238E27FC236}">
                <a16:creationId xmlns:a16="http://schemas.microsoft.com/office/drawing/2014/main" id="{36AB0BB6-4D4B-8E96-E658-655EFEFE52ED}"/>
              </a:ext>
            </a:extLst>
          </p:cNvPr>
          <p:cNvPicPr>
            <a:picLocks noChangeAspect="1"/>
          </p:cNvPicPr>
          <p:nvPr/>
        </p:nvPicPr>
        <p:blipFill rotWithShape="1">
          <a:blip r:embed="rId3"/>
          <a:srcRect l="20607" t="17055" r="14322" b="11212"/>
          <a:stretch>
            <a:fillRect/>
          </a:stretch>
        </p:blipFill>
        <p:spPr>
          <a:xfrm>
            <a:off x="111653" y="3607992"/>
            <a:ext cx="10062106" cy="13961774"/>
          </a:xfrm>
          <a:prstGeom prst="rect">
            <a:avLst/>
          </a:prstGeom>
        </p:spPr>
      </p:pic>
      <p:sp>
        <p:nvSpPr>
          <p:cNvPr id="24" name="Process 23">
            <a:extLst>
              <a:ext uri="{FF2B5EF4-FFF2-40B4-BE49-F238E27FC236}">
                <a16:creationId xmlns:a16="http://schemas.microsoft.com/office/drawing/2014/main" id="{7243700C-5C6D-EEAC-2364-2B1B6FF65C01}"/>
              </a:ext>
            </a:extLst>
          </p:cNvPr>
          <p:cNvSpPr/>
          <p:nvPr/>
        </p:nvSpPr>
        <p:spPr>
          <a:xfrm>
            <a:off x="914400" y="5751871"/>
            <a:ext cx="4483510"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6" name="Process 25">
            <a:extLst>
              <a:ext uri="{FF2B5EF4-FFF2-40B4-BE49-F238E27FC236}">
                <a16:creationId xmlns:a16="http://schemas.microsoft.com/office/drawing/2014/main" id="{363E8C05-347E-1C50-5CA2-C3C6E7A52205}"/>
              </a:ext>
            </a:extLst>
          </p:cNvPr>
          <p:cNvSpPr/>
          <p:nvPr/>
        </p:nvSpPr>
        <p:spPr>
          <a:xfrm>
            <a:off x="2035277" y="12688528"/>
            <a:ext cx="3952626"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0683971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circle">
            <a:fillToRect l="50000" t="130000" r="50000" b="-30000"/>
          </a:path>
          <a:tileRect/>
        </a:gradFill>
        <a:effectLst/>
      </p:bgPr>
    </p:bg>
    <p:spTree>
      <p:nvGrpSpPr>
        <p:cNvPr id="1" name="">
          <a:extLst>
            <a:ext uri="{FF2B5EF4-FFF2-40B4-BE49-F238E27FC236}">
              <a16:creationId xmlns:a16="http://schemas.microsoft.com/office/drawing/2014/main" id="{C0AA37A6-A127-C1A6-3EF0-228E8BA920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6762DA-CE46-EAF0-819B-68A735719855}"/>
              </a:ext>
            </a:extLst>
          </p:cNvPr>
          <p:cNvSpPr txBox="1"/>
          <p:nvPr/>
        </p:nvSpPr>
        <p:spPr>
          <a:xfrm>
            <a:off x="111653" y="2326572"/>
            <a:ext cx="10062106" cy="1236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nchor="ctr" anchorCtr="0">
            <a:noAutofit/>
          </a:bodyPr>
          <a:lstStyle/>
          <a:p>
            <a:pPr algn="ct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Type Guard </a:t>
            </a:r>
            <a:r>
              <a:rPr lang="en-GB" sz="4800" dirty="0">
                <a:ln w="0"/>
                <a:solidFill>
                  <a:schemeClr val="tx1"/>
                </a:solidFill>
                <a:effectLst>
                  <a:outerShdw blurRad="38100" dist="19050" dir="2700000" algn="tl" rotWithShape="0">
                    <a:schemeClr val="dk1">
                      <a:alpha val="40000"/>
                    </a:schemeClr>
                  </a:outerShdw>
                </a:effectLst>
              </a:rPr>
              <a:t>vs</a:t>
            </a: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 Boolean Check</a:t>
            </a:r>
            <a:endParaRPr lang="en-GB" sz="13800" b="1" spc="50" dirty="0">
              <a:ln w="9525" cmpd="sng">
                <a:solidFill>
                  <a:schemeClr val="accent1"/>
                </a:solidFill>
                <a:prstDash val="solid"/>
              </a:ln>
              <a:solidFill>
                <a:srgbClr val="70AD47">
                  <a:tint val="1000"/>
                </a:srgbClr>
              </a:solidFill>
              <a:effectLst>
                <a:glow rad="38100">
                  <a:schemeClr val="accent1">
                    <a:alpha val="40000"/>
                  </a:schemeClr>
                </a:glow>
              </a:effectLst>
              <a:latin typeface="+mj-lt"/>
            </a:endParaRPr>
          </a:p>
        </p:txBody>
      </p:sp>
      <p:sp>
        <p:nvSpPr>
          <p:cNvPr id="25" name="TextBox 24">
            <a:extLst>
              <a:ext uri="{FF2B5EF4-FFF2-40B4-BE49-F238E27FC236}">
                <a16:creationId xmlns:a16="http://schemas.microsoft.com/office/drawing/2014/main" id="{085AEB53-581B-5BA5-733C-B8E2E4DA1A51}"/>
              </a:ext>
            </a:extLst>
          </p:cNvPr>
          <p:cNvSpPr txBox="1"/>
          <p:nvPr/>
        </p:nvSpPr>
        <p:spPr>
          <a:xfrm>
            <a:off x="-9431886" y="2422056"/>
            <a:ext cx="920636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ts_013_type_guard_vs_Boolean_check</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58945B3-E6D4-5B98-FFF3-21843611A002}"/>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61" name="Picture 60">
            <a:extLst>
              <a:ext uri="{FF2B5EF4-FFF2-40B4-BE49-F238E27FC236}">
                <a16:creationId xmlns:a16="http://schemas.microsoft.com/office/drawing/2014/main" id="{2E7780D2-F26D-FE77-86C7-027D265E3D5E}"/>
              </a:ext>
            </a:extLst>
          </p:cNvPr>
          <p:cNvPicPr>
            <a:picLocks noChangeAspect="1"/>
          </p:cNvPicPr>
          <p:nvPr/>
        </p:nvPicPr>
        <p:blipFill rotWithShape="1">
          <a:blip r:embed="rId3"/>
          <a:srcRect l="15464" t="14798" r="8888" b="8387"/>
          <a:stretch>
            <a:fillRect/>
          </a:stretch>
        </p:blipFill>
        <p:spPr>
          <a:xfrm>
            <a:off x="111653" y="3659052"/>
            <a:ext cx="10062106" cy="11219250"/>
          </a:xfrm>
          <a:prstGeom prst="rect">
            <a:avLst/>
          </a:prstGeom>
        </p:spPr>
      </p:pic>
      <p:cxnSp>
        <p:nvCxnSpPr>
          <p:cNvPr id="63" name="Straight Connector 62">
            <a:extLst>
              <a:ext uri="{FF2B5EF4-FFF2-40B4-BE49-F238E27FC236}">
                <a16:creationId xmlns:a16="http://schemas.microsoft.com/office/drawing/2014/main" id="{4C18699B-2376-8DED-5AD6-87FF20ED84B2}"/>
              </a:ext>
            </a:extLst>
          </p:cNvPr>
          <p:cNvCxnSpPr>
            <a:cxnSpLocks/>
          </p:cNvCxnSpPr>
          <p:nvPr/>
        </p:nvCxnSpPr>
        <p:spPr>
          <a:xfrm>
            <a:off x="111653" y="9412941"/>
            <a:ext cx="1006210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5" name="Graphic 64" descr="Shield Tick with solid fill">
            <a:extLst>
              <a:ext uri="{FF2B5EF4-FFF2-40B4-BE49-F238E27FC236}">
                <a16:creationId xmlns:a16="http://schemas.microsoft.com/office/drawing/2014/main" id="{205B227F-0815-7752-546E-226548DE42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64069" y="11793770"/>
            <a:ext cx="914400" cy="914400"/>
          </a:xfrm>
          <a:prstGeom prst="rect">
            <a:avLst/>
          </a:prstGeom>
        </p:spPr>
      </p:pic>
      <p:pic>
        <p:nvPicPr>
          <p:cNvPr id="66" name="Graphic 65" descr="Close with solid fill">
            <a:extLst>
              <a:ext uri="{FF2B5EF4-FFF2-40B4-BE49-F238E27FC236}">
                <a16:creationId xmlns:a16="http://schemas.microsoft.com/office/drawing/2014/main" id="{9B7CAE36-F8AD-5BE2-E1BF-B804F4812C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64069" y="5164397"/>
            <a:ext cx="914400" cy="914400"/>
          </a:xfrm>
          <a:prstGeom prst="rect">
            <a:avLst/>
          </a:prstGeom>
        </p:spPr>
      </p:pic>
      <p:sp>
        <p:nvSpPr>
          <p:cNvPr id="68" name="Process 67">
            <a:extLst>
              <a:ext uri="{FF2B5EF4-FFF2-40B4-BE49-F238E27FC236}">
                <a16:creationId xmlns:a16="http://schemas.microsoft.com/office/drawing/2014/main" id="{37FC2236-6353-0508-F53D-D78D5EDC9054}"/>
              </a:ext>
            </a:extLst>
          </p:cNvPr>
          <p:cNvSpPr/>
          <p:nvPr/>
        </p:nvSpPr>
        <p:spPr>
          <a:xfrm>
            <a:off x="914400" y="5218185"/>
            <a:ext cx="1577788"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69" name="Process 68">
            <a:extLst>
              <a:ext uri="{FF2B5EF4-FFF2-40B4-BE49-F238E27FC236}">
                <a16:creationId xmlns:a16="http://schemas.microsoft.com/office/drawing/2014/main" id="{27AD91C2-3990-AA3E-4EE8-6EF7B74042ED}"/>
              </a:ext>
            </a:extLst>
          </p:cNvPr>
          <p:cNvSpPr/>
          <p:nvPr/>
        </p:nvSpPr>
        <p:spPr>
          <a:xfrm>
            <a:off x="914399" y="10378074"/>
            <a:ext cx="3209365"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70" name="TextBox 69">
            <a:extLst>
              <a:ext uri="{FF2B5EF4-FFF2-40B4-BE49-F238E27FC236}">
                <a16:creationId xmlns:a16="http://schemas.microsoft.com/office/drawing/2014/main" id="{4B61AD5C-CB0B-1671-E30E-A1FCAB944713}"/>
              </a:ext>
            </a:extLst>
          </p:cNvPr>
          <p:cNvSpPr txBox="1"/>
          <p:nvPr/>
        </p:nvSpPr>
        <p:spPr>
          <a:xfrm>
            <a:off x="6226797" y="9897761"/>
            <a:ext cx="2381806" cy="707886"/>
          </a:xfrm>
          <a:prstGeom prst="rect">
            <a:avLst/>
          </a:prstGeom>
          <a:noFill/>
        </p:spPr>
        <p:txBody>
          <a:bodyPr wrap="none" rtlCol="0">
            <a:spAutoFit/>
          </a:bodyPr>
          <a:lstStyle/>
          <a:p>
            <a:pPr algn="l"/>
            <a:r>
              <a:rPr lang="en-DE" sz="4000" dirty="0">
                <a:solidFill>
                  <a:schemeClr val="bg1"/>
                </a:solidFill>
                <a:latin typeface="Arial Narrow" panose="020B0604020202020204" pitchFamily="34" charset="0"/>
                <a:cs typeface="Arial Narrow" panose="020B0604020202020204" pitchFamily="34" charset="0"/>
              </a:rPr>
              <a:t>Type Guard</a:t>
            </a:r>
          </a:p>
        </p:txBody>
      </p:sp>
      <p:sp>
        <p:nvSpPr>
          <p:cNvPr id="71" name="Right Arrow 70">
            <a:extLst>
              <a:ext uri="{FF2B5EF4-FFF2-40B4-BE49-F238E27FC236}">
                <a16:creationId xmlns:a16="http://schemas.microsoft.com/office/drawing/2014/main" id="{F143C983-9928-B1DA-9B34-1400C80E20B9}"/>
              </a:ext>
            </a:extLst>
          </p:cNvPr>
          <p:cNvSpPr/>
          <p:nvPr/>
        </p:nvSpPr>
        <p:spPr>
          <a:xfrm>
            <a:off x="4123764" y="10001924"/>
            <a:ext cx="2037886" cy="465438"/>
          </a:xfrm>
          <a:prstGeom prst="right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2572458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44392</TotalTime>
  <Words>1073</Words>
  <Application>Microsoft Macintosh PowerPoint</Application>
  <PresentationFormat>Custom</PresentationFormat>
  <Paragraphs>208</Paragraphs>
  <Slides>47</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47</vt:i4>
      </vt:variant>
    </vt:vector>
  </HeadingPairs>
  <TitlesOfParts>
    <vt:vector size="54"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552</cp:revision>
  <cp:lastPrinted>2025-12-17T08:49:37Z</cp:lastPrinted>
  <dcterms:created xsi:type="dcterms:W3CDTF">2025-12-17T08:13:25Z</dcterms:created>
  <dcterms:modified xsi:type="dcterms:W3CDTF">2026-02-02T17:09:36Z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