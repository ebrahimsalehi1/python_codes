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11_495F277A.xml" ContentType="application/vnd.ms-powerpoint.comments+xml"/>
  <Override PartName="/ppt/comments/modernComment_114_90382018.xml" ContentType="application/vnd.ms-powerpoint.comments+xml"/>
  <Override PartName="/ppt/comments/modernComment_115_9CE3D27C.xml" ContentType="application/vnd.ms-powerpoint.comments+xml"/>
  <Override PartName="/ppt/comments/modernComment_116_9D718DED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2" r:id="rId1"/>
  </p:sldMasterIdLst>
  <p:notesMasterIdLst>
    <p:notesMasterId r:id="rId22"/>
  </p:notesMasterIdLst>
  <p:sldIdLst>
    <p:sldId id="263" r:id="rId2"/>
    <p:sldId id="271" r:id="rId3"/>
    <p:sldId id="266" r:id="rId4"/>
    <p:sldId id="267" r:id="rId5"/>
    <p:sldId id="264" r:id="rId6"/>
    <p:sldId id="274" r:id="rId7"/>
    <p:sldId id="275" r:id="rId8"/>
    <p:sldId id="273" r:id="rId9"/>
    <p:sldId id="276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</p:sldIdLst>
  <p:sldSz cx="10285413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37" userDrawn="1">
          <p15:clr>
            <a:srgbClr val="A4A3A4"/>
          </p15:clr>
        </p15:guide>
        <p15:guide id="2" pos="32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60045D-B334-310D-0A4E-9E20AA0B149E}" name="Salehi Oshtorjani, Ebrahim (K-DACT/F)" initials="SOE(D" userId="S::ebrahim.salehi.oshtorjani1@volkswagen.de::56f2298d-f17e-4b85-9b58-413b9e2aed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0722"/>
    <p:restoredTop sz="96774"/>
  </p:normalViewPr>
  <p:slideViewPr>
    <p:cSldViewPr snapToGrid="0">
      <p:cViewPr>
        <p:scale>
          <a:sx n="74" d="100"/>
          <a:sy n="74" d="100"/>
        </p:scale>
        <p:origin x="1416" y="-448"/>
      </p:cViewPr>
      <p:guideLst>
        <p:guide orient="horz" pos="5737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comments/modernComment_111_495F27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9AA41E5-7F1A-814B-A122-E04A052682B1}" authorId="{8860045D-B334-310D-0A4E-9E20AA0B149E}" created="2025-12-31T15:40:41.497">
    <pc:sldMkLst xmlns:pc="http://schemas.microsoft.com/office/powerpoint/2013/main/command">
      <pc:docMk/>
      <pc:sldMk cId="1230972794" sldId="273"/>
    </pc:sldMkLst>
    <p188:replyLst>
      <p188:reply id="{C9715592-8908-484F-890E-9064472D8F44}" authorId="{8860045D-B334-310D-0A4E-9E20AA0B149E}" created="2025-12-31T15:41:01.364">
        <p188:txBody>
          <a:bodyPr/>
          <a:lstStyle/>
          <a:p>
            <a:r>
              <a:rPr lang="en-DE"/>
              <a:t>TikTok
Caption:
2026 is the year of Clean Code! 🐍✨
Stop repeating yourself and start using the Walrus Operator :=. It’s faster, shorter, and much more professional. 🚀
Which Python feature do you want to master this year? Let me know below! 👇
#CodeWithEbrahim #PythonTips #TechTok #Coding2026 #Programmer #LearnPython #SoftwareDev
</a:t>
            </a:r>
          </a:p>
        </p188:txBody>
      </p188:reply>
    </p188:replyLst>
    <p188:txBody>
      <a:bodyPr/>
      <a:lstStyle/>
      <a:p>
        <a:r>
          <a:rPr lang="en-DE"/>
          <a:t>YouTube Shorts
Title Options:
Level Up Your Python in 2026! 🐍🦭
The Only Python Operator You Need This Year!
Master the Walrus Operator in 60 Seconds 🔥
Python Tips 2026: Write Faster, Cleaner Code
Description:
Happy 2026! 🚀 Let's start the year by mastering one of Python's most powerful tools: The Walrus Operator (:=).
In this video, we see why Senior Developers prefer "Assignment Expressions" over traditional variable assignments.
💡 Why use Walrus?
Reduces code repetition.
Assignments happen inside the expression.
Makes your if and while loops incredibly clean.
✅ Follow @CodeWithEbrahim for a year full of coding excellence!
#Python2026 #WalrusOperator #CleanCode #ProgrammingTips #SoftwareEngineer #CodingLife #PythonTutorial</a:t>
        </a:r>
      </a:p>
    </p188:txBody>
  </p188:cm>
</p188:cmLst>
</file>

<file path=ppt/comments/modernComment_114_9038201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120432F-D95B-134A-AF1F-F641BC3F7A95}" authorId="{8860045D-B334-310D-0A4E-9E20AA0B149E}" created="2026-01-02T10:15:01.565">
    <pc:sldMkLst xmlns:pc="http://schemas.microsoft.com/office/powerpoint/2013/main/command">
      <pc:docMk/>
      <pc:sldMk cId="2419597336" sldId="276"/>
    </pc:sldMkLst>
    <p188:txBody>
      <a:bodyPr/>
      <a:lstStyle/>
      <a:p>
        <a:r>
          <a:rPr lang="en-DE"/>
          <a:t>TikTok:
Stop guessing if your code works! 🧪 Writing your first test with Pytest is the fastest way to level up. 🚀
#Python #Coding #SoftwareEngineering #Pytest #USA #Germany #Deutschland #Programming #TechTips #CodeWithEbrahim</a:t>
        </a:r>
      </a:p>
    </p188:txBody>
  </p188:cm>
</p188:cmLst>
</file>

<file path=ppt/comments/modernComment_115_9CE3D2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4800C0-A8FD-7049-8721-DDFAF8DB46DE}" authorId="{8860045D-B334-310D-0A4E-9E20AA0B149E}" created="2026-01-02T13:54:15.909">
    <pc:sldMkLst xmlns:pc="http://schemas.microsoft.com/office/powerpoint/2013/main/command">
      <pc:docMk/>
      <pc:sldMk cId="2632176252" sldId="277"/>
    </pc:sldMkLst>
    <p188:txBody>
      <a:bodyPr/>
      <a:lstStyle/>
      <a:p>
        <a:r>
          <a:rPr lang="en-DE"/>
          <a:t>tiktok
Stop using print() to handle bad data! 🛑 
Using raise makes your code professional and prevents silent crashes. 🐍🔥
#Python #CodingTips #SoftwareEngineering #USA #Germany #Deutschland #Backend #Programming #LearnToCode #CodeWithEbrahim</a:t>
        </a:r>
      </a:p>
    </p188:txBody>
  </p188:cm>
</p188:cmLst>
</file>

<file path=ppt/comments/modernComment_116_9D718D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624A432-E714-704A-91D8-E4A8019E62C5}" authorId="{8860045D-B334-310D-0A4E-9E20AA0B149E}" created="2026-01-02T21:09:18.585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Subscribe for more Clean Code tips!
</a:t>
        </a:r>
      </a:p>
    </p188:txBody>
  </p188:cm>
  <p188:cm id="{BD450650-0826-3F40-866F-BB5FA42A6E60}" authorId="{8860045D-B334-310D-0A4E-9E20AA0B149E}" created="2026-01-03T02:36:43.451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Youtube
Ever wondered what those double underscores (Dunders) actually do in Python? 🐍
1️⃣ name: Tells you if the script is running directly or being imported.
2️⃣ file: Gives you the exact location of your script on your computer. 
3️⃣ package: Helps you understand where your module lives in a project.
🇺🇸 Level up your Python skills! 🇩🇪 Python-Variablen einfach erklärt!
#Python #CodingTips #Backend #SoftwareEngineering #Germany #USA #Deutschland #Programming #CodeWithEbrahim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7384-5D6E-7E42-90C4-560B39EF53DD}" type="datetimeFigureOut">
              <a:rPr lang="en-DE" smtClean="0"/>
              <a:t>28.12.25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D1A58-C582-AC49-9010-037E894CD42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6407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This Slide was second one and has been made on 26.12.2025, </a:t>
            </a:r>
            <a:br>
              <a:rPr lang="en-DE" dirty="0"/>
            </a:br>
            <a:r>
              <a:rPr lang="en-DE" dirty="0"/>
              <a:t>the related file is :  </a:t>
            </a:r>
            <a:r>
              <a:rPr lang="en-GB" dirty="0"/>
              <a:t>list-</a:t>
            </a:r>
            <a:r>
              <a:rPr lang="en-GB" dirty="0" err="1"/>
              <a:t>comprehensions.py</a:t>
            </a:r>
            <a:endParaRPr lang="en-GB" dirty="0"/>
          </a:p>
          <a:p>
            <a:r>
              <a:rPr lang="en-GB" dirty="0"/>
              <a:t>Info:</a:t>
            </a:r>
          </a:p>
          <a:p>
            <a:r>
              <a:rPr lang="en-GB" dirty="0"/>
              <a:t>Video Number: 2</a:t>
            </a:r>
          </a:p>
          <a:p>
            <a:r>
              <a:rPr lang="en-GB" dirty="0"/>
              <a:t>Published Date: 26.12.2025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 Name: list-</a:t>
            </a:r>
            <a:r>
              <a:rPr lang="en-GB" dirty="0" err="1"/>
              <a:t>comprehensions.py</a:t>
            </a:r>
            <a:endParaRPr lang="en-GB" dirty="0"/>
          </a:p>
          <a:p>
            <a:endParaRPr lang="en-GB" dirty="0"/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3478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E374C-FF6C-6A59-86BD-42037466D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D0A34D-106F-9454-678C-79D548A98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1F7E2D-684B-62F0-05F9-E7F57F4ED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3</a:t>
            </a:r>
            <a:br>
              <a:rPr lang="en-DE" dirty="0"/>
            </a:br>
            <a:r>
              <a:rPr lang="en-DE" dirty="0"/>
              <a:t>published on 29.12.2025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968ED-7ED9-AFC4-BA26-CA9AA4C4C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195232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4</a:t>
            </a:r>
            <a:br>
              <a:rPr lang="en-DE" dirty="0"/>
            </a:br>
            <a:r>
              <a:rPr lang="en-DE" dirty="0"/>
              <a:t>Published on 31.12.2025</a:t>
            </a:r>
          </a:p>
          <a:p>
            <a:r>
              <a:rPr lang="en-GB" dirty="0"/>
              <a:t>R</a:t>
            </a:r>
            <a:r>
              <a:rPr lang="en-DE" dirty="0"/>
              <a:t>elated files: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85623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5</a:t>
            </a:r>
          </a:p>
          <a:p>
            <a:r>
              <a:rPr lang="en-DE" dirty="0"/>
              <a:t>Title: Swap Variables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763752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6</a:t>
            </a:r>
          </a:p>
          <a:p>
            <a:r>
              <a:rPr lang="en-DE" dirty="0"/>
              <a:t>Title: enumerate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23593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406" y="2992968"/>
            <a:ext cx="8742601" cy="6366933"/>
          </a:xfrm>
        </p:spPr>
        <p:txBody>
          <a:bodyPr anchor="b"/>
          <a:lstStyle>
            <a:lvl1pPr algn="ctr"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677" y="9605435"/>
            <a:ext cx="7714060" cy="4415365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259" indent="0" algn="ctr">
              <a:buNone/>
              <a:defRPr sz="2250"/>
            </a:lvl2pPr>
            <a:lvl3pPr marL="1028517" indent="0" algn="ctr">
              <a:buNone/>
              <a:defRPr sz="2025"/>
            </a:lvl3pPr>
            <a:lvl4pPr marL="1542776" indent="0" algn="ctr">
              <a:buNone/>
              <a:defRPr sz="1800"/>
            </a:lvl4pPr>
            <a:lvl5pPr marL="2057034" indent="0" algn="ctr">
              <a:buNone/>
              <a:defRPr sz="1800"/>
            </a:lvl5pPr>
            <a:lvl6pPr marL="2571293" indent="0" algn="ctr">
              <a:buNone/>
              <a:defRPr sz="1800"/>
            </a:lvl6pPr>
            <a:lvl7pPr marL="3085551" indent="0" algn="ctr">
              <a:buNone/>
              <a:defRPr sz="1800"/>
            </a:lvl7pPr>
            <a:lvl8pPr marL="3599810" indent="0" algn="ctr">
              <a:buNone/>
              <a:defRPr sz="1800"/>
            </a:lvl8pPr>
            <a:lvl9pPr marL="4114068" indent="0" algn="ctr">
              <a:buNone/>
              <a:defRPr sz="18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93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B4725-F1EC-C0BF-28F1-5FBD00F89475}"/>
              </a:ext>
            </a:extLst>
          </p:cNvPr>
          <p:cNvSpPr txBox="1"/>
          <p:nvPr userDrawn="1"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8E2B3C5-12FB-9052-C5A5-A819EAF27AC1}"/>
              </a:ext>
            </a:extLst>
          </p:cNvPr>
          <p:cNvGrpSpPr/>
          <p:nvPr userDrawn="1"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524E7D-1D75-8F90-E72A-A01BE2ADD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FF6CE8-F094-62A9-F577-CE8ADDA43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184EB1F-481A-B6D2-1817-1F871BD06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1/3/26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7F9027-CC07-7360-7ADD-A8D8CE9A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25924C7-C2EA-D319-9523-271865881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2277F46-4348-5215-811D-6AD5B4DDA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75218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766" y="4559305"/>
            <a:ext cx="8871169" cy="7607299"/>
          </a:xfrm>
        </p:spPr>
        <p:txBody>
          <a:bodyPr anchor="b"/>
          <a:lstStyle>
            <a:lvl1pPr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766" y="12238572"/>
            <a:ext cx="8871169" cy="4000499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/>
                </a:solidFill>
              </a:defRPr>
            </a:lvl1pPr>
            <a:lvl2pPr marL="514259" indent="0">
              <a:buNone/>
              <a:defRPr sz="2250">
                <a:solidFill>
                  <a:schemeClr val="tx1">
                    <a:tint val="75000"/>
                  </a:schemeClr>
                </a:solidFill>
              </a:defRPr>
            </a:lvl2pPr>
            <a:lvl3pPr marL="1028517" indent="0">
              <a:buNone/>
              <a:defRPr sz="2025">
                <a:solidFill>
                  <a:schemeClr val="tx1">
                    <a:tint val="75000"/>
                  </a:schemeClr>
                </a:solidFill>
              </a:defRPr>
            </a:lvl3pPr>
            <a:lvl4pPr marL="1542776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5703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5712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08555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59981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1406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487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122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6990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8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973670"/>
            <a:ext cx="8871169" cy="3534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463" y="4483101"/>
            <a:ext cx="4351211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463" y="6680200"/>
            <a:ext cx="4351211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6991" y="4483101"/>
            <a:ext cx="4372640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6991" y="6680200"/>
            <a:ext cx="4372640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907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72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3728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2640" y="2633137"/>
            <a:ext cx="5206990" cy="12996333"/>
          </a:xfrm>
        </p:spPr>
        <p:txBody>
          <a:bodyPr/>
          <a:lstStyle>
            <a:lvl1pPr>
              <a:defRPr sz="3599"/>
            </a:lvl1pPr>
            <a:lvl2pPr>
              <a:defRPr sz="3149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289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2640" y="2633137"/>
            <a:ext cx="5206990" cy="12996333"/>
          </a:xfrm>
        </p:spPr>
        <p:txBody>
          <a:bodyPr anchor="t"/>
          <a:lstStyle>
            <a:lvl1pPr marL="0" indent="0">
              <a:buNone/>
              <a:defRPr sz="3599"/>
            </a:lvl1pPr>
            <a:lvl2pPr marL="514259" indent="0">
              <a:buNone/>
              <a:defRPr sz="3149"/>
            </a:lvl2pPr>
            <a:lvl3pPr marL="1028517" indent="0">
              <a:buNone/>
              <a:defRPr sz="2700"/>
            </a:lvl3pPr>
            <a:lvl4pPr marL="1542776" indent="0">
              <a:buNone/>
              <a:defRPr sz="2250"/>
            </a:lvl4pPr>
            <a:lvl5pPr marL="2057034" indent="0">
              <a:buNone/>
              <a:defRPr sz="2250"/>
            </a:lvl5pPr>
            <a:lvl6pPr marL="2571293" indent="0">
              <a:buNone/>
              <a:defRPr sz="2250"/>
            </a:lvl6pPr>
            <a:lvl7pPr marL="3085551" indent="0">
              <a:buNone/>
              <a:defRPr sz="2250"/>
            </a:lvl7pPr>
            <a:lvl8pPr marL="3599810" indent="0">
              <a:buNone/>
              <a:defRPr sz="2250"/>
            </a:lvl8pPr>
            <a:lvl9pPr marL="4114068" indent="0">
              <a:buNone/>
              <a:defRPr sz="225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4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694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0499" y="973666"/>
            <a:ext cx="2217792" cy="1549823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123" y="973666"/>
            <a:ext cx="6524809" cy="1549823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985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122" y="973670"/>
            <a:ext cx="8871169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122" y="4868333"/>
            <a:ext cx="8871169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122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043" y="16950271"/>
            <a:ext cx="3471327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4073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1E25-E09E-9B11-3FEC-A3FD03A7A6C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3571" y="17793550"/>
            <a:ext cx="448648" cy="103875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DE" sz="675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14014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028517" rtl="0" eaLnBrk="1" latinLnBrk="0" hangingPunct="1">
        <a:lnSpc>
          <a:spcPct val="90000"/>
        </a:lnSpc>
        <a:spcBef>
          <a:spcPct val="0"/>
        </a:spcBef>
        <a:buNone/>
        <a:defRPr sz="49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29" indent="-257129" algn="l" defTabSz="1028517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49" kern="1200">
          <a:solidFill>
            <a:schemeClr val="tx1"/>
          </a:solidFill>
          <a:latin typeface="+mn-lt"/>
          <a:ea typeface="+mn-ea"/>
          <a:cs typeface="+mn-cs"/>
        </a:defRPr>
      </a:lvl1pPr>
      <a:lvl2pPr marL="77138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646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799905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164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422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2681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6939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19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259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517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2776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034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293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5551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59981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068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9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image" Target="../media/image14.png"/><Relationship Id="rId2" Type="http://schemas.microsoft.com/office/2018/10/relationships/comments" Target="../comments/modernComment_111_495F277A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2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4.png"/><Relationship Id="rId7" Type="http://schemas.openxmlformats.org/officeDocument/2006/relationships/image" Target="../media/image5.png"/><Relationship Id="rId2" Type="http://schemas.microsoft.com/office/2018/10/relationships/comments" Target="../comments/modernComment_114_903820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7.png"/><Relationship Id="rId7" Type="http://schemas.openxmlformats.org/officeDocument/2006/relationships/image" Target="../media/image5.png"/><Relationship Id="rId2" Type="http://schemas.microsoft.com/office/2018/10/relationships/comments" Target="../comments/modernComment_115_9CE3D27C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9D718DED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4.png"/><Relationship Id="rId7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8C943-7173-E95B-0FF8-8CA0E1171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98A9D-9EB7-FFFD-3E62-4C29DAB94489}"/>
              </a:ext>
            </a:extLst>
          </p:cNvPr>
          <p:cNvSpPr txBox="1"/>
          <p:nvPr/>
        </p:nvSpPr>
        <p:spPr>
          <a:xfrm>
            <a:off x="414066" y="2702943"/>
            <a:ext cx="9647058" cy="9694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/>
            <a:r>
              <a:rPr lang="en-US" sz="4800" dirty="0"/>
              <a:t>Statistics: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1-The arguments of Python’s print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Published on: Dec 26, 2025</a:t>
            </a:r>
          </a:p>
          <a:p>
            <a:pPr marL="0" algn="l" defTabSz="457200" rtl="0" eaLnBrk="1" latinLnBrk="0" hangingPunct="1"/>
            <a:r>
              <a:rPr lang="en-US" sz="4800" dirty="0"/>
              <a:t>View: 1,823</a:t>
            </a:r>
          </a:p>
          <a:p>
            <a:pPr marL="0" algn="l" defTabSz="457200" rtl="0" eaLnBrk="1" latinLnBrk="0" hangingPunct="1"/>
            <a:r>
              <a:rPr lang="en-DE" sz="4800" dirty="0"/>
              <a:t>Likes: 89.5 %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2-Stop using For-Loops for Lists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Pulished on: Dec 27, 2025</a:t>
            </a:r>
          </a:p>
          <a:p>
            <a:pPr marL="0" algn="l" defTabSz="457200" rtl="0" eaLnBrk="1" latinLnBrk="0" hangingPunct="1"/>
            <a:r>
              <a:rPr lang="en-DE" sz="4800" dirty="0"/>
              <a:t>Views: 1,444</a:t>
            </a:r>
          </a:p>
          <a:p>
            <a:pPr marL="0" algn="l" defTabSz="457200" rtl="0" eaLnBrk="1" latinLnBrk="0" hangingPunct="1"/>
            <a:r>
              <a:rPr lang="en-DE" sz="4800" dirty="0"/>
              <a:t>Likes: 82.4 %</a:t>
            </a:r>
          </a:p>
        </p:txBody>
      </p:sp>
    </p:spTree>
    <p:extLst>
      <p:ext uri="{BB962C8B-B14F-4D97-AF65-F5344CB8AC3E}">
        <p14:creationId xmlns:p14="http://schemas.microsoft.com/office/powerpoint/2010/main" val="243970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11F1-40B2-354A-AEA3-0367EC08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0A99E81-3FE3-5F86-D43D-9940369508F5}"/>
              </a:ext>
            </a:extLst>
          </p:cNvPr>
          <p:cNvSpPr/>
          <p:nvPr/>
        </p:nvSpPr>
        <p:spPr>
          <a:xfrm>
            <a:off x="2739710" y="8682335"/>
            <a:ext cx="480599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Video 1 </a:t>
            </a:r>
          </a:p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Print arguments</a:t>
            </a:r>
            <a:endParaRPr lang="en-DE" sz="54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15186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DC4AA3-0022-BA0D-9E7D-66B13B5B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713812-7693-7A33-F95C-E7CBF82C0AC7}"/>
              </a:ext>
            </a:extLst>
          </p:cNvPr>
          <p:cNvSpPr/>
          <p:nvPr/>
        </p:nvSpPr>
        <p:spPr>
          <a:xfrm>
            <a:off x="-795" y="25399"/>
            <a:ext cx="10285413" cy="9144000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78CD-953A-DE5A-0C5E-B22506EFEBA5}"/>
              </a:ext>
            </a:extLst>
          </p:cNvPr>
          <p:cNvSpPr/>
          <p:nvPr/>
        </p:nvSpPr>
        <p:spPr>
          <a:xfrm>
            <a:off x="-794" y="9144000"/>
            <a:ext cx="10285413" cy="9144000"/>
          </a:xfrm>
          <a:prstGeom prst="rect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F1C6B-B5DF-DB15-335C-9EF9D02E26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500" t="36257" r="12564" b="17086"/>
          <a:stretch>
            <a:fillRect/>
          </a:stretch>
        </p:blipFill>
        <p:spPr>
          <a:xfrm>
            <a:off x="9333" y="2819400"/>
            <a:ext cx="10315977" cy="5486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5C1FB9-F7E4-D807-6D39-929DB29A7E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971" t="42773" r="9579" b="22419"/>
          <a:stretch>
            <a:fillRect/>
          </a:stretch>
        </p:blipFill>
        <p:spPr>
          <a:xfrm>
            <a:off x="-30564" y="12598400"/>
            <a:ext cx="10305074" cy="2006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931037C-127C-092B-3046-21C5E1305743}"/>
              </a:ext>
            </a:extLst>
          </p:cNvPr>
          <p:cNvSpPr/>
          <p:nvPr/>
        </p:nvSpPr>
        <p:spPr>
          <a:xfrm>
            <a:off x="1577100" y="98167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DIRTY CODE</a:t>
            </a:r>
          </a:p>
        </p:txBody>
      </p:sp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28F1D416-1464-F569-BAAC-4CE3AC639C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78818" y="1219200"/>
            <a:ext cx="914400" cy="914400"/>
          </a:xfrm>
          <a:prstGeom prst="rect">
            <a:avLst/>
          </a:prstGeom>
        </p:spPr>
      </p:pic>
      <p:pic>
        <p:nvPicPr>
          <p:cNvPr id="14" name="Graphic 13" descr="Tick with solid fill">
            <a:extLst>
              <a:ext uri="{FF2B5EF4-FFF2-40B4-BE49-F238E27FC236}">
                <a16:creationId xmlns:a16="http://schemas.microsoft.com/office/drawing/2014/main" id="{F2663517-508C-9559-F50A-E9F1B59AB8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3912" y="10998200"/>
            <a:ext cx="914400" cy="9144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C884966-F1E0-E28C-8306-94E3476AE9EB}"/>
              </a:ext>
            </a:extLst>
          </p:cNvPr>
          <p:cNvSpPr/>
          <p:nvPr/>
        </p:nvSpPr>
        <p:spPr>
          <a:xfrm>
            <a:off x="1462006" y="1080506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2700">
                  <a:solidFill>
                    <a:srgbClr val="00B050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  <a:latin typeface="Patrick Hand" pitchFamily="2" charset="77"/>
              </a:rPr>
              <a:t>CLEAN CODE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F519B709-69F6-84B3-4A2B-206F2AAA7983}"/>
              </a:ext>
            </a:extLst>
          </p:cNvPr>
          <p:cNvSpPr/>
          <p:nvPr/>
        </p:nvSpPr>
        <p:spPr>
          <a:xfrm>
            <a:off x="3683000" y="8610600"/>
            <a:ext cx="2921000" cy="2194460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6717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21B1B0-39CE-3C51-C24E-ABF73D965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802CAF-95E1-EFA2-C49B-20ECF3FC9A84}"/>
              </a:ext>
            </a:extLst>
          </p:cNvPr>
          <p:cNvSpPr/>
          <p:nvPr/>
        </p:nvSpPr>
        <p:spPr>
          <a:xfrm>
            <a:off x="0" y="-4044"/>
            <a:ext cx="10285413" cy="9144000"/>
          </a:xfrm>
          <a:prstGeom prst="rect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4D01AC-1DD0-FC59-5104-9672E73CED94}"/>
              </a:ext>
            </a:extLst>
          </p:cNvPr>
          <p:cNvSpPr/>
          <p:nvPr/>
        </p:nvSpPr>
        <p:spPr>
          <a:xfrm>
            <a:off x="0" y="9141359"/>
            <a:ext cx="10285413" cy="9144000"/>
          </a:xfrm>
          <a:prstGeom prst="rect">
            <a:avLst/>
          </a:prstGeom>
          <a:solidFill>
            <a:srgbClr val="00B05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3DBDE4-CC7E-7734-1D50-B787AABC9551}"/>
              </a:ext>
            </a:extLst>
          </p:cNvPr>
          <p:cNvSpPr/>
          <p:nvPr/>
        </p:nvSpPr>
        <p:spPr>
          <a:xfrm>
            <a:off x="1460856" y="905470"/>
            <a:ext cx="7363700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Patrick Hand" pitchFamily="2" charset="77"/>
              </a:rPr>
              <a:t>If-Else Overload!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55772E81-9193-63D2-027C-D655766BEF2C}"/>
              </a:ext>
            </a:extLst>
          </p:cNvPr>
          <p:cNvSpPr/>
          <p:nvPr/>
        </p:nvSpPr>
        <p:spPr>
          <a:xfrm>
            <a:off x="4573952" y="8762893"/>
            <a:ext cx="1137508" cy="2110345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32E734C-5EB8-8FD1-0EF7-E377017C85E8}"/>
              </a:ext>
            </a:extLst>
          </p:cNvPr>
          <p:cNvGrpSpPr/>
          <p:nvPr/>
        </p:nvGrpSpPr>
        <p:grpSpPr>
          <a:xfrm>
            <a:off x="730428" y="2843759"/>
            <a:ext cx="8824556" cy="5774756"/>
            <a:chOff x="730428" y="2338436"/>
            <a:chExt cx="8824556" cy="577475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594F334-1F68-A2D3-63B4-253FBA3BEE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2460" t="31855" r="15333" b="19954"/>
            <a:stretch>
              <a:fillRect/>
            </a:stretch>
          </p:blipFill>
          <p:spPr>
            <a:xfrm>
              <a:off x="730428" y="2338436"/>
              <a:ext cx="8824556" cy="5774756"/>
            </a:xfrm>
            <a:prstGeom prst="rect">
              <a:avLst/>
            </a:prstGeom>
          </p:spPr>
        </p:pic>
        <p:pic>
          <p:nvPicPr>
            <p:cNvPr id="12" name="Graphic 11" descr="Close with solid fill">
              <a:extLst>
                <a:ext uri="{FF2B5EF4-FFF2-40B4-BE49-F238E27FC236}">
                  <a16:creationId xmlns:a16="http://schemas.microsoft.com/office/drawing/2014/main" id="{241A3745-1952-29BF-E870-F8620CD4D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28804" y="7065294"/>
              <a:ext cx="914400" cy="914400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F0CF991-83F3-5F12-62CF-6879ECDB3AAB}"/>
              </a:ext>
            </a:extLst>
          </p:cNvPr>
          <p:cNvSpPr txBox="1"/>
          <p:nvPr/>
        </p:nvSpPr>
        <p:spPr>
          <a:xfrm>
            <a:off x="0" y="10724463"/>
            <a:ext cx="102854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8000" dirty="0">
                <a:solidFill>
                  <a:schemeClr val="bg1"/>
                </a:solidFill>
                <a:latin typeface="Patrick Hand" pitchFamily="2" charset="77"/>
              </a:rPr>
              <a:t>Cleaner and Faster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0D34CB-C7DB-0D8F-EDEF-56289B6D433D}"/>
              </a:ext>
            </a:extLst>
          </p:cNvPr>
          <p:cNvSpPr txBox="1"/>
          <p:nvPr/>
        </p:nvSpPr>
        <p:spPr>
          <a:xfrm>
            <a:off x="0" y="17321163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9646EC-A33F-029A-5FD4-9F5CDA53A0A8}"/>
              </a:ext>
            </a:extLst>
          </p:cNvPr>
          <p:cNvSpPr txBox="1"/>
          <p:nvPr/>
        </p:nvSpPr>
        <p:spPr>
          <a:xfrm>
            <a:off x="32085" y="-20368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8141ED9-21AC-2EB5-DCA8-1DB8344926A7}"/>
              </a:ext>
            </a:extLst>
          </p:cNvPr>
          <p:cNvGrpSpPr/>
          <p:nvPr/>
        </p:nvGrpSpPr>
        <p:grpSpPr>
          <a:xfrm>
            <a:off x="278238" y="12591891"/>
            <a:ext cx="9728936" cy="2852350"/>
            <a:chOff x="278238" y="12591891"/>
            <a:chExt cx="9728936" cy="285235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F600660-B2F5-DAD6-DEB6-D7E1D7FD3F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4206" t="34999" r="11348" b="26848"/>
            <a:stretch>
              <a:fillRect/>
            </a:stretch>
          </p:blipFill>
          <p:spPr>
            <a:xfrm>
              <a:off x="278238" y="12591891"/>
              <a:ext cx="9728936" cy="2852350"/>
            </a:xfrm>
            <a:prstGeom prst="rect">
              <a:avLst/>
            </a:prstGeom>
          </p:spPr>
        </p:pic>
        <p:pic>
          <p:nvPicPr>
            <p:cNvPr id="14" name="Graphic 13" descr="Tick with solid fill">
              <a:extLst>
                <a:ext uri="{FF2B5EF4-FFF2-40B4-BE49-F238E27FC236}">
                  <a16:creationId xmlns:a16="http://schemas.microsoft.com/office/drawing/2014/main" id="{E90B67AF-3F53-5D57-802D-C842B2809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125969" y="14422542"/>
              <a:ext cx="841273" cy="9706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50510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0FC5C-9A1B-2F88-F479-50424DDDD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AC545B3-CE47-A03F-6421-E8C90CB6AD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427" t="28769" r="11619" b="14751"/>
          <a:stretch>
            <a:fillRect/>
          </a:stretch>
        </p:blipFill>
        <p:spPr>
          <a:xfrm>
            <a:off x="-42917" y="4451710"/>
            <a:ext cx="10328330" cy="53755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0871C5-641B-5244-5AA7-5C85A833803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551" t="33107" r="11373" b="19724"/>
          <a:stretch>
            <a:fillRect/>
          </a:stretch>
        </p:blipFill>
        <p:spPr>
          <a:xfrm>
            <a:off x="-42918" y="11822323"/>
            <a:ext cx="10328400" cy="420786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08F8D5-CBEF-DB53-71DD-415C735FFEF0}"/>
              </a:ext>
            </a:extLst>
          </p:cNvPr>
          <p:cNvSpPr/>
          <p:nvPr/>
        </p:nvSpPr>
        <p:spPr>
          <a:xfrm>
            <a:off x="2532857" y="2871992"/>
            <a:ext cx="521969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Legacy Way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0E9936-7110-450A-9576-39615EF11B30}"/>
              </a:ext>
            </a:extLst>
          </p:cNvPr>
          <p:cNvSpPr/>
          <p:nvPr/>
        </p:nvSpPr>
        <p:spPr>
          <a:xfrm>
            <a:off x="2090428" y="10228754"/>
            <a:ext cx="6104556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18" name="Curved Right Arrow 17">
            <a:extLst>
              <a:ext uri="{FF2B5EF4-FFF2-40B4-BE49-F238E27FC236}">
                <a16:creationId xmlns:a16="http://schemas.microsoft.com/office/drawing/2014/main" id="{E6FC7DB3-67EC-D839-66A1-97F35ACCD311}"/>
              </a:ext>
            </a:extLst>
          </p:cNvPr>
          <p:cNvSpPr/>
          <p:nvPr/>
        </p:nvSpPr>
        <p:spPr>
          <a:xfrm>
            <a:off x="2" y="7426033"/>
            <a:ext cx="1136071" cy="5375565"/>
          </a:xfrm>
          <a:prstGeom prst="curvedRigh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3D7D60-AD8E-40FA-06A8-4988EB02BF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119" y="4534837"/>
            <a:ext cx="1063167" cy="10631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8B3358B-03D9-F7B7-FBFC-221E87B77F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1467" y="11933159"/>
            <a:ext cx="1063167" cy="1063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365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10988C-393A-23A2-9DF5-C9402B5BC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3AC5CE5-04A1-B6FD-83C8-F82209A884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594" y="10519995"/>
            <a:ext cx="1063167" cy="10631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F44863-C29F-FCE4-E7E0-B9ABB8B5D9B5}"/>
              </a:ext>
            </a:extLst>
          </p:cNvPr>
          <p:cNvSpPr txBox="1"/>
          <p:nvPr/>
        </p:nvSpPr>
        <p:spPr>
          <a:xfrm>
            <a:off x="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80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Patrick Hand" pitchFamily="2" charset="77"/>
              </a:rPr>
              <a:t>Normal Way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8FC581-0BD0-5A6A-A485-3A1B1BC64D9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671" t="35066" r="18959" b="19538"/>
          <a:stretch>
            <a:fillRect/>
          </a:stretch>
        </p:blipFill>
        <p:spPr>
          <a:xfrm>
            <a:off x="5141913" y="5832762"/>
            <a:ext cx="5151989" cy="5860474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943DB44-0373-2D09-5ACB-BE5BD55F24B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716" t="34385" r="19230" b="18534"/>
          <a:stretch>
            <a:fillRect/>
          </a:stretch>
        </p:blipFill>
        <p:spPr>
          <a:xfrm>
            <a:off x="-1" y="5832762"/>
            <a:ext cx="5141913" cy="58604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3668048-DB41-672C-2A26-164430233908}"/>
              </a:ext>
            </a:extLst>
          </p:cNvPr>
          <p:cNvSpPr txBox="1"/>
          <p:nvPr/>
        </p:nvSpPr>
        <p:spPr>
          <a:xfrm>
            <a:off x="515199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DE" sz="8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A0E326E4-6752-ABE3-79D4-5CDE4020AD5E}"/>
              </a:ext>
            </a:extLst>
          </p:cNvPr>
          <p:cNvSpPr/>
          <p:nvPr/>
        </p:nvSpPr>
        <p:spPr>
          <a:xfrm>
            <a:off x="2052340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F383A996-922C-DA85-9D37-6CC58FCBA2FF}"/>
              </a:ext>
            </a:extLst>
          </p:cNvPr>
          <p:cNvSpPr/>
          <p:nvPr/>
        </p:nvSpPr>
        <p:spPr>
          <a:xfrm>
            <a:off x="7513073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B644678F-DD43-F00C-B900-A7B1E39CFE71}"/>
              </a:ext>
            </a:extLst>
          </p:cNvPr>
          <p:cNvSpPr/>
          <p:nvPr/>
        </p:nvSpPr>
        <p:spPr>
          <a:xfrm>
            <a:off x="4350325" y="7947287"/>
            <a:ext cx="1321200" cy="720000"/>
          </a:xfrm>
          <a:prstGeom prst="right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28280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73ACF6-9F08-4584-E579-88E998157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05E72F4-E39E-8FAD-652F-B4C2D2EE8911}"/>
              </a:ext>
            </a:extLst>
          </p:cNvPr>
          <p:cNvSpPr txBox="1"/>
          <p:nvPr/>
        </p:nvSpPr>
        <p:spPr>
          <a:xfrm>
            <a:off x="336388" y="3210690"/>
            <a:ext cx="9611203" cy="9233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List</a:t>
            </a:r>
            <a:r>
              <a:rPr lang="en-DE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 Index based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3C1D9-D9C0-F838-3FED-6DC134F0D204}"/>
              </a:ext>
            </a:extLst>
          </p:cNvPr>
          <p:cNvSpPr txBox="1">
            <a:spLocks/>
          </p:cNvSpPr>
          <p:nvPr/>
        </p:nvSpPr>
        <p:spPr>
          <a:xfrm>
            <a:off x="336388" y="8876708"/>
            <a:ext cx="9609769" cy="2303126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M</a:t>
            </a:r>
            <a:r>
              <a:rPr lang="en-DE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ore readable and prevents “IndexError” bugs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53E3FC-8572-55A5-8B29-A4E703BE99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20" t="33139" r="12833" b="18458"/>
          <a:stretch>
            <a:fillRect/>
          </a:stretch>
        </p:blipFill>
        <p:spPr>
          <a:xfrm>
            <a:off x="337823" y="4198000"/>
            <a:ext cx="9609769" cy="46095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BFD0B6-4AF1-C224-E230-00E04AF21B8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225" t="32654" r="10336" b="17009"/>
          <a:stretch>
            <a:fillRect/>
          </a:stretch>
        </p:blipFill>
        <p:spPr>
          <a:xfrm>
            <a:off x="337822" y="11259625"/>
            <a:ext cx="9611203" cy="4000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B0DAB2-598A-C4B1-C3A9-530FCFC98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4557" y="14070664"/>
            <a:ext cx="1063167" cy="1063167"/>
          </a:xfrm>
          <a:prstGeom prst="rect">
            <a:avLst/>
          </a:prstGeom>
        </p:spPr>
      </p:pic>
      <p:sp>
        <p:nvSpPr>
          <p:cNvPr id="7" name="Curved Left Arrow 6">
            <a:extLst>
              <a:ext uri="{FF2B5EF4-FFF2-40B4-BE49-F238E27FC236}">
                <a16:creationId xmlns:a16="http://schemas.microsoft.com/office/drawing/2014/main" id="{4F4EEE06-704E-18C9-AB2B-8C23A4B5BAC1}"/>
              </a:ext>
            </a:extLst>
          </p:cNvPr>
          <p:cNvSpPr/>
          <p:nvPr/>
        </p:nvSpPr>
        <p:spPr>
          <a:xfrm>
            <a:off x="8372281" y="6021236"/>
            <a:ext cx="1518251" cy="6452559"/>
          </a:xfrm>
          <a:prstGeom prst="curvedLef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85386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ivot">
          <a:fgClr>
            <a:schemeClr val="bg1">
              <a:lumMod val="7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8936CF2-EFE7-0A56-5F22-A1457CF2CB86}"/>
              </a:ext>
            </a:extLst>
          </p:cNvPr>
          <p:cNvGrpSpPr/>
          <p:nvPr/>
        </p:nvGrpSpPr>
        <p:grpSpPr>
          <a:xfrm>
            <a:off x="297365" y="4382219"/>
            <a:ext cx="9690682" cy="4278703"/>
            <a:chOff x="232998" y="4382219"/>
            <a:chExt cx="9690682" cy="4278703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66BDBF16-7324-C359-13EB-C05F2D62C06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8433" t="32757" r="11268" b="18316"/>
            <a:stretch>
              <a:fillRect/>
            </a:stretch>
          </p:blipFill>
          <p:spPr>
            <a:xfrm>
              <a:off x="232998" y="4382219"/>
              <a:ext cx="9690682" cy="4278703"/>
            </a:xfrm>
            <a:prstGeom prst="rect">
              <a:avLst/>
            </a:prstGeom>
          </p:spPr>
        </p:pic>
        <p:pic>
          <p:nvPicPr>
            <p:cNvPr id="86" name="Graphic 85" descr="Close with solid fill">
              <a:extLst>
                <a:ext uri="{FF2B5EF4-FFF2-40B4-BE49-F238E27FC236}">
                  <a16:creationId xmlns:a16="http://schemas.microsoft.com/office/drawing/2014/main" id="{6ED8EA4F-3558-5DA3-7EBB-C7E095FB29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869700" y="4707196"/>
              <a:ext cx="914400" cy="914400"/>
            </a:xfrm>
            <a:prstGeom prst="rect">
              <a:avLst/>
            </a:prstGeom>
          </p:spPr>
        </p:pic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91BE2148-5B99-92E2-A86C-A2ED92CA6938}"/>
                </a:ext>
              </a:extLst>
            </p:cNvPr>
            <p:cNvCxnSpPr>
              <a:cxnSpLocks/>
            </p:cNvCxnSpPr>
            <p:nvPr/>
          </p:nvCxnSpPr>
          <p:spPr>
            <a:xfrm>
              <a:off x="5382883" y="5164396"/>
              <a:ext cx="3486817" cy="0"/>
            </a:xfrm>
            <a:prstGeom prst="straightConnector1">
              <a:avLst/>
            </a:prstGeom>
            <a:ln w="31750">
              <a:solidFill>
                <a:srgbClr val="FF000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EEA5A16-A8AD-2CD6-D0B9-9E6047E39071}"/>
              </a:ext>
            </a:extLst>
          </p:cNvPr>
          <p:cNvGrpSpPr/>
          <p:nvPr/>
        </p:nvGrpSpPr>
        <p:grpSpPr>
          <a:xfrm>
            <a:off x="297365" y="8971470"/>
            <a:ext cx="9690682" cy="4278701"/>
            <a:chOff x="232998" y="8971470"/>
            <a:chExt cx="9690682" cy="4278701"/>
          </a:xfrm>
        </p:grpSpPr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B90F781D-CFEE-8ED8-F94E-C48D737E1DF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8284" t="32749" r="11433" b="18336"/>
            <a:stretch>
              <a:fillRect/>
            </a:stretch>
          </p:blipFill>
          <p:spPr>
            <a:xfrm>
              <a:off x="232998" y="8971470"/>
              <a:ext cx="9690682" cy="4278701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C14DD266-0237-70CE-24DF-8074AAEEF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9677" y="12117992"/>
              <a:ext cx="1063167" cy="1063167"/>
            </a:xfrm>
            <a:prstGeom prst="rect">
              <a:avLst/>
            </a:prstGeom>
          </p:spPr>
        </p:pic>
        <p:pic>
          <p:nvPicPr>
            <p:cNvPr id="88" name="Graphic 87" descr="Checkbox Ticked with solid fill">
              <a:extLst>
                <a:ext uri="{FF2B5EF4-FFF2-40B4-BE49-F238E27FC236}">
                  <a16:creationId xmlns:a16="http://schemas.microsoft.com/office/drawing/2014/main" id="{B2AC9583-C2C6-6C42-BCA2-5941DBEC6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69700" y="9947674"/>
              <a:ext cx="914400" cy="914400"/>
            </a:xfrm>
            <a:prstGeom prst="rect">
              <a:avLst/>
            </a:prstGeom>
          </p:spPr>
        </p:pic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5DE6B61C-48DF-C505-4BB6-1D08B15C9133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09" y="10404874"/>
              <a:ext cx="2258991" cy="18758"/>
            </a:xfrm>
            <a:prstGeom prst="straightConnector1">
              <a:avLst/>
            </a:prstGeom>
            <a:ln w="31750">
              <a:solidFill>
                <a:srgbClr val="00B05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FEF617D9-122A-AA15-1A86-D9BAE09F0F58}"/>
              </a:ext>
            </a:extLst>
          </p:cNvPr>
          <p:cNvSpPr txBox="1"/>
          <p:nvPr/>
        </p:nvSpPr>
        <p:spPr>
          <a:xfrm>
            <a:off x="739898" y="3160241"/>
            <a:ext cx="88056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Use </a:t>
            </a:r>
            <a:r>
              <a:rPr lang="en-DE" sz="4800" b="1" i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Walrus</a:t>
            </a:r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 Operator</a:t>
            </a:r>
            <a:r>
              <a:rPr lang="en-US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(:=) in your codes</a:t>
            </a:r>
            <a:endParaRPr lang="en-DE" sz="4800" b="1" i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Patrick Hand" pitchFamily="2" charset="77"/>
            </a:endParaRPr>
          </a:p>
        </p:txBody>
      </p:sp>
      <p:sp>
        <p:nvSpPr>
          <p:cNvPr id="112" name="Curved Right Arrow 111">
            <a:extLst>
              <a:ext uri="{FF2B5EF4-FFF2-40B4-BE49-F238E27FC236}">
                <a16:creationId xmlns:a16="http://schemas.microsoft.com/office/drawing/2014/main" id="{7A5F38A8-0653-BF91-CCDD-59BAEA1A169F}"/>
              </a:ext>
            </a:extLst>
          </p:cNvPr>
          <p:cNvSpPr/>
          <p:nvPr/>
        </p:nvSpPr>
        <p:spPr>
          <a:xfrm>
            <a:off x="436946" y="4054420"/>
            <a:ext cx="1223200" cy="6211012"/>
          </a:xfrm>
          <a:prstGeom prst="curvedRightArrow">
            <a:avLst/>
          </a:prstGeom>
          <a:solidFill>
            <a:srgbClr val="FFC000"/>
          </a:solidFill>
          <a:ln w="317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955F01A-DD86-3AD9-6B7B-91D5259CC29E}"/>
              </a:ext>
            </a:extLst>
          </p:cNvPr>
          <p:cNvSpPr txBox="1"/>
          <p:nvPr/>
        </p:nvSpPr>
        <p:spPr>
          <a:xfrm>
            <a:off x="2928799" y="8965638"/>
            <a:ext cx="4427815" cy="830997"/>
          </a:xfrm>
          <a:prstGeom prst="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algn="l" defTabSz="457200" rtl="0" eaLnBrk="1" latinLnBrk="0" hangingPunct="1"/>
            <a:r>
              <a:rPr lang="en-US" sz="48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Patrick Hand" pitchFamily="2" charset="77"/>
              </a:rPr>
              <a:t>Concise &amp; Readable</a:t>
            </a:r>
            <a:endParaRPr lang="en-DE" sz="48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2309727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F27F718B-3075-03B3-8216-CB5C90C115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122" t="24607" r="11265" b="13804"/>
          <a:stretch>
            <a:fillRect/>
          </a:stretch>
        </p:blipFill>
        <p:spPr>
          <a:xfrm>
            <a:off x="338586" y="4196968"/>
            <a:ext cx="9544666" cy="69917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88EAA7-EAD5-26FB-0617-9B43EF4A29B9}"/>
              </a:ext>
            </a:extLst>
          </p:cNvPr>
          <p:cNvSpPr txBox="1"/>
          <p:nvPr/>
        </p:nvSpPr>
        <p:spPr>
          <a:xfrm>
            <a:off x="338586" y="3131629"/>
            <a:ext cx="9544666" cy="923330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Stop using print() to test your code!</a:t>
            </a:r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 </a:t>
            </a:r>
            <a:endParaRPr lang="en-DE" sz="5400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D67AC1-8CD7-9EA6-AA44-75765EDCB4D3}"/>
              </a:ext>
            </a:extLst>
          </p:cNvPr>
          <p:cNvSpPr txBox="1"/>
          <p:nvPr/>
        </p:nvSpPr>
        <p:spPr>
          <a:xfrm>
            <a:off x="338586" y="11505474"/>
            <a:ext cx="891971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Pre Requisite: pip install pytest</a:t>
            </a:r>
          </a:p>
          <a:p>
            <a:r>
              <a:rPr lang="en-GB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un: pytest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5D8269C7-709E-6998-5283-B107C7781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662" y="10058156"/>
            <a:ext cx="1063167" cy="1063167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DEC39D2-B0EB-4B63-00D7-3B3E21C2FDC1}"/>
              </a:ext>
            </a:extLst>
          </p:cNvPr>
          <p:cNvCxnSpPr>
            <a:cxnSpLocks/>
          </p:cNvCxnSpPr>
          <p:nvPr/>
        </p:nvCxnSpPr>
        <p:spPr>
          <a:xfrm>
            <a:off x="313276" y="6263285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2728270-9B9A-7A9F-F2A8-323E7A58C200}"/>
              </a:ext>
            </a:extLst>
          </p:cNvPr>
          <p:cNvCxnSpPr>
            <a:cxnSpLocks/>
          </p:cNvCxnSpPr>
          <p:nvPr/>
        </p:nvCxnSpPr>
        <p:spPr>
          <a:xfrm>
            <a:off x="344905" y="8417013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Shield Tick with solid fill">
            <a:extLst>
              <a:ext uri="{FF2B5EF4-FFF2-40B4-BE49-F238E27FC236}">
                <a16:creationId xmlns:a16="http://schemas.microsoft.com/office/drawing/2014/main" id="{3E10B054-0ABA-4495-55F7-5348E50616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1582" y="8556576"/>
            <a:ext cx="914400" cy="914400"/>
          </a:xfrm>
          <a:prstGeom prst="rect">
            <a:avLst/>
          </a:prstGeom>
        </p:spPr>
      </p:pic>
      <p:pic>
        <p:nvPicPr>
          <p:cNvPr id="77" name="Graphic 76" descr="Close with solid fill">
            <a:extLst>
              <a:ext uri="{FF2B5EF4-FFF2-40B4-BE49-F238E27FC236}">
                <a16:creationId xmlns:a16="http://schemas.microsoft.com/office/drawing/2014/main" id="{0045C14B-3459-5991-D210-53E90DC022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11582" y="675764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959733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C989A062-81D4-7FA9-5D3B-97D7C84260BF}"/>
              </a:ext>
            </a:extLst>
          </p:cNvPr>
          <p:cNvGrpSpPr/>
          <p:nvPr/>
        </p:nvGrpSpPr>
        <p:grpSpPr>
          <a:xfrm>
            <a:off x="192450" y="4313208"/>
            <a:ext cx="9900512" cy="5656922"/>
            <a:chOff x="155122" y="4313208"/>
            <a:chExt cx="9900512" cy="5656922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755EB69-8332-046F-562A-CD322CED90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5798" t="24886" r="9749" b="14308"/>
            <a:stretch>
              <a:fillRect/>
            </a:stretch>
          </p:blipFill>
          <p:spPr>
            <a:xfrm>
              <a:off x="155276" y="4313208"/>
              <a:ext cx="9900358" cy="5656922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E405CAD7-F4B0-7F74-1DFC-8CF2E970C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919562" y="8805718"/>
              <a:ext cx="1063167" cy="1063167"/>
            </a:xfrm>
            <a:prstGeom prst="rect">
              <a:avLst/>
            </a:prstGeom>
          </p:spPr>
        </p:pic>
        <p:pic>
          <p:nvPicPr>
            <p:cNvPr id="29" name="Graphic 28" descr="Shield Tick with solid fill">
              <a:extLst>
                <a:ext uri="{FF2B5EF4-FFF2-40B4-BE49-F238E27FC236}">
                  <a16:creationId xmlns:a16="http://schemas.microsoft.com/office/drawing/2014/main" id="{0CCABDA1-4CCF-B503-8099-FFC57C1D95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132274" y="6762284"/>
              <a:ext cx="914400" cy="914400"/>
            </a:xfrm>
            <a:prstGeom prst="rect">
              <a:avLst/>
            </a:prstGeom>
          </p:spPr>
        </p:pic>
        <p:pic>
          <p:nvPicPr>
            <p:cNvPr id="30" name="Graphic 29" descr="Close with solid fill">
              <a:extLst>
                <a:ext uri="{FF2B5EF4-FFF2-40B4-BE49-F238E27FC236}">
                  <a16:creationId xmlns:a16="http://schemas.microsoft.com/office/drawing/2014/main" id="{14362FE8-9002-3D9A-71C4-9C9B4C8821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132274" y="4549278"/>
              <a:ext cx="914400" cy="914400"/>
            </a:xfrm>
            <a:prstGeom prst="rect">
              <a:avLst/>
            </a:prstGeom>
          </p:spPr>
        </p:pic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3F613E7-6697-4EC0-8464-6D3C267DD305}"/>
                </a:ext>
              </a:extLst>
            </p:cNvPr>
            <p:cNvCxnSpPr>
              <a:cxnSpLocks/>
            </p:cNvCxnSpPr>
            <p:nvPr/>
          </p:nvCxnSpPr>
          <p:spPr>
            <a:xfrm>
              <a:off x="155122" y="8693061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1B4CE6B-B7C7-47AA-F8CD-6C0FAC4DA742}"/>
                </a:ext>
              </a:extLst>
            </p:cNvPr>
            <p:cNvCxnSpPr>
              <a:cxnSpLocks/>
            </p:cNvCxnSpPr>
            <p:nvPr/>
          </p:nvCxnSpPr>
          <p:spPr>
            <a:xfrm>
              <a:off x="169498" y="6550836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F7F61470-5978-9741-C789-354D64372206}"/>
              </a:ext>
            </a:extLst>
          </p:cNvPr>
          <p:cNvSpPr txBox="1"/>
          <p:nvPr/>
        </p:nvSpPr>
        <p:spPr>
          <a:xfrm>
            <a:off x="229149" y="3442094"/>
            <a:ext cx="9827115" cy="769441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4400" dirty="0"/>
              <a:t>Print is for YOU, Raise is for your CODE!</a:t>
            </a:r>
            <a:endParaRPr lang="en-DE" sz="4400" dirty="0">
              <a:solidFill>
                <a:srgbClr val="002060"/>
              </a:solidFill>
              <a:latin typeface="Patrick Hand" pitchFamily="2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6BE1470-D54F-6F8F-1C68-D491E457AF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906" y="10757495"/>
            <a:ext cx="9903600" cy="17223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25B6729-E387-A933-1E10-01ACD25E6653}"/>
              </a:ext>
            </a:extLst>
          </p:cNvPr>
          <p:cNvSpPr txBox="1"/>
          <p:nvPr/>
        </p:nvSpPr>
        <p:spPr>
          <a:xfrm>
            <a:off x="183193" y="10081029"/>
            <a:ext cx="9827115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DE" sz="3600" dirty="0">
                <a:solidFill>
                  <a:schemeClr val="tx1"/>
                </a:solidFill>
                <a:latin typeface="Patrick Hand" pitchFamily="2" charset="77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26321762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mConfetti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5D077D-CD3B-2596-C167-87FF71AC3F96}"/>
              </a:ext>
            </a:extLst>
          </p:cNvPr>
          <p:cNvSpPr txBox="1"/>
          <p:nvPr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0DC9F19-7314-279A-182A-2FAC4145BABA}"/>
              </a:ext>
            </a:extLst>
          </p:cNvPr>
          <p:cNvGrpSpPr/>
          <p:nvPr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1D7D9B-24E8-EF51-6F2B-6644446DAA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C14211A-2572-ACC1-2CBC-A47458A5B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9" name="Right Arrow 8">
            <a:extLst>
              <a:ext uri="{FF2B5EF4-FFF2-40B4-BE49-F238E27FC236}">
                <a16:creationId xmlns:a16="http://schemas.microsoft.com/office/drawing/2014/main" id="{6D1AAAEE-0C0E-C465-D0BA-EF033B7257D6}"/>
              </a:ext>
            </a:extLst>
          </p:cNvPr>
          <p:cNvSpPr/>
          <p:nvPr/>
        </p:nvSpPr>
        <p:spPr>
          <a:xfrm>
            <a:off x="2895857" y="11520905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32EE6B-9F95-6B10-FE37-021FF9EB4ECA}"/>
              </a:ext>
            </a:extLst>
          </p:cNvPr>
          <p:cNvSpPr txBox="1"/>
          <p:nvPr/>
        </p:nvSpPr>
        <p:spPr>
          <a:xfrm>
            <a:off x="276045" y="11313869"/>
            <a:ext cx="2124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__name__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CCF012-097C-7EA9-8F50-D5B87AEF56C9}"/>
              </a:ext>
            </a:extLst>
          </p:cNvPr>
          <p:cNvSpPr txBox="1"/>
          <p:nvPr/>
        </p:nvSpPr>
        <p:spPr>
          <a:xfrm>
            <a:off x="5138462" y="11313869"/>
            <a:ext cx="45881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__main__ </a:t>
            </a:r>
            <a:r>
              <a:rPr lang="en-DE" sz="3600" dirty="0">
                <a:latin typeface="Patrick Hand" pitchFamily="2" charset="77"/>
              </a:rPr>
              <a:t>or 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</a:t>
            </a:r>
            <a:endParaRPr lang="en-DE" sz="3600" b="1" dirty="0">
              <a:latin typeface="Patrick Hand" pitchFamily="2" charset="77"/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D53344C2-B640-EC0B-B3FE-09DBE822B2C8}"/>
              </a:ext>
            </a:extLst>
          </p:cNvPr>
          <p:cNvSpPr/>
          <p:nvPr/>
        </p:nvSpPr>
        <p:spPr>
          <a:xfrm>
            <a:off x="2895857" y="12277158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AC7F21-4968-CAF2-B4FB-989227F10953}"/>
              </a:ext>
            </a:extLst>
          </p:cNvPr>
          <p:cNvSpPr txBox="1"/>
          <p:nvPr/>
        </p:nvSpPr>
        <p:spPr>
          <a:xfrm>
            <a:off x="290421" y="12070122"/>
            <a:ext cx="1813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__file__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FB4053-217A-72C1-4F57-F783C3DD66BC}"/>
              </a:ext>
            </a:extLst>
          </p:cNvPr>
          <p:cNvSpPr txBox="1"/>
          <p:nvPr/>
        </p:nvSpPr>
        <p:spPr>
          <a:xfrm>
            <a:off x="5152838" y="12070122"/>
            <a:ext cx="361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/app/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magic_vars.py</a:t>
            </a:r>
            <a:endParaRPr lang="en-DE" sz="3600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ED996F69-B416-701A-0D10-21A8520837B2}"/>
              </a:ext>
            </a:extLst>
          </p:cNvPr>
          <p:cNvSpPr/>
          <p:nvPr/>
        </p:nvSpPr>
        <p:spPr>
          <a:xfrm>
            <a:off x="2895857" y="13126533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0BFD03-FFCD-BB92-8561-2492420B1B39}"/>
              </a:ext>
            </a:extLst>
          </p:cNvPr>
          <p:cNvSpPr txBox="1"/>
          <p:nvPr/>
        </p:nvSpPr>
        <p:spPr>
          <a:xfrm>
            <a:off x="290421" y="12919497"/>
            <a:ext cx="25571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__package__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14FB69-C7B0-8E6F-30FF-6B27547214AD}"/>
              </a:ext>
            </a:extLst>
          </p:cNvPr>
          <p:cNvSpPr txBox="1"/>
          <p:nvPr/>
        </p:nvSpPr>
        <p:spPr>
          <a:xfrm>
            <a:off x="5152838" y="12919497"/>
            <a:ext cx="43556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None</a:t>
            </a:r>
            <a:r>
              <a:rPr lang="en-US" sz="3600" dirty="0">
                <a:latin typeface="Patrick Hand" pitchFamily="2" charset="77"/>
              </a:rPr>
              <a:t> or </a:t>
            </a:r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name of package</a:t>
            </a:r>
            <a:endParaRPr lang="en-DE" sz="3600" b="1" dirty="0">
              <a:latin typeface="Patrick Hand" pitchFamily="2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686C9-E18B-4DD3-305F-2EB19B28DD1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5264" t="20482" r="8581" b="11981"/>
          <a:stretch>
            <a:fillRect/>
          </a:stretch>
        </p:blipFill>
        <p:spPr>
          <a:xfrm>
            <a:off x="151141" y="3616891"/>
            <a:ext cx="9983131" cy="72868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6102011-F70E-143B-2E74-E8E55F0FBD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8573" y="9774866"/>
            <a:ext cx="1063167" cy="106316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A150DD2-452F-B188-4AC9-00A3258E6533}"/>
              </a:ext>
            </a:extLst>
          </p:cNvPr>
          <p:cNvSpPr txBox="1"/>
          <p:nvPr/>
        </p:nvSpPr>
        <p:spPr>
          <a:xfrm>
            <a:off x="6745857" y="3657597"/>
            <a:ext cx="3321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</a:t>
            </a:r>
            <a:r>
              <a:rPr lang="en-DE" sz="2400" dirty="0">
                <a:solidFill>
                  <a:schemeClr val="bg1"/>
                </a:solidFill>
              </a:rPr>
              <a:t>ile name: magic_vars.py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59F1A2-B22C-5219-5969-65113B4369B8}"/>
              </a:ext>
            </a:extLst>
          </p:cNvPr>
          <p:cNvSpPr txBox="1"/>
          <p:nvPr/>
        </p:nvSpPr>
        <p:spPr>
          <a:xfrm>
            <a:off x="151141" y="2468165"/>
            <a:ext cx="9982800" cy="1107996"/>
          </a:xfrm>
          <a:prstGeom prst="rect">
            <a:avLst/>
          </a:prstGeom>
          <a:solidFill>
            <a:srgbClr val="FFFF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DE" sz="6600" b="1" dirty="0">
                <a:ln w="0">
                  <a:solidFill>
                    <a:schemeClr val="bg1"/>
                  </a:solidFill>
                </a:ln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Patrick Hand" pitchFamily="2" charset="77"/>
              </a:rPr>
              <a:t>Python Special Variables</a:t>
            </a:r>
          </a:p>
        </p:txBody>
      </p:sp>
    </p:spTree>
    <p:extLst>
      <p:ext uri="{BB962C8B-B14F-4D97-AF65-F5344CB8AC3E}">
        <p14:creationId xmlns:p14="http://schemas.microsoft.com/office/powerpoint/2010/main" val="2641464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82B4FA4-54CE-F8EF-9FE8-9B59817B4D24}"/>
              </a:ext>
            </a:extLst>
          </p:cNvPr>
          <p:cNvSpPr txBox="1"/>
          <p:nvPr/>
        </p:nvSpPr>
        <p:spPr>
          <a:xfrm>
            <a:off x="223306" y="2468165"/>
            <a:ext cx="9838800" cy="110799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DE" sz="66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latin typeface="Patrick Hand" pitchFamily="2" charset="77"/>
              </a:rPr>
              <a:t>Python pathlib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8147BC7-63E8-F552-FAF5-1E8EA5F3D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487" y="2623664"/>
            <a:ext cx="1063167" cy="10631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0E03DB-A5D0-7C3C-C45E-020B27EA03F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099" t="18381" r="8553" b="9940"/>
          <a:stretch>
            <a:fillRect/>
          </a:stretch>
        </p:blipFill>
        <p:spPr>
          <a:xfrm>
            <a:off x="223579" y="4037162"/>
            <a:ext cx="9838255" cy="7783974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E6C352-2A47-650A-9234-C3DF3F810C43}"/>
              </a:ext>
            </a:extLst>
          </p:cNvPr>
          <p:cNvCxnSpPr>
            <a:cxnSpLocks/>
            <a:endCxn id="14" idx="3"/>
          </p:cNvCxnSpPr>
          <p:nvPr/>
        </p:nvCxnSpPr>
        <p:spPr>
          <a:xfrm>
            <a:off x="223579" y="792914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2D6D7F89-C47E-56C4-9355-13A359543B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68075" y="10358851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DFF07AD-5C5D-EBE3-F7F1-7D805603E5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68075" y="5575171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D1EF262-28AB-179A-F611-B5A8CFF9D9DB}"/>
              </a:ext>
            </a:extLst>
          </p:cNvPr>
          <p:cNvSpPr txBox="1"/>
          <p:nvPr/>
        </p:nvSpPr>
        <p:spPr>
          <a:xfrm>
            <a:off x="213487" y="12387532"/>
            <a:ext cx="20408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Readable: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A5BC88-F15A-3738-DE5E-7E3E6AF2D763}"/>
              </a:ext>
            </a:extLst>
          </p:cNvPr>
          <p:cNvSpPr txBox="1"/>
          <p:nvPr/>
        </p:nvSpPr>
        <p:spPr>
          <a:xfrm>
            <a:off x="2365380" y="12387532"/>
            <a:ext cx="6738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latin typeface="Patrick Hand" pitchFamily="2" charset="77"/>
              </a:rPr>
              <a:t>Use the / operator to join paths easily.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91A230-89C2-97BC-EA0B-5A1547026FC2}"/>
              </a:ext>
            </a:extLst>
          </p:cNvPr>
          <p:cNvSpPr txBox="1"/>
          <p:nvPr/>
        </p:nvSpPr>
        <p:spPr>
          <a:xfrm>
            <a:off x="2365380" y="13207674"/>
            <a:ext cx="6327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Auto-handles Windows vs. Linux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EEEC48-48C2-1866-EF77-F57F21472377}"/>
              </a:ext>
            </a:extLst>
          </p:cNvPr>
          <p:cNvSpPr txBox="1"/>
          <p:nvPr/>
        </p:nvSpPr>
        <p:spPr>
          <a:xfrm>
            <a:off x="2365380" y="14027816"/>
            <a:ext cx="768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Everything is an object, not just a string.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8B2339-07F2-9A25-79CD-9BB6EA178151}"/>
              </a:ext>
            </a:extLst>
          </p:cNvPr>
          <p:cNvSpPr txBox="1"/>
          <p:nvPr/>
        </p:nvSpPr>
        <p:spPr>
          <a:xfrm>
            <a:off x="213487" y="13207674"/>
            <a:ext cx="1423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Smart: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6A6396-DD35-DF1E-72A6-426DA90CEC4D}"/>
              </a:ext>
            </a:extLst>
          </p:cNvPr>
          <p:cNvSpPr txBox="1"/>
          <p:nvPr/>
        </p:nvSpPr>
        <p:spPr>
          <a:xfrm>
            <a:off x="213487" y="14027816"/>
            <a:ext cx="19841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Powerful:</a:t>
            </a:r>
            <a:endParaRPr lang="en-DE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5270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1426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3550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690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84814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51547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35449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3810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4286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1750">
          <a:solidFill>
            <a:schemeClr val="accent1">
              <a:shade val="15000"/>
            </a:schemeClr>
          </a:solidFill>
        </a:ln>
      </a:spPr>
      <a:bodyPr rtlCol="0" anchor="ctr"/>
      <a:lstStyle>
        <a:defPPr marL="0" algn="ctr" defTabSz="457200" rtl="0" eaLnBrk="1" latinLnBrk="0" hangingPunct="1">
          <a:defRPr dirty="0">
            <a:latin typeface="Patrick Hand" pitchFamily="2" charset="7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0">
          <a:solidFill>
            <a:schemeClr val="tx1"/>
          </a:solidFill>
          <a:headEnd type="none"/>
          <a:tailEnd type="arrow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23795</TotalTime>
  <Words>263</Words>
  <Application>Microsoft Macintosh PowerPoint</Application>
  <PresentationFormat>Custom</PresentationFormat>
  <Paragraphs>68</Paragraphs>
  <Slides>20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Calibri Light</vt:lpstr>
      <vt:lpstr>Patrick Hand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Salehi Oshtorjani, Ebrahim (K-DACT/F)</dc:creator>
  <cp:lastModifiedBy>Salehi Oshtorjani, Ebrahim (K-DACT/F)</cp:lastModifiedBy>
  <cp:revision>241</cp:revision>
  <cp:lastPrinted>2025-12-17T08:49:37Z</cp:lastPrinted>
  <dcterms:created xsi:type="dcterms:W3CDTF">2025-12-17T08:13:25Z</dcterms:created>
  <dcterms:modified xsi:type="dcterms:W3CDTF">2026-01-03T20:35:56Z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Atlas:8</vt:lpwstr>
  </property>
  <property fmtid="{D5CDD505-2E9C-101B-9397-08002B2CF9AE}" pid="3" name="ClassificationContentMarkingFooterText">
    <vt:lpwstr>INTERNAL</vt:lpwstr>
  </property>
</Properties>
</file>