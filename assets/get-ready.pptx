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8_91EF180C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2" r:id="rId1"/>
  </p:sldMasterIdLst>
  <p:notesMasterIdLst>
    <p:notesMasterId r:id="rId11"/>
  </p:notesMasterIdLst>
  <p:sldIdLst>
    <p:sldId id="263" r:id="rId2"/>
    <p:sldId id="269" r:id="rId3"/>
    <p:sldId id="270" r:id="rId4"/>
    <p:sldId id="271" r:id="rId5"/>
    <p:sldId id="266" r:id="rId6"/>
    <p:sldId id="267" r:id="rId7"/>
    <p:sldId id="264" r:id="rId8"/>
    <p:sldId id="274" r:id="rId9"/>
    <p:sldId id="273" r:id="rId10"/>
  </p:sldIdLst>
  <p:sldSz cx="10285413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37" userDrawn="1">
          <p15:clr>
            <a:srgbClr val="A4A3A4"/>
          </p15:clr>
        </p15:guide>
        <p15:guide id="2" pos="3239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60045D-B334-310D-0A4E-9E20AA0B149E}" name="Salehi Oshtorjani, Ebrahim (K-DACT/F)" initials="SOE(D" userId="S::ebrahim.salehi.oshtorjani1@volkswagen.de::56f2298d-f17e-4b85-9b58-413b9e2aed6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77"/>
    <p:restoredTop sz="96782"/>
  </p:normalViewPr>
  <p:slideViewPr>
    <p:cSldViewPr snapToGrid="0">
      <p:cViewPr>
        <p:scale>
          <a:sx n="93" d="100"/>
          <a:sy n="93" d="100"/>
        </p:scale>
        <p:origin x="2176" y="-4208"/>
      </p:cViewPr>
      <p:guideLst>
        <p:guide orient="horz" pos="5737"/>
        <p:guide pos="3239"/>
      </p:guideLst>
    </p:cSldViewPr>
  </p:slideViewPr>
  <p:notesTextViewPr>
    <p:cViewPr>
      <p:scale>
        <a:sx n="1" d="1"/>
        <a:sy n="1" d="1"/>
      </p:scale>
      <p:origin x="0" y="-20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modernComment_108_91EF180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AD75071-EA32-894B-B2B6-3BC5D06D2C1C}" authorId="{8860045D-B334-310D-0A4E-9E20AA0B149E}" created="2025-12-30T17:22:03.982">
    <pc:sldMkLst xmlns:pc="http://schemas.microsoft.com/office/powerpoint/2013/main/command">
      <pc:docMk/>
      <pc:sldMk cId="2448365580" sldId="264"/>
    </pc:sldMkLst>
    <p188:txBody>
      <a:bodyPr/>
      <a:lstStyle/>
      <a:p>
        <a:r>
          <a:rPr lang="en-DE"/>
          <a:t>TikTok
Are you still using loops for this? 🤦‍♂️ Learn the senior-level trick for sequence slicing in Python! 🐍✨
🚀 Pythonic Way = Cleaner + Faster.
Tag a dev who needs to see this! 👇
#Python #Coding #Programmer #SoftwareDeveloper #TechTips #CodeWithEbrahim #LearnPython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57384-5D6E-7E42-90C4-560B39EF53DD}" type="datetimeFigureOut">
              <a:rPr lang="en-DE" smtClean="0"/>
              <a:t>28.12.25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D1A58-C582-AC49-9010-037E894CD4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56407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This Slide was second one and has been made on 26.12.2025, </a:t>
            </a:r>
            <a:br>
              <a:rPr lang="en-DE" dirty="0"/>
            </a:br>
            <a:r>
              <a:rPr lang="en-DE" dirty="0"/>
              <a:t>the related file is :  </a:t>
            </a:r>
            <a:r>
              <a:rPr lang="en-GB" dirty="0"/>
              <a:t>list-</a:t>
            </a:r>
            <a:r>
              <a:rPr lang="en-GB" dirty="0" err="1"/>
              <a:t>comprehensions.py</a:t>
            </a:r>
            <a:endParaRPr lang="en-GB" dirty="0"/>
          </a:p>
          <a:p>
            <a:r>
              <a:rPr lang="en-GB" dirty="0"/>
              <a:t>Info:</a:t>
            </a:r>
          </a:p>
          <a:p>
            <a:r>
              <a:rPr lang="en-GB" dirty="0"/>
              <a:t>Video Number: 2</a:t>
            </a:r>
          </a:p>
          <a:p>
            <a:r>
              <a:rPr lang="en-GB" dirty="0"/>
              <a:t>Published Date: 26.12.2025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File Name: list-</a:t>
            </a:r>
            <a:r>
              <a:rPr lang="en-GB" dirty="0" err="1"/>
              <a:t>comprehensions.py</a:t>
            </a:r>
            <a:endParaRPr lang="en-GB" dirty="0"/>
          </a:p>
          <a:p>
            <a:endParaRPr lang="en-GB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D1A58-C582-AC49-9010-037E894CD422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3478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E374C-FF6C-6A59-86BD-42037466D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D0A34D-106F-9454-678C-79D548A98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F7E2D-684B-62F0-05F9-E7F57F4ED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Video 3</a:t>
            </a:r>
            <a:br>
              <a:rPr lang="en-DE" dirty="0"/>
            </a:br>
            <a:r>
              <a:rPr lang="en-DE" dirty="0"/>
              <a:t>published on 29.12.2025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968ED-7ED9-AFC4-BA26-CA9AA4C4C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D1A58-C582-AC49-9010-037E894CD422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19523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Video 4</a:t>
            </a:r>
            <a:br>
              <a:rPr lang="en-DE" dirty="0"/>
            </a:br>
            <a:r>
              <a:rPr lang="en-DE" dirty="0"/>
              <a:t>Published on 31.12.2025</a:t>
            </a:r>
          </a:p>
          <a:p>
            <a:r>
              <a:rPr lang="en-GB" dirty="0"/>
              <a:t>R</a:t>
            </a:r>
            <a:r>
              <a:rPr lang="en-DE"/>
              <a:t>elated files: 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D1A58-C582-AC49-9010-037E894CD422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85623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406" y="2992968"/>
            <a:ext cx="8742601" cy="6366933"/>
          </a:xfrm>
        </p:spPr>
        <p:txBody>
          <a:bodyPr anchor="b"/>
          <a:lstStyle>
            <a:lvl1pPr algn="ctr">
              <a:defRPr sz="674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677" y="9605435"/>
            <a:ext cx="7714060" cy="4415365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259" indent="0" algn="ctr">
              <a:buNone/>
              <a:defRPr sz="2250"/>
            </a:lvl2pPr>
            <a:lvl3pPr marL="1028517" indent="0" algn="ctr">
              <a:buNone/>
              <a:defRPr sz="2025"/>
            </a:lvl3pPr>
            <a:lvl4pPr marL="1542776" indent="0" algn="ctr">
              <a:buNone/>
              <a:defRPr sz="1800"/>
            </a:lvl4pPr>
            <a:lvl5pPr marL="2057034" indent="0" algn="ctr">
              <a:buNone/>
              <a:defRPr sz="1800"/>
            </a:lvl5pPr>
            <a:lvl6pPr marL="2571293" indent="0" algn="ctr">
              <a:buNone/>
              <a:defRPr sz="1800"/>
            </a:lvl6pPr>
            <a:lvl7pPr marL="3085551" indent="0" algn="ctr">
              <a:buNone/>
              <a:defRPr sz="1800"/>
            </a:lvl7pPr>
            <a:lvl8pPr marL="3599810" indent="0" algn="ctr">
              <a:buNone/>
              <a:defRPr sz="1800"/>
            </a:lvl8pPr>
            <a:lvl9pPr marL="4114068" indent="0" algn="ctr"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93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218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766" y="4559305"/>
            <a:ext cx="8871169" cy="7607299"/>
          </a:xfrm>
        </p:spPr>
        <p:txBody>
          <a:bodyPr anchor="b"/>
          <a:lstStyle>
            <a:lvl1pPr>
              <a:defRPr sz="674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766" y="12238572"/>
            <a:ext cx="8871169" cy="400049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/>
                </a:solidFill>
              </a:defRPr>
            </a:lvl1pPr>
            <a:lvl2pPr marL="514259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517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277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2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555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59981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06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48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122" y="4868333"/>
            <a:ext cx="4371301" cy="116035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6990" y="4868333"/>
            <a:ext cx="4371301" cy="116035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87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462" y="973670"/>
            <a:ext cx="8871169" cy="35348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463" y="4483101"/>
            <a:ext cx="4351211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259" indent="0">
              <a:buNone/>
              <a:defRPr sz="2250" b="1"/>
            </a:lvl2pPr>
            <a:lvl3pPr marL="1028517" indent="0">
              <a:buNone/>
              <a:defRPr sz="2025" b="1"/>
            </a:lvl3pPr>
            <a:lvl4pPr marL="1542776" indent="0">
              <a:buNone/>
              <a:defRPr sz="1800" b="1"/>
            </a:lvl4pPr>
            <a:lvl5pPr marL="2057034" indent="0">
              <a:buNone/>
              <a:defRPr sz="1800" b="1"/>
            </a:lvl5pPr>
            <a:lvl6pPr marL="2571293" indent="0">
              <a:buNone/>
              <a:defRPr sz="1800" b="1"/>
            </a:lvl6pPr>
            <a:lvl7pPr marL="3085551" indent="0">
              <a:buNone/>
              <a:defRPr sz="1800" b="1"/>
            </a:lvl7pPr>
            <a:lvl8pPr marL="3599810" indent="0">
              <a:buNone/>
              <a:defRPr sz="1800" b="1"/>
            </a:lvl8pPr>
            <a:lvl9pPr marL="4114068" indent="0">
              <a:buNone/>
              <a:defRPr sz="1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463" y="6680200"/>
            <a:ext cx="4351211" cy="98255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6991" y="4483101"/>
            <a:ext cx="4372640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259" indent="0">
              <a:buNone/>
              <a:defRPr sz="2250" b="1"/>
            </a:lvl2pPr>
            <a:lvl3pPr marL="1028517" indent="0">
              <a:buNone/>
              <a:defRPr sz="2025" b="1"/>
            </a:lvl3pPr>
            <a:lvl4pPr marL="1542776" indent="0">
              <a:buNone/>
              <a:defRPr sz="1800" b="1"/>
            </a:lvl4pPr>
            <a:lvl5pPr marL="2057034" indent="0">
              <a:buNone/>
              <a:defRPr sz="1800" b="1"/>
            </a:lvl5pPr>
            <a:lvl6pPr marL="2571293" indent="0">
              <a:buNone/>
              <a:defRPr sz="1800" b="1"/>
            </a:lvl6pPr>
            <a:lvl7pPr marL="3085551" indent="0">
              <a:buNone/>
              <a:defRPr sz="1800" b="1"/>
            </a:lvl7pPr>
            <a:lvl8pPr marL="3599810" indent="0">
              <a:buNone/>
              <a:defRPr sz="1800" b="1"/>
            </a:lvl8pPr>
            <a:lvl9pPr marL="4114068" indent="0">
              <a:buNone/>
              <a:defRPr sz="1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6991" y="6680200"/>
            <a:ext cx="4372640" cy="98255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907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728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728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462" y="1219200"/>
            <a:ext cx="3317313" cy="4267200"/>
          </a:xfrm>
        </p:spPr>
        <p:txBody>
          <a:bodyPr anchor="b"/>
          <a:lstStyle>
            <a:lvl1pPr>
              <a:defRPr sz="359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2640" y="2633137"/>
            <a:ext cx="5206990" cy="12996333"/>
          </a:xfrm>
        </p:spPr>
        <p:txBody>
          <a:bodyPr/>
          <a:lstStyle>
            <a:lvl1pPr>
              <a:defRPr sz="3599"/>
            </a:lvl1pPr>
            <a:lvl2pPr>
              <a:defRPr sz="3149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462" y="5486400"/>
            <a:ext cx="3317313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259" indent="0">
              <a:buNone/>
              <a:defRPr sz="1575"/>
            </a:lvl2pPr>
            <a:lvl3pPr marL="1028517" indent="0">
              <a:buNone/>
              <a:defRPr sz="1350"/>
            </a:lvl3pPr>
            <a:lvl4pPr marL="1542776" indent="0">
              <a:buNone/>
              <a:defRPr sz="1125"/>
            </a:lvl4pPr>
            <a:lvl5pPr marL="2057034" indent="0">
              <a:buNone/>
              <a:defRPr sz="1125"/>
            </a:lvl5pPr>
            <a:lvl6pPr marL="2571293" indent="0">
              <a:buNone/>
              <a:defRPr sz="1125"/>
            </a:lvl6pPr>
            <a:lvl7pPr marL="3085551" indent="0">
              <a:buNone/>
              <a:defRPr sz="1125"/>
            </a:lvl7pPr>
            <a:lvl8pPr marL="3599810" indent="0">
              <a:buNone/>
              <a:defRPr sz="1125"/>
            </a:lvl8pPr>
            <a:lvl9pPr marL="4114068" indent="0">
              <a:buNone/>
              <a:defRPr sz="11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28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462" y="1219200"/>
            <a:ext cx="3317313" cy="4267200"/>
          </a:xfrm>
        </p:spPr>
        <p:txBody>
          <a:bodyPr anchor="b"/>
          <a:lstStyle>
            <a:lvl1pPr>
              <a:defRPr sz="359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2640" y="2633137"/>
            <a:ext cx="5206990" cy="12996333"/>
          </a:xfrm>
        </p:spPr>
        <p:txBody>
          <a:bodyPr anchor="t"/>
          <a:lstStyle>
            <a:lvl1pPr marL="0" indent="0">
              <a:buNone/>
              <a:defRPr sz="3599"/>
            </a:lvl1pPr>
            <a:lvl2pPr marL="514259" indent="0">
              <a:buNone/>
              <a:defRPr sz="3149"/>
            </a:lvl2pPr>
            <a:lvl3pPr marL="1028517" indent="0">
              <a:buNone/>
              <a:defRPr sz="2700"/>
            </a:lvl3pPr>
            <a:lvl4pPr marL="1542776" indent="0">
              <a:buNone/>
              <a:defRPr sz="2250"/>
            </a:lvl4pPr>
            <a:lvl5pPr marL="2057034" indent="0">
              <a:buNone/>
              <a:defRPr sz="2250"/>
            </a:lvl5pPr>
            <a:lvl6pPr marL="2571293" indent="0">
              <a:buNone/>
              <a:defRPr sz="2250"/>
            </a:lvl6pPr>
            <a:lvl7pPr marL="3085551" indent="0">
              <a:buNone/>
              <a:defRPr sz="2250"/>
            </a:lvl7pPr>
            <a:lvl8pPr marL="3599810" indent="0">
              <a:buNone/>
              <a:defRPr sz="2250"/>
            </a:lvl8pPr>
            <a:lvl9pPr marL="4114068" indent="0">
              <a:buNone/>
              <a:defRPr sz="225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462" y="5486400"/>
            <a:ext cx="3317313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259" indent="0">
              <a:buNone/>
              <a:defRPr sz="1575"/>
            </a:lvl2pPr>
            <a:lvl3pPr marL="1028517" indent="0">
              <a:buNone/>
              <a:defRPr sz="1350"/>
            </a:lvl3pPr>
            <a:lvl4pPr marL="1542776" indent="0">
              <a:buNone/>
              <a:defRPr sz="1125"/>
            </a:lvl4pPr>
            <a:lvl5pPr marL="2057034" indent="0">
              <a:buNone/>
              <a:defRPr sz="1125"/>
            </a:lvl5pPr>
            <a:lvl6pPr marL="2571293" indent="0">
              <a:buNone/>
              <a:defRPr sz="1125"/>
            </a:lvl6pPr>
            <a:lvl7pPr marL="3085551" indent="0">
              <a:buNone/>
              <a:defRPr sz="1125"/>
            </a:lvl7pPr>
            <a:lvl8pPr marL="3599810" indent="0">
              <a:buNone/>
              <a:defRPr sz="1125"/>
            </a:lvl8pPr>
            <a:lvl9pPr marL="4114068" indent="0">
              <a:buNone/>
              <a:defRPr sz="11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148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694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0499" y="973666"/>
            <a:ext cx="2217792" cy="154982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123" y="973666"/>
            <a:ext cx="6524809" cy="1549823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985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122" y="973670"/>
            <a:ext cx="8871169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22" y="4868333"/>
            <a:ext cx="8871169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122" y="16950271"/>
            <a:ext cx="2314218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7043" y="16950271"/>
            <a:ext cx="3471327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4073" y="16950271"/>
            <a:ext cx="2314218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8A1E25-E09E-9B11-3FEC-A3FD03A7A6C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3571" y="17793550"/>
            <a:ext cx="448648" cy="10387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E" sz="675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140142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028517" rtl="0" eaLnBrk="1" latinLnBrk="0" hangingPunct="1">
        <a:lnSpc>
          <a:spcPct val="90000"/>
        </a:lnSpc>
        <a:spcBef>
          <a:spcPct val="0"/>
        </a:spcBef>
        <a:buNone/>
        <a:defRPr sz="49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29" indent="-257129" algn="l" defTabSz="1028517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49" kern="1200">
          <a:solidFill>
            <a:schemeClr val="tx1"/>
          </a:solidFill>
          <a:latin typeface="+mn-lt"/>
          <a:ea typeface="+mn-ea"/>
          <a:cs typeface="+mn-cs"/>
        </a:defRPr>
      </a:lvl1pPr>
      <a:lvl2pPr marL="771388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646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799905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164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8422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2681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6939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198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259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517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2776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034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293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5551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599810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068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18/10/relationships/comments" Target="../comments/modernComment_108_91EF180C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A8C943-7173-E95B-0FF8-8CA0E1171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798A9D-9EB7-FFFD-3E62-4C29DAB94489}"/>
              </a:ext>
            </a:extLst>
          </p:cNvPr>
          <p:cNvSpPr txBox="1"/>
          <p:nvPr/>
        </p:nvSpPr>
        <p:spPr>
          <a:xfrm>
            <a:off x="0" y="304800"/>
            <a:ext cx="10285413" cy="9694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/>
            <a:r>
              <a:rPr lang="en-US" sz="4800" dirty="0"/>
              <a:t>Statistics:</a:t>
            </a:r>
          </a:p>
          <a:p>
            <a:pPr marL="0" algn="l" defTabSz="457200" rtl="0" eaLnBrk="1" latinLnBrk="0" hangingPunct="1"/>
            <a:endParaRPr lang="en-US" sz="4800" dirty="0"/>
          </a:p>
          <a:p>
            <a:pPr marL="0" algn="l" defTabSz="457200" rtl="0" eaLnBrk="1" latinLnBrk="0" hangingPunct="1"/>
            <a:r>
              <a:rPr lang="en-US" sz="4800" dirty="0"/>
              <a:t>1-The arguments of Python’s print</a:t>
            </a:r>
          </a:p>
          <a:p>
            <a:pPr marL="0" algn="l" defTabSz="457200" rtl="0" eaLnBrk="1" latinLnBrk="0" hangingPunct="1"/>
            <a:endParaRPr lang="en-US" sz="4800" dirty="0"/>
          </a:p>
          <a:p>
            <a:pPr marL="0" algn="l" defTabSz="457200" rtl="0" eaLnBrk="1" latinLnBrk="0" hangingPunct="1"/>
            <a:r>
              <a:rPr lang="en-US" sz="4800" dirty="0"/>
              <a:t>Published on: Dec 26, 2025</a:t>
            </a:r>
          </a:p>
          <a:p>
            <a:pPr marL="0" algn="l" defTabSz="457200" rtl="0" eaLnBrk="1" latinLnBrk="0" hangingPunct="1"/>
            <a:r>
              <a:rPr lang="en-US" sz="4800" dirty="0"/>
              <a:t>View: 1,823</a:t>
            </a:r>
          </a:p>
          <a:p>
            <a:pPr marL="0" algn="l" defTabSz="457200" rtl="0" eaLnBrk="1" latinLnBrk="0" hangingPunct="1"/>
            <a:r>
              <a:rPr lang="en-DE" sz="4800" dirty="0"/>
              <a:t>Likes: 89.5 %</a:t>
            </a:r>
          </a:p>
          <a:p>
            <a:pPr marL="0" algn="l" defTabSz="457200" rtl="0" eaLnBrk="1" latinLnBrk="0" hangingPunct="1"/>
            <a:endParaRPr lang="en-DE" sz="4800" dirty="0"/>
          </a:p>
          <a:p>
            <a:pPr marL="0" algn="l" defTabSz="457200" rtl="0" eaLnBrk="1" latinLnBrk="0" hangingPunct="1"/>
            <a:r>
              <a:rPr lang="en-DE" sz="4800" dirty="0"/>
              <a:t>2-Stop using For-Loops for Lists</a:t>
            </a:r>
          </a:p>
          <a:p>
            <a:pPr marL="0" algn="l" defTabSz="457200" rtl="0" eaLnBrk="1" latinLnBrk="0" hangingPunct="1"/>
            <a:endParaRPr lang="en-DE" sz="4800" dirty="0"/>
          </a:p>
          <a:p>
            <a:pPr marL="0" algn="l" defTabSz="457200" rtl="0" eaLnBrk="1" latinLnBrk="0" hangingPunct="1"/>
            <a:r>
              <a:rPr lang="en-DE" sz="4800" dirty="0"/>
              <a:t>Pulished on: Dec 27, 2025</a:t>
            </a:r>
          </a:p>
          <a:p>
            <a:pPr marL="0" algn="l" defTabSz="457200" rtl="0" eaLnBrk="1" latinLnBrk="0" hangingPunct="1"/>
            <a:r>
              <a:rPr lang="en-DE" sz="4800" dirty="0"/>
              <a:t>Views: 1,444</a:t>
            </a:r>
          </a:p>
          <a:p>
            <a:pPr marL="0" algn="l" defTabSz="457200" rtl="0" eaLnBrk="1" latinLnBrk="0" hangingPunct="1"/>
            <a:r>
              <a:rPr lang="en-DE" sz="4800" dirty="0"/>
              <a:t>Likes: 82.4 %</a:t>
            </a:r>
          </a:p>
        </p:txBody>
      </p:sp>
    </p:spTree>
    <p:extLst>
      <p:ext uri="{BB962C8B-B14F-4D97-AF65-F5344CB8AC3E}">
        <p14:creationId xmlns:p14="http://schemas.microsoft.com/office/powerpoint/2010/main" val="243970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C05BC-0533-796C-D3DC-9ED8DA97B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981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38E8A-F345-474F-746A-8BFA648CB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705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011F1-40B2-354A-AEA3-0367EC08A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186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C4AA3-0022-BA0D-9E7D-66B13B5B9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713812-7693-7A33-F95C-E7CBF82C0AC7}"/>
              </a:ext>
            </a:extLst>
          </p:cNvPr>
          <p:cNvSpPr/>
          <p:nvPr/>
        </p:nvSpPr>
        <p:spPr>
          <a:xfrm>
            <a:off x="-795" y="25399"/>
            <a:ext cx="10285413" cy="9144000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13500000" scaled="1"/>
            <a:tileRect/>
          </a:gradFill>
          <a:ln w="317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DE" dirty="0">
              <a:latin typeface="Patrick Hand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9978CD-953A-DE5A-0C5E-B22506EFEBA5}"/>
              </a:ext>
            </a:extLst>
          </p:cNvPr>
          <p:cNvSpPr/>
          <p:nvPr/>
        </p:nvSpPr>
        <p:spPr>
          <a:xfrm>
            <a:off x="-794" y="9144000"/>
            <a:ext cx="10285413" cy="9144000"/>
          </a:xfrm>
          <a:prstGeom prst="rect">
            <a:avLst/>
          </a:prstGeom>
          <a:gradFill flip="none" rotWithShape="1">
            <a:gsLst>
              <a:gs pos="0">
                <a:schemeClr val="accent6">
                  <a:tint val="66000"/>
                  <a:satMod val="160000"/>
                </a:schemeClr>
              </a:gs>
              <a:gs pos="50000">
                <a:schemeClr val="accent6">
                  <a:tint val="44500"/>
                  <a:satMod val="160000"/>
                </a:schemeClr>
              </a:gs>
              <a:gs pos="100000">
                <a:schemeClr val="accent6">
                  <a:tint val="23500"/>
                  <a:satMod val="160000"/>
                </a:schemeClr>
              </a:gs>
            </a:gsLst>
            <a:lin ang="13500000" scaled="1"/>
            <a:tileRect/>
          </a:gradFill>
          <a:ln w="317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DE" dirty="0">
              <a:latin typeface="Patrick Hand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CF1C6B-B5DF-DB15-335C-9EF9D02E26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00" t="36257" r="12564" b="17086"/>
          <a:stretch>
            <a:fillRect/>
          </a:stretch>
        </p:blipFill>
        <p:spPr>
          <a:xfrm>
            <a:off x="9333" y="2819400"/>
            <a:ext cx="10315977" cy="548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5C1FB9-F7E4-D807-6D39-929DB29A7E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971" t="42773" r="9579" b="22419"/>
          <a:stretch>
            <a:fillRect/>
          </a:stretch>
        </p:blipFill>
        <p:spPr>
          <a:xfrm>
            <a:off x="-30564" y="12598400"/>
            <a:ext cx="10305074" cy="2006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931037C-127C-092B-3046-21C5E1305743}"/>
              </a:ext>
            </a:extLst>
          </p:cNvPr>
          <p:cNvSpPr/>
          <p:nvPr/>
        </p:nvSpPr>
        <p:spPr>
          <a:xfrm>
            <a:off x="1577100" y="981670"/>
            <a:ext cx="7131212" cy="13234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8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Patrick Hand" pitchFamily="2" charset="77"/>
              </a:rPr>
              <a:t>DIRTY CODE</a:t>
            </a:r>
          </a:p>
        </p:txBody>
      </p:sp>
      <p:pic>
        <p:nvPicPr>
          <p:cNvPr id="12" name="Graphic 11" descr="Close with solid fill">
            <a:extLst>
              <a:ext uri="{FF2B5EF4-FFF2-40B4-BE49-F238E27FC236}">
                <a16:creationId xmlns:a16="http://schemas.microsoft.com/office/drawing/2014/main" id="{28F1D416-1464-F569-BAAC-4CE3AC639C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78818" y="1219200"/>
            <a:ext cx="914400" cy="914400"/>
          </a:xfrm>
          <a:prstGeom prst="rect">
            <a:avLst/>
          </a:prstGeom>
        </p:spPr>
      </p:pic>
      <p:pic>
        <p:nvPicPr>
          <p:cNvPr id="14" name="Graphic 13" descr="Tick with solid fill">
            <a:extLst>
              <a:ext uri="{FF2B5EF4-FFF2-40B4-BE49-F238E27FC236}">
                <a16:creationId xmlns:a16="http://schemas.microsoft.com/office/drawing/2014/main" id="{F2663517-508C-9559-F50A-E9F1B59AB8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93912" y="10998200"/>
            <a:ext cx="914400" cy="9144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C884966-F1E0-E28C-8306-94E3476AE9EB}"/>
              </a:ext>
            </a:extLst>
          </p:cNvPr>
          <p:cNvSpPr/>
          <p:nvPr/>
        </p:nvSpPr>
        <p:spPr>
          <a:xfrm>
            <a:off x="1462006" y="10805060"/>
            <a:ext cx="7131212" cy="13234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8000" b="1" dirty="0">
                <a:ln w="12700">
                  <a:solidFill>
                    <a:srgbClr val="00B050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Patrick Hand" pitchFamily="2" charset="77"/>
              </a:rPr>
              <a:t>CLEAN CODE</a:t>
            </a:r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F519B709-69F6-84B3-4A2B-206F2AAA7983}"/>
              </a:ext>
            </a:extLst>
          </p:cNvPr>
          <p:cNvSpPr/>
          <p:nvPr/>
        </p:nvSpPr>
        <p:spPr>
          <a:xfrm>
            <a:off x="3683000" y="8610600"/>
            <a:ext cx="2921000" cy="2194460"/>
          </a:xfrm>
          <a:prstGeom prst="downArrow">
            <a:avLst/>
          </a:prstGeom>
          <a:solidFill>
            <a:schemeClr val="bg1"/>
          </a:solidFill>
          <a:ln w="317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DE" dirty="0">
              <a:latin typeface="Patrick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67177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1B1B0-39CE-3C51-C24E-ABF73D965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802CAF-95E1-EFA2-C49B-20ECF3FC9A84}"/>
              </a:ext>
            </a:extLst>
          </p:cNvPr>
          <p:cNvSpPr/>
          <p:nvPr/>
        </p:nvSpPr>
        <p:spPr>
          <a:xfrm>
            <a:off x="0" y="-4044"/>
            <a:ext cx="10285413" cy="9144000"/>
          </a:xfrm>
          <a:prstGeom prst="rect">
            <a:avLst/>
          </a:prstGeom>
          <a:solidFill>
            <a:srgbClr val="FF0000"/>
          </a:solidFill>
          <a:ln w="317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DE" dirty="0">
              <a:latin typeface="Patrick Hand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4D01AC-1DD0-FC59-5104-9672E73CED94}"/>
              </a:ext>
            </a:extLst>
          </p:cNvPr>
          <p:cNvSpPr/>
          <p:nvPr/>
        </p:nvSpPr>
        <p:spPr>
          <a:xfrm>
            <a:off x="0" y="9141359"/>
            <a:ext cx="10285413" cy="9144000"/>
          </a:xfrm>
          <a:prstGeom prst="rect">
            <a:avLst/>
          </a:prstGeom>
          <a:solidFill>
            <a:srgbClr val="00B050"/>
          </a:solidFill>
          <a:ln w="317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DE" dirty="0">
              <a:latin typeface="Patrick Hand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3DBDE4-CC7E-7734-1D50-B787AABC9551}"/>
              </a:ext>
            </a:extLst>
          </p:cNvPr>
          <p:cNvSpPr/>
          <p:nvPr/>
        </p:nvSpPr>
        <p:spPr>
          <a:xfrm>
            <a:off x="1460856" y="905470"/>
            <a:ext cx="7363700" cy="13234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8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Patrick Hand" pitchFamily="2" charset="77"/>
              </a:rPr>
              <a:t>If-Else Overload!</a:t>
            </a:r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55772E81-9193-63D2-027C-D655766BEF2C}"/>
              </a:ext>
            </a:extLst>
          </p:cNvPr>
          <p:cNvSpPr/>
          <p:nvPr/>
        </p:nvSpPr>
        <p:spPr>
          <a:xfrm>
            <a:off x="4573952" y="8762893"/>
            <a:ext cx="1137508" cy="2110345"/>
          </a:xfrm>
          <a:prstGeom prst="downArrow">
            <a:avLst/>
          </a:prstGeom>
          <a:solidFill>
            <a:schemeClr val="bg1"/>
          </a:solidFill>
          <a:ln w="317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DE" dirty="0">
              <a:latin typeface="Patrick Hand" pitchFamily="2" charset="77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32E734C-5EB8-8FD1-0EF7-E377017C85E8}"/>
              </a:ext>
            </a:extLst>
          </p:cNvPr>
          <p:cNvGrpSpPr/>
          <p:nvPr/>
        </p:nvGrpSpPr>
        <p:grpSpPr>
          <a:xfrm>
            <a:off x="730428" y="2843759"/>
            <a:ext cx="8824556" cy="5774756"/>
            <a:chOff x="730428" y="2338436"/>
            <a:chExt cx="8824556" cy="577475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594F334-1F68-A2D3-63B4-253FBA3BEE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2460" t="31855" r="15333" b="19954"/>
            <a:stretch>
              <a:fillRect/>
            </a:stretch>
          </p:blipFill>
          <p:spPr>
            <a:xfrm>
              <a:off x="730428" y="2338436"/>
              <a:ext cx="8824556" cy="5774756"/>
            </a:xfrm>
            <a:prstGeom prst="rect">
              <a:avLst/>
            </a:prstGeom>
          </p:spPr>
        </p:pic>
        <p:pic>
          <p:nvPicPr>
            <p:cNvPr id="12" name="Graphic 11" descr="Close with solid fill">
              <a:extLst>
                <a:ext uri="{FF2B5EF4-FFF2-40B4-BE49-F238E27FC236}">
                  <a16:creationId xmlns:a16="http://schemas.microsoft.com/office/drawing/2014/main" id="{241A3745-1952-29BF-E870-F8620CD4D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28804" y="7065294"/>
              <a:ext cx="914400" cy="914400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F0CF991-83F3-5F12-62CF-6879ECDB3AAB}"/>
              </a:ext>
            </a:extLst>
          </p:cNvPr>
          <p:cNvSpPr txBox="1"/>
          <p:nvPr/>
        </p:nvSpPr>
        <p:spPr>
          <a:xfrm>
            <a:off x="0" y="10724463"/>
            <a:ext cx="102854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8000" dirty="0">
                <a:solidFill>
                  <a:schemeClr val="bg1"/>
                </a:solidFill>
                <a:latin typeface="Patrick Hand" pitchFamily="2" charset="77"/>
              </a:rPr>
              <a:t>Cleaner and Faster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0D34CB-C7DB-0D8F-EDEF-56289B6D433D}"/>
              </a:ext>
            </a:extLst>
          </p:cNvPr>
          <p:cNvSpPr txBox="1"/>
          <p:nvPr/>
        </p:nvSpPr>
        <p:spPr>
          <a:xfrm>
            <a:off x="0" y="17321163"/>
            <a:ext cx="10285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>
                <a:ln/>
                <a:solidFill>
                  <a:srgbClr val="FFFF00"/>
                </a:solidFill>
                <a:latin typeface="+mj-lt"/>
              </a:rPr>
              <a:t>@</a:t>
            </a:r>
            <a:r>
              <a:rPr lang="en-GB" sz="5400" b="1" dirty="0" err="1">
                <a:ln/>
                <a:solidFill>
                  <a:srgbClr val="FFFF00"/>
                </a:solidFill>
                <a:latin typeface="+mj-lt"/>
              </a:rPr>
              <a:t>CodeWithEbrahim</a:t>
            </a:r>
            <a:endParaRPr lang="en-GB" sz="5400" b="1" dirty="0">
              <a:ln/>
              <a:solidFill>
                <a:srgbClr val="FFFF00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9646EC-A33F-029A-5FD4-9F5CDA53A0A8}"/>
              </a:ext>
            </a:extLst>
          </p:cNvPr>
          <p:cNvSpPr txBox="1"/>
          <p:nvPr/>
        </p:nvSpPr>
        <p:spPr>
          <a:xfrm>
            <a:off x="32085" y="-20368"/>
            <a:ext cx="10285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>
                <a:ln/>
                <a:solidFill>
                  <a:srgbClr val="FFFF00"/>
                </a:solidFill>
                <a:latin typeface="+mj-lt"/>
              </a:rPr>
              <a:t>@</a:t>
            </a:r>
            <a:r>
              <a:rPr lang="en-GB" sz="5400" b="1" dirty="0" err="1">
                <a:ln/>
                <a:solidFill>
                  <a:srgbClr val="FFFF00"/>
                </a:solidFill>
                <a:latin typeface="+mj-lt"/>
              </a:rPr>
              <a:t>CodeWithEbrahim</a:t>
            </a:r>
            <a:endParaRPr lang="en-GB" sz="5400" b="1" dirty="0">
              <a:ln/>
              <a:solidFill>
                <a:srgbClr val="FFFF00"/>
              </a:solidFill>
              <a:latin typeface="+mj-lt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8141ED9-21AC-2EB5-DCA8-1DB8344926A7}"/>
              </a:ext>
            </a:extLst>
          </p:cNvPr>
          <p:cNvGrpSpPr/>
          <p:nvPr/>
        </p:nvGrpSpPr>
        <p:grpSpPr>
          <a:xfrm>
            <a:off x="278238" y="12591891"/>
            <a:ext cx="9728936" cy="2852350"/>
            <a:chOff x="278238" y="12591891"/>
            <a:chExt cx="9728936" cy="2852350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F600660-B2F5-DAD6-DEB6-D7E1D7FD3F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4206" t="34999" r="11348" b="26848"/>
            <a:stretch>
              <a:fillRect/>
            </a:stretch>
          </p:blipFill>
          <p:spPr>
            <a:xfrm>
              <a:off x="278238" y="12591891"/>
              <a:ext cx="9728936" cy="2852350"/>
            </a:xfrm>
            <a:prstGeom prst="rect">
              <a:avLst/>
            </a:prstGeom>
          </p:spPr>
        </p:pic>
        <p:pic>
          <p:nvPicPr>
            <p:cNvPr id="14" name="Graphic 13" descr="Tick with solid fill">
              <a:extLst>
                <a:ext uri="{FF2B5EF4-FFF2-40B4-BE49-F238E27FC236}">
                  <a16:creationId xmlns:a16="http://schemas.microsoft.com/office/drawing/2014/main" id="{E90B67AF-3F53-5D57-802D-C842B2809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125969" y="14422542"/>
              <a:ext cx="841273" cy="9706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0510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C0FC5C-9A1B-2F88-F479-50424DDDD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C545B3-CE47-A03F-6421-E8C90CB6ADF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427" t="28769" r="11619" b="14751"/>
          <a:stretch>
            <a:fillRect/>
          </a:stretch>
        </p:blipFill>
        <p:spPr>
          <a:xfrm>
            <a:off x="-42917" y="4451710"/>
            <a:ext cx="10328330" cy="53755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0871C5-641B-5244-5AA7-5C85A833803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6551" t="33107" r="11373" b="19724"/>
          <a:stretch>
            <a:fillRect/>
          </a:stretch>
        </p:blipFill>
        <p:spPr>
          <a:xfrm>
            <a:off x="-42918" y="11822323"/>
            <a:ext cx="10328400" cy="42078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FB95669-C168-4572-DD10-024C3E650E04}"/>
              </a:ext>
            </a:extLst>
          </p:cNvPr>
          <p:cNvSpPr txBox="1"/>
          <p:nvPr/>
        </p:nvSpPr>
        <p:spPr>
          <a:xfrm>
            <a:off x="2170229" y="1745204"/>
            <a:ext cx="5944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>
                <a:ln/>
                <a:latin typeface="+mj-lt"/>
              </a:rPr>
              <a:t>@</a:t>
            </a:r>
            <a:r>
              <a:rPr lang="en-GB" sz="5400" b="1" dirty="0" err="1">
                <a:ln/>
                <a:latin typeface="+mj-lt"/>
              </a:rPr>
              <a:t>CodeWithEbrahim</a:t>
            </a:r>
            <a:endParaRPr lang="en-GB" sz="5400" b="1" dirty="0">
              <a:ln/>
              <a:latin typeface="+mj-lt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83BD0B-E8B4-948F-DE6D-863A162CA9C1}"/>
              </a:ext>
            </a:extLst>
          </p:cNvPr>
          <p:cNvGrpSpPr/>
          <p:nvPr/>
        </p:nvGrpSpPr>
        <p:grpSpPr>
          <a:xfrm>
            <a:off x="4153139" y="492745"/>
            <a:ext cx="1979135" cy="925200"/>
            <a:chOff x="4315976" y="15244200"/>
            <a:chExt cx="1979135" cy="92520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D52AB9E-4D60-D0FB-656A-3E8AD099E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69911" y="15244200"/>
              <a:ext cx="925200" cy="92520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48D8E68-472C-127B-8D50-6ABFB3203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15976" y="15244200"/>
              <a:ext cx="925200" cy="925200"/>
            </a:xfrm>
            <a:prstGeom prst="rect">
              <a:avLst/>
            </a:prstGeom>
          </p:spPr>
        </p:pic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408F8D5-CBEF-DB53-71DD-415C735FFEF0}"/>
              </a:ext>
            </a:extLst>
          </p:cNvPr>
          <p:cNvSpPr/>
          <p:nvPr/>
        </p:nvSpPr>
        <p:spPr>
          <a:xfrm>
            <a:off x="2532857" y="2871992"/>
            <a:ext cx="521969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Patrick Hand" pitchFamily="2" charset="77"/>
              </a:rPr>
              <a:t>Legacy Way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0E9936-7110-450A-9576-39615EF11B30}"/>
              </a:ext>
            </a:extLst>
          </p:cNvPr>
          <p:cNvSpPr/>
          <p:nvPr/>
        </p:nvSpPr>
        <p:spPr>
          <a:xfrm>
            <a:off x="2090428" y="10228754"/>
            <a:ext cx="6104556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atrick Hand" pitchFamily="2" charset="77"/>
              </a:rPr>
              <a:t>Pythonic Way</a:t>
            </a:r>
          </a:p>
        </p:txBody>
      </p:sp>
      <p:sp>
        <p:nvSpPr>
          <p:cNvPr id="18" name="Curved Right Arrow 17">
            <a:extLst>
              <a:ext uri="{FF2B5EF4-FFF2-40B4-BE49-F238E27FC236}">
                <a16:creationId xmlns:a16="http://schemas.microsoft.com/office/drawing/2014/main" id="{E6FC7DB3-67EC-D839-66A1-97F35ACCD311}"/>
              </a:ext>
            </a:extLst>
          </p:cNvPr>
          <p:cNvSpPr/>
          <p:nvPr/>
        </p:nvSpPr>
        <p:spPr>
          <a:xfrm>
            <a:off x="2" y="7426033"/>
            <a:ext cx="1136071" cy="5375565"/>
          </a:xfrm>
          <a:prstGeom prst="curvedRightArrow">
            <a:avLst/>
          </a:prstGeom>
          <a:solidFill>
            <a:srgbClr val="FFFF00"/>
          </a:solidFill>
          <a:ln w="317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DE" dirty="0">
              <a:solidFill>
                <a:schemeClr val="tx1"/>
              </a:solidFill>
              <a:latin typeface="Patrick Hand" pitchFamily="2" charset="77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3D7D60-AD8E-40FA-06A8-4988EB02BF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9119" y="4534837"/>
            <a:ext cx="1063167" cy="10631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8B3358B-03D9-F7B7-FBFC-221E87B77F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31467" y="11933159"/>
            <a:ext cx="1063167" cy="10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3655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10988C-393A-23A2-9DF5-C9402B5BC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C94C1A1-69EB-E6EC-D3BA-027C6D90EB82}"/>
              </a:ext>
            </a:extLst>
          </p:cNvPr>
          <p:cNvSpPr txBox="1"/>
          <p:nvPr/>
        </p:nvSpPr>
        <p:spPr>
          <a:xfrm>
            <a:off x="2170229" y="1745204"/>
            <a:ext cx="5944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>
                <a:ln/>
                <a:latin typeface="+mj-lt"/>
              </a:rPr>
              <a:t>@</a:t>
            </a:r>
            <a:r>
              <a:rPr lang="en-GB" sz="5400" b="1" dirty="0" err="1">
                <a:ln/>
                <a:latin typeface="+mj-lt"/>
              </a:rPr>
              <a:t>CodeWithEbrahim</a:t>
            </a:r>
            <a:endParaRPr lang="en-GB" sz="5400" b="1" dirty="0">
              <a:ln/>
              <a:latin typeface="+mj-lt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D4EDCFD-B4CE-5F3E-8F52-3E9F9E32C756}"/>
              </a:ext>
            </a:extLst>
          </p:cNvPr>
          <p:cNvGrpSpPr/>
          <p:nvPr/>
        </p:nvGrpSpPr>
        <p:grpSpPr>
          <a:xfrm>
            <a:off x="4153139" y="492745"/>
            <a:ext cx="1979135" cy="925200"/>
            <a:chOff x="4315976" y="15244200"/>
            <a:chExt cx="1979135" cy="92520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4E5CD8C-9467-E9B0-9A00-E872AB9F5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9911" y="15244200"/>
              <a:ext cx="925200" cy="92520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ED81F4E-8FE1-91C6-D491-DF069C1F3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15976" y="15244200"/>
              <a:ext cx="925200" cy="925200"/>
            </a:xfrm>
            <a:prstGeom prst="rect">
              <a:avLst/>
            </a:prstGeom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23AC5CE5-04A1-B6FD-83C8-F82209A884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4594" y="10519995"/>
            <a:ext cx="1063167" cy="10631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F44863-C29F-FCE4-E7E0-B9ABB8B5D9B5}"/>
              </a:ext>
            </a:extLst>
          </p:cNvPr>
          <p:cNvSpPr txBox="1"/>
          <p:nvPr/>
        </p:nvSpPr>
        <p:spPr>
          <a:xfrm>
            <a:off x="0" y="3590249"/>
            <a:ext cx="51419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8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Patrick Hand" pitchFamily="2" charset="77"/>
              </a:rPr>
              <a:t>Normal Way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8FC581-0BD0-5A6A-A485-3A1B1BC64D9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0671" t="35066" r="18959" b="19538"/>
          <a:stretch>
            <a:fillRect/>
          </a:stretch>
        </p:blipFill>
        <p:spPr>
          <a:xfrm>
            <a:off x="5141913" y="5832762"/>
            <a:ext cx="5151989" cy="5860474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43DB44-0373-2D09-5ACB-BE5BD55F24B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0716" t="34385" r="19230" b="18534"/>
          <a:stretch>
            <a:fillRect/>
          </a:stretch>
        </p:blipFill>
        <p:spPr>
          <a:xfrm>
            <a:off x="-1" y="5832762"/>
            <a:ext cx="5141913" cy="58604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668048-DB41-672C-2A26-164430233908}"/>
              </a:ext>
            </a:extLst>
          </p:cNvPr>
          <p:cNvSpPr txBox="1"/>
          <p:nvPr/>
        </p:nvSpPr>
        <p:spPr>
          <a:xfrm>
            <a:off x="5151990" y="3590249"/>
            <a:ext cx="51419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DE" sz="8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Patrick Hand" pitchFamily="2" charset="77"/>
              </a:rPr>
              <a:t>Pythonic Way</a:t>
            </a:r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A0E326E4-6752-ABE3-79D4-5CDE4020AD5E}"/>
              </a:ext>
            </a:extLst>
          </p:cNvPr>
          <p:cNvSpPr/>
          <p:nvPr/>
        </p:nvSpPr>
        <p:spPr>
          <a:xfrm>
            <a:off x="2052340" y="4978368"/>
            <a:ext cx="720000" cy="1323439"/>
          </a:xfrm>
          <a:prstGeom prst="downArrow">
            <a:avLst/>
          </a:prstGeom>
          <a:solidFill>
            <a:srgbClr val="FFFF00"/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DE" dirty="0">
              <a:latin typeface="Patrick Hand" pitchFamily="2" charset="77"/>
            </a:endParaRPr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F383A996-922C-DA85-9D37-6CC58FCBA2FF}"/>
              </a:ext>
            </a:extLst>
          </p:cNvPr>
          <p:cNvSpPr/>
          <p:nvPr/>
        </p:nvSpPr>
        <p:spPr>
          <a:xfrm>
            <a:off x="7513073" y="4978368"/>
            <a:ext cx="720000" cy="1323439"/>
          </a:xfrm>
          <a:prstGeom prst="downArrow">
            <a:avLst/>
          </a:prstGeom>
          <a:solidFill>
            <a:srgbClr val="FFFF00"/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DE" dirty="0">
              <a:latin typeface="Patrick Hand" pitchFamily="2" charset="77"/>
            </a:endParaRP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B644678F-DD43-F00C-B900-A7B1E39CFE71}"/>
              </a:ext>
            </a:extLst>
          </p:cNvPr>
          <p:cNvSpPr/>
          <p:nvPr/>
        </p:nvSpPr>
        <p:spPr>
          <a:xfrm>
            <a:off x="4350325" y="7947287"/>
            <a:ext cx="1321200" cy="720000"/>
          </a:xfrm>
          <a:prstGeom prst="rightArrow">
            <a:avLst/>
          </a:prstGeom>
          <a:solidFill>
            <a:srgbClr val="FFFF00"/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DE" dirty="0">
              <a:latin typeface="Patrick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8280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0972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0">
          <a:solidFill>
            <a:schemeClr val="accent1">
              <a:shade val="15000"/>
            </a:schemeClr>
          </a:solidFill>
        </a:ln>
      </a:spPr>
      <a:bodyPr rtlCol="0" anchor="ctr"/>
      <a:lstStyle>
        <a:defPPr marL="0" algn="ctr" defTabSz="457200" rtl="0" eaLnBrk="1" latinLnBrk="0" hangingPunct="1">
          <a:defRPr dirty="0">
            <a:latin typeface="Patrick Hand" pitchFamily="2" charset="7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chemeClr val="tx1"/>
          </a:solidFill>
          <a:headEnd type="none"/>
          <a:tailEnd type="arrow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1c9b508-7c6e-42bd-bedf-808292653d6c}" enabled="1" method="Standard" siteId="{2882be50-2012-4d88-ac86-544124e120c8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17906</TotalTime>
  <Words>122</Words>
  <Application>Microsoft Macintosh PowerPoint</Application>
  <PresentationFormat>Custom</PresentationFormat>
  <Paragraphs>37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Patrick Hand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Salehi Oshtorjani, Ebrahim (K-DACT/F)</dc:creator>
  <cp:lastModifiedBy>Salehi Oshtorjani, Ebrahim (K-DACT/F)</cp:lastModifiedBy>
  <cp:revision>138</cp:revision>
  <cp:lastPrinted>2025-12-17T08:49:37Z</cp:lastPrinted>
  <dcterms:created xsi:type="dcterms:W3CDTF">2025-12-17T08:13:25Z</dcterms:created>
  <dcterms:modified xsi:type="dcterms:W3CDTF">2025-12-30T18:27:13Z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Atlas:8</vt:lpwstr>
  </property>
  <property fmtid="{D5CDD505-2E9C-101B-9397-08002B2CF9AE}" pid="3" name="ClassificationContentMarkingFooterText">
    <vt:lpwstr>INTERNAL</vt:lpwstr>
  </property>
</Properties>
</file>