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omments/modernComment_111_495F277A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732" r:id="rId1"/>
  </p:sldMasterIdLst>
  <p:notesMasterIdLst>
    <p:notesMasterId r:id="rId10"/>
  </p:notesMasterIdLst>
  <p:sldIdLst>
    <p:sldId id="263" r:id="rId2"/>
    <p:sldId id="271" r:id="rId3"/>
    <p:sldId id="266" r:id="rId4"/>
    <p:sldId id="267" r:id="rId5"/>
    <p:sldId id="264" r:id="rId6"/>
    <p:sldId id="274" r:id="rId7"/>
    <p:sldId id="275" r:id="rId8"/>
    <p:sldId id="273" r:id="rId9"/>
  </p:sldIdLst>
  <p:sldSz cx="10285413" cy="1828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5737" userDrawn="1">
          <p15:clr>
            <a:srgbClr val="A4A3A4"/>
          </p15:clr>
        </p15:guide>
        <p15:guide id="2" pos="3240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8860045D-B334-310D-0A4E-9E20AA0B149E}" name="Salehi Oshtorjani, Ebrahim (K-DACT/F)" initials="SOE(D" userId="S::ebrahim.salehi.oshtorjani1@volkswagen.de::56f2298d-f17e-4b85-9b58-413b9e2aed6c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0905"/>
    <p:restoredTop sz="96774"/>
  </p:normalViewPr>
  <p:slideViewPr>
    <p:cSldViewPr snapToGrid="0">
      <p:cViewPr>
        <p:scale>
          <a:sx n="74" d="100"/>
          <a:sy n="74" d="100"/>
        </p:scale>
        <p:origin x="1520" y="-424"/>
      </p:cViewPr>
      <p:guideLst>
        <p:guide orient="horz" pos="5737"/>
        <p:guide pos="3240"/>
      </p:guideLst>
    </p:cSldViewPr>
  </p:slideViewPr>
  <p:notesTextViewPr>
    <p:cViewPr>
      <p:scale>
        <a:sx n="1" d="1"/>
        <a:sy n="1" d="1"/>
      </p:scale>
      <p:origin x="0" y="-56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8/10/relationships/authors" Target="author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omments/modernComment_111_495F277A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D9AA41E5-7F1A-814B-A122-E04A052682B1}" authorId="{8860045D-B334-310D-0A4E-9E20AA0B149E}" created="2025-12-31T15:40:41.497">
    <pc:sldMkLst xmlns:pc="http://schemas.microsoft.com/office/powerpoint/2013/main/command">
      <pc:docMk/>
      <pc:sldMk cId="1230972794" sldId="273"/>
    </pc:sldMkLst>
    <p188:replyLst>
      <p188:reply id="{C9715592-8908-484F-890E-9064472D8F44}" authorId="{8860045D-B334-310D-0A4E-9E20AA0B149E}" created="2025-12-31T15:41:01.364">
        <p188:txBody>
          <a:bodyPr/>
          <a:lstStyle/>
          <a:p>
            <a:r>
              <a:rPr lang="en-DE"/>
              <a:t>TikTok
Caption:
2026 is the year of Clean Code! 🐍✨
Stop repeating yourself and start using the Walrus Operator :=. It’s faster, shorter, and much more professional. 🚀
Which Python feature do you want to master this year? Let me know below! 👇
#CodeWithEbrahim #PythonTips #TechTok #Coding2026 #Programmer #LearnPython #SoftwareDev
</a:t>
            </a:r>
          </a:p>
        </p188:txBody>
      </p188:reply>
    </p188:replyLst>
    <p188:txBody>
      <a:bodyPr/>
      <a:lstStyle/>
      <a:p>
        <a:r>
          <a:rPr lang="en-DE"/>
          <a:t>YouTube Shorts
Title Options:
Level Up Your Python in 2026! 🐍🦭
The Only Python Operator You Need This Year!
Master the Walrus Operator in 60 Seconds 🔥
Python Tips 2026: Write Faster, Cleaner Code
Description:
Happy 2026! 🚀 Let's start the year by mastering one of Python's most powerful tools: The Walrus Operator (:=).
In this video, we see why Senior Developers prefer "Assignment Expressions" over traditional variable assignments.
💡 Why use Walrus?
Reduces code repetition.
Assignments happen inside the expression.
Makes your if and while loops incredibly clean.
✅ Follow @CodeWithEbrahim for a year full of coding excellence!
#Python2026 #WalrusOperator #CleanCode #ProgrammingTips #SoftwareEngineer #CodingLife #PythonTutorial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EF57384-5D6E-7E42-90C4-560B39EF53DD}" type="datetimeFigureOut">
              <a:rPr lang="en-DE" smtClean="0"/>
              <a:t>28.12.25</a:t>
            </a:fld>
            <a:endParaRPr lang="en-D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560638" y="1143000"/>
            <a:ext cx="17367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46D1A58-C582-AC49-9010-037E894CD422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5564076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This Slide was second one and has been made on 26.12.2025, </a:t>
            </a:r>
            <a:br>
              <a:rPr lang="en-DE" dirty="0"/>
            </a:br>
            <a:r>
              <a:rPr lang="en-DE" dirty="0"/>
              <a:t>the related file is :  </a:t>
            </a:r>
            <a:r>
              <a:rPr lang="en-GB" dirty="0"/>
              <a:t>list-</a:t>
            </a:r>
            <a:r>
              <a:rPr lang="en-GB" dirty="0" err="1"/>
              <a:t>comprehensions.py</a:t>
            </a:r>
            <a:endParaRPr lang="en-GB" dirty="0"/>
          </a:p>
          <a:p>
            <a:r>
              <a:rPr lang="en-GB" dirty="0"/>
              <a:t>Info:</a:t>
            </a:r>
          </a:p>
          <a:p>
            <a:r>
              <a:rPr lang="en-GB" dirty="0"/>
              <a:t>Video Number: 2</a:t>
            </a:r>
          </a:p>
          <a:p>
            <a:r>
              <a:rPr lang="en-GB" dirty="0"/>
              <a:t>Published Date: 26.12.2025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File Name: list-</a:t>
            </a:r>
            <a:r>
              <a:rPr lang="en-GB" dirty="0" err="1"/>
              <a:t>comprehensions.py</a:t>
            </a:r>
            <a:endParaRPr lang="en-GB" dirty="0"/>
          </a:p>
          <a:p>
            <a:endParaRPr lang="en-GB" dirty="0"/>
          </a:p>
          <a:p>
            <a:endParaRPr lang="en-DE" dirty="0"/>
          </a:p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6D1A58-C582-AC49-9010-037E894CD422}" type="slidenum">
              <a:rPr lang="en-DE" smtClean="0"/>
              <a:t>3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3347825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6E374C-FF6C-6A59-86BD-42037466D9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D0A34D-106F-9454-678C-79D548A98B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1F7E2D-684B-62F0-05F9-E7F57F4ED4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Video 3</a:t>
            </a:r>
            <a:br>
              <a:rPr lang="en-DE" dirty="0"/>
            </a:br>
            <a:r>
              <a:rPr lang="en-DE" dirty="0"/>
              <a:t>published on 29.12.2025</a:t>
            </a:r>
          </a:p>
          <a:p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4968ED-7ED9-AFC4-BA26-CA9AA4C4C2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6D1A58-C582-AC49-9010-037E894CD422}" type="slidenum">
              <a:rPr lang="en-DE" smtClean="0"/>
              <a:t>4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11952326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Video 4</a:t>
            </a:r>
            <a:br>
              <a:rPr lang="en-DE" dirty="0"/>
            </a:br>
            <a:r>
              <a:rPr lang="en-DE" dirty="0"/>
              <a:t>Published on 31.12.2025</a:t>
            </a:r>
          </a:p>
          <a:p>
            <a:r>
              <a:rPr lang="en-GB" dirty="0"/>
              <a:t>R</a:t>
            </a:r>
            <a:r>
              <a:rPr lang="en-DE" dirty="0"/>
              <a:t>elated files: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6D1A58-C582-AC49-9010-037E894CD422}" type="slidenum">
              <a:rPr lang="en-DE" smtClean="0"/>
              <a:t>5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48562340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Video 5</a:t>
            </a:r>
          </a:p>
          <a:p>
            <a:r>
              <a:rPr lang="en-DE" dirty="0"/>
              <a:t>Title: Swap Variables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6D1A58-C582-AC49-9010-037E894CD422}" type="slidenum">
              <a:rPr lang="en-DE" smtClean="0"/>
              <a:t>6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57637528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Video 6</a:t>
            </a:r>
          </a:p>
          <a:p>
            <a:r>
              <a:rPr lang="en-DE" dirty="0"/>
              <a:t>Title: enumerate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6D1A58-C582-AC49-9010-037E894CD422}" type="slidenum">
              <a:rPr lang="en-DE" smtClean="0"/>
              <a:t>7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1235931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71406" y="2992968"/>
            <a:ext cx="8742601" cy="6366933"/>
          </a:xfrm>
        </p:spPr>
        <p:txBody>
          <a:bodyPr anchor="b"/>
          <a:lstStyle>
            <a:lvl1pPr algn="ctr">
              <a:defRPr sz="6749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85677" y="9605435"/>
            <a:ext cx="7714060" cy="4415365"/>
          </a:xfrm>
        </p:spPr>
        <p:txBody>
          <a:bodyPr/>
          <a:lstStyle>
            <a:lvl1pPr marL="0" indent="0" algn="ctr">
              <a:buNone/>
              <a:defRPr sz="2700"/>
            </a:lvl1pPr>
            <a:lvl2pPr marL="514259" indent="0" algn="ctr">
              <a:buNone/>
              <a:defRPr sz="2250"/>
            </a:lvl2pPr>
            <a:lvl3pPr marL="1028517" indent="0" algn="ctr">
              <a:buNone/>
              <a:defRPr sz="2025"/>
            </a:lvl3pPr>
            <a:lvl4pPr marL="1542776" indent="0" algn="ctr">
              <a:buNone/>
              <a:defRPr sz="1800"/>
            </a:lvl4pPr>
            <a:lvl5pPr marL="2057034" indent="0" algn="ctr">
              <a:buNone/>
              <a:defRPr sz="1800"/>
            </a:lvl5pPr>
            <a:lvl6pPr marL="2571293" indent="0" algn="ctr">
              <a:buNone/>
              <a:defRPr sz="1800"/>
            </a:lvl6pPr>
            <a:lvl7pPr marL="3085551" indent="0" algn="ctr">
              <a:buNone/>
              <a:defRPr sz="1800"/>
            </a:lvl7pPr>
            <a:lvl8pPr marL="3599810" indent="0" algn="ctr">
              <a:buNone/>
              <a:defRPr sz="1800"/>
            </a:lvl8pPr>
            <a:lvl9pPr marL="4114068" indent="0" algn="ctr">
              <a:buNone/>
              <a:defRPr sz="18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12/28/25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0936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12/28/25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52180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1766" y="4559305"/>
            <a:ext cx="8871169" cy="7607299"/>
          </a:xfrm>
        </p:spPr>
        <p:txBody>
          <a:bodyPr anchor="b"/>
          <a:lstStyle>
            <a:lvl1pPr>
              <a:defRPr sz="6749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01766" y="12238572"/>
            <a:ext cx="8871169" cy="4000499"/>
          </a:xfrm>
        </p:spPr>
        <p:txBody>
          <a:bodyPr/>
          <a:lstStyle>
            <a:lvl1pPr marL="0" indent="0">
              <a:buNone/>
              <a:defRPr sz="2700">
                <a:solidFill>
                  <a:schemeClr val="tx1"/>
                </a:solidFill>
              </a:defRPr>
            </a:lvl1pPr>
            <a:lvl2pPr marL="514259" indent="0">
              <a:buNone/>
              <a:defRPr sz="2250">
                <a:solidFill>
                  <a:schemeClr val="tx1">
                    <a:tint val="75000"/>
                  </a:schemeClr>
                </a:solidFill>
              </a:defRPr>
            </a:lvl2pPr>
            <a:lvl3pPr marL="1028517" indent="0">
              <a:buNone/>
              <a:defRPr sz="2025">
                <a:solidFill>
                  <a:schemeClr val="tx1">
                    <a:tint val="75000"/>
                  </a:schemeClr>
                </a:solidFill>
              </a:defRPr>
            </a:lvl3pPr>
            <a:lvl4pPr marL="1542776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4pPr>
            <a:lvl5pPr marL="205703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5pPr>
            <a:lvl6pPr marL="2571293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6pPr>
            <a:lvl7pPr marL="3085551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7pPr>
            <a:lvl8pPr marL="359981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8pPr>
            <a:lvl9pPr marL="4114068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12/28/25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84873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07122" y="4868333"/>
            <a:ext cx="4371301" cy="1160356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206990" y="4868333"/>
            <a:ext cx="4371301" cy="1160356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12/28/25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7871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462" y="973670"/>
            <a:ext cx="8871169" cy="3534835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08463" y="4483101"/>
            <a:ext cx="4351211" cy="2197099"/>
          </a:xfrm>
        </p:spPr>
        <p:txBody>
          <a:bodyPr anchor="b"/>
          <a:lstStyle>
            <a:lvl1pPr marL="0" indent="0">
              <a:buNone/>
              <a:defRPr sz="2700" b="1"/>
            </a:lvl1pPr>
            <a:lvl2pPr marL="514259" indent="0">
              <a:buNone/>
              <a:defRPr sz="2250" b="1"/>
            </a:lvl2pPr>
            <a:lvl3pPr marL="1028517" indent="0">
              <a:buNone/>
              <a:defRPr sz="2025" b="1"/>
            </a:lvl3pPr>
            <a:lvl4pPr marL="1542776" indent="0">
              <a:buNone/>
              <a:defRPr sz="1800" b="1"/>
            </a:lvl4pPr>
            <a:lvl5pPr marL="2057034" indent="0">
              <a:buNone/>
              <a:defRPr sz="1800" b="1"/>
            </a:lvl5pPr>
            <a:lvl6pPr marL="2571293" indent="0">
              <a:buNone/>
              <a:defRPr sz="1800" b="1"/>
            </a:lvl6pPr>
            <a:lvl7pPr marL="3085551" indent="0">
              <a:buNone/>
              <a:defRPr sz="1800" b="1"/>
            </a:lvl7pPr>
            <a:lvl8pPr marL="3599810" indent="0">
              <a:buNone/>
              <a:defRPr sz="1800" b="1"/>
            </a:lvl8pPr>
            <a:lvl9pPr marL="4114068" indent="0">
              <a:buNone/>
              <a:defRPr sz="18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08463" y="6680200"/>
            <a:ext cx="4351211" cy="982556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206991" y="4483101"/>
            <a:ext cx="4372640" cy="2197099"/>
          </a:xfrm>
        </p:spPr>
        <p:txBody>
          <a:bodyPr anchor="b"/>
          <a:lstStyle>
            <a:lvl1pPr marL="0" indent="0">
              <a:buNone/>
              <a:defRPr sz="2700" b="1"/>
            </a:lvl1pPr>
            <a:lvl2pPr marL="514259" indent="0">
              <a:buNone/>
              <a:defRPr sz="2250" b="1"/>
            </a:lvl2pPr>
            <a:lvl3pPr marL="1028517" indent="0">
              <a:buNone/>
              <a:defRPr sz="2025" b="1"/>
            </a:lvl3pPr>
            <a:lvl4pPr marL="1542776" indent="0">
              <a:buNone/>
              <a:defRPr sz="1800" b="1"/>
            </a:lvl4pPr>
            <a:lvl5pPr marL="2057034" indent="0">
              <a:buNone/>
              <a:defRPr sz="1800" b="1"/>
            </a:lvl5pPr>
            <a:lvl6pPr marL="2571293" indent="0">
              <a:buNone/>
              <a:defRPr sz="1800" b="1"/>
            </a:lvl6pPr>
            <a:lvl7pPr marL="3085551" indent="0">
              <a:buNone/>
              <a:defRPr sz="1800" b="1"/>
            </a:lvl7pPr>
            <a:lvl8pPr marL="3599810" indent="0">
              <a:buNone/>
              <a:defRPr sz="1800" b="1"/>
            </a:lvl8pPr>
            <a:lvl9pPr marL="4114068" indent="0">
              <a:buNone/>
              <a:defRPr sz="18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206991" y="6680200"/>
            <a:ext cx="4372640" cy="982556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12/28/25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29076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12/28/25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47287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12/28/25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537280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462" y="1219200"/>
            <a:ext cx="3317313" cy="4267200"/>
          </a:xfrm>
        </p:spPr>
        <p:txBody>
          <a:bodyPr anchor="b"/>
          <a:lstStyle>
            <a:lvl1pPr>
              <a:defRPr sz="3599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372640" y="2633137"/>
            <a:ext cx="5206990" cy="12996333"/>
          </a:xfrm>
        </p:spPr>
        <p:txBody>
          <a:bodyPr/>
          <a:lstStyle>
            <a:lvl1pPr>
              <a:defRPr sz="3599"/>
            </a:lvl1pPr>
            <a:lvl2pPr>
              <a:defRPr sz="3149"/>
            </a:lvl2pPr>
            <a:lvl3pPr>
              <a:defRPr sz="2700"/>
            </a:lvl3pPr>
            <a:lvl4pPr>
              <a:defRPr sz="2250"/>
            </a:lvl4pPr>
            <a:lvl5pPr>
              <a:defRPr sz="2250"/>
            </a:lvl5pPr>
            <a:lvl6pPr>
              <a:defRPr sz="2250"/>
            </a:lvl6pPr>
            <a:lvl7pPr>
              <a:defRPr sz="2250"/>
            </a:lvl7pPr>
            <a:lvl8pPr>
              <a:defRPr sz="2250"/>
            </a:lvl8pPr>
            <a:lvl9pPr>
              <a:defRPr sz="225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8462" y="5486400"/>
            <a:ext cx="3317313" cy="10164235"/>
          </a:xfrm>
        </p:spPr>
        <p:txBody>
          <a:bodyPr/>
          <a:lstStyle>
            <a:lvl1pPr marL="0" indent="0">
              <a:buNone/>
              <a:defRPr sz="1800"/>
            </a:lvl1pPr>
            <a:lvl2pPr marL="514259" indent="0">
              <a:buNone/>
              <a:defRPr sz="1575"/>
            </a:lvl2pPr>
            <a:lvl3pPr marL="1028517" indent="0">
              <a:buNone/>
              <a:defRPr sz="1350"/>
            </a:lvl3pPr>
            <a:lvl4pPr marL="1542776" indent="0">
              <a:buNone/>
              <a:defRPr sz="1125"/>
            </a:lvl4pPr>
            <a:lvl5pPr marL="2057034" indent="0">
              <a:buNone/>
              <a:defRPr sz="1125"/>
            </a:lvl5pPr>
            <a:lvl6pPr marL="2571293" indent="0">
              <a:buNone/>
              <a:defRPr sz="1125"/>
            </a:lvl6pPr>
            <a:lvl7pPr marL="3085551" indent="0">
              <a:buNone/>
              <a:defRPr sz="1125"/>
            </a:lvl7pPr>
            <a:lvl8pPr marL="3599810" indent="0">
              <a:buNone/>
              <a:defRPr sz="1125"/>
            </a:lvl8pPr>
            <a:lvl9pPr marL="4114068" indent="0">
              <a:buNone/>
              <a:defRPr sz="112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12/28/25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02895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462" y="1219200"/>
            <a:ext cx="3317313" cy="4267200"/>
          </a:xfrm>
        </p:spPr>
        <p:txBody>
          <a:bodyPr anchor="b"/>
          <a:lstStyle>
            <a:lvl1pPr>
              <a:defRPr sz="3599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372640" y="2633137"/>
            <a:ext cx="5206990" cy="12996333"/>
          </a:xfrm>
        </p:spPr>
        <p:txBody>
          <a:bodyPr anchor="t"/>
          <a:lstStyle>
            <a:lvl1pPr marL="0" indent="0">
              <a:buNone/>
              <a:defRPr sz="3599"/>
            </a:lvl1pPr>
            <a:lvl2pPr marL="514259" indent="0">
              <a:buNone/>
              <a:defRPr sz="3149"/>
            </a:lvl2pPr>
            <a:lvl3pPr marL="1028517" indent="0">
              <a:buNone/>
              <a:defRPr sz="2700"/>
            </a:lvl3pPr>
            <a:lvl4pPr marL="1542776" indent="0">
              <a:buNone/>
              <a:defRPr sz="2250"/>
            </a:lvl4pPr>
            <a:lvl5pPr marL="2057034" indent="0">
              <a:buNone/>
              <a:defRPr sz="2250"/>
            </a:lvl5pPr>
            <a:lvl6pPr marL="2571293" indent="0">
              <a:buNone/>
              <a:defRPr sz="2250"/>
            </a:lvl6pPr>
            <a:lvl7pPr marL="3085551" indent="0">
              <a:buNone/>
              <a:defRPr sz="2250"/>
            </a:lvl7pPr>
            <a:lvl8pPr marL="3599810" indent="0">
              <a:buNone/>
              <a:defRPr sz="2250"/>
            </a:lvl8pPr>
            <a:lvl9pPr marL="4114068" indent="0">
              <a:buNone/>
              <a:defRPr sz="225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8462" y="5486400"/>
            <a:ext cx="3317313" cy="10164235"/>
          </a:xfrm>
        </p:spPr>
        <p:txBody>
          <a:bodyPr/>
          <a:lstStyle>
            <a:lvl1pPr marL="0" indent="0">
              <a:buNone/>
              <a:defRPr sz="1800"/>
            </a:lvl1pPr>
            <a:lvl2pPr marL="514259" indent="0">
              <a:buNone/>
              <a:defRPr sz="1575"/>
            </a:lvl2pPr>
            <a:lvl3pPr marL="1028517" indent="0">
              <a:buNone/>
              <a:defRPr sz="1350"/>
            </a:lvl3pPr>
            <a:lvl4pPr marL="1542776" indent="0">
              <a:buNone/>
              <a:defRPr sz="1125"/>
            </a:lvl4pPr>
            <a:lvl5pPr marL="2057034" indent="0">
              <a:buNone/>
              <a:defRPr sz="1125"/>
            </a:lvl5pPr>
            <a:lvl6pPr marL="2571293" indent="0">
              <a:buNone/>
              <a:defRPr sz="1125"/>
            </a:lvl6pPr>
            <a:lvl7pPr marL="3085551" indent="0">
              <a:buNone/>
              <a:defRPr sz="1125"/>
            </a:lvl7pPr>
            <a:lvl8pPr marL="3599810" indent="0">
              <a:buNone/>
              <a:defRPr sz="1125"/>
            </a:lvl8pPr>
            <a:lvl9pPr marL="4114068" indent="0">
              <a:buNone/>
              <a:defRPr sz="112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12/28/25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01486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12/28/25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226946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360499" y="973666"/>
            <a:ext cx="2217792" cy="15498235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07123" y="973666"/>
            <a:ext cx="6524809" cy="15498235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12/28/25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39854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07122" y="973670"/>
            <a:ext cx="8871169" cy="3534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07122" y="4868333"/>
            <a:ext cx="8871169" cy="1160356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07122" y="16950271"/>
            <a:ext cx="2314218" cy="9736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smtClean="0"/>
              <a:pPr/>
              <a:t>12/28/25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407043" y="16950271"/>
            <a:ext cx="3471327" cy="9736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264073" y="16950271"/>
            <a:ext cx="2314218" cy="9736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8A1E25-E09E-9B11-3FEC-A3FD03A7A6C3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3571" y="17793550"/>
            <a:ext cx="448648" cy="103875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DE" sz="675">
                <a:solidFill>
                  <a:srgbClr val="00000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INTERNAL</a:t>
            </a:r>
          </a:p>
        </p:txBody>
      </p:sp>
    </p:spTree>
    <p:extLst>
      <p:ext uri="{BB962C8B-B14F-4D97-AF65-F5344CB8AC3E}">
        <p14:creationId xmlns:p14="http://schemas.microsoft.com/office/powerpoint/2010/main" val="11401428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defTabSz="1028517" rtl="0" eaLnBrk="1" latinLnBrk="0" hangingPunct="1">
        <a:lnSpc>
          <a:spcPct val="90000"/>
        </a:lnSpc>
        <a:spcBef>
          <a:spcPct val="0"/>
        </a:spcBef>
        <a:buNone/>
        <a:defRPr sz="494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7129" indent="-257129" algn="l" defTabSz="1028517" rtl="0" eaLnBrk="1" latinLnBrk="0" hangingPunct="1">
        <a:lnSpc>
          <a:spcPct val="90000"/>
        </a:lnSpc>
        <a:spcBef>
          <a:spcPts val="1125"/>
        </a:spcBef>
        <a:buFont typeface="Arial" panose="020B0604020202020204" pitchFamily="34" charset="0"/>
        <a:buChar char="•"/>
        <a:defRPr sz="3149" kern="1200">
          <a:solidFill>
            <a:schemeClr val="tx1"/>
          </a:solidFill>
          <a:latin typeface="+mn-lt"/>
          <a:ea typeface="+mn-ea"/>
          <a:cs typeface="+mn-cs"/>
        </a:defRPr>
      </a:lvl1pPr>
      <a:lvl2pPr marL="771388" indent="-257129" algn="l" defTabSz="1028517" rtl="0" eaLnBrk="1" latinLnBrk="0" hangingPunct="1">
        <a:lnSpc>
          <a:spcPct val="90000"/>
        </a:lnSpc>
        <a:spcBef>
          <a:spcPts val="562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2pPr>
      <a:lvl3pPr marL="1285646" indent="-257129" algn="l" defTabSz="1028517" rtl="0" eaLnBrk="1" latinLnBrk="0" hangingPunct="1">
        <a:lnSpc>
          <a:spcPct val="90000"/>
        </a:lnSpc>
        <a:spcBef>
          <a:spcPts val="562"/>
        </a:spcBef>
        <a:buFont typeface="Arial" panose="020B0604020202020204" pitchFamily="34" charset="0"/>
        <a:buChar char="•"/>
        <a:defRPr sz="2250" kern="1200">
          <a:solidFill>
            <a:schemeClr val="tx1"/>
          </a:solidFill>
          <a:latin typeface="+mn-lt"/>
          <a:ea typeface="+mn-ea"/>
          <a:cs typeface="+mn-cs"/>
        </a:defRPr>
      </a:lvl3pPr>
      <a:lvl4pPr marL="1799905" indent="-257129" algn="l" defTabSz="1028517" rtl="0" eaLnBrk="1" latinLnBrk="0" hangingPunct="1">
        <a:lnSpc>
          <a:spcPct val="90000"/>
        </a:lnSpc>
        <a:spcBef>
          <a:spcPts val="562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4pPr>
      <a:lvl5pPr marL="2314164" indent="-257129" algn="l" defTabSz="1028517" rtl="0" eaLnBrk="1" latinLnBrk="0" hangingPunct="1">
        <a:lnSpc>
          <a:spcPct val="90000"/>
        </a:lnSpc>
        <a:spcBef>
          <a:spcPts val="562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5pPr>
      <a:lvl6pPr marL="2828422" indent="-257129" algn="l" defTabSz="1028517" rtl="0" eaLnBrk="1" latinLnBrk="0" hangingPunct="1">
        <a:lnSpc>
          <a:spcPct val="90000"/>
        </a:lnSpc>
        <a:spcBef>
          <a:spcPts val="562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6pPr>
      <a:lvl7pPr marL="3342681" indent="-257129" algn="l" defTabSz="1028517" rtl="0" eaLnBrk="1" latinLnBrk="0" hangingPunct="1">
        <a:lnSpc>
          <a:spcPct val="90000"/>
        </a:lnSpc>
        <a:spcBef>
          <a:spcPts val="562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7pPr>
      <a:lvl8pPr marL="3856939" indent="-257129" algn="l" defTabSz="1028517" rtl="0" eaLnBrk="1" latinLnBrk="0" hangingPunct="1">
        <a:lnSpc>
          <a:spcPct val="90000"/>
        </a:lnSpc>
        <a:spcBef>
          <a:spcPts val="562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8pPr>
      <a:lvl9pPr marL="4371198" indent="-257129" algn="l" defTabSz="1028517" rtl="0" eaLnBrk="1" latinLnBrk="0" hangingPunct="1">
        <a:lnSpc>
          <a:spcPct val="90000"/>
        </a:lnSpc>
        <a:spcBef>
          <a:spcPts val="562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28517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1pPr>
      <a:lvl2pPr marL="514259" algn="l" defTabSz="1028517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2pPr>
      <a:lvl3pPr marL="1028517" algn="l" defTabSz="1028517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3pPr>
      <a:lvl4pPr marL="1542776" algn="l" defTabSz="1028517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4pPr>
      <a:lvl5pPr marL="2057034" algn="l" defTabSz="1028517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5pPr>
      <a:lvl6pPr marL="2571293" algn="l" defTabSz="1028517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6pPr>
      <a:lvl7pPr marL="3085551" algn="l" defTabSz="1028517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7pPr>
      <a:lvl8pPr marL="3599810" algn="l" defTabSz="1028517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8pPr>
      <a:lvl9pPr marL="4114068" algn="l" defTabSz="1028517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sv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image" Target="../media/image7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5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2.png"/><Relationship Id="rId7" Type="http://schemas.openxmlformats.org/officeDocument/2006/relationships/image" Target="../media/image4.svg"/><Relationship Id="rId2" Type="http://schemas.microsoft.com/office/2018/10/relationships/comments" Target="../comments/modernComment_111_495F277A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11" Type="http://schemas.openxmlformats.org/officeDocument/2006/relationships/image" Target="../media/image23.svg"/><Relationship Id="rId5" Type="http://schemas.openxmlformats.org/officeDocument/2006/relationships/image" Target="../media/image20.png"/><Relationship Id="rId10" Type="http://schemas.openxmlformats.org/officeDocument/2006/relationships/image" Target="../media/image22.png"/><Relationship Id="rId4" Type="http://schemas.openxmlformats.org/officeDocument/2006/relationships/image" Target="../media/image13.png"/><Relationship Id="rId9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3A8C943-7173-E95B-0FF8-8CA0E1171D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3798A9D-9EB7-FFFD-3E62-4C29DAB94489}"/>
              </a:ext>
            </a:extLst>
          </p:cNvPr>
          <p:cNvSpPr txBox="1"/>
          <p:nvPr/>
        </p:nvSpPr>
        <p:spPr>
          <a:xfrm>
            <a:off x="0" y="304800"/>
            <a:ext cx="10285413" cy="96949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l" defTabSz="457200" rtl="0" eaLnBrk="1" latinLnBrk="0" hangingPunct="1"/>
            <a:r>
              <a:rPr lang="en-US" sz="4800" dirty="0"/>
              <a:t>Statistics:</a:t>
            </a:r>
          </a:p>
          <a:p>
            <a:pPr marL="0" algn="l" defTabSz="457200" rtl="0" eaLnBrk="1" latinLnBrk="0" hangingPunct="1"/>
            <a:endParaRPr lang="en-US" sz="4800" dirty="0"/>
          </a:p>
          <a:p>
            <a:pPr marL="0" algn="l" defTabSz="457200" rtl="0" eaLnBrk="1" latinLnBrk="0" hangingPunct="1"/>
            <a:r>
              <a:rPr lang="en-US" sz="4800" dirty="0"/>
              <a:t>1-The arguments of Python’s print</a:t>
            </a:r>
          </a:p>
          <a:p>
            <a:pPr marL="0" algn="l" defTabSz="457200" rtl="0" eaLnBrk="1" latinLnBrk="0" hangingPunct="1"/>
            <a:endParaRPr lang="en-US" sz="4800" dirty="0"/>
          </a:p>
          <a:p>
            <a:pPr marL="0" algn="l" defTabSz="457200" rtl="0" eaLnBrk="1" latinLnBrk="0" hangingPunct="1"/>
            <a:r>
              <a:rPr lang="en-US" sz="4800" dirty="0"/>
              <a:t>Published on: Dec 26, 2025</a:t>
            </a:r>
          </a:p>
          <a:p>
            <a:pPr marL="0" algn="l" defTabSz="457200" rtl="0" eaLnBrk="1" latinLnBrk="0" hangingPunct="1"/>
            <a:r>
              <a:rPr lang="en-US" sz="4800" dirty="0"/>
              <a:t>View: 1,823</a:t>
            </a:r>
          </a:p>
          <a:p>
            <a:pPr marL="0" algn="l" defTabSz="457200" rtl="0" eaLnBrk="1" latinLnBrk="0" hangingPunct="1"/>
            <a:r>
              <a:rPr lang="en-DE" sz="4800" dirty="0"/>
              <a:t>Likes: 89.5 %</a:t>
            </a:r>
          </a:p>
          <a:p>
            <a:pPr marL="0" algn="l" defTabSz="457200" rtl="0" eaLnBrk="1" latinLnBrk="0" hangingPunct="1"/>
            <a:endParaRPr lang="en-DE" sz="4800" dirty="0"/>
          </a:p>
          <a:p>
            <a:pPr marL="0" algn="l" defTabSz="457200" rtl="0" eaLnBrk="1" latinLnBrk="0" hangingPunct="1"/>
            <a:r>
              <a:rPr lang="en-DE" sz="4800" dirty="0"/>
              <a:t>2-Stop using For-Loops for Lists</a:t>
            </a:r>
          </a:p>
          <a:p>
            <a:pPr marL="0" algn="l" defTabSz="457200" rtl="0" eaLnBrk="1" latinLnBrk="0" hangingPunct="1"/>
            <a:endParaRPr lang="en-DE" sz="4800" dirty="0"/>
          </a:p>
          <a:p>
            <a:pPr marL="0" algn="l" defTabSz="457200" rtl="0" eaLnBrk="1" latinLnBrk="0" hangingPunct="1"/>
            <a:r>
              <a:rPr lang="en-DE" sz="4800" dirty="0"/>
              <a:t>Pulished on: Dec 27, 2025</a:t>
            </a:r>
          </a:p>
          <a:p>
            <a:pPr marL="0" algn="l" defTabSz="457200" rtl="0" eaLnBrk="1" latinLnBrk="0" hangingPunct="1"/>
            <a:r>
              <a:rPr lang="en-DE" sz="4800" dirty="0"/>
              <a:t>Views: 1,444</a:t>
            </a:r>
          </a:p>
          <a:p>
            <a:pPr marL="0" algn="l" defTabSz="457200" rtl="0" eaLnBrk="1" latinLnBrk="0" hangingPunct="1"/>
            <a:r>
              <a:rPr lang="en-DE" sz="4800" dirty="0"/>
              <a:t>Likes: 82.4 %</a:t>
            </a:r>
          </a:p>
        </p:txBody>
      </p:sp>
    </p:spTree>
    <p:extLst>
      <p:ext uri="{BB962C8B-B14F-4D97-AF65-F5344CB8AC3E}">
        <p14:creationId xmlns:p14="http://schemas.microsoft.com/office/powerpoint/2010/main" val="24397097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E011F1-40B2-354A-AEA3-0367EC08A8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0A99E81-3FE3-5F86-D43D-9940369508F5}"/>
              </a:ext>
            </a:extLst>
          </p:cNvPr>
          <p:cNvSpPr/>
          <p:nvPr/>
        </p:nvSpPr>
        <p:spPr>
          <a:xfrm>
            <a:off x="2739710" y="8682335"/>
            <a:ext cx="4805996" cy="175432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Video 1 </a:t>
            </a:r>
          </a:p>
          <a:p>
            <a:pPr algn="ctr"/>
            <a:r>
              <a:rPr lang="en-US" sz="5400" b="1" cap="none" spc="0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Print arguments</a:t>
            </a:r>
            <a:endParaRPr lang="en-DE" sz="5400" b="1" cap="none" spc="0" dirty="0">
              <a:ln w="12700">
                <a:solidFill>
                  <a:schemeClr val="accent3">
                    <a:lumMod val="50000"/>
                  </a:schemeClr>
                </a:solidFill>
                <a:prstDash val="solid"/>
              </a:ln>
              <a:pattFill prst="narHorz">
                <a:fgClr>
                  <a:schemeClr val="accent3"/>
                </a:fgClr>
                <a:bgClr>
                  <a:schemeClr val="accent3">
                    <a:lumMod val="40000"/>
                    <a:lumOff val="60000"/>
                  </a:schemeClr>
                </a:bgClr>
              </a:pattFill>
              <a:effectLst>
                <a:innerShdw blurRad="177800">
                  <a:schemeClr val="accent3">
                    <a:lumMod val="50000"/>
                  </a:schemeClr>
                </a:inn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2151863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0DC4AA3-0022-BA0D-9E7D-66B13B5B9A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B713812-7693-7A33-F95C-E7CBF82C0AC7}"/>
              </a:ext>
            </a:extLst>
          </p:cNvPr>
          <p:cNvSpPr/>
          <p:nvPr/>
        </p:nvSpPr>
        <p:spPr>
          <a:xfrm>
            <a:off x="-795" y="25399"/>
            <a:ext cx="10285413" cy="9144000"/>
          </a:xfrm>
          <a:prstGeom prst="rect">
            <a:avLst/>
          </a:prstGeom>
          <a:gradFill flip="none" rotWithShape="1">
            <a:gsLst>
              <a:gs pos="0">
                <a:srgbClr val="FF0000">
                  <a:tint val="66000"/>
                  <a:satMod val="160000"/>
                </a:srgbClr>
              </a:gs>
              <a:gs pos="50000">
                <a:srgbClr val="FF0000">
                  <a:tint val="44500"/>
                  <a:satMod val="160000"/>
                </a:srgbClr>
              </a:gs>
              <a:gs pos="100000">
                <a:srgbClr val="FF0000">
                  <a:tint val="23500"/>
                  <a:satMod val="160000"/>
                </a:srgbClr>
              </a:gs>
            </a:gsLst>
            <a:lin ang="13500000" scaled="1"/>
            <a:tileRect/>
          </a:gradFill>
          <a:ln w="31750"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457200" rtl="1" eaLnBrk="1" latinLnBrk="0" hangingPunct="1"/>
            <a:endParaRPr lang="en-DE" dirty="0">
              <a:latin typeface="Patrick Hand" pitchFamily="2" charset="77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89978CD-953A-DE5A-0C5E-B22506EFEBA5}"/>
              </a:ext>
            </a:extLst>
          </p:cNvPr>
          <p:cNvSpPr/>
          <p:nvPr/>
        </p:nvSpPr>
        <p:spPr>
          <a:xfrm>
            <a:off x="-794" y="9144000"/>
            <a:ext cx="10285413" cy="9144000"/>
          </a:xfrm>
          <a:prstGeom prst="rect">
            <a:avLst/>
          </a:prstGeom>
          <a:gradFill flip="none" rotWithShape="1">
            <a:gsLst>
              <a:gs pos="0">
                <a:schemeClr val="accent6">
                  <a:tint val="66000"/>
                  <a:satMod val="160000"/>
                </a:schemeClr>
              </a:gs>
              <a:gs pos="50000">
                <a:schemeClr val="accent6">
                  <a:tint val="44500"/>
                  <a:satMod val="160000"/>
                </a:schemeClr>
              </a:gs>
              <a:gs pos="100000">
                <a:schemeClr val="accent6">
                  <a:tint val="23500"/>
                  <a:satMod val="160000"/>
                </a:schemeClr>
              </a:gs>
            </a:gsLst>
            <a:lin ang="13500000" scaled="1"/>
            <a:tileRect/>
          </a:gradFill>
          <a:ln w="31750"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457200" rtl="1" eaLnBrk="1" latinLnBrk="0" hangingPunct="1"/>
            <a:endParaRPr lang="en-DE" dirty="0">
              <a:latin typeface="Patrick Hand" pitchFamily="2" charset="77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9CF1C6B-B5DF-DB15-335C-9EF9D02E264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1500" t="36257" r="12564" b="17086"/>
          <a:stretch>
            <a:fillRect/>
          </a:stretch>
        </p:blipFill>
        <p:spPr>
          <a:xfrm>
            <a:off x="9333" y="2819400"/>
            <a:ext cx="10315977" cy="54864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75C1FB9-F7E4-D807-6D39-929DB29A7EFE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971" t="42773" r="9579" b="22419"/>
          <a:stretch>
            <a:fillRect/>
          </a:stretch>
        </p:blipFill>
        <p:spPr>
          <a:xfrm>
            <a:off x="-30564" y="12598400"/>
            <a:ext cx="10305074" cy="20066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F931037C-127C-092B-3046-21C5E1305743}"/>
              </a:ext>
            </a:extLst>
          </p:cNvPr>
          <p:cNvSpPr/>
          <p:nvPr/>
        </p:nvSpPr>
        <p:spPr>
          <a:xfrm>
            <a:off x="1577100" y="981670"/>
            <a:ext cx="7131212" cy="132343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6"/>
          </a:fontRef>
        </p:style>
        <p:txBody>
          <a:bodyPr wrap="square" lIns="91440" tIns="45720" rIns="91440" bIns="45720">
            <a:spAutoFit/>
          </a:bodyPr>
          <a:lstStyle/>
          <a:p>
            <a:pPr algn="ctr"/>
            <a:r>
              <a:rPr lang="en-GB" sz="8000" b="1" dirty="0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FFFFFF"/>
                </a:solidFill>
                <a:effectLst>
                  <a:outerShdw dist="38100" dir="2700000" algn="tl" rotWithShape="0">
                    <a:schemeClr val="accent2"/>
                  </a:outerShdw>
                </a:effectLst>
                <a:latin typeface="Patrick Hand" pitchFamily="2" charset="77"/>
              </a:rPr>
              <a:t>DIRTY CODE</a:t>
            </a:r>
          </a:p>
        </p:txBody>
      </p:sp>
      <p:pic>
        <p:nvPicPr>
          <p:cNvPr id="12" name="Graphic 11" descr="Close with solid fill">
            <a:extLst>
              <a:ext uri="{FF2B5EF4-FFF2-40B4-BE49-F238E27FC236}">
                <a16:creationId xmlns:a16="http://schemas.microsoft.com/office/drawing/2014/main" id="{28F1D416-1464-F569-BAAC-4CE3AC639CD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678818" y="1219200"/>
            <a:ext cx="914400" cy="914400"/>
          </a:xfrm>
          <a:prstGeom prst="rect">
            <a:avLst/>
          </a:prstGeom>
        </p:spPr>
      </p:pic>
      <p:pic>
        <p:nvPicPr>
          <p:cNvPr id="14" name="Graphic 13" descr="Tick with solid fill">
            <a:extLst>
              <a:ext uri="{FF2B5EF4-FFF2-40B4-BE49-F238E27FC236}">
                <a16:creationId xmlns:a16="http://schemas.microsoft.com/office/drawing/2014/main" id="{F2663517-508C-9559-F50A-E9F1B59AB83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793912" y="10998200"/>
            <a:ext cx="914400" cy="914400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3C884966-F1E0-E28C-8306-94E3476AE9EB}"/>
              </a:ext>
            </a:extLst>
          </p:cNvPr>
          <p:cNvSpPr/>
          <p:nvPr/>
        </p:nvSpPr>
        <p:spPr>
          <a:xfrm>
            <a:off x="1462006" y="10805060"/>
            <a:ext cx="7131212" cy="132343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6"/>
          </a:fontRef>
        </p:style>
        <p:txBody>
          <a:bodyPr wrap="square" lIns="91440" tIns="45720" rIns="91440" bIns="45720">
            <a:spAutoFit/>
          </a:bodyPr>
          <a:lstStyle/>
          <a:p>
            <a:pPr algn="ctr"/>
            <a:r>
              <a:rPr lang="en-GB" sz="8000" b="1" dirty="0">
                <a:ln w="12700">
                  <a:solidFill>
                    <a:srgbClr val="00B050"/>
                  </a:solidFill>
                  <a:prstDash val="solid"/>
                </a:ln>
                <a:pattFill prst="pct50">
                  <a:fgClr>
                    <a:schemeClr val="accent1"/>
                  </a:fgClr>
                  <a:bgClr>
                    <a:schemeClr val="accent1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accent1"/>
                  </a:outerShdw>
                </a:effectLst>
                <a:latin typeface="Patrick Hand" pitchFamily="2" charset="77"/>
              </a:rPr>
              <a:t>CLEAN CODE</a:t>
            </a:r>
          </a:p>
        </p:txBody>
      </p:sp>
      <p:sp>
        <p:nvSpPr>
          <p:cNvPr id="18" name="Down Arrow 17">
            <a:extLst>
              <a:ext uri="{FF2B5EF4-FFF2-40B4-BE49-F238E27FC236}">
                <a16:creationId xmlns:a16="http://schemas.microsoft.com/office/drawing/2014/main" id="{F519B709-69F6-84B3-4A2B-206F2AAA7983}"/>
              </a:ext>
            </a:extLst>
          </p:cNvPr>
          <p:cNvSpPr/>
          <p:nvPr/>
        </p:nvSpPr>
        <p:spPr>
          <a:xfrm>
            <a:off x="3683000" y="8610600"/>
            <a:ext cx="2921000" cy="2194460"/>
          </a:xfrm>
          <a:prstGeom prst="downArrow">
            <a:avLst/>
          </a:prstGeom>
          <a:solidFill>
            <a:schemeClr val="bg1"/>
          </a:solidFill>
          <a:ln w="31750"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457200" rtl="0" eaLnBrk="1" latinLnBrk="0" hangingPunct="1"/>
            <a:endParaRPr lang="en-DE" dirty="0">
              <a:latin typeface="Patrick Hand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3671779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621B1B0-39CE-3C51-C24E-ABF73D9658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7802CAF-95E1-EFA2-C49B-20ECF3FC9A84}"/>
              </a:ext>
            </a:extLst>
          </p:cNvPr>
          <p:cNvSpPr/>
          <p:nvPr/>
        </p:nvSpPr>
        <p:spPr>
          <a:xfrm>
            <a:off x="0" y="-4044"/>
            <a:ext cx="10285413" cy="9144000"/>
          </a:xfrm>
          <a:prstGeom prst="rect">
            <a:avLst/>
          </a:prstGeom>
          <a:solidFill>
            <a:srgbClr val="FF0000"/>
          </a:solidFill>
          <a:ln w="31750"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457200" rtl="0" eaLnBrk="1" latinLnBrk="0" hangingPunct="1"/>
            <a:endParaRPr lang="en-DE" dirty="0">
              <a:latin typeface="Patrick Hand" pitchFamily="2" charset="77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04D01AC-1DD0-FC59-5104-9672E73CED94}"/>
              </a:ext>
            </a:extLst>
          </p:cNvPr>
          <p:cNvSpPr/>
          <p:nvPr/>
        </p:nvSpPr>
        <p:spPr>
          <a:xfrm>
            <a:off x="0" y="9141359"/>
            <a:ext cx="10285413" cy="9144000"/>
          </a:xfrm>
          <a:prstGeom prst="rect">
            <a:avLst/>
          </a:prstGeom>
          <a:solidFill>
            <a:srgbClr val="00B050"/>
          </a:solidFill>
          <a:ln w="31750"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457200" rtl="0" eaLnBrk="1" latinLnBrk="0" hangingPunct="1"/>
            <a:endParaRPr lang="en-DE" dirty="0">
              <a:latin typeface="Patrick Hand" pitchFamily="2" charset="77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F3DBDE4-CC7E-7734-1D50-B787AABC9551}"/>
              </a:ext>
            </a:extLst>
          </p:cNvPr>
          <p:cNvSpPr/>
          <p:nvPr/>
        </p:nvSpPr>
        <p:spPr>
          <a:xfrm>
            <a:off x="1460856" y="905470"/>
            <a:ext cx="7363700" cy="132343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6"/>
          </a:fontRef>
        </p:style>
        <p:txBody>
          <a:bodyPr wrap="square" lIns="91440" tIns="45720" rIns="91440" bIns="45720">
            <a:spAutoFit/>
          </a:bodyPr>
          <a:lstStyle/>
          <a:p>
            <a:pPr algn="ctr"/>
            <a:r>
              <a:rPr lang="en-GB" sz="8000" b="1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Patrick Hand" pitchFamily="2" charset="77"/>
              </a:rPr>
              <a:t>If-Else Overload!</a:t>
            </a:r>
          </a:p>
        </p:txBody>
      </p:sp>
      <p:sp>
        <p:nvSpPr>
          <p:cNvPr id="18" name="Down Arrow 17">
            <a:extLst>
              <a:ext uri="{FF2B5EF4-FFF2-40B4-BE49-F238E27FC236}">
                <a16:creationId xmlns:a16="http://schemas.microsoft.com/office/drawing/2014/main" id="{55772E81-9193-63D2-027C-D655766BEF2C}"/>
              </a:ext>
            </a:extLst>
          </p:cNvPr>
          <p:cNvSpPr/>
          <p:nvPr/>
        </p:nvSpPr>
        <p:spPr>
          <a:xfrm>
            <a:off x="4573952" y="8762893"/>
            <a:ext cx="1137508" cy="2110345"/>
          </a:xfrm>
          <a:prstGeom prst="downArrow">
            <a:avLst/>
          </a:prstGeom>
          <a:solidFill>
            <a:schemeClr val="bg1"/>
          </a:solidFill>
          <a:ln w="31750"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457200" rtl="0" eaLnBrk="1" latinLnBrk="0" hangingPunct="1"/>
            <a:endParaRPr lang="en-DE" dirty="0">
              <a:latin typeface="Patrick Hand" pitchFamily="2" charset="77"/>
            </a:endParaRP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132E734C-5EB8-8FD1-0EF7-E377017C85E8}"/>
              </a:ext>
            </a:extLst>
          </p:cNvPr>
          <p:cNvGrpSpPr/>
          <p:nvPr/>
        </p:nvGrpSpPr>
        <p:grpSpPr>
          <a:xfrm>
            <a:off x="730428" y="2843759"/>
            <a:ext cx="8824556" cy="5774756"/>
            <a:chOff x="730428" y="2338436"/>
            <a:chExt cx="8824556" cy="5774756"/>
          </a:xfrm>
        </p:grpSpPr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F594F334-1F68-A2D3-63B4-253FBA3BEE2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22460" t="31855" r="15333" b="19954"/>
            <a:stretch>
              <a:fillRect/>
            </a:stretch>
          </p:blipFill>
          <p:spPr>
            <a:xfrm>
              <a:off x="730428" y="2338436"/>
              <a:ext cx="8824556" cy="5774756"/>
            </a:xfrm>
            <a:prstGeom prst="rect">
              <a:avLst/>
            </a:prstGeom>
          </p:spPr>
        </p:pic>
        <p:pic>
          <p:nvPicPr>
            <p:cNvPr id="12" name="Graphic 11" descr="Close with solid fill">
              <a:extLst>
                <a:ext uri="{FF2B5EF4-FFF2-40B4-BE49-F238E27FC236}">
                  <a16:creationId xmlns:a16="http://schemas.microsoft.com/office/drawing/2014/main" id="{241A3745-1952-29BF-E870-F8620CD4D4E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528804" y="7065294"/>
              <a:ext cx="914400" cy="914400"/>
            </a:xfrm>
            <a:prstGeom prst="rect">
              <a:avLst/>
            </a:prstGeom>
          </p:spPr>
        </p:pic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8F0CF991-83F3-5F12-62CF-6879ECDB3AAB}"/>
              </a:ext>
            </a:extLst>
          </p:cNvPr>
          <p:cNvSpPr txBox="1"/>
          <p:nvPr/>
        </p:nvSpPr>
        <p:spPr>
          <a:xfrm>
            <a:off x="0" y="10724463"/>
            <a:ext cx="10285413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DE" sz="8000" dirty="0">
                <a:solidFill>
                  <a:schemeClr val="bg1"/>
                </a:solidFill>
                <a:latin typeface="Patrick Hand" pitchFamily="2" charset="77"/>
              </a:rPr>
              <a:t>Cleaner and Faster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D0D34CB-C7DB-0D8F-EDEF-56289B6D433D}"/>
              </a:ext>
            </a:extLst>
          </p:cNvPr>
          <p:cNvSpPr txBox="1"/>
          <p:nvPr/>
        </p:nvSpPr>
        <p:spPr>
          <a:xfrm>
            <a:off x="0" y="17321163"/>
            <a:ext cx="1028541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5400" b="1" dirty="0">
                <a:ln/>
                <a:solidFill>
                  <a:srgbClr val="FFFF00"/>
                </a:solidFill>
                <a:latin typeface="+mj-lt"/>
              </a:rPr>
              <a:t>@</a:t>
            </a:r>
            <a:r>
              <a:rPr lang="en-GB" sz="5400" b="1" dirty="0" err="1">
                <a:ln/>
                <a:solidFill>
                  <a:srgbClr val="FFFF00"/>
                </a:solidFill>
                <a:latin typeface="+mj-lt"/>
              </a:rPr>
              <a:t>CodeWithEbrahim</a:t>
            </a:r>
            <a:endParaRPr lang="en-GB" sz="5400" b="1" dirty="0">
              <a:ln/>
              <a:solidFill>
                <a:srgbClr val="FFFF00"/>
              </a:solidFill>
              <a:latin typeface="+mj-lt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39646EC-A33F-029A-5FD4-9F5CDA53A0A8}"/>
              </a:ext>
            </a:extLst>
          </p:cNvPr>
          <p:cNvSpPr txBox="1"/>
          <p:nvPr/>
        </p:nvSpPr>
        <p:spPr>
          <a:xfrm>
            <a:off x="32085" y="-20368"/>
            <a:ext cx="1028541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5400" b="1" dirty="0">
                <a:ln/>
                <a:solidFill>
                  <a:srgbClr val="FFFF00"/>
                </a:solidFill>
                <a:latin typeface="+mj-lt"/>
              </a:rPr>
              <a:t>@</a:t>
            </a:r>
            <a:r>
              <a:rPr lang="en-GB" sz="5400" b="1" dirty="0" err="1">
                <a:ln/>
                <a:solidFill>
                  <a:srgbClr val="FFFF00"/>
                </a:solidFill>
                <a:latin typeface="+mj-lt"/>
              </a:rPr>
              <a:t>CodeWithEbrahim</a:t>
            </a:r>
            <a:endParaRPr lang="en-GB" sz="5400" b="1" dirty="0">
              <a:ln/>
              <a:solidFill>
                <a:srgbClr val="FFFF00"/>
              </a:solidFill>
              <a:latin typeface="+mj-lt"/>
            </a:endParaRP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78141ED9-21AC-2EB5-DCA8-1DB8344926A7}"/>
              </a:ext>
            </a:extLst>
          </p:cNvPr>
          <p:cNvGrpSpPr/>
          <p:nvPr/>
        </p:nvGrpSpPr>
        <p:grpSpPr>
          <a:xfrm>
            <a:off x="278238" y="12591891"/>
            <a:ext cx="9728936" cy="2852350"/>
            <a:chOff x="278238" y="12591891"/>
            <a:chExt cx="9728936" cy="2852350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BF600660-B2F5-DAD6-DEB6-D7E1D7FD3F7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/>
            <a:srcRect l="14206" t="34999" r="11348" b="26848"/>
            <a:stretch>
              <a:fillRect/>
            </a:stretch>
          </p:blipFill>
          <p:spPr>
            <a:xfrm>
              <a:off x="278238" y="12591891"/>
              <a:ext cx="9728936" cy="2852350"/>
            </a:xfrm>
            <a:prstGeom prst="rect">
              <a:avLst/>
            </a:prstGeom>
          </p:spPr>
        </p:pic>
        <p:pic>
          <p:nvPicPr>
            <p:cNvPr id="14" name="Graphic 13" descr="Tick with solid fill">
              <a:extLst>
                <a:ext uri="{FF2B5EF4-FFF2-40B4-BE49-F238E27FC236}">
                  <a16:creationId xmlns:a16="http://schemas.microsoft.com/office/drawing/2014/main" id="{E90B67AF-3F53-5D57-802D-C842B28095F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9125969" y="14422542"/>
              <a:ext cx="841273" cy="97061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2505109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tile tx="0" ty="0" sx="100000" sy="100000" flip="none" algn="tl"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EC0FC5C-9A1B-2F88-F479-50424DDDDE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6AC545B3-CE47-A03F-6421-E8C90CB6ADF2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7427" t="28769" r="11619" b="14751"/>
          <a:stretch>
            <a:fillRect/>
          </a:stretch>
        </p:blipFill>
        <p:spPr>
          <a:xfrm>
            <a:off x="-42917" y="4451710"/>
            <a:ext cx="10328330" cy="537556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A0871C5-641B-5244-5AA7-5C85A833803D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16551" t="33107" r="11373" b="19724"/>
          <a:stretch>
            <a:fillRect/>
          </a:stretch>
        </p:blipFill>
        <p:spPr>
          <a:xfrm>
            <a:off x="-42918" y="11822323"/>
            <a:ext cx="10328400" cy="4207867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EFB95669-C168-4572-DD10-024C3E650E04}"/>
              </a:ext>
            </a:extLst>
          </p:cNvPr>
          <p:cNvSpPr txBox="1"/>
          <p:nvPr/>
        </p:nvSpPr>
        <p:spPr>
          <a:xfrm>
            <a:off x="2170229" y="1745204"/>
            <a:ext cx="594495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5400" b="1" dirty="0">
                <a:ln/>
                <a:latin typeface="+mj-lt"/>
              </a:rPr>
              <a:t>@</a:t>
            </a:r>
            <a:r>
              <a:rPr lang="en-GB" sz="5400" b="1" dirty="0" err="1">
                <a:ln/>
                <a:latin typeface="+mj-lt"/>
              </a:rPr>
              <a:t>CodeWithEbrahim</a:t>
            </a:r>
            <a:endParaRPr lang="en-GB" sz="5400" b="1" dirty="0">
              <a:ln/>
              <a:latin typeface="+mj-lt"/>
            </a:endParaRP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6883BD0B-E8B4-948F-DE6D-863A162CA9C1}"/>
              </a:ext>
            </a:extLst>
          </p:cNvPr>
          <p:cNvGrpSpPr/>
          <p:nvPr/>
        </p:nvGrpSpPr>
        <p:grpSpPr>
          <a:xfrm>
            <a:off x="4153139" y="492745"/>
            <a:ext cx="1979135" cy="925200"/>
            <a:chOff x="4315976" y="15244200"/>
            <a:chExt cx="1979135" cy="925200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6D52AB9E-4D60-D0FB-656A-3E8AD099E56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369911" y="15244200"/>
              <a:ext cx="925200" cy="925200"/>
            </a:xfrm>
            <a:prstGeom prst="rect">
              <a:avLst/>
            </a:prstGeom>
          </p:spPr>
        </p:pic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948D8E68-472C-127B-8D50-6ABFB3203F9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4315976" y="15244200"/>
              <a:ext cx="925200" cy="925200"/>
            </a:xfrm>
            <a:prstGeom prst="rect">
              <a:avLst/>
            </a:prstGeom>
          </p:spPr>
        </p:pic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2408F8D5-CBEF-DB53-71DD-415C735FFEF0}"/>
              </a:ext>
            </a:extLst>
          </p:cNvPr>
          <p:cNvSpPr/>
          <p:nvPr/>
        </p:nvSpPr>
        <p:spPr>
          <a:xfrm>
            <a:off x="2532857" y="2871992"/>
            <a:ext cx="5219698" cy="156966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GB" sz="9600" b="1" dirty="0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FFFFFF"/>
                </a:solidFill>
                <a:effectLst>
                  <a:outerShdw dist="38100" dir="2700000" algn="tl" rotWithShape="0">
                    <a:schemeClr val="accent2"/>
                  </a:outerShdw>
                </a:effectLst>
                <a:latin typeface="Patrick Hand" pitchFamily="2" charset="77"/>
              </a:rPr>
              <a:t>Legacy Way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70E9936-7110-450A-9576-39615EF11B30}"/>
              </a:ext>
            </a:extLst>
          </p:cNvPr>
          <p:cNvSpPr/>
          <p:nvPr/>
        </p:nvSpPr>
        <p:spPr>
          <a:xfrm>
            <a:off x="2090428" y="10228754"/>
            <a:ext cx="6104556" cy="156966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GB" sz="9600" dirty="0">
                <a:ln w="0"/>
                <a:solidFill>
                  <a:srgbClr val="00206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Patrick Hand" pitchFamily="2" charset="77"/>
              </a:rPr>
              <a:t>Pythonic Way</a:t>
            </a:r>
          </a:p>
        </p:txBody>
      </p:sp>
      <p:sp>
        <p:nvSpPr>
          <p:cNvPr id="18" name="Curved Right Arrow 17">
            <a:extLst>
              <a:ext uri="{FF2B5EF4-FFF2-40B4-BE49-F238E27FC236}">
                <a16:creationId xmlns:a16="http://schemas.microsoft.com/office/drawing/2014/main" id="{E6FC7DB3-67EC-D839-66A1-97F35ACCD311}"/>
              </a:ext>
            </a:extLst>
          </p:cNvPr>
          <p:cNvSpPr/>
          <p:nvPr/>
        </p:nvSpPr>
        <p:spPr>
          <a:xfrm>
            <a:off x="2" y="7426033"/>
            <a:ext cx="1136071" cy="5375565"/>
          </a:xfrm>
          <a:prstGeom prst="curvedRightArrow">
            <a:avLst/>
          </a:prstGeom>
          <a:solidFill>
            <a:srgbClr val="FFFF00"/>
          </a:solidFill>
          <a:ln w="31750"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457200" rtl="0" eaLnBrk="1" latinLnBrk="0" hangingPunct="1"/>
            <a:endParaRPr lang="en-DE" dirty="0">
              <a:solidFill>
                <a:schemeClr val="tx1"/>
              </a:solidFill>
              <a:latin typeface="Patrick Hand" pitchFamily="2" charset="77"/>
            </a:endParaRP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53D7D60-AD8E-40FA-06A8-4988EB02BFC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39119" y="4534837"/>
            <a:ext cx="1063167" cy="1063167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F8B3358B-03D9-F7B7-FBFC-221E87B77F1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31467" y="11933159"/>
            <a:ext cx="1063167" cy="10631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83655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tile tx="0" ty="0" sx="100000" sy="100000" flip="none" algn="tl"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810988C-393A-23A2-9DF5-C9402B5BC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>
            <a:extLst>
              <a:ext uri="{FF2B5EF4-FFF2-40B4-BE49-F238E27FC236}">
                <a16:creationId xmlns:a16="http://schemas.microsoft.com/office/drawing/2014/main" id="{0C94C1A1-69EB-E6EC-D3BA-027C6D90EB82}"/>
              </a:ext>
            </a:extLst>
          </p:cNvPr>
          <p:cNvSpPr txBox="1"/>
          <p:nvPr/>
        </p:nvSpPr>
        <p:spPr>
          <a:xfrm>
            <a:off x="2170229" y="1745204"/>
            <a:ext cx="594495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5400" b="1" dirty="0">
                <a:ln/>
                <a:latin typeface="+mj-lt"/>
              </a:rPr>
              <a:t>@</a:t>
            </a:r>
            <a:r>
              <a:rPr lang="en-GB" sz="5400" b="1" dirty="0" err="1">
                <a:ln/>
                <a:latin typeface="+mj-lt"/>
              </a:rPr>
              <a:t>CodeWithEbrahim</a:t>
            </a:r>
            <a:endParaRPr lang="en-GB" sz="5400" b="1" dirty="0">
              <a:ln/>
              <a:latin typeface="+mj-lt"/>
            </a:endParaRP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1D4EDCFD-B4CE-5F3E-8F52-3E9F9E32C756}"/>
              </a:ext>
            </a:extLst>
          </p:cNvPr>
          <p:cNvGrpSpPr/>
          <p:nvPr/>
        </p:nvGrpSpPr>
        <p:grpSpPr>
          <a:xfrm>
            <a:off x="4153139" y="492745"/>
            <a:ext cx="1979135" cy="925200"/>
            <a:chOff x="4315976" y="15244200"/>
            <a:chExt cx="1979135" cy="925200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C4E5CD8C-9467-E9B0-9A00-E872AB9F551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369911" y="15244200"/>
              <a:ext cx="925200" cy="925200"/>
            </a:xfrm>
            <a:prstGeom prst="rect">
              <a:avLst/>
            </a:prstGeom>
          </p:spPr>
        </p:pic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3ED81F4E-8FE1-91C6-D491-DF069C1F3BC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315976" y="15244200"/>
              <a:ext cx="925200" cy="925200"/>
            </a:xfrm>
            <a:prstGeom prst="rect">
              <a:avLst/>
            </a:prstGeom>
          </p:spPr>
        </p:pic>
      </p:grpSp>
      <p:pic>
        <p:nvPicPr>
          <p:cNvPr id="20" name="Picture 19">
            <a:extLst>
              <a:ext uri="{FF2B5EF4-FFF2-40B4-BE49-F238E27FC236}">
                <a16:creationId xmlns:a16="http://schemas.microsoft.com/office/drawing/2014/main" id="{23AC5CE5-04A1-B6FD-83C8-F82209A884C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14594" y="10519995"/>
            <a:ext cx="1063167" cy="106316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6F44863-C29F-FCE4-E7E0-B9ABB8B5D9B5}"/>
              </a:ext>
            </a:extLst>
          </p:cNvPr>
          <p:cNvSpPr txBox="1"/>
          <p:nvPr/>
        </p:nvSpPr>
        <p:spPr>
          <a:xfrm>
            <a:off x="0" y="3590249"/>
            <a:ext cx="514191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8000" b="1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latin typeface="Patrick Hand" pitchFamily="2" charset="77"/>
              </a:rPr>
              <a:t>Normal Way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8FC581-0BD0-5A6A-A485-3A1B1BC64D90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30671" t="35066" r="18959" b="19538"/>
          <a:stretch>
            <a:fillRect/>
          </a:stretch>
        </p:blipFill>
        <p:spPr>
          <a:xfrm>
            <a:off x="5141913" y="5832762"/>
            <a:ext cx="5151989" cy="5860474"/>
          </a:xfrm>
          <a:prstGeom prst="rect">
            <a:avLst/>
          </a:prstGeom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B943DB44-0373-2D09-5ACB-BE5BD55F24B6}"/>
              </a:ext>
            </a:extLst>
          </p:cNvPr>
          <p:cNvPicPr>
            <a:picLocks noChangeAspect="1"/>
          </p:cNvPicPr>
          <p:nvPr/>
        </p:nvPicPr>
        <p:blipFill rotWithShape="1">
          <a:blip r:embed="rId8"/>
          <a:srcRect l="30716" t="34385" r="19230" b="18534"/>
          <a:stretch>
            <a:fillRect/>
          </a:stretch>
        </p:blipFill>
        <p:spPr>
          <a:xfrm>
            <a:off x="-1" y="5832762"/>
            <a:ext cx="5141913" cy="586047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3668048-DB41-672C-2A26-164430233908}"/>
              </a:ext>
            </a:extLst>
          </p:cNvPr>
          <p:cNvSpPr txBox="1"/>
          <p:nvPr/>
        </p:nvSpPr>
        <p:spPr>
          <a:xfrm>
            <a:off x="5151990" y="3590249"/>
            <a:ext cx="514191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DE" sz="8000" b="1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  <a:latin typeface="Patrick Hand" pitchFamily="2" charset="77"/>
              </a:rPr>
              <a:t>Pythonic Way</a:t>
            </a:r>
          </a:p>
        </p:txBody>
      </p:sp>
      <p:sp>
        <p:nvSpPr>
          <p:cNvPr id="21" name="Down Arrow 20">
            <a:extLst>
              <a:ext uri="{FF2B5EF4-FFF2-40B4-BE49-F238E27FC236}">
                <a16:creationId xmlns:a16="http://schemas.microsoft.com/office/drawing/2014/main" id="{A0E326E4-6752-ABE3-79D4-5CDE4020AD5E}"/>
              </a:ext>
            </a:extLst>
          </p:cNvPr>
          <p:cNvSpPr/>
          <p:nvPr/>
        </p:nvSpPr>
        <p:spPr>
          <a:xfrm>
            <a:off x="2052340" y="4978368"/>
            <a:ext cx="720000" cy="1323439"/>
          </a:xfrm>
          <a:prstGeom prst="downArrow">
            <a:avLst/>
          </a:prstGeom>
          <a:solidFill>
            <a:srgbClr val="FFFF00"/>
          </a:solidFill>
          <a:ln w="317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457200" rtl="0" eaLnBrk="1" latinLnBrk="0" hangingPunct="1"/>
            <a:endParaRPr lang="en-DE" dirty="0">
              <a:latin typeface="Patrick Hand" pitchFamily="2" charset="77"/>
            </a:endParaRPr>
          </a:p>
        </p:txBody>
      </p:sp>
      <p:sp>
        <p:nvSpPr>
          <p:cNvPr id="27" name="Down Arrow 26">
            <a:extLst>
              <a:ext uri="{FF2B5EF4-FFF2-40B4-BE49-F238E27FC236}">
                <a16:creationId xmlns:a16="http://schemas.microsoft.com/office/drawing/2014/main" id="{F383A996-922C-DA85-9D37-6CC58FCBA2FF}"/>
              </a:ext>
            </a:extLst>
          </p:cNvPr>
          <p:cNvSpPr/>
          <p:nvPr/>
        </p:nvSpPr>
        <p:spPr>
          <a:xfrm>
            <a:off x="7513073" y="4978368"/>
            <a:ext cx="720000" cy="1323439"/>
          </a:xfrm>
          <a:prstGeom prst="downArrow">
            <a:avLst/>
          </a:prstGeom>
          <a:solidFill>
            <a:srgbClr val="FFFF00"/>
          </a:solidFill>
          <a:ln w="317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457200" rtl="0" eaLnBrk="1" latinLnBrk="0" hangingPunct="1"/>
            <a:endParaRPr lang="en-DE" dirty="0">
              <a:latin typeface="Patrick Hand" pitchFamily="2" charset="77"/>
            </a:endParaRPr>
          </a:p>
        </p:txBody>
      </p:sp>
      <p:sp>
        <p:nvSpPr>
          <p:cNvPr id="5" name="Right Arrow 4">
            <a:extLst>
              <a:ext uri="{FF2B5EF4-FFF2-40B4-BE49-F238E27FC236}">
                <a16:creationId xmlns:a16="http://schemas.microsoft.com/office/drawing/2014/main" id="{B644678F-DD43-F00C-B900-A7B1E39CFE71}"/>
              </a:ext>
            </a:extLst>
          </p:cNvPr>
          <p:cNvSpPr/>
          <p:nvPr/>
        </p:nvSpPr>
        <p:spPr>
          <a:xfrm>
            <a:off x="4350325" y="7947287"/>
            <a:ext cx="1321200" cy="720000"/>
          </a:xfrm>
          <a:prstGeom prst="rightArrow">
            <a:avLst/>
          </a:prstGeom>
          <a:solidFill>
            <a:srgbClr val="FFFF00"/>
          </a:solidFill>
          <a:ln w="317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457200" rtl="0" eaLnBrk="1" latinLnBrk="0" hangingPunct="1"/>
            <a:endParaRPr lang="en-DE" dirty="0">
              <a:latin typeface="Patrick Hand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282809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chemeClr val="bg1"/>
          </a:fgClr>
          <a:bgClr>
            <a:schemeClr val="bg2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B73ACF6-9F08-4584-E579-88E9981577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>
            <a:extLst>
              <a:ext uri="{FF2B5EF4-FFF2-40B4-BE49-F238E27FC236}">
                <a16:creationId xmlns:a16="http://schemas.microsoft.com/office/drawing/2014/main" id="{3AF0F1A9-05DC-137D-4BCF-5553C2CAA58B}"/>
              </a:ext>
            </a:extLst>
          </p:cNvPr>
          <p:cNvSpPr txBox="1"/>
          <p:nvPr/>
        </p:nvSpPr>
        <p:spPr>
          <a:xfrm>
            <a:off x="2170229" y="1745204"/>
            <a:ext cx="594495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5400" b="1" dirty="0">
                <a:ln/>
                <a:latin typeface="+mj-lt"/>
              </a:rPr>
              <a:t>@</a:t>
            </a:r>
            <a:r>
              <a:rPr lang="en-GB" sz="5400" b="1" dirty="0" err="1">
                <a:ln/>
                <a:latin typeface="+mj-lt"/>
              </a:rPr>
              <a:t>CodeWithEbrahim</a:t>
            </a:r>
            <a:endParaRPr lang="en-GB" sz="5400" b="1" dirty="0">
              <a:ln/>
              <a:latin typeface="+mj-lt"/>
            </a:endParaRP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8B36CFE6-A506-32C2-D82C-D9CFA49A35B8}"/>
              </a:ext>
            </a:extLst>
          </p:cNvPr>
          <p:cNvGrpSpPr/>
          <p:nvPr/>
        </p:nvGrpSpPr>
        <p:grpSpPr>
          <a:xfrm>
            <a:off x="4153139" y="492745"/>
            <a:ext cx="1979135" cy="925200"/>
            <a:chOff x="4315976" y="15244200"/>
            <a:chExt cx="1979135" cy="925200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367077B8-EBC3-CC2C-6491-5C0D45B42B6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369911" y="15244200"/>
              <a:ext cx="925200" cy="925200"/>
            </a:xfrm>
            <a:prstGeom prst="rect">
              <a:avLst/>
            </a:prstGeom>
          </p:spPr>
        </p:pic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45917954-65FF-A571-2710-6A1DE5EE48B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315976" y="15244200"/>
              <a:ext cx="925200" cy="925200"/>
            </a:xfrm>
            <a:prstGeom prst="rect">
              <a:avLst/>
            </a:prstGeom>
          </p:spPr>
        </p:pic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405E72F4-E39E-8FAD-652F-B4C2D2EE8911}"/>
              </a:ext>
            </a:extLst>
          </p:cNvPr>
          <p:cNvSpPr txBox="1"/>
          <p:nvPr/>
        </p:nvSpPr>
        <p:spPr>
          <a:xfrm>
            <a:off x="336388" y="3210690"/>
            <a:ext cx="9611203" cy="92333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54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Patrick Hand" pitchFamily="2" charset="77"/>
              </a:rPr>
              <a:t>List</a:t>
            </a:r>
            <a:r>
              <a:rPr lang="en-DE" sz="54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Patrick Hand" pitchFamily="2" charset="77"/>
              </a:rPr>
              <a:t> Index based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A73C1D9-D9C0-F838-3FED-6DC134F0D204}"/>
              </a:ext>
            </a:extLst>
          </p:cNvPr>
          <p:cNvSpPr txBox="1">
            <a:spLocks/>
          </p:cNvSpPr>
          <p:nvPr/>
        </p:nvSpPr>
        <p:spPr>
          <a:xfrm>
            <a:off x="336388" y="8876708"/>
            <a:ext cx="9609769" cy="2303126"/>
          </a:xfrm>
          <a:prstGeom prst="rect">
            <a:avLst/>
          </a:prstGeom>
          <a:ln/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GB" sz="5400" b="1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/>
                </a:solidFill>
                <a:effectLst>
                  <a:outerShdw dist="38100" dir="2700000" algn="bl" rotWithShape="0">
                    <a:schemeClr val="accent5"/>
                  </a:outerShdw>
                </a:effectLst>
                <a:latin typeface="Patrick Hand" pitchFamily="2" charset="77"/>
              </a:rPr>
              <a:t>M</a:t>
            </a:r>
            <a:r>
              <a:rPr lang="en-DE" sz="5400" b="1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/>
                </a:solidFill>
                <a:effectLst>
                  <a:outerShdw dist="38100" dir="2700000" algn="bl" rotWithShape="0">
                    <a:schemeClr val="accent5"/>
                  </a:outerShdw>
                </a:effectLst>
                <a:latin typeface="Patrick Hand" pitchFamily="2" charset="77"/>
              </a:rPr>
              <a:t>ore readable and prevents “IndexError” bugs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C53E3FC-8572-55A5-8B29-A4E703BE9911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19320" t="33139" r="12833" b="18458"/>
          <a:stretch>
            <a:fillRect/>
          </a:stretch>
        </p:blipFill>
        <p:spPr>
          <a:xfrm>
            <a:off x="337823" y="4198000"/>
            <a:ext cx="9609769" cy="460956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3BFD0B6-4AF1-C224-E230-00E04AF21B82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17225" t="32654" r="10336" b="17009"/>
          <a:stretch>
            <a:fillRect/>
          </a:stretch>
        </p:blipFill>
        <p:spPr>
          <a:xfrm>
            <a:off x="337822" y="11259625"/>
            <a:ext cx="9611203" cy="40005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BB0DAB2-598A-C4B1-C3A9-530FCFC98BF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54557" y="14070664"/>
            <a:ext cx="1063167" cy="1063167"/>
          </a:xfrm>
          <a:prstGeom prst="rect">
            <a:avLst/>
          </a:prstGeom>
        </p:spPr>
      </p:pic>
      <p:sp>
        <p:nvSpPr>
          <p:cNvPr id="7" name="Curved Left Arrow 6">
            <a:extLst>
              <a:ext uri="{FF2B5EF4-FFF2-40B4-BE49-F238E27FC236}">
                <a16:creationId xmlns:a16="http://schemas.microsoft.com/office/drawing/2014/main" id="{4F4EEE06-704E-18C9-AB2B-8C23A4B5BAC1}"/>
              </a:ext>
            </a:extLst>
          </p:cNvPr>
          <p:cNvSpPr/>
          <p:nvPr/>
        </p:nvSpPr>
        <p:spPr>
          <a:xfrm>
            <a:off x="8372281" y="6021236"/>
            <a:ext cx="1518251" cy="6452559"/>
          </a:xfrm>
          <a:prstGeom prst="curvedLeftArrow">
            <a:avLst/>
          </a:prstGeom>
          <a:solidFill>
            <a:srgbClr val="FFFF00"/>
          </a:solidFill>
          <a:ln w="31750"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457200" rtl="0" eaLnBrk="1" latinLnBrk="0" hangingPunct="1"/>
            <a:endParaRPr lang="en-DE" dirty="0">
              <a:solidFill>
                <a:schemeClr val="tx1"/>
              </a:solidFill>
              <a:latin typeface="Patrick Hand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3853866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divot">
          <a:fgClr>
            <a:schemeClr val="bg1">
              <a:lumMod val="75000"/>
            </a:schemeClr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C8345EEA-8E33-AB34-6647-7D730998D0D4}"/>
              </a:ext>
            </a:extLst>
          </p:cNvPr>
          <p:cNvSpPr txBox="1"/>
          <p:nvPr/>
        </p:nvSpPr>
        <p:spPr>
          <a:xfrm>
            <a:off x="2170229" y="1745204"/>
            <a:ext cx="594495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5400" b="1" dirty="0">
                <a:ln/>
                <a:latin typeface="+mj-lt"/>
              </a:rPr>
              <a:t>@</a:t>
            </a:r>
            <a:r>
              <a:rPr lang="en-GB" sz="5400" b="1" dirty="0" err="1">
                <a:ln/>
                <a:latin typeface="+mj-lt"/>
              </a:rPr>
              <a:t>CodeWithEbrahim</a:t>
            </a:r>
            <a:endParaRPr lang="en-GB" sz="5400" b="1" dirty="0">
              <a:ln/>
              <a:latin typeface="+mj-lt"/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C85A97EE-04CF-BB70-7A4E-EF65A741970A}"/>
              </a:ext>
            </a:extLst>
          </p:cNvPr>
          <p:cNvGrpSpPr/>
          <p:nvPr/>
        </p:nvGrpSpPr>
        <p:grpSpPr>
          <a:xfrm>
            <a:off x="4153139" y="492745"/>
            <a:ext cx="1979135" cy="925200"/>
            <a:chOff x="4315976" y="15244200"/>
            <a:chExt cx="1979135" cy="925200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EB62F72E-F833-B62D-AAA3-2D9858B82C3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369911" y="15244200"/>
              <a:ext cx="925200" cy="925200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76C95DEE-C89F-14EA-3FD5-BE2B7A6C37B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315976" y="15244200"/>
              <a:ext cx="925200" cy="9252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68936CF2-EFE7-0A56-5F22-A1457CF2CB86}"/>
              </a:ext>
            </a:extLst>
          </p:cNvPr>
          <p:cNvGrpSpPr/>
          <p:nvPr/>
        </p:nvGrpSpPr>
        <p:grpSpPr>
          <a:xfrm>
            <a:off x="297365" y="4382219"/>
            <a:ext cx="9690682" cy="4278703"/>
            <a:chOff x="232998" y="4382219"/>
            <a:chExt cx="9690682" cy="4278703"/>
          </a:xfrm>
        </p:grpSpPr>
        <p:pic>
          <p:nvPicPr>
            <p:cNvPr id="70" name="Picture 69">
              <a:extLst>
                <a:ext uri="{FF2B5EF4-FFF2-40B4-BE49-F238E27FC236}">
                  <a16:creationId xmlns:a16="http://schemas.microsoft.com/office/drawing/2014/main" id="{66BDBF16-7324-C359-13EB-C05F2D62C06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l="18433" t="32757" r="11268" b="18316"/>
            <a:stretch>
              <a:fillRect/>
            </a:stretch>
          </p:blipFill>
          <p:spPr>
            <a:xfrm>
              <a:off x="232998" y="4382219"/>
              <a:ext cx="9690682" cy="4278703"/>
            </a:xfrm>
            <a:prstGeom prst="rect">
              <a:avLst/>
            </a:prstGeom>
          </p:spPr>
        </p:pic>
        <p:pic>
          <p:nvPicPr>
            <p:cNvPr id="86" name="Graphic 85" descr="Close with solid fill">
              <a:extLst>
                <a:ext uri="{FF2B5EF4-FFF2-40B4-BE49-F238E27FC236}">
                  <a16:creationId xmlns:a16="http://schemas.microsoft.com/office/drawing/2014/main" id="{6ED8EA4F-3558-5DA3-7EBB-C7E095FB297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8869700" y="4707196"/>
              <a:ext cx="914400" cy="914400"/>
            </a:xfrm>
            <a:prstGeom prst="rect">
              <a:avLst/>
            </a:prstGeom>
          </p:spPr>
        </p:pic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id="{91BE2148-5B99-92E2-A86C-A2ED92CA6938}"/>
                </a:ext>
              </a:extLst>
            </p:cNvPr>
            <p:cNvCxnSpPr>
              <a:cxnSpLocks/>
            </p:cNvCxnSpPr>
            <p:nvPr/>
          </p:nvCxnSpPr>
          <p:spPr>
            <a:xfrm>
              <a:off x="5382883" y="5164396"/>
              <a:ext cx="3486817" cy="0"/>
            </a:xfrm>
            <a:prstGeom prst="straightConnector1">
              <a:avLst/>
            </a:prstGeom>
            <a:ln w="31750">
              <a:solidFill>
                <a:srgbClr val="FF0000"/>
              </a:solidFill>
              <a:headEnd type="none" w="lg" len="lg"/>
              <a:tailEnd type="arrow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FEEA5A16-A8AD-2CD6-D0B9-9E6047E39071}"/>
              </a:ext>
            </a:extLst>
          </p:cNvPr>
          <p:cNvGrpSpPr/>
          <p:nvPr/>
        </p:nvGrpSpPr>
        <p:grpSpPr>
          <a:xfrm>
            <a:off x="297365" y="8971470"/>
            <a:ext cx="9690682" cy="4278701"/>
            <a:chOff x="232998" y="8971470"/>
            <a:chExt cx="9690682" cy="4278701"/>
          </a:xfrm>
        </p:grpSpPr>
        <p:pic>
          <p:nvPicPr>
            <p:cNvPr id="83" name="Picture 82">
              <a:extLst>
                <a:ext uri="{FF2B5EF4-FFF2-40B4-BE49-F238E27FC236}">
                  <a16:creationId xmlns:a16="http://schemas.microsoft.com/office/drawing/2014/main" id="{B90F781D-CFEE-8ED8-F94E-C48D737E1DF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/>
            <a:srcRect l="18284" t="32749" r="11433" b="18336"/>
            <a:stretch>
              <a:fillRect/>
            </a:stretch>
          </p:blipFill>
          <p:spPr>
            <a:xfrm>
              <a:off x="232998" y="8971470"/>
              <a:ext cx="9690682" cy="4278701"/>
            </a:xfrm>
            <a:prstGeom prst="rect">
              <a:avLst/>
            </a:prstGeom>
          </p:spPr>
        </p:pic>
        <p:pic>
          <p:nvPicPr>
            <p:cNvPr id="84" name="Picture 83">
              <a:extLst>
                <a:ext uri="{FF2B5EF4-FFF2-40B4-BE49-F238E27FC236}">
                  <a16:creationId xmlns:a16="http://schemas.microsoft.com/office/drawing/2014/main" id="{C14DD266-0237-70CE-24DF-8074AAEEFD8D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289677" y="12117992"/>
              <a:ext cx="1063167" cy="1063167"/>
            </a:xfrm>
            <a:prstGeom prst="rect">
              <a:avLst/>
            </a:prstGeom>
          </p:spPr>
        </p:pic>
        <p:pic>
          <p:nvPicPr>
            <p:cNvPr id="88" name="Graphic 87" descr="Checkbox Ticked with solid fill">
              <a:extLst>
                <a:ext uri="{FF2B5EF4-FFF2-40B4-BE49-F238E27FC236}">
                  <a16:creationId xmlns:a16="http://schemas.microsoft.com/office/drawing/2014/main" id="{B2AC9583-C2C6-6C42-BCA2-5941DBEC6666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8869700" y="9947674"/>
              <a:ext cx="914400" cy="914400"/>
            </a:xfrm>
            <a:prstGeom prst="rect">
              <a:avLst/>
            </a:prstGeom>
          </p:spPr>
        </p:pic>
        <p:cxnSp>
          <p:nvCxnSpPr>
            <p:cNvPr id="101" name="Straight Arrow Connector 100">
              <a:extLst>
                <a:ext uri="{FF2B5EF4-FFF2-40B4-BE49-F238E27FC236}">
                  <a16:creationId xmlns:a16="http://schemas.microsoft.com/office/drawing/2014/main" id="{5DE6B61C-48DF-C505-4BB6-1D08B15C9133}"/>
                </a:ext>
              </a:extLst>
            </p:cNvPr>
            <p:cNvCxnSpPr>
              <a:cxnSpLocks/>
            </p:cNvCxnSpPr>
            <p:nvPr/>
          </p:nvCxnSpPr>
          <p:spPr>
            <a:xfrm>
              <a:off x="6763109" y="10404874"/>
              <a:ext cx="2258991" cy="18758"/>
            </a:xfrm>
            <a:prstGeom prst="straightConnector1">
              <a:avLst/>
            </a:prstGeom>
            <a:ln w="31750">
              <a:solidFill>
                <a:srgbClr val="00B050"/>
              </a:solidFill>
              <a:headEnd type="none" w="lg" len="lg"/>
              <a:tailEnd type="arrow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3" name="TextBox 102">
            <a:extLst>
              <a:ext uri="{FF2B5EF4-FFF2-40B4-BE49-F238E27FC236}">
                <a16:creationId xmlns:a16="http://schemas.microsoft.com/office/drawing/2014/main" id="{FEF617D9-122A-AA15-1A86-D9BAE09F0F58}"/>
              </a:ext>
            </a:extLst>
          </p:cNvPr>
          <p:cNvSpPr txBox="1"/>
          <p:nvPr/>
        </p:nvSpPr>
        <p:spPr>
          <a:xfrm>
            <a:off x="739898" y="3160241"/>
            <a:ext cx="880561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sz="4800" b="1" i="1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  <a:latin typeface="Patrick Hand" pitchFamily="2" charset="77"/>
              </a:rPr>
              <a:t>Use </a:t>
            </a:r>
            <a:r>
              <a:rPr lang="en-DE" sz="4800" b="1" i="1" u="sng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  <a:latin typeface="Patrick Hand" pitchFamily="2" charset="77"/>
              </a:rPr>
              <a:t>Walrus</a:t>
            </a:r>
            <a:r>
              <a:rPr lang="en-DE" sz="4800" b="1" i="1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  <a:latin typeface="Patrick Hand" pitchFamily="2" charset="77"/>
              </a:rPr>
              <a:t> Operator</a:t>
            </a:r>
            <a:r>
              <a:rPr lang="en-US" sz="4800" b="1" i="1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  <a:latin typeface="Patrick Hand" pitchFamily="2" charset="77"/>
              </a:rPr>
              <a:t>(:=) in your codes</a:t>
            </a:r>
            <a:endParaRPr lang="en-DE" sz="4800" b="1" i="1" dirty="0">
              <a:ln w="13462">
                <a:solidFill>
                  <a:schemeClr val="bg1"/>
                </a:solidFill>
                <a:prstDash val="solid"/>
              </a:ln>
              <a:solidFill>
                <a:schemeClr val="tx1">
                  <a:lumMod val="85000"/>
                  <a:lumOff val="15000"/>
                </a:schemeClr>
              </a:solidFill>
              <a:effectLst>
                <a:outerShdw dist="38100" dir="2700000" algn="bl" rotWithShape="0">
                  <a:schemeClr val="accent5"/>
                </a:outerShdw>
              </a:effectLst>
              <a:latin typeface="Patrick Hand" pitchFamily="2" charset="77"/>
            </a:endParaRPr>
          </a:p>
        </p:txBody>
      </p:sp>
      <p:sp>
        <p:nvSpPr>
          <p:cNvPr id="112" name="Curved Right Arrow 111">
            <a:extLst>
              <a:ext uri="{FF2B5EF4-FFF2-40B4-BE49-F238E27FC236}">
                <a16:creationId xmlns:a16="http://schemas.microsoft.com/office/drawing/2014/main" id="{7A5F38A8-0653-BF91-CCDD-59BAEA1A169F}"/>
              </a:ext>
            </a:extLst>
          </p:cNvPr>
          <p:cNvSpPr/>
          <p:nvPr/>
        </p:nvSpPr>
        <p:spPr>
          <a:xfrm>
            <a:off x="436946" y="4054420"/>
            <a:ext cx="1223200" cy="6211012"/>
          </a:xfrm>
          <a:prstGeom prst="curvedRightArrow">
            <a:avLst/>
          </a:prstGeom>
          <a:solidFill>
            <a:srgbClr val="FFC000"/>
          </a:solidFill>
          <a:ln w="31750"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457200" rtl="0" eaLnBrk="1" latinLnBrk="0" hangingPunct="1"/>
            <a:endParaRPr lang="en-DE" dirty="0">
              <a:solidFill>
                <a:schemeClr val="tx1"/>
              </a:solidFill>
              <a:latin typeface="Patrick Hand" pitchFamily="2" charset="77"/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C955F01A-DD86-3AD9-6B7B-91D5259CC29E}"/>
              </a:ext>
            </a:extLst>
          </p:cNvPr>
          <p:cNvSpPr txBox="1"/>
          <p:nvPr/>
        </p:nvSpPr>
        <p:spPr>
          <a:xfrm>
            <a:off x="2928799" y="8965638"/>
            <a:ext cx="4427815" cy="830997"/>
          </a:xfrm>
          <a:prstGeom prst="rect">
            <a:avLst/>
          </a:prstGeom>
          <a:ln/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marL="0" algn="l" defTabSz="457200" rtl="0" eaLnBrk="1" latinLnBrk="0" hangingPunct="1"/>
            <a:r>
              <a:rPr lang="en-US" sz="4800" b="1" dirty="0">
                <a:ln w="12700" cmpd="sng">
                  <a:solidFill>
                    <a:schemeClr val="accent4"/>
                  </a:solidFill>
                  <a:prstDash val="solid"/>
                </a:ln>
                <a:gradFill>
                  <a:gsLst>
                    <a:gs pos="0">
                      <a:schemeClr val="accent4"/>
                    </a:gs>
                    <a:gs pos="4000">
                      <a:schemeClr val="accent4">
                        <a:lumMod val="60000"/>
                        <a:lumOff val="40000"/>
                      </a:schemeClr>
                    </a:gs>
                    <a:gs pos="87000">
                      <a:schemeClr val="accent4">
                        <a:lumMod val="20000"/>
                        <a:lumOff val="80000"/>
                      </a:schemeClr>
                    </a:gs>
                  </a:gsLst>
                  <a:lin ang="5400000"/>
                </a:gradFill>
                <a:latin typeface="Patrick Hand" pitchFamily="2" charset="77"/>
              </a:rPr>
              <a:t>Concise &amp; Readable</a:t>
            </a:r>
            <a:endParaRPr lang="en-DE" sz="4800" b="1" dirty="0">
              <a:ln w="12700" cmpd="sng">
                <a:solidFill>
                  <a:schemeClr val="accent4"/>
                </a:solidFill>
                <a:prstDash val="solid"/>
              </a:ln>
              <a:gradFill>
                <a:gsLst>
                  <a:gs pos="0">
                    <a:schemeClr val="accent4"/>
                  </a:gs>
                  <a:gs pos="4000">
                    <a:schemeClr val="accent4">
                      <a:lumMod val="60000"/>
                      <a:lumOff val="40000"/>
                    </a:schemeClr>
                  </a:gs>
                  <a:gs pos="87000">
                    <a:schemeClr val="accent4">
                      <a:lumMod val="20000"/>
                      <a:lumOff val="80000"/>
                    </a:schemeClr>
                  </a:gs>
                </a:gsLst>
                <a:lin ang="5400000"/>
              </a:gradFill>
              <a:latin typeface="Patrick Hand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230972794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31750">
          <a:solidFill>
            <a:schemeClr val="accent1">
              <a:shade val="15000"/>
            </a:schemeClr>
          </a:solidFill>
        </a:ln>
      </a:spPr>
      <a:bodyPr rtlCol="0" anchor="ctr"/>
      <a:lstStyle>
        <a:defPPr marL="0" algn="ctr" defTabSz="457200" rtl="0" eaLnBrk="1" latinLnBrk="0" hangingPunct="1">
          <a:defRPr dirty="0">
            <a:latin typeface="Patrick Hand" pitchFamily="2" charset="77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31750">
          <a:solidFill>
            <a:schemeClr val="tx1"/>
          </a:solidFill>
          <a:headEnd type="none"/>
          <a:tailEnd type="arrow" w="lg" len="lg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b1c9b508-7c6e-42bd-bedf-808292653d6c}" enabled="1" method="Standard" siteId="{2882be50-2012-4d88-ac86-544124e120c8}" contentBits="3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19453</TotalTime>
  <Words>165</Words>
  <Application>Microsoft Macintosh PowerPoint</Application>
  <PresentationFormat>Custom</PresentationFormat>
  <Paragraphs>51</Paragraphs>
  <Slides>8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Aptos</vt:lpstr>
      <vt:lpstr>Arial</vt:lpstr>
      <vt:lpstr>Calibri</vt:lpstr>
      <vt:lpstr>Calibri Light</vt:lpstr>
      <vt:lpstr>Patrick Hand</vt:lpstr>
      <vt:lpstr>Office 2013 - 2022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Salehi Oshtorjani, Ebrahim (K-DACT/F)</dc:creator>
  <cp:lastModifiedBy>Salehi Oshtorjani, Ebrahim (K-DACT/F)</cp:lastModifiedBy>
  <cp:revision>173</cp:revision>
  <cp:lastPrinted>2025-12-17T08:49:37Z</cp:lastPrinted>
  <dcterms:created xsi:type="dcterms:W3CDTF">2025-12-17T08:13:25Z</dcterms:created>
  <dcterms:modified xsi:type="dcterms:W3CDTF">2025-12-31T20:14:13Z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FooterLocations">
    <vt:lpwstr>Atlas:8</vt:lpwstr>
  </property>
  <property fmtid="{D5CDD505-2E9C-101B-9397-08002B2CF9AE}" pid="3" name="ClassificationContentMarkingFooterText">
    <vt:lpwstr>INTERNAL</vt:lpwstr>
  </property>
</Properties>
</file>