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comments/modernComment_114_90382018.xml" ContentType="application/vnd.ms-powerpoint.comments+xml"/>
  <Override PartName="/ppt/comments/modernComment_115_9CE3D27C.xml" ContentType="application/vnd.ms-powerpoint.comments+xml"/>
  <Override PartName="/ppt/comments/modernComment_116_9D718DED.xml" ContentType="application/vnd.ms-powerpoint.comments+xml"/>
  <Override PartName="/ppt/notesSlides/notesSlide6.xml" ContentType="application/vnd.openxmlformats-officedocument.presentationml.notesSlide+xml"/>
  <Override PartName="/ppt/comments/modernComment_117_532A238D.xml" ContentType="application/vnd.ms-powerpoint.comments+xml"/>
  <Override PartName="/ppt/comments/modernComment_118_626EC4B9.xml" ContentType="application/vnd.ms-powerpoint.comments+xml"/>
  <Override PartName="/ppt/comments/modernComment_120_FA024C04.xml" ContentType="application/vnd.ms-powerpoint.comments+xml"/>
  <Override PartName="/ppt/notesSlides/notesSlide7.xml" ContentType="application/vnd.openxmlformats-officedocument.presentationml.notesSlide+xml"/>
  <Override PartName="/ppt/comments/modernComment_122_9A36DA00.xml" ContentType="application/vnd.ms-powerpoint.comments+xml"/>
  <Override PartName="/ppt/comments/modernComment_124_3E0760C.xml" ContentType="application/vnd.ms-powerpoint.comments+xml"/>
  <Override PartName="/ppt/comments/modernComment_125_E21438E9.xml" ContentType="application/vnd.ms-powerpoint.comments+xml"/>
  <Override PartName="/ppt/comments/modernComment_126_9DA2AD4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25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  <p:sldId id="276" r:id="rId10"/>
    <p:sldId id="277" r:id="rId11"/>
    <p:sldId id="278" r:id="rId12"/>
    <p:sldId id="279" r:id="rId13"/>
    <p:sldId id="280" r:id="rId14"/>
    <p:sldId id="281" r:id="rId15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82" r:id="rId24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09"/>
    <p:restoredTop sz="96774"/>
  </p:normalViewPr>
  <p:slideViewPr>
    <p:cSldViewPr snapToGrid="0">
      <p:cViewPr>
        <p:scale>
          <a:sx n="51" d="100"/>
          <a:sy n="51" d="100"/>
        </p:scale>
        <p:origin x="2904" y="360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comments/modernComment_114_903820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20432F-D95B-134A-AF1F-F641BC3F7A95}" authorId="{8860045D-B334-310D-0A4E-9E20AA0B149E}" created="2026-01-02T10:15:01.565">
    <pc:sldMkLst xmlns:pc="http://schemas.microsoft.com/office/powerpoint/2013/main/command">
      <pc:docMk/>
      <pc:sldMk cId="2419597336" sldId="276"/>
    </pc:sldMkLst>
    <p188:txBody>
      <a:bodyPr/>
      <a:lstStyle/>
      <a:p>
        <a:r>
          <a:rPr lang="en-DE"/>
          <a:t>TikTok:
Stop guessing if your code works! 🧪 Writing your first test with Pytest is the fastest way to level up. 🚀
#Python #Coding #SoftwareEngineering #Pytest #USA #Germany #Deutschland #Programming #TechTips #CodeWithEbrahim</a:t>
        </a:r>
      </a:p>
    </p188:txBody>
  </p188:cm>
</p188:cmLst>
</file>

<file path=ppt/comments/modernComment_115_9CE3D2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4800C0-A8FD-7049-8721-DDFAF8DB46DE}" authorId="{8860045D-B334-310D-0A4E-9E20AA0B149E}" created="2026-01-02T13:54:15.909">
    <pc:sldMkLst xmlns:pc="http://schemas.microsoft.com/office/powerpoint/2013/main/command">
      <pc:docMk/>
      <pc:sldMk cId="2632176252" sldId="277"/>
    </pc:sldMkLst>
    <p188:txBody>
      <a:bodyPr/>
      <a:lstStyle/>
      <a:p>
        <a:r>
          <a:rPr lang="en-DE"/>
          <a:t>tiktok
Stop using print() to handle bad data! 🛑 
Using raise makes your code professional and prevents silent crashes. 🐍🔥
#Python #CodingTips #SoftwareEngineering #USA #Germany #Deutschland #Backend #Programming #LearnToCode #CodeWithEbrahim</a:t>
        </a:r>
      </a:p>
    </p188:txBody>
  </p188:cm>
</p188:cmLst>
</file>

<file path=ppt/comments/modernComment_116_9D718D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24A432-E714-704A-91D8-E4A8019E62C5}" authorId="{8860045D-B334-310D-0A4E-9E20AA0B149E}" created="2026-01-02T21:09:18.585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Subscribe for more Clean Code tips!
</a:t>
        </a:r>
      </a:p>
    </p188:txBody>
  </p188:cm>
  <p188:cm id="{BD450650-0826-3F40-866F-BB5FA42A6E60}" authorId="{8860045D-B334-310D-0A4E-9E20AA0B149E}" created="2026-01-03T02:36:43.451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Youtube
Ever wondered what those double underscores (Dunders) actually do in Python? 🐍
1️⃣ name: Tells you if the script is running directly or being imported.
2️⃣ file: Gives you the exact location of your script on your computer. 
3️⃣ package: Helps you understand where your module lives in a project.
🇺🇸 Level up your Python skills! 🇩🇪 Python-Variablen einfach erklärt!
#Python #CodingTips #Backend #SoftwareEngineering #Germany #USA #Deutschland #Programming #CodeWithEbrahim</a:t>
        </a:r>
      </a:p>
    </p188:txBody>
  </p188:cm>
</p188:cmLst>
</file>

<file path=ppt/comments/modernComment_117_532A238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2077823-D24A-8947-B4FE-B579AFEE0A3A}" authorId="{8860045D-B334-310D-0A4E-9E20AA0B149E}" created="2026-01-03T21:47:30.016">
    <pc:sldMkLst xmlns:pc="http://schemas.microsoft.com/office/powerpoint/2013/main/command">
      <pc:docMk/>
      <pc:sldMk cId="1395270541" sldId="279"/>
    </pc:sldMkLst>
    <p188:txBody>
      <a:bodyPr/>
      <a:lstStyle/>
      <a:p>
        <a:r>
          <a:rPr lang="en-DE"/>
          <a:t>Youtube
Title: Why you should switch to Pathlib! 🐍
Working with file paths doesn't have to be ugly. pathlib makes your code readable and object-oriented. No more messy strings!
🚀 Pro Tip: Use the / operator to join paths easily.
#Python #CleanCode #Pathlib #SoftwareEngineering #ProgrammingTips #CodingLife #Backend #CodeWithEbrahim</a:t>
        </a:r>
      </a:p>
    </p188:txBody>
  </p188:cm>
</p188:cmLst>
</file>

<file path=ppt/comments/modernComment_118_626EC4B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89ECDD-2FC4-B843-90C4-2BBA8C3E356B}" authorId="{8860045D-B334-310D-0A4E-9E20AA0B149E}" created="2026-01-03T21:59:30.244">
    <pc:sldMkLst xmlns:pc="http://schemas.microsoft.com/office/powerpoint/2013/main/command">
      <pc:docMk/>
      <pc:sldMk cId="1651426489" sldId="280"/>
    </pc:sldMkLst>
    <p188:txBody>
      <a:bodyPr/>
      <a:lstStyle/>
      <a:p>
        <a:r>
          <a:rPr lang="en-DE"/>
          <a:t>Title: Pythonic If-Statements: Use Truthiness! 🐍
Why write more code when Python does it for you? Using Truthiness makes your scripts cleaner and more efficient. 🚀
🇺🇸 Learn the Pythonic way! 🇩🇪 Python-Code sauberer schreiben!
#Python #CleanCode #Pythonic #ProgrammingTips #Coding #SoftwareEngineering #USA #Germany #CodeWithEbrahim
</a:t>
        </a:r>
      </a:p>
    </p188:txBody>
  </p188:cm>
</p188:cmLst>
</file>

<file path=ppt/comments/modernComment_120_FA024C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D904378-B2C9-5241-A08B-375F4FC6B280}" authorId="{8860045D-B334-310D-0A4E-9E20AA0B149E}" created="2026-01-04T06:33:22.990">
    <pc:sldMkLst xmlns:pc="http://schemas.microsoft.com/office/powerpoint/2013/main/command">
      <pc:docMk/>
      <pc:sldMk cId="4194454532" sldId="288"/>
    </pc:sldMkLst>
    <p188:txBody>
      <a:bodyPr/>
      <a:lstStyle/>
      <a:p>
        <a:r>
          <a:rPr lang="en-DE"/>
          <a:t>Title: Python 'with' Statement: Resource Management Made Easy! 🛡️
Tired of forgetting to close your files or database connections? The with statement in Python is your clean code superpower!
🇺🇸 Keep your Python code safe and clean! 🇩🇪 Python: Ressourcen sicher verwalten!
#Python #CleanCode #ProgrammingTips #ContextManager #FileHandling #CodeWithEbrahim</a:t>
        </a:r>
      </a:p>
    </p188:txBody>
  </p188:cm>
</p188:cmLst>
</file>

<file path=ppt/comments/modernComment_122_9A36DA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DADDA2-3D15-FC44-A576-7980490464C2}" authorId="{8860045D-B334-310D-0A4E-9E20AA0B149E}" created="2026-01-05T00:38:35.625">
    <pc:sldMkLst xmlns:pc="http://schemas.microsoft.com/office/powerpoint/2013/main/command">
      <pc:docMk/>
      <pc:sldMk cId="2587286016" sldId="290"/>
    </pc:sldMkLst>
    <p188:txBody>
      <a:bodyPr/>
      <a:lstStyle/>
      <a:p>
        <a:r>
          <a:rPr lang="en-DE"/>
          <a:t>Python f-Strings: The Faster &amp; Cleaner Way 🐍
Are you still using % or .format() to handle strings in Python? It’s time to upgrade! 🐍✨
f-Strings are not just more readable; they are also faster because they're evaluated
#Python #CleanCode #ProgrammingTips #fstrings #Python3 #CodeWithEbrahim #CodingLife</a:t>
        </a:r>
      </a:p>
    </p188:txBody>
  </p188:cm>
</p188:cmLst>
</file>

<file path=ppt/comments/modernComment_124_3E076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88181D5-5BED-2047-99D7-3799AF364966}" authorId="{8860045D-B334-310D-0A4E-9E20AA0B149E}" created="2026-01-05T02:39:46.343">
    <pc:sldMkLst xmlns:pc="http://schemas.microsoft.com/office/powerpoint/2013/main/command">
      <pc:docMk/>
      <pc:sldMk cId="65041932" sldId="292"/>
    </pc:sldMkLst>
    <p188:txBody>
      <a:bodyPr/>
      <a:lstStyle/>
      <a:p>
        <a:r>
          <a:rPr lang="en-DE"/>
          <a:t>Stop writing unnecessary "if" checks! 🐍✨
Using defaultdict from the collections module makes your code cleaner and prevents the famous KeyError. It automatically initializes keys with a default value (like an empty list).
#PythonTips #CleanCode #PythonProgramming #CodeWithEbrahim #SoftwareDevelopment #Python3</a:t>
        </a:r>
      </a:p>
    </p188:txBody>
  </p188:cm>
</p188:cmLst>
</file>

<file path=ppt/comments/modernComment_125_E21438E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4420A9-55BE-024F-A9FE-476F72618FC0}" authorId="{8860045D-B334-310D-0A4E-9E20AA0B149E}" created="2026-01-05T03:19:53.551">
    <pc:sldMkLst xmlns:pc="http://schemas.microsoft.com/office/powerpoint/2013/main/command">
      <pc:docMk/>
      <pc:sldMk cId="3792976105" sldId="293"/>
    </pc:sldMkLst>
    <p188:txBody>
      <a:bodyPr/>
      <a:lstStyle/>
      <a:p>
        <a:r>
          <a:rPr lang="en-DE"/>
          <a:t>Did you know Python can return multiple values at once? 🤯🐍
In many languages, you need a class or an array to return more than one value. In Python, you just use a comma! It’s called "Tuple Unpacking" and it makes your
#PythonTips #CleanCode #ProgrammingLife #CodeWithEbrahim #PythonHacks #BackendDev</a:t>
        </a:r>
      </a:p>
    </p188:txBody>
  </p188:cm>
</p188:cmLst>
</file>

<file path=ppt/comments/modernComment_126_9DA2AD4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8865AF-136D-2642-923A-35928BA76FED}" authorId="{8860045D-B334-310D-0A4E-9E20AA0B149E}" created="2026-01-05T04:08:30.372">
    <pc:sldMkLst xmlns:pc="http://schemas.microsoft.com/office/powerpoint/2013/main/command">
      <pc:docMk/>
      <pc:sldMk cId="2644684110" sldId="294"/>
    </pc:sldMkLst>
    <p188:txBody>
      <a:bodyPr/>
      <a:lstStyle/>
      <a:p>
        <a:r>
          <a:rPr lang="en-DE"/>
          <a:t>Stop crashing your app with KeyErrors! 🛡️🐍
Tired of seeing KeyError in your logs? Accessing dictionary values with [] is risky because if the key is missing, your code breaks.
The .get() method is your best friend. It allows you to provide a default value so your program keeps running smoothly no matter what.
#PythonTips #CleanCode #ErrorHandling #PythonDeveloper #ProgrammingLife #CodeWithEbrahim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372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732FD-D9E9-AAE3-0DFD-25C6A587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65AD2-BF8F-55A2-6C49-4C74899FC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244BB-A6D8-1077-F5B9-623B75F9D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99D23-2291-E2AF-4349-FDA5EB6F0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2236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B4725-F1EC-C0BF-28F1-5FBD00F89475}"/>
              </a:ext>
            </a:extLst>
          </p:cNvPr>
          <p:cNvSpPr txBox="1"/>
          <p:nvPr userDrawn="1"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E2B3C5-12FB-9052-C5A5-A819EAF27AC1}"/>
              </a:ext>
            </a:extLst>
          </p:cNvPr>
          <p:cNvGrpSpPr/>
          <p:nvPr userDrawn="1"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524E7D-1D75-8F90-E72A-A01BE2AD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FF6CE8-F094-62A9-F577-CE8ADDA43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184EB1F-481A-B6D2-1817-1F871BD0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7F9027-CC07-7360-7ADD-A8D8CE9A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25924C7-C2EA-D319-9523-271865881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2277F46-4348-5215-811D-6AD5B4DD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2" Type="http://schemas.microsoft.com/office/2018/10/relationships/comments" Target="../comments/modernComment_114_903820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7.png"/><Relationship Id="rId7" Type="http://schemas.openxmlformats.org/officeDocument/2006/relationships/image" Target="../media/image5.png"/><Relationship Id="rId2" Type="http://schemas.microsoft.com/office/2018/10/relationships/comments" Target="../comments/modernComment_115_9CE3D27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D718DE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microsoft.com/office/2018/10/relationships/comments" Target="../comments/modernComment_117_532A238D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4.png"/><Relationship Id="rId10" Type="http://schemas.openxmlformats.org/officeDocument/2006/relationships/image" Target="../media/image6.svg"/><Relationship Id="rId4" Type="http://schemas.openxmlformats.org/officeDocument/2006/relationships/image" Target="../media/image30.png"/><Relationship Id="rId9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2.png"/><Relationship Id="rId7" Type="http://schemas.openxmlformats.org/officeDocument/2006/relationships/image" Target="../media/image26.svg"/><Relationship Id="rId2" Type="http://schemas.microsoft.com/office/2018/10/relationships/comments" Target="../comments/modernComment_118_626EC4B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3.png"/><Relationship Id="rId9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microsoft.com/office/2018/10/relationships/comments" Target="../comments/modernComment_120_FA024C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6.png"/><Relationship Id="rId9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7.png"/><Relationship Id="rId7" Type="http://schemas.openxmlformats.org/officeDocument/2006/relationships/image" Target="../media/image5.png"/><Relationship Id="rId2" Type="http://schemas.microsoft.com/office/2018/10/relationships/comments" Target="../comments/modernComment_122_9A36DA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9.png"/><Relationship Id="rId7" Type="http://schemas.openxmlformats.org/officeDocument/2006/relationships/image" Target="../media/image5.png"/><Relationship Id="rId2" Type="http://schemas.microsoft.com/office/2018/10/relationships/comments" Target="../comments/modernComment_124_3E0760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microsoft.com/office/2018/10/relationships/comments" Target="../comments/modernComment_125_E21438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41.png"/><Relationship Id="rId7" Type="http://schemas.openxmlformats.org/officeDocument/2006/relationships/image" Target="../media/image5.png"/><Relationship Id="rId2" Type="http://schemas.microsoft.com/office/2018/10/relationships/comments" Target="../comments/modernComment_126_9DA2AD4E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26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414066" y="2702943"/>
            <a:ext cx="9647058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6907A9-1B63-0191-197F-5D8CE2A57CB7}"/>
              </a:ext>
            </a:extLst>
          </p:cNvPr>
          <p:cNvSpPr/>
          <p:nvPr/>
        </p:nvSpPr>
        <p:spPr>
          <a:xfrm>
            <a:off x="-5255086" y="2883701"/>
            <a:ext cx="371287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py_001_print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573D3-02FD-8867-C498-4782AE7F0917}"/>
              </a:ext>
            </a:extLst>
          </p:cNvPr>
          <p:cNvSpPr/>
          <p:nvPr/>
        </p:nvSpPr>
        <p:spPr>
          <a:xfrm>
            <a:off x="-8208470" y="2819400"/>
            <a:ext cx="776847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py_002_list_comprehensions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46FF087-C041-0658-59B7-B05AD6F4493E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py_003_dictionary_get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CF38632-8D5A-997E-0904-548E4DA9ABDA}"/>
              </a:ext>
            </a:extLst>
          </p:cNvPr>
          <p:cNvSpPr/>
          <p:nvPr/>
        </p:nvSpPr>
        <p:spPr>
          <a:xfrm>
            <a:off x="-7708333" y="2819400"/>
            <a:ext cx="6768199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py_004_sequence_slicing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DF25F1-84EC-E55D-F294-EEE7333BFE9C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py_005_swap_variables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73D5E-1D32-6F09-29CE-A81E7A6F23E4}"/>
              </a:ext>
            </a:extLst>
          </p:cNvPr>
          <p:cNvSpPr/>
          <p:nvPr/>
        </p:nvSpPr>
        <p:spPr>
          <a:xfrm>
            <a:off x="-6888397" y="2819400"/>
            <a:ext cx="512832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py_006_enumerate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46986AC-1C3A-B474-6747-68140547BDEB}"/>
              </a:ext>
            </a:extLst>
          </p:cNvPr>
          <p:cNvSpPr/>
          <p:nvPr/>
        </p:nvSpPr>
        <p:spPr>
          <a:xfrm>
            <a:off x="-7666655" y="2819400"/>
            <a:ext cx="668484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py_007_walrus_operator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27F718B-3075-03B3-8216-CB5C90C1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2" t="24607" r="11265" b="13804"/>
          <a:stretch>
            <a:fillRect/>
          </a:stretch>
        </p:blipFill>
        <p:spPr>
          <a:xfrm>
            <a:off x="338586" y="4196968"/>
            <a:ext cx="9544666" cy="69917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88EAA7-EAD5-26FB-0617-9B43EF4A29B9}"/>
              </a:ext>
            </a:extLst>
          </p:cNvPr>
          <p:cNvSpPr txBox="1"/>
          <p:nvPr/>
        </p:nvSpPr>
        <p:spPr>
          <a:xfrm>
            <a:off x="338586" y="3131629"/>
            <a:ext cx="9544666" cy="923330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Stop using print() to test your code!</a:t>
            </a:r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 </a:t>
            </a:r>
            <a:endParaRPr lang="en-DE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D67AC1-8CD7-9EA6-AA44-75765EDCB4D3}"/>
              </a:ext>
            </a:extLst>
          </p:cNvPr>
          <p:cNvSpPr txBox="1"/>
          <p:nvPr/>
        </p:nvSpPr>
        <p:spPr>
          <a:xfrm>
            <a:off x="338586" y="11505474"/>
            <a:ext cx="89197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 Requisite: pip install pytest</a:t>
            </a:r>
          </a:p>
          <a:p>
            <a:r>
              <a:rPr lang="en-GB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un: pytest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8269C7-709E-6998-5283-B107C7781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62" y="10058156"/>
            <a:ext cx="1063167" cy="1063167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EC39D2-B0EB-4B63-00D7-3B3E21C2FDC1}"/>
              </a:ext>
            </a:extLst>
          </p:cNvPr>
          <p:cNvCxnSpPr>
            <a:cxnSpLocks/>
          </p:cNvCxnSpPr>
          <p:nvPr/>
        </p:nvCxnSpPr>
        <p:spPr>
          <a:xfrm>
            <a:off x="313276" y="6263285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2728270-9B9A-7A9F-F2A8-323E7A58C200}"/>
              </a:ext>
            </a:extLst>
          </p:cNvPr>
          <p:cNvCxnSpPr>
            <a:cxnSpLocks/>
          </p:cNvCxnSpPr>
          <p:nvPr/>
        </p:nvCxnSpPr>
        <p:spPr>
          <a:xfrm>
            <a:off x="344905" y="8417013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Shield Tick with solid fill">
            <a:extLst>
              <a:ext uri="{FF2B5EF4-FFF2-40B4-BE49-F238E27FC236}">
                <a16:creationId xmlns:a16="http://schemas.microsoft.com/office/drawing/2014/main" id="{3E10B054-0ABA-4495-55F7-5348E5061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1582" y="8556576"/>
            <a:ext cx="914400" cy="914400"/>
          </a:xfrm>
          <a:prstGeom prst="rect">
            <a:avLst/>
          </a:prstGeom>
        </p:spPr>
      </p:pic>
      <p:pic>
        <p:nvPicPr>
          <p:cNvPr id="77" name="Graphic 76" descr="Close with solid fill">
            <a:extLst>
              <a:ext uri="{FF2B5EF4-FFF2-40B4-BE49-F238E27FC236}">
                <a16:creationId xmlns:a16="http://schemas.microsoft.com/office/drawing/2014/main" id="{0045C14B-3459-5991-D210-53E90DC022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1582" y="6757642"/>
            <a:ext cx="914400" cy="914400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1982C4BB-6191-68AC-3E62-B22939BA4D48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py_008_pytest_assert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195973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C989A062-81D4-7FA9-5D3B-97D7C84260BF}"/>
              </a:ext>
            </a:extLst>
          </p:cNvPr>
          <p:cNvGrpSpPr/>
          <p:nvPr/>
        </p:nvGrpSpPr>
        <p:grpSpPr>
          <a:xfrm>
            <a:off x="192450" y="4313208"/>
            <a:ext cx="9900512" cy="5656922"/>
            <a:chOff x="155122" y="4313208"/>
            <a:chExt cx="9900512" cy="565692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755EB69-8332-046F-562A-CD322CED9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798" t="24886" r="9749" b="14308"/>
            <a:stretch>
              <a:fillRect/>
            </a:stretch>
          </p:blipFill>
          <p:spPr>
            <a:xfrm>
              <a:off x="155276" y="4313208"/>
              <a:ext cx="9900358" cy="5656922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405CAD7-F4B0-7F74-1DFC-8CF2E970C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19562" y="8805718"/>
              <a:ext cx="1063167" cy="1063167"/>
            </a:xfrm>
            <a:prstGeom prst="rect">
              <a:avLst/>
            </a:prstGeom>
          </p:spPr>
        </p:pic>
        <p:pic>
          <p:nvPicPr>
            <p:cNvPr id="29" name="Graphic 28" descr="Shield Tick with solid fill">
              <a:extLst>
                <a:ext uri="{FF2B5EF4-FFF2-40B4-BE49-F238E27FC236}">
                  <a16:creationId xmlns:a16="http://schemas.microsoft.com/office/drawing/2014/main" id="{0CCABDA1-4CCF-B503-8099-FFC57C1D9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32274" y="6762284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Close with solid fill">
              <a:extLst>
                <a:ext uri="{FF2B5EF4-FFF2-40B4-BE49-F238E27FC236}">
                  <a16:creationId xmlns:a16="http://schemas.microsoft.com/office/drawing/2014/main" id="{14362FE8-9002-3D9A-71C4-9C9B4C882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132274" y="4549278"/>
              <a:ext cx="914400" cy="914400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F613E7-6697-4EC0-8464-6D3C267DD3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122" y="8693061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4CE6B-B7C7-47AA-F8CD-6C0FAC4DA742}"/>
                </a:ext>
              </a:extLst>
            </p:cNvPr>
            <p:cNvCxnSpPr>
              <a:cxnSpLocks/>
            </p:cNvCxnSpPr>
            <p:nvPr/>
          </p:nvCxnSpPr>
          <p:spPr>
            <a:xfrm>
              <a:off x="169498" y="6550836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7F61470-5978-9741-C789-354D64372206}"/>
              </a:ext>
            </a:extLst>
          </p:cNvPr>
          <p:cNvSpPr txBox="1"/>
          <p:nvPr/>
        </p:nvSpPr>
        <p:spPr>
          <a:xfrm>
            <a:off x="229149" y="3442094"/>
            <a:ext cx="9827115" cy="76944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Print is for YOU, Raise is for your CODE!</a:t>
            </a:r>
            <a:endParaRPr lang="en-DE" sz="4400" dirty="0">
              <a:solidFill>
                <a:srgbClr val="002060"/>
              </a:solidFill>
              <a:latin typeface="Patrick Hand" pitchFamily="2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6BE1470-D54F-6F8F-1C68-D491E457A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906" y="10757495"/>
            <a:ext cx="9903600" cy="17223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25B6729-E387-A933-1E10-01ACD25E6653}"/>
              </a:ext>
            </a:extLst>
          </p:cNvPr>
          <p:cNvSpPr txBox="1"/>
          <p:nvPr/>
        </p:nvSpPr>
        <p:spPr>
          <a:xfrm>
            <a:off x="183193" y="10081029"/>
            <a:ext cx="9827115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DE" sz="3600" dirty="0">
                <a:solidFill>
                  <a:schemeClr val="tx1"/>
                </a:solidFill>
                <a:latin typeface="Patrick Hand" pitchFamily="2" charset="77"/>
              </a:rPr>
              <a:t>Output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7BD8FC-909C-7707-EADD-9BB7EF082556}"/>
              </a:ext>
            </a:extLst>
          </p:cNvPr>
          <p:cNvSpPr/>
          <p:nvPr/>
        </p:nvSpPr>
        <p:spPr>
          <a:xfrm>
            <a:off x="-7878251" y="2819400"/>
            <a:ext cx="710803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py_009_raise_value_error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32176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mConfetti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5D077D-CD3B-2596-C167-87FF71AC3F96}"/>
              </a:ext>
            </a:extLst>
          </p:cNvPr>
          <p:cNvSpPr txBox="1"/>
          <p:nvPr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0DC9F19-7314-279A-182A-2FAC4145BABA}"/>
              </a:ext>
            </a:extLst>
          </p:cNvPr>
          <p:cNvGrpSpPr/>
          <p:nvPr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1D7D9B-24E8-EF51-6F2B-6644446DA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14211A-2572-ACC1-2CBC-A47458A5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9" name="Right Arrow 8">
            <a:extLst>
              <a:ext uri="{FF2B5EF4-FFF2-40B4-BE49-F238E27FC236}">
                <a16:creationId xmlns:a16="http://schemas.microsoft.com/office/drawing/2014/main" id="{6D1AAAEE-0C0E-C465-D0BA-EF033B7257D6}"/>
              </a:ext>
            </a:extLst>
          </p:cNvPr>
          <p:cNvSpPr/>
          <p:nvPr/>
        </p:nvSpPr>
        <p:spPr>
          <a:xfrm>
            <a:off x="2895857" y="11520905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2EE6B-9F95-6B10-FE37-021FF9EB4ECA}"/>
              </a:ext>
            </a:extLst>
          </p:cNvPr>
          <p:cNvSpPr txBox="1"/>
          <p:nvPr/>
        </p:nvSpPr>
        <p:spPr>
          <a:xfrm>
            <a:off x="276045" y="11313869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__name__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CF012-097C-7EA9-8F50-D5B87AEF56C9}"/>
              </a:ext>
            </a:extLst>
          </p:cNvPr>
          <p:cNvSpPr txBox="1"/>
          <p:nvPr/>
        </p:nvSpPr>
        <p:spPr>
          <a:xfrm>
            <a:off x="5138462" y="11313869"/>
            <a:ext cx="4588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__main__ </a:t>
            </a:r>
            <a:r>
              <a:rPr lang="en-DE" sz="3600" dirty="0">
                <a:latin typeface="Patrick Hand" pitchFamily="2" charset="77"/>
              </a:rPr>
              <a:t>or 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</a:t>
            </a:r>
            <a:endParaRPr lang="en-DE" sz="3600" b="1" dirty="0">
              <a:latin typeface="Patrick Hand" pitchFamily="2" charset="77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53344C2-B640-EC0B-B3FE-09DBE822B2C8}"/>
              </a:ext>
            </a:extLst>
          </p:cNvPr>
          <p:cNvSpPr/>
          <p:nvPr/>
        </p:nvSpPr>
        <p:spPr>
          <a:xfrm>
            <a:off x="2895857" y="12277158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AC7F21-4968-CAF2-B4FB-989227F10953}"/>
              </a:ext>
            </a:extLst>
          </p:cNvPr>
          <p:cNvSpPr txBox="1"/>
          <p:nvPr/>
        </p:nvSpPr>
        <p:spPr>
          <a:xfrm>
            <a:off x="290421" y="12070122"/>
            <a:ext cx="18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__file__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B4053-217A-72C1-4F57-F783C3DD66BC}"/>
              </a:ext>
            </a:extLst>
          </p:cNvPr>
          <p:cNvSpPr txBox="1"/>
          <p:nvPr/>
        </p:nvSpPr>
        <p:spPr>
          <a:xfrm>
            <a:off x="5152838" y="12070122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/app/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magic_vars.py</a:t>
            </a:r>
            <a:endParaRPr lang="en-DE" sz="36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D996F69-B416-701A-0D10-21A8520837B2}"/>
              </a:ext>
            </a:extLst>
          </p:cNvPr>
          <p:cNvSpPr/>
          <p:nvPr/>
        </p:nvSpPr>
        <p:spPr>
          <a:xfrm>
            <a:off x="2895857" y="13126533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BFD03-FFCD-BB92-8561-2492420B1B39}"/>
              </a:ext>
            </a:extLst>
          </p:cNvPr>
          <p:cNvSpPr txBox="1"/>
          <p:nvPr/>
        </p:nvSpPr>
        <p:spPr>
          <a:xfrm>
            <a:off x="290421" y="12919497"/>
            <a:ext cx="25571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__package__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4FB69-C7B0-8E6F-30FF-6B27547214AD}"/>
              </a:ext>
            </a:extLst>
          </p:cNvPr>
          <p:cNvSpPr txBox="1"/>
          <p:nvPr/>
        </p:nvSpPr>
        <p:spPr>
          <a:xfrm>
            <a:off x="5152838" y="12919497"/>
            <a:ext cx="4355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None</a:t>
            </a:r>
            <a:r>
              <a:rPr lang="en-US" sz="3600" dirty="0">
                <a:latin typeface="Patrick Hand" pitchFamily="2" charset="77"/>
              </a:rPr>
              <a:t> or </a:t>
            </a:r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name of package</a:t>
            </a:r>
            <a:endParaRPr lang="en-DE" sz="3600" b="1" dirty="0">
              <a:latin typeface="Patrick Hand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686C9-E18B-4DD3-305F-2EB19B28DD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264" t="20482" r="8581" b="11981"/>
          <a:stretch>
            <a:fillRect/>
          </a:stretch>
        </p:blipFill>
        <p:spPr>
          <a:xfrm>
            <a:off x="151141" y="3616891"/>
            <a:ext cx="9983131" cy="72868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102011-F70E-143B-2E74-E8E55F0FB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73" y="9774866"/>
            <a:ext cx="1063167" cy="10631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50DD2-452F-B188-4AC9-00A3258E6533}"/>
              </a:ext>
            </a:extLst>
          </p:cNvPr>
          <p:cNvSpPr txBox="1"/>
          <p:nvPr/>
        </p:nvSpPr>
        <p:spPr>
          <a:xfrm>
            <a:off x="6745857" y="3657597"/>
            <a:ext cx="332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</a:t>
            </a:r>
            <a:r>
              <a:rPr lang="en-DE" sz="2400" dirty="0">
                <a:solidFill>
                  <a:schemeClr val="bg1"/>
                </a:solidFill>
              </a:rPr>
              <a:t>ile name: magic_vars.py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9F1A2-B22C-5219-5969-65113B4369B8}"/>
              </a:ext>
            </a:extLst>
          </p:cNvPr>
          <p:cNvSpPr txBox="1"/>
          <p:nvPr/>
        </p:nvSpPr>
        <p:spPr>
          <a:xfrm>
            <a:off x="151141" y="2468165"/>
            <a:ext cx="9982800" cy="1107996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DE" sz="6600" b="1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atrick Hand" pitchFamily="2" charset="77"/>
              </a:rPr>
              <a:t>Python Special Variables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649A9D-2FA9-D9EC-895D-62F1C7539235}"/>
              </a:ext>
            </a:extLst>
          </p:cNvPr>
          <p:cNvSpPr txBox="1"/>
          <p:nvPr/>
        </p:nvSpPr>
        <p:spPr>
          <a:xfrm>
            <a:off x="-8753367" y="2826600"/>
            <a:ext cx="7603363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py_010_special_variable_names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1464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82B4FA4-54CE-F8EF-9FE8-9B59817B4D24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pathlib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147BC7-63E8-F552-FAF5-1E8EA5F3D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52" y="2494115"/>
            <a:ext cx="1063167" cy="10631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0E03DB-A5D0-7C3C-C45E-020B27EA03F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5099" t="18381" r="8553" b="9940"/>
          <a:stretch>
            <a:fillRect/>
          </a:stretch>
        </p:blipFill>
        <p:spPr>
          <a:xfrm>
            <a:off x="223579" y="4037162"/>
            <a:ext cx="9838255" cy="778397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E6C352-2A47-650A-9234-C3DF3F810C4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2D6D7F89-C47E-56C4-9355-13A359543B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DFF07AD-5C5D-EBE3-F7F1-7D805603E5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1EF262-28AB-179A-F611-B5A8CFF9D9DB}"/>
              </a:ext>
            </a:extLst>
          </p:cNvPr>
          <p:cNvSpPr txBox="1"/>
          <p:nvPr/>
        </p:nvSpPr>
        <p:spPr>
          <a:xfrm>
            <a:off x="213487" y="12387532"/>
            <a:ext cx="2040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Readable: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5BC88-F15A-3738-DE5E-7E3E6AF2D763}"/>
              </a:ext>
            </a:extLst>
          </p:cNvPr>
          <p:cNvSpPr txBox="1"/>
          <p:nvPr/>
        </p:nvSpPr>
        <p:spPr>
          <a:xfrm>
            <a:off x="2365380" y="12387532"/>
            <a:ext cx="6738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Patrick Hand" pitchFamily="2" charset="77"/>
              </a:rPr>
              <a:t>Use the / operator to join paths easily.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91A230-89C2-97BC-EA0B-5A1547026FC2}"/>
              </a:ext>
            </a:extLst>
          </p:cNvPr>
          <p:cNvSpPr txBox="1"/>
          <p:nvPr/>
        </p:nvSpPr>
        <p:spPr>
          <a:xfrm>
            <a:off x="2365380" y="13207674"/>
            <a:ext cx="6327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Auto-handles Windows vs. Linux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EEEC48-48C2-1866-EF77-F57F21472377}"/>
              </a:ext>
            </a:extLst>
          </p:cNvPr>
          <p:cNvSpPr txBox="1"/>
          <p:nvPr/>
        </p:nvSpPr>
        <p:spPr>
          <a:xfrm>
            <a:off x="2365380" y="14027816"/>
            <a:ext cx="768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Everything is an object, not just a string.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B2339-07F2-9A25-79CD-9BB6EA178151}"/>
              </a:ext>
            </a:extLst>
          </p:cNvPr>
          <p:cNvSpPr txBox="1"/>
          <p:nvPr/>
        </p:nvSpPr>
        <p:spPr>
          <a:xfrm>
            <a:off x="213487" y="13207674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Smart: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6A6396-DD35-DF1E-72A6-426DA90CEC4D}"/>
              </a:ext>
            </a:extLst>
          </p:cNvPr>
          <p:cNvSpPr txBox="1"/>
          <p:nvPr/>
        </p:nvSpPr>
        <p:spPr>
          <a:xfrm>
            <a:off x="213487" y="14027816"/>
            <a:ext cx="19841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Powerful: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EABB6E-2AF5-A580-AFF3-F00672FA1B08}"/>
              </a:ext>
            </a:extLst>
          </p:cNvPr>
          <p:cNvSpPr txBox="1"/>
          <p:nvPr/>
        </p:nvSpPr>
        <p:spPr>
          <a:xfrm>
            <a:off x="-7857400" y="2527667"/>
            <a:ext cx="3659976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py_011_pathlib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952705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71DBD18-ECBF-F0B4-AFE2-DCDA447C4C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246" t="23158" r="13251" b="12790"/>
          <a:stretch>
            <a:fillRect/>
          </a:stretch>
        </p:blipFill>
        <p:spPr>
          <a:xfrm>
            <a:off x="223306" y="4208562"/>
            <a:ext cx="9838800" cy="1077179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F516FD-316D-B719-C21B-68F85C795F3C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Truthiness</a:t>
            </a:r>
            <a:endParaRPr lang="en-GB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F25CE73-8562-EA92-101F-278FE6E68D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DA8088-06F2-94B5-C3F4-15954706D4EF}"/>
              </a:ext>
            </a:extLst>
          </p:cNvPr>
          <p:cNvCxnSpPr>
            <a:cxnSpLocks/>
          </p:cNvCxnSpPr>
          <p:nvPr/>
        </p:nvCxnSpPr>
        <p:spPr>
          <a:xfrm>
            <a:off x="223579" y="10395900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01510C08-436C-82D7-D02A-80A605474E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10890478"/>
            <a:ext cx="914400" cy="914400"/>
          </a:xfrm>
          <a:prstGeom prst="rect">
            <a:avLst/>
          </a:prstGeom>
        </p:spPr>
      </p:pic>
      <p:pic>
        <p:nvPicPr>
          <p:cNvPr id="42" name="Graphic 41" descr="Close with solid fill">
            <a:extLst>
              <a:ext uri="{FF2B5EF4-FFF2-40B4-BE49-F238E27FC236}">
                <a16:creationId xmlns:a16="http://schemas.microsoft.com/office/drawing/2014/main" id="{F9E50DDB-5369-3F10-6CE1-B12F3117D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68075" y="6404513"/>
            <a:ext cx="914400" cy="9144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12A4097-8AAB-831B-3B48-4F55095ED0A3}"/>
              </a:ext>
            </a:extLst>
          </p:cNvPr>
          <p:cNvSpPr txBox="1"/>
          <p:nvPr/>
        </p:nvSpPr>
        <p:spPr>
          <a:xfrm>
            <a:off x="-7857400" y="2527667"/>
            <a:ext cx="6369051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py_012_python_truthiness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514264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Grid">
          <a:fgClr>
            <a:srgbClr val="92D05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77507D99-36CB-6227-152C-9190E799B830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6272F5-EA5E-8E54-DAF0-417836251F1B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dirty="0"/>
                <a:t>is None </a:t>
              </a:r>
              <a:r>
                <a:rPr lang="en-GB" sz="6600" b="1" dirty="0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rgbClr val="00B0F0"/>
                  </a:solidFill>
                </a:rPr>
                <a:t>vs</a:t>
              </a:r>
              <a:r>
                <a:rPr lang="en-GB" sz="6600" dirty="0"/>
                <a:t> == None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49827E-2E74-ACEC-8444-637079C18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2D2F3E9-1457-70B6-481C-8273E393E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942" t="25483" r="11277" b="14650"/>
          <a:stretch>
            <a:fillRect/>
          </a:stretch>
        </p:blipFill>
        <p:spPr>
          <a:xfrm>
            <a:off x="223306" y="4282067"/>
            <a:ext cx="9838800" cy="68415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6C78F-5842-BADA-97BD-2A58BA5E5C84}"/>
              </a:ext>
            </a:extLst>
          </p:cNvPr>
          <p:cNvSpPr txBox="1"/>
          <p:nvPr/>
        </p:nvSpPr>
        <p:spPr>
          <a:xfrm>
            <a:off x="223306" y="11731083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956DD6-0D86-8B09-E89A-759DDDD3D6BC}"/>
              </a:ext>
            </a:extLst>
          </p:cNvPr>
          <p:cNvSpPr txBox="1"/>
          <p:nvPr/>
        </p:nvSpPr>
        <p:spPr>
          <a:xfrm>
            <a:off x="2609831" y="11731083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Uses memory address comparison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D9AEC7-81A8-D8FA-9B3F-D7975BB39742}"/>
              </a:ext>
            </a:extLst>
          </p:cNvPr>
          <p:cNvSpPr txBox="1"/>
          <p:nvPr/>
        </p:nvSpPr>
        <p:spPr>
          <a:xfrm>
            <a:off x="223306" y="12814182"/>
            <a:ext cx="15274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4893F-4945-B7EB-1C1A-4AFCB0335910}"/>
              </a:ext>
            </a:extLst>
          </p:cNvPr>
          <p:cNvSpPr txBox="1"/>
          <p:nvPr/>
        </p:nvSpPr>
        <p:spPr>
          <a:xfrm>
            <a:off x="2609831" y="12804706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Avoids custom --</a:t>
            </a:r>
            <a:r>
              <a:rPr lang="en-GB" sz="4000" dirty="0" err="1">
                <a:latin typeface="Patrick Hand" pitchFamily="2" charset="77"/>
              </a:rPr>
              <a:t>eq</a:t>
            </a:r>
            <a:r>
              <a:rPr lang="en-GB" sz="4000" dirty="0">
                <a:latin typeface="Patrick Hand" pitchFamily="2" charset="77"/>
              </a:rPr>
              <a:t>-- method bugs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66C270-8250-9E8C-0C34-1C95D283B5CB}"/>
              </a:ext>
            </a:extLst>
          </p:cNvPr>
          <p:cNvSpPr txBox="1"/>
          <p:nvPr/>
        </p:nvSpPr>
        <p:spPr>
          <a:xfrm>
            <a:off x="223306" y="13897281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6807C-E3C5-9589-B831-282432DEFF7E}"/>
              </a:ext>
            </a:extLst>
          </p:cNvPr>
          <p:cNvSpPr txBox="1"/>
          <p:nvPr/>
        </p:nvSpPr>
        <p:spPr>
          <a:xfrm>
            <a:off x="2609831" y="13878330"/>
            <a:ext cx="7314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Follows the official PEP 8 standard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53DAC6-803E-6E54-0AFE-08E92D625C58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C66AB981-805B-D3EA-B666-79A9BBF3F4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5EA347C-65F5-100D-F091-6637F8AA15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A68B83D-36C3-1AF4-295A-A3B5F70300FD}"/>
              </a:ext>
            </a:extLst>
          </p:cNvPr>
          <p:cNvSpPr txBox="1"/>
          <p:nvPr/>
        </p:nvSpPr>
        <p:spPr>
          <a:xfrm>
            <a:off x="-7857400" y="2527667"/>
            <a:ext cx="7000634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py_013_is_none_comparision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7355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935C7-D76D-D8A9-B1A0-857B7FCF6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E57E8F2-34E1-D30F-1E3C-9D9F815C62CE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9811DF6-DCA6-5BA5-173D-D3A1AD21181A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b="1" dirty="0">
                  <a:latin typeface="+mj-lt"/>
                </a:rPr>
                <a:t>Use 'with' Statement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7B55E9B-ABE8-F7C9-F6DE-0B1F6CDFD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C490A48-FDDC-CA56-7D3A-6259AD2D71C3}"/>
              </a:ext>
            </a:extLst>
          </p:cNvPr>
          <p:cNvSpPr txBox="1"/>
          <p:nvPr/>
        </p:nvSpPr>
        <p:spPr>
          <a:xfrm>
            <a:off x="186673" y="11731083"/>
            <a:ext cx="25457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Automatic: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07D96-4FC3-027C-1D15-683F85C805B5}"/>
              </a:ext>
            </a:extLst>
          </p:cNvPr>
          <p:cNvSpPr txBox="1"/>
          <p:nvPr/>
        </p:nvSpPr>
        <p:spPr>
          <a:xfrm>
            <a:off x="3425118" y="11731083"/>
            <a:ext cx="6673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No more manual close() calls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E3EC7A-21B7-943A-EA25-C438EAE74DC0}"/>
              </a:ext>
            </a:extLst>
          </p:cNvPr>
          <p:cNvSpPr txBox="1"/>
          <p:nvPr/>
        </p:nvSpPr>
        <p:spPr>
          <a:xfrm>
            <a:off x="186673" y="12814182"/>
            <a:ext cx="13446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AB019-507A-2EC2-3DA2-A9BB1C904276}"/>
              </a:ext>
            </a:extLst>
          </p:cNvPr>
          <p:cNvSpPr txBox="1"/>
          <p:nvPr/>
        </p:nvSpPr>
        <p:spPr>
          <a:xfrm>
            <a:off x="3490841" y="12804707"/>
            <a:ext cx="66078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Prevents leaks during errors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EAAD5-4282-A2CD-8811-5319C0B2D77D}"/>
              </a:ext>
            </a:extLst>
          </p:cNvPr>
          <p:cNvSpPr txBox="1"/>
          <p:nvPr/>
        </p:nvSpPr>
        <p:spPr>
          <a:xfrm>
            <a:off x="186673" y="13878330"/>
            <a:ext cx="16257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Clean: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CDDF8-9461-833E-A5D0-B258E1311441}"/>
              </a:ext>
            </a:extLst>
          </p:cNvPr>
          <p:cNvSpPr txBox="1"/>
          <p:nvPr/>
        </p:nvSpPr>
        <p:spPr>
          <a:xfrm>
            <a:off x="3668775" y="13878330"/>
            <a:ext cx="64299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Less code, better readability</a:t>
            </a:r>
            <a:endParaRPr lang="en-DE" sz="48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698CA1-BEA0-6457-A8B8-5A203D1CE9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74" t="23797" r="10300" b="14590"/>
          <a:stretch>
            <a:fillRect/>
          </a:stretch>
        </p:blipFill>
        <p:spPr>
          <a:xfrm>
            <a:off x="186673" y="4318974"/>
            <a:ext cx="9912067" cy="6765325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78A09D0-33BF-6B03-AE47-665AE3D0A683}"/>
              </a:ext>
            </a:extLst>
          </p:cNvPr>
          <p:cNvCxnSpPr>
            <a:cxnSpLocks/>
          </p:cNvCxnSpPr>
          <p:nvPr/>
        </p:nvCxnSpPr>
        <p:spPr>
          <a:xfrm>
            <a:off x="235460" y="6872124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5828BDD9-29EC-80B8-F9E0-00FC6D12F5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3493" y="7032169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9BD8DFA-A234-2917-65AF-90E0E24DEF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3493" y="4553412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4E587C-A795-B2BF-C5C7-7BBE30BE9381}"/>
              </a:ext>
            </a:extLst>
          </p:cNvPr>
          <p:cNvSpPr txBox="1"/>
          <p:nvPr/>
        </p:nvSpPr>
        <p:spPr>
          <a:xfrm>
            <a:off x="-7857400" y="2527667"/>
            <a:ext cx="5684569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py_014_with_statement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944545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6513E-44C3-8C15-A7B0-E379B4EE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3F2C2-B062-5AB0-8070-46F523BB3B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69" t="16107" r="11536" b="8322"/>
          <a:stretch>
            <a:fillRect/>
          </a:stretch>
        </p:blipFill>
        <p:spPr>
          <a:xfrm>
            <a:off x="963121" y="3537654"/>
            <a:ext cx="8359169" cy="118609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05B7D4-F280-F06F-B39C-2F00BFC25F26}"/>
              </a:ext>
            </a:extLst>
          </p:cNvPr>
          <p:cNvSpPr txBox="1"/>
          <p:nvPr/>
        </p:nvSpPr>
        <p:spPr>
          <a:xfrm>
            <a:off x="963120" y="2356655"/>
            <a:ext cx="8359169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Decor</a:t>
            </a:r>
            <a:r>
              <a:rPr lang="en-US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a</a:t>
            </a:r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tors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0F0CA92-46F0-129E-D4FC-B71F8C1DEB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040" y="2382605"/>
            <a:ext cx="1063167" cy="106316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96EFBF3-9D7A-45C0-5825-529AF9B87540}"/>
              </a:ext>
            </a:extLst>
          </p:cNvPr>
          <p:cNvCxnSpPr>
            <a:cxnSpLocks/>
          </p:cNvCxnSpPr>
          <p:nvPr/>
        </p:nvCxnSpPr>
        <p:spPr>
          <a:xfrm>
            <a:off x="963120" y="7661523"/>
            <a:ext cx="8359169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1D3086D5-48CC-ED96-614E-18E795A99A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83882" y="8084006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B4714FB7-C189-E14C-AA62-67E825ED6B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83882" y="6333449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5431B90-4C81-C2E6-27F3-4BE1F59B0FD5}"/>
              </a:ext>
            </a:extLst>
          </p:cNvPr>
          <p:cNvSpPr txBox="1"/>
          <p:nvPr/>
        </p:nvSpPr>
        <p:spPr>
          <a:xfrm>
            <a:off x="3104712" y="15407460"/>
            <a:ext cx="45094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000" dirty="0">
                <a:solidFill>
                  <a:schemeClr val="bg1"/>
                </a:solidFill>
              </a:rPr>
              <a:t>Powerful &amp; Reusable</a:t>
            </a:r>
            <a:endParaRPr lang="en-DE" sz="40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720A1-BB63-65E7-EAD2-2F645218BC30}"/>
              </a:ext>
            </a:extLst>
          </p:cNvPr>
          <p:cNvSpPr txBox="1"/>
          <p:nvPr/>
        </p:nvSpPr>
        <p:spPr>
          <a:xfrm>
            <a:off x="202892" y="16076093"/>
            <a:ext cx="98796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Patrick Hand" pitchFamily="2" charset="77"/>
              </a:rPr>
              <a:t>Extend </a:t>
            </a:r>
            <a:r>
              <a:rPr lang="en-GB" sz="4400" dirty="0" err="1">
                <a:latin typeface="Patrick Hand" pitchFamily="2" charset="77"/>
              </a:rPr>
              <a:t>behavior</a:t>
            </a:r>
            <a:r>
              <a:rPr lang="en-GB" sz="4400" dirty="0">
                <a:latin typeface="Patrick Hand" pitchFamily="2" charset="77"/>
              </a:rPr>
              <a:t> without changing the core logic</a:t>
            </a:r>
            <a:endParaRPr lang="en-DE" sz="4400" dirty="0">
              <a:latin typeface="Patrick Hand" pitchFamily="2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A0906F-C1A8-69EB-29A2-B230DC472ED4}"/>
              </a:ext>
            </a:extLst>
          </p:cNvPr>
          <p:cNvSpPr txBox="1"/>
          <p:nvPr/>
        </p:nvSpPr>
        <p:spPr>
          <a:xfrm>
            <a:off x="-7857400" y="2527667"/>
            <a:ext cx="455445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py_015_decorators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616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99C58-5AF8-CF25-9DE3-F4ED584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B527F96-D69C-E9DE-95C3-EFD7D7FB10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91" t="19079" r="10810" b="12309"/>
          <a:stretch>
            <a:fillRect/>
          </a:stretch>
        </p:blipFill>
        <p:spPr>
          <a:xfrm>
            <a:off x="236178" y="4227986"/>
            <a:ext cx="9838800" cy="9514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103D25-9216-BAB2-ACB7-9FFD1936580E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dirty="0"/>
              <a:t>F-Strings </a:t>
            </a:r>
            <a:r>
              <a:rPr lang="en-GB" sz="6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00B0F0"/>
                </a:solidFill>
              </a:rPr>
              <a:t>vs</a:t>
            </a:r>
            <a:r>
              <a:rPr lang="en-GB" sz="6600" dirty="0"/>
              <a:t> Format</a:t>
            </a:r>
            <a:endParaRPr lang="en-GB" b="1" dirty="0">
              <a:ln w="0"/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B819E-3D27-043B-A206-CB6B14345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0B9811-0F6C-A74D-399A-984849072C23}"/>
              </a:ext>
            </a:extLst>
          </p:cNvPr>
          <p:cNvSpPr txBox="1"/>
          <p:nvPr/>
        </p:nvSpPr>
        <p:spPr>
          <a:xfrm>
            <a:off x="223306" y="13872121"/>
            <a:ext cx="24229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Readable: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813AD-F7A7-B5FC-5C7D-0687E4D3D610}"/>
              </a:ext>
            </a:extLst>
          </p:cNvPr>
          <p:cNvSpPr txBox="1"/>
          <p:nvPr/>
        </p:nvSpPr>
        <p:spPr>
          <a:xfrm>
            <a:off x="2381255" y="13872121"/>
            <a:ext cx="7543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Direct variable injection into strings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376E3-CABD-1877-68D4-60BF8B8214F8}"/>
              </a:ext>
            </a:extLst>
          </p:cNvPr>
          <p:cNvSpPr txBox="1"/>
          <p:nvPr/>
        </p:nvSpPr>
        <p:spPr>
          <a:xfrm>
            <a:off x="223306" y="14955220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482C2-56C7-DEF8-3919-CB98C47190C8}"/>
              </a:ext>
            </a:extLst>
          </p:cNvPr>
          <p:cNvSpPr txBox="1"/>
          <p:nvPr/>
        </p:nvSpPr>
        <p:spPr>
          <a:xfrm>
            <a:off x="2369994" y="14945744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F-Strings are optimized by the compiler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6DD4EA-520B-F2EB-D460-A5C71B3EE88D}"/>
              </a:ext>
            </a:extLst>
          </p:cNvPr>
          <p:cNvSpPr txBox="1"/>
          <p:nvPr/>
        </p:nvSpPr>
        <p:spPr>
          <a:xfrm>
            <a:off x="223306" y="16038319"/>
            <a:ext cx="2157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Modern: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6ABE3-1E92-6F86-7CA0-C6FADF7C5095}"/>
              </a:ext>
            </a:extLst>
          </p:cNvPr>
          <p:cNvSpPr txBox="1"/>
          <p:nvPr/>
        </p:nvSpPr>
        <p:spPr>
          <a:xfrm>
            <a:off x="2381269" y="16019368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The standard since Python 3.6+</a:t>
            </a:r>
            <a:endParaRPr lang="en-DE" sz="4000" dirty="0">
              <a:latin typeface="Patrick Hand" pitchFamily="2" charset="77"/>
            </a:endParaRPr>
          </a:p>
        </p:txBody>
      </p: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ACE77A71-8D07-48B7-30F8-7E68A4376F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4331" y="12429350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69FC5ED-505E-33C0-5388-8BBC9AF48473}"/>
              </a:ext>
            </a:extLst>
          </p:cNvPr>
          <p:cNvSpPr txBox="1"/>
          <p:nvPr/>
        </p:nvSpPr>
        <p:spPr>
          <a:xfrm>
            <a:off x="-7857400" y="2527667"/>
            <a:ext cx="7104830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py_016_f_strings_vs_format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0ED27D-E93D-A20A-4C8F-B643F6E96957}"/>
              </a:ext>
            </a:extLst>
          </p:cNvPr>
          <p:cNvCxnSpPr>
            <a:cxnSpLocks/>
          </p:cNvCxnSpPr>
          <p:nvPr/>
        </p:nvCxnSpPr>
        <p:spPr>
          <a:xfrm>
            <a:off x="236451" y="8767822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C1FF8D1C-0DE8-68A0-48D5-B6ED8B1B7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7809557"/>
            <a:ext cx="914400" cy="91440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E21DD3-BC0C-FFAD-871E-662DE0033853}"/>
              </a:ext>
            </a:extLst>
          </p:cNvPr>
          <p:cNvCxnSpPr>
            <a:cxnSpLocks/>
          </p:cNvCxnSpPr>
          <p:nvPr/>
        </p:nvCxnSpPr>
        <p:spPr>
          <a:xfrm>
            <a:off x="232736" y="10659811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54038AA9-B89F-0FCE-89F0-93FC989743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9701540"/>
            <a:ext cx="914400" cy="9144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790796-F6C2-8B89-95FA-2E549CC68251}"/>
              </a:ext>
            </a:extLst>
          </p:cNvPr>
          <p:cNvCxnSpPr>
            <a:cxnSpLocks/>
          </p:cNvCxnSpPr>
          <p:nvPr/>
        </p:nvCxnSpPr>
        <p:spPr>
          <a:xfrm>
            <a:off x="210435" y="6846096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72860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DB729E-F8DD-029C-9B05-01CFB72A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B3B024-AFE3-B787-1CF0-88840F303020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rPr>
              <a:t>Zip function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CAF92-9DDC-DFC3-FF81-8A5C6F422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BBD432-F653-9467-301C-A4F29799E896}"/>
              </a:ext>
            </a:extLst>
          </p:cNvPr>
          <p:cNvSpPr txBox="1"/>
          <p:nvPr/>
        </p:nvSpPr>
        <p:spPr>
          <a:xfrm>
            <a:off x="111653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FF69-10AD-2D7D-57DB-432C9733AE0A}"/>
              </a:ext>
            </a:extLst>
          </p:cNvPr>
          <p:cNvSpPr txBox="1"/>
          <p:nvPr/>
        </p:nvSpPr>
        <p:spPr>
          <a:xfrm>
            <a:off x="2258341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Loops through multiple </a:t>
            </a:r>
            <a:r>
              <a:rPr lang="en-GB" sz="4000" dirty="0" err="1">
                <a:latin typeface="Patrick Hand" pitchFamily="2" charset="77"/>
              </a:rPr>
              <a:t>iterables</a:t>
            </a:r>
            <a:r>
              <a:rPr lang="en-GB" sz="4000" dirty="0">
                <a:latin typeface="Patrick Hand" pitchFamily="2" charset="77"/>
              </a:rPr>
              <a:t> at once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68B171-25AA-CACD-A094-E0B38D31F23D}"/>
              </a:ext>
            </a:extLst>
          </p:cNvPr>
          <p:cNvSpPr txBox="1"/>
          <p:nvPr/>
        </p:nvSpPr>
        <p:spPr>
          <a:xfrm>
            <a:off x="111653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5BBC69-7564-146A-362D-6284651CA860}"/>
              </a:ext>
            </a:extLst>
          </p:cNvPr>
          <p:cNvSpPr txBox="1"/>
          <p:nvPr/>
        </p:nvSpPr>
        <p:spPr>
          <a:xfrm>
            <a:off x="2258341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Eliminates the need for manual indexing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05E2A-72FF-9431-1DDA-030C01BAAB6B}"/>
              </a:ext>
            </a:extLst>
          </p:cNvPr>
          <p:cNvSpPr txBox="1"/>
          <p:nvPr/>
        </p:nvSpPr>
        <p:spPr>
          <a:xfrm>
            <a:off x="111653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C93386-7003-550B-8361-770B236BA91B}"/>
              </a:ext>
            </a:extLst>
          </p:cNvPr>
          <p:cNvSpPr txBox="1"/>
          <p:nvPr/>
        </p:nvSpPr>
        <p:spPr>
          <a:xfrm>
            <a:off x="2258341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Makes your loops cleaner and shorter</a:t>
            </a:r>
            <a:endParaRPr lang="en-DE" sz="40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6C76C4-FC93-6C5B-E086-9AF81FFBFE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33" t="23605" r="10338" b="13822"/>
          <a:stretch>
            <a:fillRect/>
          </a:stretch>
        </p:blipFill>
        <p:spPr>
          <a:xfrm>
            <a:off x="230584" y="4178515"/>
            <a:ext cx="9814357" cy="664732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7A0EC55-6918-894A-527C-6A7222C04E32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D3791C2A-331F-9DF3-9F0C-661BDA7109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00733" y="9487027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0F6E4447-33BF-BCE5-BC44-10826ACC2B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00733" y="7132128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4C48AE9-4418-800E-A60F-791956D2CB7B}"/>
              </a:ext>
            </a:extLst>
          </p:cNvPr>
          <p:cNvSpPr txBox="1"/>
          <p:nvPr/>
        </p:nvSpPr>
        <p:spPr>
          <a:xfrm>
            <a:off x="-7857400" y="2527667"/>
            <a:ext cx="5089855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py_017_zip_function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58098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DEF06-3490-6241-1F61-A4220455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A573BE-E226-78A3-47CC-38072E9170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89" t="20603" r="10992" b="13377"/>
          <a:stretch>
            <a:fillRect/>
          </a:stretch>
        </p:blipFill>
        <p:spPr>
          <a:xfrm>
            <a:off x="225526" y="4234393"/>
            <a:ext cx="9834360" cy="82543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8E0008-9AB4-2A98-E8E5-B5D3D1A4C9B7}"/>
              </a:ext>
            </a:extLst>
          </p:cNvPr>
          <p:cNvSpPr txBox="1"/>
          <p:nvPr/>
        </p:nvSpPr>
        <p:spPr>
          <a:xfrm>
            <a:off x="225526" y="2872199"/>
            <a:ext cx="9838800" cy="112139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no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marL="0" algn="ctr" defTabSz="457200" rtl="0" eaLnBrk="1" latinLnBrk="0" hangingPunct="1"/>
            <a:r>
              <a:rPr lang="en-US" sz="5400" b="1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defaultdict</a:t>
            </a:r>
            <a:r>
              <a:rPr lang="en-US" sz="54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 vs standard </a:t>
            </a:r>
            <a:r>
              <a:rPr lang="en-US" sz="5400" b="1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</a:rPr>
              <a:t>Dict</a:t>
            </a:r>
            <a:endParaRPr lang="en-GB" sz="1400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17B3F-D238-2B0B-EC89-5F7DF89B7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A83D46-1034-6666-755A-5BB815E6D643}"/>
              </a:ext>
            </a:extLst>
          </p:cNvPr>
          <p:cNvSpPr txBox="1"/>
          <p:nvPr/>
        </p:nvSpPr>
        <p:spPr>
          <a:xfrm>
            <a:off x="3239076" y="12729563"/>
            <a:ext cx="38072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b="1" dirty="0"/>
              <a:t>Elegant Logic:</a:t>
            </a:r>
            <a:r>
              <a:rPr lang="en-GB" sz="4800" dirty="0"/>
              <a:t> </a:t>
            </a:r>
            <a:endParaRPr lang="en-DE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8CD719-0BE7-56F8-0136-ADB67AE57FA3}"/>
              </a:ext>
            </a:extLst>
          </p:cNvPr>
          <p:cNvSpPr txBox="1"/>
          <p:nvPr/>
        </p:nvSpPr>
        <p:spPr>
          <a:xfrm>
            <a:off x="245874" y="13606053"/>
            <a:ext cx="979366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latin typeface="Patrick Hand" pitchFamily="2" charset="77"/>
              </a:rPr>
              <a:t>Automatically handle missing keys without manual checks</a:t>
            </a:r>
            <a:endParaRPr lang="en-DE" sz="6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368A16-FFD4-42E9-93DD-F095D0771DAC}"/>
              </a:ext>
            </a:extLst>
          </p:cNvPr>
          <p:cNvCxnSpPr>
            <a:cxnSpLocks/>
          </p:cNvCxnSpPr>
          <p:nvPr/>
        </p:nvCxnSpPr>
        <p:spPr>
          <a:xfrm>
            <a:off x="223579" y="8194422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EB4807D0-9F0F-5D16-75CA-7253269DE5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1805" y="9383896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46AA1765-F8D0-1254-85C9-AEF33D4A37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01805" y="5044653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90096C9-DC9C-60DF-715D-BEFC52B329EE}"/>
              </a:ext>
            </a:extLst>
          </p:cNvPr>
          <p:cNvSpPr txBox="1"/>
          <p:nvPr/>
        </p:nvSpPr>
        <p:spPr>
          <a:xfrm>
            <a:off x="-7857400" y="2527667"/>
            <a:ext cx="6328977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py_018_default_dictionary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50419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Dmnd">
          <a:fgClr>
            <a:srgbClr val="00B0F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D53D7-C554-1761-5DCC-AC6EB34EA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2100239-D8B1-E60E-72B5-37811A07A7D1}"/>
              </a:ext>
            </a:extLst>
          </p:cNvPr>
          <p:cNvGrpSpPr/>
          <p:nvPr/>
        </p:nvGrpSpPr>
        <p:grpSpPr>
          <a:xfrm>
            <a:off x="223307" y="2872200"/>
            <a:ext cx="9838799" cy="1219682"/>
            <a:chOff x="223307" y="2872200"/>
            <a:chExt cx="9838799" cy="121968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A32D35-09AC-080F-F4E8-3A489B3C72CF}"/>
                </a:ext>
              </a:extLst>
            </p:cNvPr>
            <p:cNvSpPr txBox="1"/>
            <p:nvPr/>
          </p:nvSpPr>
          <p:spPr>
            <a:xfrm>
              <a:off x="223307" y="2872200"/>
              <a:ext cx="9838799" cy="1219682"/>
            </a:xfrm>
            <a:prstGeom prst="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0" algn="ctr" defTabSz="457200" rtl="0" eaLnBrk="1" latinLnBrk="0" hangingPunct="1"/>
              <a:r>
                <a:rPr lang="en-US" sz="7200" b="1" dirty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  <a:latin typeface="Patrick Hand" pitchFamily="2" charset="77"/>
                </a:rPr>
                <a:t>Multiple Return Value</a:t>
              </a:r>
              <a:endParaRPr lang="en-GB" sz="2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2FF48D3-DFF0-E642-BAD8-3023BF00E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696" y="2978294"/>
              <a:ext cx="1063167" cy="1063167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EE03D9B-1535-30F4-8FCF-17698FBE3FB4}"/>
              </a:ext>
            </a:extLst>
          </p:cNvPr>
          <p:cNvSpPr txBox="1"/>
          <p:nvPr/>
        </p:nvSpPr>
        <p:spPr>
          <a:xfrm>
            <a:off x="2203568" y="9710039"/>
            <a:ext cx="58782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b="1" dirty="0"/>
              <a:t>Simple &amp; Powerful: </a:t>
            </a:r>
            <a:endParaRPr lang="en-DE" sz="5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D543BA-0420-574A-E215-D1B9F98B2DBB}"/>
              </a:ext>
            </a:extLst>
          </p:cNvPr>
          <p:cNvSpPr txBox="1"/>
          <p:nvPr/>
        </p:nvSpPr>
        <p:spPr>
          <a:xfrm>
            <a:off x="318055" y="10774187"/>
            <a:ext cx="96493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latin typeface="Patrick Hand" pitchFamily="2" charset="77"/>
              </a:rPr>
              <a:t>Return and unpack multiple results in one line</a:t>
            </a:r>
            <a:endParaRPr lang="en-DE" sz="60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8DCDEF-BA59-D7CF-8D96-C9D844B20FCB}"/>
              </a:ext>
            </a:extLst>
          </p:cNvPr>
          <p:cNvSpPr txBox="1"/>
          <p:nvPr/>
        </p:nvSpPr>
        <p:spPr>
          <a:xfrm>
            <a:off x="-7857400" y="2527667"/>
            <a:ext cx="728757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py_019_multiple_return_value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FE6B99-D46C-A40A-EACB-0A47DA17B4E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588" t="29466" r="10502" b="16686"/>
          <a:stretch>
            <a:fillRect/>
          </a:stretch>
        </p:blipFill>
        <p:spPr>
          <a:xfrm>
            <a:off x="223306" y="4448144"/>
            <a:ext cx="9838800" cy="467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761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5E1F7-CF23-F6C8-A9F3-B052EC490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F12D99-136F-A09F-9684-837C02B708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644" t="25292" r="12123" b="18354"/>
          <a:stretch>
            <a:fillRect/>
          </a:stretch>
        </p:blipFill>
        <p:spPr>
          <a:xfrm>
            <a:off x="223306" y="4607791"/>
            <a:ext cx="9838800" cy="70951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2AAB60-408C-1685-06B6-CEFFA4819386}"/>
              </a:ext>
            </a:extLst>
          </p:cNvPr>
          <p:cNvSpPr txBox="1"/>
          <p:nvPr/>
        </p:nvSpPr>
        <p:spPr>
          <a:xfrm>
            <a:off x="223306" y="2872199"/>
            <a:ext cx="9838800" cy="1433029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noAutofit/>
          </a:bodyPr>
          <a:lstStyle/>
          <a:p>
            <a:pPr marL="0" algn="ctr" defTabSz="457200" rtl="0" eaLnBrk="1" latinLnBrk="0" hangingPunct="1"/>
            <a:r>
              <a:rPr lang="en-US" sz="66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Patrick Hand" pitchFamily="2" charset="77"/>
              </a:rPr>
              <a:t>Avoid </a:t>
            </a:r>
            <a:r>
              <a:rPr lang="en-US" sz="66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Patrick Hand" pitchFamily="2" charset="77"/>
              </a:rPr>
              <a:t>KeyError</a:t>
            </a:r>
            <a:r>
              <a:rPr lang="en-US" sz="66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Patrick Hand" pitchFamily="2" charset="77"/>
              </a:rPr>
              <a:t> with .get</a:t>
            </a:r>
            <a:endParaRPr lang="en-GB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CAB263-ACE3-34CD-7C70-2104F2C31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3026420"/>
            <a:ext cx="1063167" cy="10631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7AC106-07E4-D068-1578-18FAC0C9E102}"/>
              </a:ext>
            </a:extLst>
          </p:cNvPr>
          <p:cNvSpPr txBox="1"/>
          <p:nvPr/>
        </p:nvSpPr>
        <p:spPr>
          <a:xfrm>
            <a:off x="3238114" y="12005547"/>
            <a:ext cx="38091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b="1" dirty="0"/>
              <a:t>Safe Access: </a:t>
            </a:r>
            <a:endParaRPr lang="en-DE" sz="5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6638E-EA6F-32B1-4BFA-0CBD50D4D970}"/>
              </a:ext>
            </a:extLst>
          </p:cNvPr>
          <p:cNvSpPr txBox="1"/>
          <p:nvPr/>
        </p:nvSpPr>
        <p:spPr>
          <a:xfrm>
            <a:off x="1371052" y="13146897"/>
            <a:ext cx="754330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latin typeface="Patrick Hand" pitchFamily="2" charset="77"/>
              </a:rPr>
              <a:t>Provide a default value if the key doesn’t exist</a:t>
            </a:r>
            <a:endParaRPr lang="en-DE" sz="6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1D7181F-DFC0-6417-899B-A5C5B0470C4D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7AD552ED-7D07-BDEF-9B15-300D0F875E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18372" y="957640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EB24EDD7-6205-82C4-2AD7-44A069C74F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18372" y="7162202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D6816A8-8951-E4B8-DD67-E6D1C9D37E78}"/>
              </a:ext>
            </a:extLst>
          </p:cNvPr>
          <p:cNvSpPr txBox="1"/>
          <p:nvPr/>
        </p:nvSpPr>
        <p:spPr>
          <a:xfrm>
            <a:off x="-8470937" y="2490606"/>
            <a:ext cx="808266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py_20_avoid_key_error_with_get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46841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CDAF59-CBD9-461F-8E68-1D30AF0E6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BD72BD2-F9FE-4317-F9A1-80663D519C8C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Patrick Hand" pitchFamily="2" charset="77"/>
              </a:rPr>
              <a:t>….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2A5AEC-AF19-F148-8F15-C689B6EDD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18E55B-B532-AF6F-765F-25C886D37DFB}"/>
              </a:ext>
            </a:extLst>
          </p:cNvPr>
          <p:cNvSpPr txBox="1"/>
          <p:nvPr/>
        </p:nvSpPr>
        <p:spPr>
          <a:xfrm>
            <a:off x="223306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272884-833E-D842-26A5-003D209E8E30}"/>
              </a:ext>
            </a:extLst>
          </p:cNvPr>
          <p:cNvSpPr txBox="1"/>
          <p:nvPr/>
        </p:nvSpPr>
        <p:spPr>
          <a:xfrm>
            <a:off x="2369994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………..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A35DE-94FD-DA6A-9C0C-451383C4CF07}"/>
              </a:ext>
            </a:extLst>
          </p:cNvPr>
          <p:cNvSpPr txBox="1"/>
          <p:nvPr/>
        </p:nvSpPr>
        <p:spPr>
          <a:xfrm>
            <a:off x="223306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F0B9C8-9A25-A1E6-E704-0816B2E60005}"/>
              </a:ext>
            </a:extLst>
          </p:cNvPr>
          <p:cNvSpPr txBox="1"/>
          <p:nvPr/>
        </p:nvSpPr>
        <p:spPr>
          <a:xfrm>
            <a:off x="2369994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0" dirty="0">
                <a:latin typeface="Patrick Hand" pitchFamily="2" charset="77"/>
              </a:rPr>
              <a:t>……..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4FF65A-91EF-5586-737F-A3BD67B5A3CE}"/>
              </a:ext>
            </a:extLst>
          </p:cNvPr>
          <p:cNvSpPr txBox="1"/>
          <p:nvPr/>
        </p:nvSpPr>
        <p:spPr>
          <a:xfrm>
            <a:off x="223306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48EFF2-E0D8-F8FF-C123-6FC2CA55A51E}"/>
              </a:ext>
            </a:extLst>
          </p:cNvPr>
          <p:cNvSpPr txBox="1"/>
          <p:nvPr/>
        </p:nvSpPr>
        <p:spPr>
          <a:xfrm>
            <a:off x="2369994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………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0A40FC9-EB41-92D7-9BF1-68A99D969FEA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rgbClr val="FFC000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93BD8A54-8101-3B75-6B1B-76E7C2D74E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65627446-F864-EA8D-71CE-ABA0926A7A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84C6B1D-A820-F177-EC23-1C1DB33A59BE}"/>
              </a:ext>
            </a:extLst>
          </p:cNvPr>
          <p:cNvSpPr txBox="1"/>
          <p:nvPr/>
        </p:nvSpPr>
        <p:spPr>
          <a:xfrm>
            <a:off x="-7857400" y="2527667"/>
            <a:ext cx="5089855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py_017_zip_function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838558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690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4000" dirty="0" smtClean="0">
            <a:latin typeface="Patrick Hand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25689</TotalTime>
  <Words>618</Words>
  <Application>Microsoft Macintosh PowerPoint</Application>
  <PresentationFormat>Custom</PresentationFormat>
  <Paragraphs>141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361</cp:revision>
  <cp:lastPrinted>2025-12-17T08:49:37Z</cp:lastPrinted>
  <dcterms:created xsi:type="dcterms:W3CDTF">2025-12-17T08:13:25Z</dcterms:created>
  <dcterms:modified xsi:type="dcterms:W3CDTF">2026-01-05T04:10:23Z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