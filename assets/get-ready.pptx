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comments/modernComment_120_FA024C04.xml" ContentType="application/vnd.ms-powerpoint.comments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1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8" r:id="rId16"/>
    <p:sldId id="289" r:id="rId17"/>
    <p:sldId id="290" r:id="rId18"/>
    <p:sldId id="291" r:id="rId19"/>
    <p:sldId id="282" r:id="rId20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77"/>
    <p:restoredTop sz="96774"/>
  </p:normalViewPr>
  <p:slideViewPr>
    <p:cSldViewPr snapToGrid="0">
      <p:cViewPr>
        <p:scale>
          <a:sx n="58" d="100"/>
          <a:sy n="58" d="100"/>
        </p:scale>
        <p:origin x="3056" y="-224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comments/modernComment_120_FA024C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D904378-B2C9-5241-A08B-375F4FC6B280}" authorId="{8860045D-B334-310D-0A4E-9E20AA0B149E}" created="2026-01-04T06:33:22.990">
    <pc:sldMkLst xmlns:pc="http://schemas.microsoft.com/office/powerpoint/2013/main/command">
      <pc:docMk/>
      <pc:sldMk cId="4194454532" sldId="288"/>
    </pc:sldMkLst>
    <p188:txBody>
      <a:bodyPr/>
      <a:lstStyle/>
      <a:p>
        <a:r>
          <a:rPr lang="en-DE"/>
          <a:t>Title: Python 'with' Statement: Resource Management Made Easy! 🛡️
Tired of forgetting to close your files or database connections? The with statement in Python is your clean code superpower!
🇺🇸 Keep your Python code safe and clean! 🇩🇪 Python: Ressourcen sicher verwalten!
#Python #CleanCode #ProgrammingTips #ContextManager #FileHandling #CodeWithEbrahim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32FD-D9E9-AAE3-0DFD-25C6A587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65AD2-BF8F-55A2-6C49-4C74899FC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244BB-A6D8-1077-F5B9-623B75F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99D23-2291-E2AF-4349-FDA5EB6F0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2236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microsoft.com/office/2018/10/relationships/comments" Target="../comments/modernComment_120_FA024C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2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26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6907A9-1B63-0191-197F-5D8CE2A57CB7}"/>
              </a:ext>
            </a:extLst>
          </p:cNvPr>
          <p:cNvSpPr/>
          <p:nvPr/>
        </p:nvSpPr>
        <p:spPr>
          <a:xfrm>
            <a:off x="-5255086" y="2883701"/>
            <a:ext cx="371287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py_001_print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573D3-02FD-8867-C498-4782AE7F0917}"/>
              </a:ext>
            </a:extLst>
          </p:cNvPr>
          <p:cNvSpPr/>
          <p:nvPr/>
        </p:nvSpPr>
        <p:spPr>
          <a:xfrm>
            <a:off x="-8208470" y="2819400"/>
            <a:ext cx="776847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py_002_list_comprehensions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6FF087-C041-0658-59B7-B05AD6F4493E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py_003_dictionary_get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CF38632-8D5A-997E-0904-548E4DA9ABDA}"/>
              </a:ext>
            </a:extLst>
          </p:cNvPr>
          <p:cNvSpPr/>
          <p:nvPr/>
        </p:nvSpPr>
        <p:spPr>
          <a:xfrm>
            <a:off x="-7708333" y="2819400"/>
            <a:ext cx="6768199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py_004_sequence_slicing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DF25F1-84EC-E55D-F294-EEE7333BFE9C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py_005_swap_variables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73D5E-1D32-6F09-29CE-A81E7A6F23E4}"/>
              </a:ext>
            </a:extLst>
          </p:cNvPr>
          <p:cNvSpPr/>
          <p:nvPr/>
        </p:nvSpPr>
        <p:spPr>
          <a:xfrm>
            <a:off x="-6888397" y="2819400"/>
            <a:ext cx="512832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py_006_enumerate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46986AC-1C3A-B474-6747-68140547BDEB}"/>
              </a:ext>
            </a:extLst>
          </p:cNvPr>
          <p:cNvSpPr/>
          <p:nvPr/>
        </p:nvSpPr>
        <p:spPr>
          <a:xfrm>
            <a:off x="-7666655" y="2819400"/>
            <a:ext cx="668484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py_007_walrus_operator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1982C4BB-6191-68AC-3E62-B22939BA4D48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py_008_pytest_assert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7BD8FC-909C-7707-EADD-9BB7EF082556}"/>
              </a:ext>
            </a:extLst>
          </p:cNvPr>
          <p:cNvSpPr/>
          <p:nvPr/>
        </p:nvSpPr>
        <p:spPr>
          <a:xfrm>
            <a:off x="-7878251" y="2819400"/>
            <a:ext cx="710803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py_009_raise_value_error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649A9D-2FA9-D9EC-895D-62F1C7539235}"/>
              </a:ext>
            </a:extLst>
          </p:cNvPr>
          <p:cNvSpPr txBox="1"/>
          <p:nvPr/>
        </p:nvSpPr>
        <p:spPr>
          <a:xfrm>
            <a:off x="-8753367" y="2826600"/>
            <a:ext cx="7603363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py_010_special_variable_names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ABB6E-2AF5-A580-AFF3-F00672FA1B08}"/>
              </a:ext>
            </a:extLst>
          </p:cNvPr>
          <p:cNvSpPr txBox="1"/>
          <p:nvPr/>
        </p:nvSpPr>
        <p:spPr>
          <a:xfrm>
            <a:off x="-7857400" y="2527667"/>
            <a:ext cx="365997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py_011_pathlib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12A4097-8AAB-831B-3B48-4F55095ED0A3}"/>
              </a:ext>
            </a:extLst>
          </p:cNvPr>
          <p:cNvSpPr txBox="1"/>
          <p:nvPr/>
        </p:nvSpPr>
        <p:spPr>
          <a:xfrm>
            <a:off x="-7857400" y="2527667"/>
            <a:ext cx="6369051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py_012_python_truthiness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C78F-5842-BADA-97BD-2A58BA5E5C84}"/>
              </a:ext>
            </a:extLst>
          </p:cNvPr>
          <p:cNvSpPr txBox="1"/>
          <p:nvPr/>
        </p:nvSpPr>
        <p:spPr>
          <a:xfrm>
            <a:off x="223306" y="11731083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956DD6-0D86-8B09-E89A-759DDDD3D6BC}"/>
              </a:ext>
            </a:extLst>
          </p:cNvPr>
          <p:cNvSpPr txBox="1"/>
          <p:nvPr/>
        </p:nvSpPr>
        <p:spPr>
          <a:xfrm>
            <a:off x="2609831" y="11731083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Uses memory address comparison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9AEC7-81A8-D8FA-9B3F-D7975BB39742}"/>
              </a:ext>
            </a:extLst>
          </p:cNvPr>
          <p:cNvSpPr txBox="1"/>
          <p:nvPr/>
        </p:nvSpPr>
        <p:spPr>
          <a:xfrm>
            <a:off x="223306" y="12814182"/>
            <a:ext cx="15274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4893F-4945-B7EB-1C1A-4AFCB0335910}"/>
              </a:ext>
            </a:extLst>
          </p:cNvPr>
          <p:cNvSpPr txBox="1"/>
          <p:nvPr/>
        </p:nvSpPr>
        <p:spPr>
          <a:xfrm>
            <a:off x="2609831" y="12804706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Avoids custom --</a:t>
            </a:r>
            <a:r>
              <a:rPr lang="en-GB" sz="4000" dirty="0" err="1">
                <a:latin typeface="Patrick Hand" pitchFamily="2" charset="77"/>
              </a:rPr>
              <a:t>eq</a:t>
            </a:r>
            <a:r>
              <a:rPr lang="en-GB" sz="4000" dirty="0">
                <a:latin typeface="Patrick Hand" pitchFamily="2" charset="77"/>
              </a:rPr>
              <a:t>-- method bugs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6C270-8250-9E8C-0C34-1C95D283B5CB}"/>
              </a:ext>
            </a:extLst>
          </p:cNvPr>
          <p:cNvSpPr txBox="1"/>
          <p:nvPr/>
        </p:nvSpPr>
        <p:spPr>
          <a:xfrm>
            <a:off x="223306" y="13897281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807C-E3C5-9589-B831-282432DEFF7E}"/>
              </a:ext>
            </a:extLst>
          </p:cNvPr>
          <p:cNvSpPr txBox="1"/>
          <p:nvPr/>
        </p:nvSpPr>
        <p:spPr>
          <a:xfrm>
            <a:off x="2609831" y="13878330"/>
            <a:ext cx="7314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Follows the official PEP 8 standard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A68B83D-36C3-1AF4-295A-A3B5F70300FD}"/>
              </a:ext>
            </a:extLst>
          </p:cNvPr>
          <p:cNvSpPr txBox="1"/>
          <p:nvPr/>
        </p:nvSpPr>
        <p:spPr>
          <a:xfrm>
            <a:off x="-7857400" y="2527667"/>
            <a:ext cx="70006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py_013_is_none_comparision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35C7-D76D-D8A9-B1A0-857B7FCF6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E57E8F2-34E1-D30F-1E3C-9D9F815C62CE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811DF6-DCA6-5BA5-173D-D3A1AD21181A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b="1" dirty="0">
                  <a:latin typeface="+mj-lt"/>
                </a:rPr>
                <a:t>Use 'with' Statement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B55E9B-ABE8-F7C9-F6DE-0B1F6CDFD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490A48-FDDC-CA56-7D3A-6259AD2D71C3}"/>
              </a:ext>
            </a:extLst>
          </p:cNvPr>
          <p:cNvSpPr txBox="1"/>
          <p:nvPr/>
        </p:nvSpPr>
        <p:spPr>
          <a:xfrm>
            <a:off x="186673" y="11731083"/>
            <a:ext cx="254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Automatic: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07D96-4FC3-027C-1D15-683F85C805B5}"/>
              </a:ext>
            </a:extLst>
          </p:cNvPr>
          <p:cNvSpPr txBox="1"/>
          <p:nvPr/>
        </p:nvSpPr>
        <p:spPr>
          <a:xfrm>
            <a:off x="3425118" y="11731083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No more manual close() calls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3EC7A-21B7-943A-EA25-C438EAE74DC0}"/>
              </a:ext>
            </a:extLst>
          </p:cNvPr>
          <p:cNvSpPr txBox="1"/>
          <p:nvPr/>
        </p:nvSpPr>
        <p:spPr>
          <a:xfrm>
            <a:off x="186673" y="12814182"/>
            <a:ext cx="13446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AB019-507A-2EC2-3DA2-A9BB1C904276}"/>
              </a:ext>
            </a:extLst>
          </p:cNvPr>
          <p:cNvSpPr txBox="1"/>
          <p:nvPr/>
        </p:nvSpPr>
        <p:spPr>
          <a:xfrm>
            <a:off x="3490841" y="12804707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Prevents leaks during errors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EAAD5-4282-A2CD-8811-5319C0B2D77D}"/>
              </a:ext>
            </a:extLst>
          </p:cNvPr>
          <p:cNvSpPr txBox="1"/>
          <p:nvPr/>
        </p:nvSpPr>
        <p:spPr>
          <a:xfrm>
            <a:off x="186673" y="13878330"/>
            <a:ext cx="16257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Clean: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CDDF8-9461-833E-A5D0-B258E1311441}"/>
              </a:ext>
            </a:extLst>
          </p:cNvPr>
          <p:cNvSpPr txBox="1"/>
          <p:nvPr/>
        </p:nvSpPr>
        <p:spPr>
          <a:xfrm>
            <a:off x="3668775" y="13878330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Less code, better readability</a:t>
            </a:r>
            <a:endParaRPr lang="en-DE" sz="48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698CA1-BEA0-6457-A8B8-5A203D1CE9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74" t="23797" r="10300" b="14590"/>
          <a:stretch>
            <a:fillRect/>
          </a:stretch>
        </p:blipFill>
        <p:spPr>
          <a:xfrm>
            <a:off x="186673" y="4318974"/>
            <a:ext cx="9912067" cy="6765325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8A09D0-33BF-6B03-AE47-665AE3D0A683}"/>
              </a:ext>
            </a:extLst>
          </p:cNvPr>
          <p:cNvCxnSpPr>
            <a:cxnSpLocks/>
          </p:cNvCxnSpPr>
          <p:nvPr/>
        </p:nvCxnSpPr>
        <p:spPr>
          <a:xfrm>
            <a:off x="235460" y="6872124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5828BDD9-29EC-80B8-F9E0-00FC6D12F5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3493" y="7032169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9BD8DFA-A234-2917-65AF-90E0E24DEF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3493" y="455341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4E587C-A795-B2BF-C5C7-7BBE30BE9381}"/>
              </a:ext>
            </a:extLst>
          </p:cNvPr>
          <p:cNvSpPr txBox="1"/>
          <p:nvPr/>
        </p:nvSpPr>
        <p:spPr>
          <a:xfrm>
            <a:off x="-7857400" y="2527667"/>
            <a:ext cx="568456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py_014_with_statement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44545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6513E-44C3-8C15-A7B0-E379B4EE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F05B7D4-F280-F06F-B39C-2F00BFC25F26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Decoretors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F0CA92-46F0-129E-D4FC-B71F8C1DEB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6EFBF3-9D7A-45C0-5825-529AF9B87540}"/>
              </a:ext>
            </a:extLst>
          </p:cNvPr>
          <p:cNvCxnSpPr>
            <a:cxnSpLocks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1D3086D5-48CC-ED96-614E-18E795A99A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B4714FB7-C189-E14C-AA62-67E825ED6B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431B90-4C81-C2E6-27F3-4BE1F59B0FD5}"/>
              </a:ext>
            </a:extLst>
          </p:cNvPr>
          <p:cNvSpPr txBox="1"/>
          <p:nvPr/>
        </p:nvSpPr>
        <p:spPr>
          <a:xfrm>
            <a:off x="124279" y="12387532"/>
            <a:ext cx="2000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Reusable: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720A1-BB63-65E7-EAD2-2F645218BC30}"/>
              </a:ext>
            </a:extLst>
          </p:cNvPr>
          <p:cNvSpPr txBox="1"/>
          <p:nvPr/>
        </p:nvSpPr>
        <p:spPr>
          <a:xfrm>
            <a:off x="2008547" y="12387532"/>
            <a:ext cx="80409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Write the logic once, use if everywhere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5AB7AE-FDDE-F521-0E84-263E12DC19C4}"/>
              </a:ext>
            </a:extLst>
          </p:cNvPr>
          <p:cNvSpPr txBox="1"/>
          <p:nvPr/>
        </p:nvSpPr>
        <p:spPr>
          <a:xfrm>
            <a:off x="2008547" y="13207674"/>
            <a:ext cx="823174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Keeps your core function logic readable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E4F7AD-7DCB-D486-C377-47A73B19A851}"/>
              </a:ext>
            </a:extLst>
          </p:cNvPr>
          <p:cNvSpPr txBox="1"/>
          <p:nvPr/>
        </p:nvSpPr>
        <p:spPr>
          <a:xfrm>
            <a:off x="2008547" y="14027816"/>
            <a:ext cx="83183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The professional way to extend </a:t>
            </a:r>
            <a:r>
              <a:rPr lang="en-GB" sz="4400" dirty="0" err="1">
                <a:latin typeface="Patrick Hand" pitchFamily="2" charset="77"/>
              </a:rPr>
              <a:t>behavior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CB8D42-1B49-C015-A397-76B34C4AEA4F}"/>
              </a:ext>
            </a:extLst>
          </p:cNvPr>
          <p:cNvSpPr txBox="1"/>
          <p:nvPr/>
        </p:nvSpPr>
        <p:spPr>
          <a:xfrm>
            <a:off x="124279" y="13207674"/>
            <a:ext cx="1353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Clean: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4F2063-4801-CB91-C048-5E528FED3270}"/>
              </a:ext>
            </a:extLst>
          </p:cNvPr>
          <p:cNvSpPr txBox="1"/>
          <p:nvPr/>
        </p:nvSpPr>
        <p:spPr>
          <a:xfrm>
            <a:off x="124279" y="14027816"/>
            <a:ext cx="1691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Elegant: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A0906F-C1A8-69EB-29A2-B230DC472ED4}"/>
              </a:ext>
            </a:extLst>
          </p:cNvPr>
          <p:cNvSpPr txBox="1"/>
          <p:nvPr/>
        </p:nvSpPr>
        <p:spPr>
          <a:xfrm>
            <a:off x="-7857400" y="2527667"/>
            <a:ext cx="455445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py_015_decorators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16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99C58-5AF8-CF25-9DE3-F4ED584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A5510903-B9DD-D124-C83B-60D6C500B19D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103D25-9216-BAB2-ACB7-9FFD1936580E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F-Strings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Format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C4B819E-3D27-043B-A206-CB6B143459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0B9811-0F6C-A74D-399A-984849072C23}"/>
              </a:ext>
            </a:extLst>
          </p:cNvPr>
          <p:cNvSpPr txBox="1"/>
          <p:nvPr/>
        </p:nvSpPr>
        <p:spPr>
          <a:xfrm>
            <a:off x="223306" y="11731083"/>
            <a:ext cx="24229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Readable: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813AD-F7A7-B5FC-5C7D-0687E4D3D610}"/>
              </a:ext>
            </a:extLst>
          </p:cNvPr>
          <p:cNvSpPr txBox="1"/>
          <p:nvPr/>
        </p:nvSpPr>
        <p:spPr>
          <a:xfrm>
            <a:off x="2381255" y="11731083"/>
            <a:ext cx="7543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Direct variable injection into strings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376E3-CABD-1877-68D4-60BF8B8214F8}"/>
              </a:ext>
            </a:extLst>
          </p:cNvPr>
          <p:cNvSpPr txBox="1"/>
          <p:nvPr/>
        </p:nvSpPr>
        <p:spPr>
          <a:xfrm>
            <a:off x="223306" y="12814182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482C2-56C7-DEF8-3919-CB98C47190C8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F-Strings are optimized by the compiler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DD4EA-520B-F2EB-D460-A5C71B3EE88D}"/>
              </a:ext>
            </a:extLst>
          </p:cNvPr>
          <p:cNvSpPr txBox="1"/>
          <p:nvPr/>
        </p:nvSpPr>
        <p:spPr>
          <a:xfrm>
            <a:off x="223306" y="13897281"/>
            <a:ext cx="2157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Modern: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6ABE3-1E92-6F86-7CA0-C6FADF7C5095}"/>
              </a:ext>
            </a:extLst>
          </p:cNvPr>
          <p:cNvSpPr txBox="1"/>
          <p:nvPr/>
        </p:nvSpPr>
        <p:spPr>
          <a:xfrm>
            <a:off x="2381269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The standard since Python 3.6+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0ED27D-E93D-A20A-4C8F-B643F6E96957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ACE77A71-8D07-48B7-30F8-7E68A4376F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C1FF8D1C-0DE8-68A0-48D5-B6ED8B1B7C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69FC5ED-505E-33C0-5388-8BBC9AF48473}"/>
              </a:ext>
            </a:extLst>
          </p:cNvPr>
          <p:cNvSpPr txBox="1"/>
          <p:nvPr/>
        </p:nvSpPr>
        <p:spPr>
          <a:xfrm>
            <a:off x="-7857400" y="2527667"/>
            <a:ext cx="71048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py_016_f_strings_vs_format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87286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DB729E-F8DD-029C-9B05-01CFB72A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3B024-AFE3-B787-1CF0-88840F303020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rPr>
              <a:t>Zip function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CAF92-9DDC-DFC3-FF81-8A5C6F422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BBD432-F653-9467-301C-A4F29799E896}"/>
              </a:ext>
            </a:extLst>
          </p:cNvPr>
          <p:cNvSpPr txBox="1"/>
          <p:nvPr/>
        </p:nvSpPr>
        <p:spPr>
          <a:xfrm>
            <a:off x="223306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FF69-10AD-2D7D-57DB-432C9733AE0A}"/>
              </a:ext>
            </a:extLst>
          </p:cNvPr>
          <p:cNvSpPr txBox="1"/>
          <p:nvPr/>
        </p:nvSpPr>
        <p:spPr>
          <a:xfrm>
            <a:off x="2369994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Loops through multiple </a:t>
            </a:r>
            <a:r>
              <a:rPr lang="en-GB" sz="4000" dirty="0" err="1">
                <a:latin typeface="Patrick Hand" pitchFamily="2" charset="77"/>
              </a:rPr>
              <a:t>iterables</a:t>
            </a:r>
            <a:r>
              <a:rPr lang="en-GB" sz="4000" dirty="0">
                <a:latin typeface="Patrick Hand" pitchFamily="2" charset="77"/>
              </a:rPr>
              <a:t> at once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68B171-25AA-CACD-A094-E0B38D31F23D}"/>
              </a:ext>
            </a:extLst>
          </p:cNvPr>
          <p:cNvSpPr txBox="1"/>
          <p:nvPr/>
        </p:nvSpPr>
        <p:spPr>
          <a:xfrm>
            <a:off x="223306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BBC69-7564-146A-362D-6284651CA860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Eliminates the need for manual indexing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05E2A-72FF-9431-1DDA-030C01BAAB6B}"/>
              </a:ext>
            </a:extLst>
          </p:cNvPr>
          <p:cNvSpPr txBox="1"/>
          <p:nvPr/>
        </p:nvSpPr>
        <p:spPr>
          <a:xfrm>
            <a:off x="223306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C93386-7003-550B-8361-770B236BA91B}"/>
              </a:ext>
            </a:extLst>
          </p:cNvPr>
          <p:cNvSpPr txBox="1"/>
          <p:nvPr/>
        </p:nvSpPr>
        <p:spPr>
          <a:xfrm>
            <a:off x="2369994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Makes your loops cleaner and shorter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0EC55-6918-894A-527C-6A7222C04E3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D3791C2A-331F-9DF3-9F0C-661BDA710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0F6E4447-33BF-BCE5-BC44-10826ACC2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C48AE9-4418-800E-A60F-791956D2CB7B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5809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4000" dirty="0" smtClean="0">
            <a:latin typeface="Patrick Hand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24861</TotalTime>
  <Words>540</Words>
  <Application>Microsoft Macintosh PowerPoint</Application>
  <PresentationFormat>Custom</PresentationFormat>
  <Paragraphs>125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319</cp:revision>
  <cp:lastPrinted>2025-12-17T08:49:37Z</cp:lastPrinted>
  <dcterms:created xsi:type="dcterms:W3CDTF">2025-12-17T08:13:25Z</dcterms:created>
  <dcterms:modified xsi:type="dcterms:W3CDTF">2026-01-04T14:22:12Z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