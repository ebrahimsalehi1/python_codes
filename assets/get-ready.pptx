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11_495F277A.xml" ContentType="application/vnd.ms-powerpoint.comments+xml"/>
  <Override PartName="/ppt/comments/modernComment_114_90382018.xml" ContentType="application/vnd.ms-powerpoint.comments+xml"/>
  <Override PartName="/ppt/comments/modernComment_115_9CE3D27C.xml" ContentType="application/vnd.ms-powerpoint.comments+xml"/>
  <Override PartName="/ppt/comments/modernComment_116_9D718DED.xml" ContentType="application/vnd.ms-powerpoint.comments+xml"/>
  <Override PartName="/ppt/notesSlides/notesSlide6.xml" ContentType="application/vnd.openxmlformats-officedocument.presentationml.notesSlide+xml"/>
  <Override PartName="/ppt/comments/modernComment_117_532A238D.xml" ContentType="application/vnd.ms-powerpoint.comments+xml"/>
  <Override PartName="/ppt/comments/modernComment_118_626EC4B9.xml" ContentType="application/vnd.ms-powerpoint.comments+xml"/>
  <Override PartName="/ppt/comments/modernComment_120_FA024C04.xml" ContentType="application/vnd.ms-powerpoint.comments+xml"/>
  <Override PartName="/ppt/notesSlides/notesSlide7.xml" ContentType="application/vnd.openxmlformats-officedocument.presentationml.notesSlide+xml"/>
  <Override PartName="/ppt/comments/modernComment_122_9A36DA0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2" r:id="rId1"/>
  </p:sldMasterIdLst>
  <p:notesMasterIdLst>
    <p:notesMasterId r:id="rId22"/>
  </p:notesMasterIdLst>
  <p:sldIdLst>
    <p:sldId id="263" r:id="rId2"/>
    <p:sldId id="271" r:id="rId3"/>
    <p:sldId id="266" r:id="rId4"/>
    <p:sldId id="267" r:id="rId5"/>
    <p:sldId id="264" r:id="rId6"/>
    <p:sldId id="274" r:id="rId7"/>
    <p:sldId id="275" r:id="rId8"/>
    <p:sldId id="273" r:id="rId9"/>
    <p:sldId id="276" r:id="rId10"/>
    <p:sldId id="277" r:id="rId11"/>
    <p:sldId id="278" r:id="rId12"/>
    <p:sldId id="279" r:id="rId13"/>
    <p:sldId id="280" r:id="rId14"/>
    <p:sldId id="281" r:id="rId15"/>
    <p:sldId id="288" r:id="rId16"/>
    <p:sldId id="289" r:id="rId17"/>
    <p:sldId id="290" r:id="rId18"/>
    <p:sldId id="291" r:id="rId19"/>
    <p:sldId id="292" r:id="rId20"/>
    <p:sldId id="282" r:id="rId21"/>
  </p:sldIdLst>
  <p:sldSz cx="10285413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37" userDrawn="1">
          <p15:clr>
            <a:srgbClr val="A4A3A4"/>
          </p15:clr>
        </p15:guide>
        <p15:guide id="2" pos="32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60045D-B334-310D-0A4E-9E20AA0B149E}" name="Salehi Oshtorjani, Ebrahim (K-DACT/F)" initials="SOE(D" userId="S::ebrahim.salehi.oshtorjani1@volkswagen.de::56f2298d-f17e-4b85-9b58-413b9e2aed6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477"/>
    <p:restoredTop sz="96774"/>
  </p:normalViewPr>
  <p:slideViewPr>
    <p:cSldViewPr snapToGrid="0">
      <p:cViewPr>
        <p:scale>
          <a:sx n="53" d="100"/>
          <a:sy n="53" d="100"/>
        </p:scale>
        <p:origin x="3496" y="200"/>
      </p:cViewPr>
      <p:guideLst>
        <p:guide orient="horz" pos="5737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/Relationships>
</file>

<file path=ppt/comments/modernComment_111_495F27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9AA41E5-7F1A-814B-A122-E04A052682B1}" authorId="{8860045D-B334-310D-0A4E-9E20AA0B149E}" created="2025-12-31T15:40:41.497">
    <pc:sldMkLst xmlns:pc="http://schemas.microsoft.com/office/powerpoint/2013/main/command">
      <pc:docMk/>
      <pc:sldMk cId="1230972794" sldId="273"/>
    </pc:sldMkLst>
    <p188:replyLst>
      <p188:reply id="{C9715592-8908-484F-890E-9064472D8F44}" authorId="{8860045D-B334-310D-0A4E-9E20AA0B149E}" created="2025-12-31T15:41:01.364">
        <p188:txBody>
          <a:bodyPr/>
          <a:lstStyle/>
          <a:p>
            <a:r>
              <a:rPr lang="en-DE"/>
              <a:t>TikTok
Caption:
2026 is the year of Clean Code! 🐍✨
Stop repeating yourself and start using the Walrus Operator :=. It’s faster, shorter, and much more professional. 🚀
Which Python feature do you want to master this year? Let me know below! 👇
#CodeWithEbrahim #PythonTips #TechTok #Coding2026 #Programmer #LearnPython #SoftwareDev
</a:t>
            </a:r>
          </a:p>
        </p188:txBody>
      </p188:reply>
    </p188:replyLst>
    <p188:txBody>
      <a:bodyPr/>
      <a:lstStyle/>
      <a:p>
        <a:r>
          <a:rPr lang="en-DE"/>
          <a:t>YouTube Shorts
Title Options:
Level Up Your Python in 2026! 🐍🦭
The Only Python Operator You Need This Year!
Master the Walrus Operator in 60 Seconds 🔥
Python Tips 2026: Write Faster, Cleaner Code
Description:
Happy 2026! 🚀 Let's start the year by mastering one of Python's most powerful tools: The Walrus Operator (:=).
In this video, we see why Senior Developers prefer "Assignment Expressions" over traditional variable assignments.
💡 Why use Walrus?
Reduces code repetition.
Assignments happen inside the expression.
Makes your if and while loops incredibly clean.
✅ Follow @CodeWithEbrahim for a year full of coding excellence!
#Python2026 #WalrusOperator #CleanCode #ProgrammingTips #SoftwareEngineer #CodingLife #PythonTutorial</a:t>
        </a:r>
      </a:p>
    </p188:txBody>
  </p188:cm>
</p188:cmLst>
</file>

<file path=ppt/comments/modernComment_114_9038201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120432F-D95B-134A-AF1F-F641BC3F7A95}" authorId="{8860045D-B334-310D-0A4E-9E20AA0B149E}" created="2026-01-02T10:15:01.565">
    <pc:sldMkLst xmlns:pc="http://schemas.microsoft.com/office/powerpoint/2013/main/command">
      <pc:docMk/>
      <pc:sldMk cId="2419597336" sldId="276"/>
    </pc:sldMkLst>
    <p188:txBody>
      <a:bodyPr/>
      <a:lstStyle/>
      <a:p>
        <a:r>
          <a:rPr lang="en-DE"/>
          <a:t>TikTok:
Stop guessing if your code works! 🧪 Writing your first test with Pytest is the fastest way to level up. 🚀
#Python #Coding #SoftwareEngineering #Pytest #USA #Germany #Deutschland #Programming #TechTips #CodeWithEbrahim</a:t>
        </a:r>
      </a:p>
    </p188:txBody>
  </p188:cm>
</p188:cmLst>
</file>

<file path=ppt/comments/modernComment_115_9CE3D2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4800C0-A8FD-7049-8721-DDFAF8DB46DE}" authorId="{8860045D-B334-310D-0A4E-9E20AA0B149E}" created="2026-01-02T13:54:15.909">
    <pc:sldMkLst xmlns:pc="http://schemas.microsoft.com/office/powerpoint/2013/main/command">
      <pc:docMk/>
      <pc:sldMk cId="2632176252" sldId="277"/>
    </pc:sldMkLst>
    <p188:txBody>
      <a:bodyPr/>
      <a:lstStyle/>
      <a:p>
        <a:r>
          <a:rPr lang="en-DE"/>
          <a:t>tiktok
Stop using print() to handle bad data! 🛑 
Using raise makes your code professional and prevents silent crashes. 🐍🔥
#Python #CodingTips #SoftwareEngineering #USA #Germany #Deutschland #Backend #Programming #LearnToCode #CodeWithEbrahim</a:t>
        </a:r>
      </a:p>
    </p188:txBody>
  </p188:cm>
</p188:cmLst>
</file>

<file path=ppt/comments/modernComment_116_9D718D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624A432-E714-704A-91D8-E4A8019E62C5}" authorId="{8860045D-B334-310D-0A4E-9E20AA0B149E}" created="2026-01-02T21:09:18.585">
    <pc:sldMkLst xmlns:pc="http://schemas.microsoft.com/office/powerpoint/2013/main/command">
      <pc:docMk/>
      <pc:sldMk cId="2641464813" sldId="278"/>
    </pc:sldMkLst>
    <p188:txBody>
      <a:bodyPr/>
      <a:lstStyle/>
      <a:p>
        <a:r>
          <a:rPr lang="en-DE"/>
          <a:t>Subscribe for more Clean Code tips!
</a:t>
        </a:r>
      </a:p>
    </p188:txBody>
  </p188:cm>
  <p188:cm id="{BD450650-0826-3F40-866F-BB5FA42A6E60}" authorId="{8860045D-B334-310D-0A4E-9E20AA0B149E}" created="2026-01-03T02:36:43.451">
    <pc:sldMkLst xmlns:pc="http://schemas.microsoft.com/office/powerpoint/2013/main/command">
      <pc:docMk/>
      <pc:sldMk cId="2641464813" sldId="278"/>
    </pc:sldMkLst>
    <p188:txBody>
      <a:bodyPr/>
      <a:lstStyle/>
      <a:p>
        <a:r>
          <a:rPr lang="en-DE"/>
          <a:t>Youtube
Ever wondered what those double underscores (Dunders) actually do in Python? 🐍
1️⃣ name: Tells you if the script is running directly or being imported.
2️⃣ file: Gives you the exact location of your script on your computer. 
3️⃣ package: Helps you understand where your module lives in a project.
🇺🇸 Level up your Python skills! 🇩🇪 Python-Variablen einfach erklärt!
#Python #CodingTips #Backend #SoftwareEngineering #Germany #USA #Deutschland #Programming #CodeWithEbrahim</a:t>
        </a:r>
      </a:p>
    </p188:txBody>
  </p188:cm>
</p188:cmLst>
</file>

<file path=ppt/comments/modernComment_117_532A238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2077823-D24A-8947-B4FE-B579AFEE0A3A}" authorId="{8860045D-B334-310D-0A4E-9E20AA0B149E}" created="2026-01-03T21:47:30.016">
    <pc:sldMkLst xmlns:pc="http://schemas.microsoft.com/office/powerpoint/2013/main/command">
      <pc:docMk/>
      <pc:sldMk cId="1395270541" sldId="279"/>
    </pc:sldMkLst>
    <p188:txBody>
      <a:bodyPr/>
      <a:lstStyle/>
      <a:p>
        <a:r>
          <a:rPr lang="en-DE"/>
          <a:t>Youtube
Title: Why you should switch to Pathlib! 🐍
Working with file paths doesn't have to be ugly. pathlib makes your code readable and object-oriented. No more messy strings!
🚀 Pro Tip: Use the / operator to join paths easily.
#Python #CleanCode #Pathlib #SoftwareEngineering #ProgrammingTips #CodingLife #Backend #CodeWithEbrahim</a:t>
        </a:r>
      </a:p>
    </p188:txBody>
  </p188:cm>
</p188:cmLst>
</file>

<file path=ppt/comments/modernComment_118_626EC4B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289ECDD-2FC4-B843-90C4-2BBA8C3E356B}" authorId="{8860045D-B334-310D-0A4E-9E20AA0B149E}" created="2026-01-03T21:59:30.244">
    <pc:sldMkLst xmlns:pc="http://schemas.microsoft.com/office/powerpoint/2013/main/command">
      <pc:docMk/>
      <pc:sldMk cId="1651426489" sldId="280"/>
    </pc:sldMkLst>
    <p188:txBody>
      <a:bodyPr/>
      <a:lstStyle/>
      <a:p>
        <a:r>
          <a:rPr lang="en-DE"/>
          <a:t>Title: Pythonic If-Statements: Use Truthiness! 🐍
Why write more code when Python does it for you? Using Truthiness makes your scripts cleaner and more efficient. 🚀
🇺🇸 Learn the Pythonic way! 🇩🇪 Python-Code sauberer schreiben!
#Python #CleanCode #Pythonic #ProgrammingTips #Coding #SoftwareEngineering #USA #Germany #CodeWithEbrahim
</a:t>
        </a:r>
      </a:p>
    </p188:txBody>
  </p188:cm>
</p188:cmLst>
</file>

<file path=ppt/comments/modernComment_120_FA024C0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D904378-B2C9-5241-A08B-375F4FC6B280}" authorId="{8860045D-B334-310D-0A4E-9E20AA0B149E}" created="2026-01-04T06:33:22.990">
    <pc:sldMkLst xmlns:pc="http://schemas.microsoft.com/office/powerpoint/2013/main/command">
      <pc:docMk/>
      <pc:sldMk cId="4194454532" sldId="288"/>
    </pc:sldMkLst>
    <p188:txBody>
      <a:bodyPr/>
      <a:lstStyle/>
      <a:p>
        <a:r>
          <a:rPr lang="en-DE"/>
          <a:t>Title: Python 'with' Statement: Resource Management Made Easy! 🛡️
Tired of forgetting to close your files or database connections? The with statement in Python is your clean code superpower!
🇺🇸 Keep your Python code safe and clean! 🇩🇪 Python: Ressourcen sicher verwalten!
#Python #CleanCode #ProgrammingTips #ContextManager #FileHandling #CodeWithEbrahim</a:t>
        </a:r>
      </a:p>
    </p188:txBody>
  </p188:cm>
</p188:cmLst>
</file>

<file path=ppt/comments/modernComment_122_9A36DA0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2DADDA2-3D15-FC44-A576-7980490464C2}" authorId="{8860045D-B334-310D-0A4E-9E20AA0B149E}" created="2026-01-05T00:38:35.625">
    <pc:sldMkLst xmlns:pc="http://schemas.microsoft.com/office/powerpoint/2013/main/command">
      <pc:docMk/>
      <pc:sldMk cId="2587286016" sldId="290"/>
    </pc:sldMkLst>
    <p188:txBody>
      <a:bodyPr/>
      <a:lstStyle/>
      <a:p>
        <a:r>
          <a:rPr lang="en-DE"/>
          <a:t>Python f-Strings: The Faster &amp; Cleaner Way 🐍
Are you still using % or .format() to handle strings in Python? It’s time to upgrade! 🐍✨
f-Strings are not just more readable; they are also faster because they're evaluated
#Python #CleanCode #ProgrammingTips #fstrings #Python3 #CodeWithEbrahim #CodingLife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7384-5D6E-7E42-90C4-560B39EF53DD}" type="datetimeFigureOut">
              <a:rPr lang="en-DE" smtClean="0"/>
              <a:t>28.12.25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6D1A58-C582-AC49-9010-037E894CD42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6407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This Slide was second one and has been made on 26.12.2025, </a:t>
            </a:r>
            <a:br>
              <a:rPr lang="en-DE" dirty="0"/>
            </a:br>
            <a:r>
              <a:rPr lang="en-DE" dirty="0"/>
              <a:t>the related file is :  </a:t>
            </a:r>
            <a:r>
              <a:rPr lang="en-GB" dirty="0"/>
              <a:t>list-</a:t>
            </a:r>
            <a:r>
              <a:rPr lang="en-GB" dirty="0" err="1"/>
              <a:t>comprehensions.py</a:t>
            </a:r>
            <a:endParaRPr lang="en-GB" dirty="0"/>
          </a:p>
          <a:p>
            <a:r>
              <a:rPr lang="en-GB" dirty="0"/>
              <a:t>Info:</a:t>
            </a:r>
          </a:p>
          <a:p>
            <a:r>
              <a:rPr lang="en-GB" dirty="0"/>
              <a:t>Video Number: 2</a:t>
            </a:r>
          </a:p>
          <a:p>
            <a:r>
              <a:rPr lang="en-GB" dirty="0"/>
              <a:t>Published Date: 26.12.2025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 Name: list-</a:t>
            </a:r>
            <a:r>
              <a:rPr lang="en-GB" dirty="0" err="1"/>
              <a:t>comprehensions.py</a:t>
            </a:r>
            <a:endParaRPr lang="en-GB" dirty="0"/>
          </a:p>
          <a:p>
            <a:endParaRPr lang="en-GB" dirty="0"/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34782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E374C-FF6C-6A59-86BD-42037466D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D0A34D-106F-9454-678C-79D548A98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1F7E2D-684B-62F0-05F9-E7F57F4ED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3</a:t>
            </a:r>
            <a:br>
              <a:rPr lang="en-DE" dirty="0"/>
            </a:br>
            <a:r>
              <a:rPr lang="en-DE" dirty="0"/>
              <a:t>published on 29.12.2025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968ED-7ED9-AFC4-BA26-CA9AA4C4C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195232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4</a:t>
            </a:r>
            <a:br>
              <a:rPr lang="en-DE" dirty="0"/>
            </a:br>
            <a:r>
              <a:rPr lang="en-DE" dirty="0"/>
              <a:t>Published on 31.12.2025</a:t>
            </a:r>
          </a:p>
          <a:p>
            <a:r>
              <a:rPr lang="en-GB" dirty="0"/>
              <a:t>R</a:t>
            </a:r>
            <a:r>
              <a:rPr lang="en-DE" dirty="0"/>
              <a:t>elated files: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856234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5</a:t>
            </a:r>
          </a:p>
          <a:p>
            <a:r>
              <a:rPr lang="en-DE" dirty="0"/>
              <a:t>Title: Swap Variables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763752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Video 6</a:t>
            </a:r>
          </a:p>
          <a:p>
            <a:r>
              <a:rPr lang="en-DE" dirty="0"/>
              <a:t>Title: enumerate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235931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Video 011</a:t>
            </a:r>
            <a:br>
              <a:rPr lang="en-GB" dirty="0"/>
            </a:br>
            <a:r>
              <a:rPr lang="en-GB" dirty="0"/>
              <a:t>F</a:t>
            </a:r>
            <a:r>
              <a:rPr lang="en-DE" dirty="0"/>
              <a:t>older: </a:t>
            </a:r>
            <a:r>
              <a:rPr lang="en-GB" dirty="0"/>
              <a:t>py_011_pathlib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713721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732FD-D9E9-AAE3-0DFD-25C6A5879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F65AD2-BF8F-55A2-6C49-4C74899FC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E244BB-A6D8-1077-F5B9-623B75F9D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Video 011</a:t>
            </a:r>
            <a:br>
              <a:rPr lang="en-GB" dirty="0"/>
            </a:br>
            <a:r>
              <a:rPr lang="en-GB" dirty="0"/>
              <a:t>F</a:t>
            </a:r>
            <a:r>
              <a:rPr lang="en-DE" dirty="0"/>
              <a:t>older: </a:t>
            </a:r>
            <a:r>
              <a:rPr lang="en-GB" dirty="0"/>
              <a:t>py_011_pathlib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99D23-2291-E2AF-4349-FDA5EB6F07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6D1A58-C582-AC49-9010-037E894CD422}" type="slidenum">
              <a:rPr lang="en-DE" smtClean="0"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32236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1406" y="2992968"/>
            <a:ext cx="8742601" cy="6366933"/>
          </a:xfrm>
        </p:spPr>
        <p:txBody>
          <a:bodyPr anchor="b"/>
          <a:lstStyle>
            <a:lvl1pPr algn="ctr"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5677" y="9605435"/>
            <a:ext cx="7714060" cy="4415365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259" indent="0" algn="ctr">
              <a:buNone/>
              <a:defRPr sz="2250"/>
            </a:lvl2pPr>
            <a:lvl3pPr marL="1028517" indent="0" algn="ctr">
              <a:buNone/>
              <a:defRPr sz="2025"/>
            </a:lvl3pPr>
            <a:lvl4pPr marL="1542776" indent="0" algn="ctr">
              <a:buNone/>
              <a:defRPr sz="1800"/>
            </a:lvl4pPr>
            <a:lvl5pPr marL="2057034" indent="0" algn="ctr">
              <a:buNone/>
              <a:defRPr sz="1800"/>
            </a:lvl5pPr>
            <a:lvl6pPr marL="2571293" indent="0" algn="ctr">
              <a:buNone/>
              <a:defRPr sz="1800"/>
            </a:lvl6pPr>
            <a:lvl7pPr marL="3085551" indent="0" algn="ctr">
              <a:buNone/>
              <a:defRPr sz="1800"/>
            </a:lvl7pPr>
            <a:lvl8pPr marL="3599810" indent="0" algn="ctr">
              <a:buNone/>
              <a:defRPr sz="1800"/>
            </a:lvl8pPr>
            <a:lvl9pPr marL="4114068" indent="0" algn="ctr">
              <a:buNone/>
              <a:defRPr sz="18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93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2B4725-F1EC-C0BF-28F1-5FBD00F89475}"/>
              </a:ext>
            </a:extLst>
          </p:cNvPr>
          <p:cNvSpPr txBox="1"/>
          <p:nvPr userDrawn="1"/>
        </p:nvSpPr>
        <p:spPr>
          <a:xfrm>
            <a:off x="2170229" y="1538168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8E2B3C5-12FB-9052-C5A5-A819EAF27AC1}"/>
              </a:ext>
            </a:extLst>
          </p:cNvPr>
          <p:cNvGrpSpPr/>
          <p:nvPr userDrawn="1"/>
        </p:nvGrpSpPr>
        <p:grpSpPr>
          <a:xfrm>
            <a:off x="4153139" y="285709"/>
            <a:ext cx="1979135" cy="925200"/>
            <a:chOff x="4315976" y="15244200"/>
            <a:chExt cx="1979135" cy="9252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524E7D-1D75-8F90-E72A-A01BE2ADD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FF6CE8-F094-62A9-F577-CE8ADDA43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184EB1F-481A-B6D2-1817-1F871BD06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1/3/26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97F9027-CC07-7360-7ADD-A8D8CE9A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25924C7-C2EA-D319-9523-271865881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2277F46-4348-5215-811D-6AD5B4DDA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75218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1766" y="4559305"/>
            <a:ext cx="8871169" cy="7607299"/>
          </a:xfrm>
        </p:spPr>
        <p:txBody>
          <a:bodyPr anchor="b"/>
          <a:lstStyle>
            <a:lvl1pPr>
              <a:defRPr sz="674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1766" y="12238572"/>
            <a:ext cx="8871169" cy="4000499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/>
                </a:solidFill>
              </a:defRPr>
            </a:lvl1pPr>
            <a:lvl2pPr marL="514259" indent="0">
              <a:buNone/>
              <a:defRPr sz="2250">
                <a:solidFill>
                  <a:schemeClr val="tx1">
                    <a:tint val="75000"/>
                  </a:schemeClr>
                </a:solidFill>
              </a:defRPr>
            </a:lvl2pPr>
            <a:lvl3pPr marL="1028517" indent="0">
              <a:buNone/>
              <a:defRPr sz="2025">
                <a:solidFill>
                  <a:schemeClr val="tx1">
                    <a:tint val="75000"/>
                  </a:schemeClr>
                </a:solidFill>
              </a:defRPr>
            </a:lvl3pPr>
            <a:lvl4pPr marL="1542776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05703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5712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08555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359981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11406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487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07122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6990" y="4868333"/>
            <a:ext cx="4371301" cy="11603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787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973670"/>
            <a:ext cx="8871169" cy="3534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8463" y="4483101"/>
            <a:ext cx="4351211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8463" y="6680200"/>
            <a:ext cx="4351211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206991" y="4483101"/>
            <a:ext cx="4372640" cy="219709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259" indent="0">
              <a:buNone/>
              <a:defRPr sz="2250" b="1"/>
            </a:lvl2pPr>
            <a:lvl3pPr marL="1028517" indent="0">
              <a:buNone/>
              <a:defRPr sz="2025" b="1"/>
            </a:lvl3pPr>
            <a:lvl4pPr marL="1542776" indent="0">
              <a:buNone/>
              <a:defRPr sz="1800" b="1"/>
            </a:lvl4pPr>
            <a:lvl5pPr marL="2057034" indent="0">
              <a:buNone/>
              <a:defRPr sz="1800" b="1"/>
            </a:lvl5pPr>
            <a:lvl6pPr marL="2571293" indent="0">
              <a:buNone/>
              <a:defRPr sz="1800" b="1"/>
            </a:lvl6pPr>
            <a:lvl7pPr marL="3085551" indent="0">
              <a:buNone/>
              <a:defRPr sz="1800" b="1"/>
            </a:lvl7pPr>
            <a:lvl8pPr marL="3599810" indent="0">
              <a:buNone/>
              <a:defRPr sz="1800" b="1"/>
            </a:lvl8pPr>
            <a:lvl9pPr marL="4114068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206991" y="6680200"/>
            <a:ext cx="4372640" cy="982556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2907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728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3728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2640" y="2633137"/>
            <a:ext cx="5206990" cy="12996333"/>
          </a:xfrm>
        </p:spPr>
        <p:txBody>
          <a:bodyPr/>
          <a:lstStyle>
            <a:lvl1pPr>
              <a:defRPr sz="3599"/>
            </a:lvl1pPr>
            <a:lvl2pPr>
              <a:defRPr sz="3149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289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462" y="1219200"/>
            <a:ext cx="3317313" cy="4267200"/>
          </a:xfrm>
        </p:spPr>
        <p:txBody>
          <a:bodyPr anchor="b"/>
          <a:lstStyle>
            <a:lvl1pPr>
              <a:defRPr sz="359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372640" y="2633137"/>
            <a:ext cx="5206990" cy="12996333"/>
          </a:xfrm>
        </p:spPr>
        <p:txBody>
          <a:bodyPr anchor="t"/>
          <a:lstStyle>
            <a:lvl1pPr marL="0" indent="0">
              <a:buNone/>
              <a:defRPr sz="3599"/>
            </a:lvl1pPr>
            <a:lvl2pPr marL="514259" indent="0">
              <a:buNone/>
              <a:defRPr sz="3149"/>
            </a:lvl2pPr>
            <a:lvl3pPr marL="1028517" indent="0">
              <a:buNone/>
              <a:defRPr sz="2700"/>
            </a:lvl3pPr>
            <a:lvl4pPr marL="1542776" indent="0">
              <a:buNone/>
              <a:defRPr sz="2250"/>
            </a:lvl4pPr>
            <a:lvl5pPr marL="2057034" indent="0">
              <a:buNone/>
              <a:defRPr sz="2250"/>
            </a:lvl5pPr>
            <a:lvl6pPr marL="2571293" indent="0">
              <a:buNone/>
              <a:defRPr sz="2250"/>
            </a:lvl6pPr>
            <a:lvl7pPr marL="3085551" indent="0">
              <a:buNone/>
              <a:defRPr sz="2250"/>
            </a:lvl7pPr>
            <a:lvl8pPr marL="3599810" indent="0">
              <a:buNone/>
              <a:defRPr sz="2250"/>
            </a:lvl8pPr>
            <a:lvl9pPr marL="4114068" indent="0">
              <a:buNone/>
              <a:defRPr sz="225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462" y="5486400"/>
            <a:ext cx="3317313" cy="10164235"/>
          </a:xfrm>
        </p:spPr>
        <p:txBody>
          <a:bodyPr/>
          <a:lstStyle>
            <a:lvl1pPr marL="0" indent="0">
              <a:buNone/>
              <a:defRPr sz="1800"/>
            </a:lvl1pPr>
            <a:lvl2pPr marL="514259" indent="0">
              <a:buNone/>
              <a:defRPr sz="1575"/>
            </a:lvl2pPr>
            <a:lvl3pPr marL="1028517" indent="0">
              <a:buNone/>
              <a:defRPr sz="1350"/>
            </a:lvl3pPr>
            <a:lvl4pPr marL="1542776" indent="0">
              <a:buNone/>
              <a:defRPr sz="1125"/>
            </a:lvl4pPr>
            <a:lvl5pPr marL="2057034" indent="0">
              <a:buNone/>
              <a:defRPr sz="1125"/>
            </a:lvl5pPr>
            <a:lvl6pPr marL="2571293" indent="0">
              <a:buNone/>
              <a:defRPr sz="1125"/>
            </a:lvl6pPr>
            <a:lvl7pPr marL="3085551" indent="0">
              <a:buNone/>
              <a:defRPr sz="1125"/>
            </a:lvl7pPr>
            <a:lvl8pPr marL="3599810" indent="0">
              <a:buNone/>
              <a:defRPr sz="1125"/>
            </a:lvl8pPr>
            <a:lvl9pPr marL="4114068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148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694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60499" y="973666"/>
            <a:ext cx="2217792" cy="1549823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07123" y="973666"/>
            <a:ext cx="6524809" cy="1549823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985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7122" y="973670"/>
            <a:ext cx="8871169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07122" y="4868333"/>
            <a:ext cx="8871169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07122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07043" y="16950271"/>
            <a:ext cx="3471327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264073" y="16950271"/>
            <a:ext cx="2314218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A1E25-E09E-9B11-3FEC-A3FD03A7A6C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3571" y="17793550"/>
            <a:ext cx="448648" cy="103875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DE" sz="675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14014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028517" rtl="0" eaLnBrk="1" latinLnBrk="0" hangingPunct="1">
        <a:lnSpc>
          <a:spcPct val="90000"/>
        </a:lnSpc>
        <a:spcBef>
          <a:spcPct val="0"/>
        </a:spcBef>
        <a:buNone/>
        <a:defRPr sz="49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29" indent="-257129" algn="l" defTabSz="1028517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49" kern="1200">
          <a:solidFill>
            <a:schemeClr val="tx1"/>
          </a:solidFill>
          <a:latin typeface="+mn-lt"/>
          <a:ea typeface="+mn-ea"/>
          <a:cs typeface="+mn-cs"/>
        </a:defRPr>
      </a:lvl1pPr>
      <a:lvl2pPr marL="77138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646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799905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164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422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2681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6939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198" indent="-257129" algn="l" defTabSz="1028517" rtl="0" eaLnBrk="1" latinLnBrk="0" hangingPunct="1">
        <a:lnSpc>
          <a:spcPct val="90000"/>
        </a:lnSpc>
        <a:spcBef>
          <a:spcPts val="56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259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517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2776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034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293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5551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599810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068" algn="l" defTabSz="1028517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9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image" Target="../media/image14.png"/><Relationship Id="rId2" Type="http://schemas.microsoft.com/office/2018/10/relationships/comments" Target="../comments/modernComment_111_495F277A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2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4.png"/><Relationship Id="rId7" Type="http://schemas.openxmlformats.org/officeDocument/2006/relationships/image" Target="../media/image5.png"/><Relationship Id="rId2" Type="http://schemas.microsoft.com/office/2018/10/relationships/comments" Target="../comments/modernComment_114_903820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27.png"/><Relationship Id="rId7" Type="http://schemas.openxmlformats.org/officeDocument/2006/relationships/image" Target="../media/image5.png"/><Relationship Id="rId2" Type="http://schemas.microsoft.com/office/2018/10/relationships/comments" Target="../comments/modernComment_115_9CE3D27C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9D718DED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microsoft.com/office/2018/10/relationships/comments" Target="../comments/modernComment_117_532A238D.xml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4.png"/><Relationship Id="rId10" Type="http://schemas.openxmlformats.org/officeDocument/2006/relationships/image" Target="../media/image6.svg"/><Relationship Id="rId4" Type="http://schemas.openxmlformats.org/officeDocument/2006/relationships/image" Target="../media/image30.png"/><Relationship Id="rId9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2.png"/><Relationship Id="rId7" Type="http://schemas.openxmlformats.org/officeDocument/2006/relationships/image" Target="../media/image26.svg"/><Relationship Id="rId2" Type="http://schemas.microsoft.com/office/2018/10/relationships/comments" Target="../comments/modernComment_118_626EC4B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4.png"/><Relationship Id="rId4" Type="http://schemas.openxmlformats.org/officeDocument/2006/relationships/image" Target="../media/image33.png"/><Relationship Id="rId9" Type="http://schemas.openxmlformats.org/officeDocument/2006/relationships/image" Target="../media/image6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6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4.png"/><Relationship Id="rId7" Type="http://schemas.openxmlformats.org/officeDocument/2006/relationships/image" Target="../media/image5.png"/><Relationship Id="rId2" Type="http://schemas.microsoft.com/office/2018/10/relationships/comments" Target="../comments/modernComment_120_FA024C0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0.pn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4.png"/><Relationship Id="rId4" Type="http://schemas.openxmlformats.org/officeDocument/2006/relationships/image" Target="../media/image36.png"/><Relationship Id="rId9" Type="http://schemas.openxmlformats.org/officeDocument/2006/relationships/image" Target="../media/image6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37.png"/><Relationship Id="rId7" Type="http://schemas.openxmlformats.org/officeDocument/2006/relationships/image" Target="../media/image5.png"/><Relationship Id="rId2" Type="http://schemas.microsoft.com/office/2018/10/relationships/comments" Target="../comments/modernComment_122_9A36DA0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6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26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8C943-7173-E95B-0FF8-8CA0E1171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98A9D-9EB7-FFFD-3E62-4C29DAB94489}"/>
              </a:ext>
            </a:extLst>
          </p:cNvPr>
          <p:cNvSpPr txBox="1"/>
          <p:nvPr/>
        </p:nvSpPr>
        <p:spPr>
          <a:xfrm>
            <a:off x="414066" y="2702943"/>
            <a:ext cx="9647058" cy="9694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/>
            <a:r>
              <a:rPr lang="en-US" sz="4800" dirty="0"/>
              <a:t>Statistics: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1-The arguments of Python’s print</a:t>
            </a:r>
          </a:p>
          <a:p>
            <a:pPr marL="0" algn="l" defTabSz="457200" rtl="0" eaLnBrk="1" latinLnBrk="0" hangingPunct="1"/>
            <a:endParaRPr lang="en-US" sz="4800" dirty="0"/>
          </a:p>
          <a:p>
            <a:pPr marL="0" algn="l" defTabSz="457200" rtl="0" eaLnBrk="1" latinLnBrk="0" hangingPunct="1"/>
            <a:r>
              <a:rPr lang="en-US" sz="4800" dirty="0"/>
              <a:t>Published on: Dec 26, 2025</a:t>
            </a:r>
          </a:p>
          <a:p>
            <a:pPr marL="0" algn="l" defTabSz="457200" rtl="0" eaLnBrk="1" latinLnBrk="0" hangingPunct="1"/>
            <a:r>
              <a:rPr lang="en-US" sz="4800" dirty="0"/>
              <a:t>View: 1,823</a:t>
            </a:r>
          </a:p>
          <a:p>
            <a:pPr marL="0" algn="l" defTabSz="457200" rtl="0" eaLnBrk="1" latinLnBrk="0" hangingPunct="1"/>
            <a:r>
              <a:rPr lang="en-DE" sz="4800" dirty="0"/>
              <a:t>Likes: 89.5 %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2-Stop using For-Loops for Lists</a:t>
            </a:r>
          </a:p>
          <a:p>
            <a:pPr marL="0" algn="l" defTabSz="457200" rtl="0" eaLnBrk="1" latinLnBrk="0" hangingPunct="1"/>
            <a:endParaRPr lang="en-DE" sz="4800" dirty="0"/>
          </a:p>
          <a:p>
            <a:pPr marL="0" algn="l" defTabSz="457200" rtl="0" eaLnBrk="1" latinLnBrk="0" hangingPunct="1"/>
            <a:r>
              <a:rPr lang="en-DE" sz="4800" dirty="0"/>
              <a:t>Pulished on: Dec 27, 2025</a:t>
            </a:r>
          </a:p>
          <a:p>
            <a:pPr marL="0" algn="l" defTabSz="457200" rtl="0" eaLnBrk="1" latinLnBrk="0" hangingPunct="1"/>
            <a:r>
              <a:rPr lang="en-DE" sz="4800" dirty="0"/>
              <a:t>Views: 1,444</a:t>
            </a:r>
          </a:p>
          <a:p>
            <a:pPr marL="0" algn="l" defTabSz="457200" rtl="0" eaLnBrk="1" latinLnBrk="0" hangingPunct="1"/>
            <a:r>
              <a:rPr lang="en-DE" sz="4800" dirty="0"/>
              <a:t>Likes: 82.4 %</a:t>
            </a:r>
          </a:p>
        </p:txBody>
      </p:sp>
    </p:spTree>
    <p:extLst>
      <p:ext uri="{BB962C8B-B14F-4D97-AF65-F5344CB8AC3E}">
        <p14:creationId xmlns:p14="http://schemas.microsoft.com/office/powerpoint/2010/main" val="243970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011F1-40B2-354A-AEA3-0367EC08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0A99E81-3FE3-5F86-D43D-9940369508F5}"/>
              </a:ext>
            </a:extLst>
          </p:cNvPr>
          <p:cNvSpPr/>
          <p:nvPr/>
        </p:nvSpPr>
        <p:spPr>
          <a:xfrm>
            <a:off x="2739710" y="8682335"/>
            <a:ext cx="480599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Video 1 </a:t>
            </a:r>
          </a:p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Print arguments</a:t>
            </a:r>
            <a:endParaRPr lang="en-DE" sz="54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6907A9-1B63-0191-197F-5D8CE2A57CB7}"/>
              </a:ext>
            </a:extLst>
          </p:cNvPr>
          <p:cNvSpPr/>
          <p:nvPr/>
        </p:nvSpPr>
        <p:spPr>
          <a:xfrm>
            <a:off x="-5255086" y="2883701"/>
            <a:ext cx="3712876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py_001_print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15186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DC4AA3-0022-BA0D-9E7D-66B13B5B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713812-7693-7A33-F95C-E7CBF82C0AC7}"/>
              </a:ext>
            </a:extLst>
          </p:cNvPr>
          <p:cNvSpPr/>
          <p:nvPr/>
        </p:nvSpPr>
        <p:spPr>
          <a:xfrm>
            <a:off x="-795" y="25399"/>
            <a:ext cx="10285413" cy="9144000"/>
          </a:xfrm>
          <a:prstGeom prst="rect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78CD-953A-DE5A-0C5E-B22506EFEBA5}"/>
              </a:ext>
            </a:extLst>
          </p:cNvPr>
          <p:cNvSpPr/>
          <p:nvPr/>
        </p:nvSpPr>
        <p:spPr>
          <a:xfrm>
            <a:off x="-794" y="9144000"/>
            <a:ext cx="10285413" cy="9144000"/>
          </a:xfrm>
          <a:prstGeom prst="rect">
            <a:avLst/>
          </a:prstGeom>
          <a:gradFill flip="none" rotWithShape="1">
            <a:gsLst>
              <a:gs pos="0">
                <a:schemeClr val="accent6">
                  <a:tint val="66000"/>
                  <a:satMod val="160000"/>
                </a:schemeClr>
              </a:gs>
              <a:gs pos="50000">
                <a:schemeClr val="accent6">
                  <a:tint val="44500"/>
                  <a:satMod val="160000"/>
                </a:schemeClr>
              </a:gs>
              <a:gs pos="100000">
                <a:schemeClr val="accent6">
                  <a:tint val="23500"/>
                  <a:satMod val="160000"/>
                </a:schemeClr>
              </a:gs>
            </a:gsLst>
            <a:lin ang="13500000" scaled="1"/>
            <a:tileRect/>
          </a:gra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 lang="en-DE" dirty="0">
              <a:latin typeface="Patrick Hand" pitchFamily="2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CF1C6B-B5DF-DB15-335C-9EF9D02E264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500" t="36257" r="12564" b="17086"/>
          <a:stretch>
            <a:fillRect/>
          </a:stretch>
        </p:blipFill>
        <p:spPr>
          <a:xfrm>
            <a:off x="9333" y="2819400"/>
            <a:ext cx="10315977" cy="5486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75C1FB9-F7E4-D807-6D39-929DB29A7E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971" t="42773" r="9579" b="22419"/>
          <a:stretch>
            <a:fillRect/>
          </a:stretch>
        </p:blipFill>
        <p:spPr>
          <a:xfrm>
            <a:off x="-30564" y="12598400"/>
            <a:ext cx="10305074" cy="20066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931037C-127C-092B-3046-21C5E1305743}"/>
              </a:ext>
            </a:extLst>
          </p:cNvPr>
          <p:cNvSpPr/>
          <p:nvPr/>
        </p:nvSpPr>
        <p:spPr>
          <a:xfrm>
            <a:off x="1577100" y="98167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DIRTY CODE</a:t>
            </a:r>
          </a:p>
        </p:txBody>
      </p:sp>
      <p:pic>
        <p:nvPicPr>
          <p:cNvPr id="12" name="Graphic 11" descr="Close with solid fill">
            <a:extLst>
              <a:ext uri="{FF2B5EF4-FFF2-40B4-BE49-F238E27FC236}">
                <a16:creationId xmlns:a16="http://schemas.microsoft.com/office/drawing/2014/main" id="{28F1D416-1464-F569-BAAC-4CE3AC639C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78818" y="1219200"/>
            <a:ext cx="914400" cy="914400"/>
          </a:xfrm>
          <a:prstGeom prst="rect">
            <a:avLst/>
          </a:prstGeom>
        </p:spPr>
      </p:pic>
      <p:pic>
        <p:nvPicPr>
          <p:cNvPr id="14" name="Graphic 13" descr="Tick with solid fill">
            <a:extLst>
              <a:ext uri="{FF2B5EF4-FFF2-40B4-BE49-F238E27FC236}">
                <a16:creationId xmlns:a16="http://schemas.microsoft.com/office/drawing/2014/main" id="{F2663517-508C-9559-F50A-E9F1B59AB8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3912" y="10998200"/>
            <a:ext cx="914400" cy="9144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C884966-F1E0-E28C-8306-94E3476AE9EB}"/>
              </a:ext>
            </a:extLst>
          </p:cNvPr>
          <p:cNvSpPr/>
          <p:nvPr/>
        </p:nvSpPr>
        <p:spPr>
          <a:xfrm>
            <a:off x="1462006" y="10805060"/>
            <a:ext cx="713121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2700">
                  <a:solidFill>
                    <a:srgbClr val="00B050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  <a:latin typeface="Patrick Hand" pitchFamily="2" charset="77"/>
              </a:rPr>
              <a:t>CLEAN CODE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F519B709-69F6-84B3-4A2B-206F2AAA7983}"/>
              </a:ext>
            </a:extLst>
          </p:cNvPr>
          <p:cNvSpPr/>
          <p:nvPr/>
        </p:nvSpPr>
        <p:spPr>
          <a:xfrm>
            <a:off x="3683000" y="8610600"/>
            <a:ext cx="2921000" cy="2194460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3573D3-02FD-8867-C498-4782AE7F0917}"/>
              </a:ext>
            </a:extLst>
          </p:cNvPr>
          <p:cNvSpPr/>
          <p:nvPr/>
        </p:nvSpPr>
        <p:spPr>
          <a:xfrm>
            <a:off x="-8208470" y="2819400"/>
            <a:ext cx="7768473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py_002_list_comprehensions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67177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21B1B0-39CE-3C51-C24E-ABF73D965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802CAF-95E1-EFA2-C49B-20ECF3FC9A84}"/>
              </a:ext>
            </a:extLst>
          </p:cNvPr>
          <p:cNvSpPr/>
          <p:nvPr/>
        </p:nvSpPr>
        <p:spPr>
          <a:xfrm>
            <a:off x="0" y="-4044"/>
            <a:ext cx="10285413" cy="9144000"/>
          </a:xfrm>
          <a:prstGeom prst="rect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4D01AC-1DD0-FC59-5104-9672E73CED94}"/>
              </a:ext>
            </a:extLst>
          </p:cNvPr>
          <p:cNvSpPr/>
          <p:nvPr/>
        </p:nvSpPr>
        <p:spPr>
          <a:xfrm>
            <a:off x="0" y="9141359"/>
            <a:ext cx="10285413" cy="9144000"/>
          </a:xfrm>
          <a:prstGeom prst="rect">
            <a:avLst/>
          </a:prstGeom>
          <a:solidFill>
            <a:srgbClr val="00B05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3DBDE4-CC7E-7734-1D50-B787AABC9551}"/>
              </a:ext>
            </a:extLst>
          </p:cNvPr>
          <p:cNvSpPr/>
          <p:nvPr/>
        </p:nvSpPr>
        <p:spPr>
          <a:xfrm>
            <a:off x="1460856" y="905470"/>
            <a:ext cx="7363700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n-GB" sz="8000" b="1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Patrick Hand" pitchFamily="2" charset="77"/>
              </a:rPr>
              <a:t>If-Else Overload!</a:t>
            </a:r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55772E81-9193-63D2-027C-D655766BEF2C}"/>
              </a:ext>
            </a:extLst>
          </p:cNvPr>
          <p:cNvSpPr/>
          <p:nvPr/>
        </p:nvSpPr>
        <p:spPr>
          <a:xfrm>
            <a:off x="4573952" y="8762893"/>
            <a:ext cx="1137508" cy="2110345"/>
          </a:xfrm>
          <a:prstGeom prst="downArrow">
            <a:avLst/>
          </a:prstGeom>
          <a:solidFill>
            <a:schemeClr val="bg1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32E734C-5EB8-8FD1-0EF7-E377017C85E8}"/>
              </a:ext>
            </a:extLst>
          </p:cNvPr>
          <p:cNvGrpSpPr/>
          <p:nvPr/>
        </p:nvGrpSpPr>
        <p:grpSpPr>
          <a:xfrm>
            <a:off x="730428" y="2843759"/>
            <a:ext cx="8824556" cy="5774756"/>
            <a:chOff x="730428" y="2338436"/>
            <a:chExt cx="8824556" cy="577475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594F334-1F68-A2D3-63B4-253FBA3BEE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2460" t="31855" r="15333" b="19954"/>
            <a:stretch>
              <a:fillRect/>
            </a:stretch>
          </p:blipFill>
          <p:spPr>
            <a:xfrm>
              <a:off x="730428" y="2338436"/>
              <a:ext cx="8824556" cy="5774756"/>
            </a:xfrm>
            <a:prstGeom prst="rect">
              <a:avLst/>
            </a:prstGeom>
          </p:spPr>
        </p:pic>
        <p:pic>
          <p:nvPicPr>
            <p:cNvPr id="12" name="Graphic 11" descr="Close with solid fill">
              <a:extLst>
                <a:ext uri="{FF2B5EF4-FFF2-40B4-BE49-F238E27FC236}">
                  <a16:creationId xmlns:a16="http://schemas.microsoft.com/office/drawing/2014/main" id="{241A3745-1952-29BF-E870-F8620CD4D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528804" y="7065294"/>
              <a:ext cx="914400" cy="914400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F0CF991-83F3-5F12-62CF-6879ECDB3AAB}"/>
              </a:ext>
            </a:extLst>
          </p:cNvPr>
          <p:cNvSpPr txBox="1"/>
          <p:nvPr/>
        </p:nvSpPr>
        <p:spPr>
          <a:xfrm>
            <a:off x="0" y="10724463"/>
            <a:ext cx="102854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8000" dirty="0">
                <a:solidFill>
                  <a:schemeClr val="bg1"/>
                </a:solidFill>
                <a:latin typeface="Patrick Hand" pitchFamily="2" charset="77"/>
              </a:rPr>
              <a:t>Cleaner and Faster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0D34CB-C7DB-0D8F-EDEF-56289B6D433D}"/>
              </a:ext>
            </a:extLst>
          </p:cNvPr>
          <p:cNvSpPr txBox="1"/>
          <p:nvPr/>
        </p:nvSpPr>
        <p:spPr>
          <a:xfrm>
            <a:off x="0" y="17321163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9646EC-A33F-029A-5FD4-9F5CDA53A0A8}"/>
              </a:ext>
            </a:extLst>
          </p:cNvPr>
          <p:cNvSpPr txBox="1"/>
          <p:nvPr/>
        </p:nvSpPr>
        <p:spPr>
          <a:xfrm>
            <a:off x="32085" y="-20368"/>
            <a:ext cx="102854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solidFill>
                  <a:srgbClr val="FFFF00"/>
                </a:solidFill>
                <a:latin typeface="+mj-lt"/>
              </a:rPr>
              <a:t>@</a:t>
            </a:r>
            <a:r>
              <a:rPr lang="en-GB" sz="5400" b="1" dirty="0" err="1">
                <a:ln/>
                <a:solidFill>
                  <a:srgbClr val="FFFF00"/>
                </a:solidFill>
                <a:latin typeface="+mj-lt"/>
              </a:rPr>
              <a:t>CodeWithEbrahim</a:t>
            </a:r>
            <a:endParaRPr lang="en-GB" sz="5400" b="1" dirty="0">
              <a:ln/>
              <a:solidFill>
                <a:srgbClr val="FFFF00"/>
              </a:solidFill>
              <a:latin typeface="+mj-lt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8141ED9-21AC-2EB5-DCA8-1DB8344926A7}"/>
              </a:ext>
            </a:extLst>
          </p:cNvPr>
          <p:cNvGrpSpPr/>
          <p:nvPr/>
        </p:nvGrpSpPr>
        <p:grpSpPr>
          <a:xfrm>
            <a:off x="278238" y="12591891"/>
            <a:ext cx="9728936" cy="2852350"/>
            <a:chOff x="278238" y="12591891"/>
            <a:chExt cx="9728936" cy="285235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BF600660-B2F5-DAD6-DEB6-D7E1D7FD3F7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4206" t="34999" r="11348" b="26848"/>
            <a:stretch>
              <a:fillRect/>
            </a:stretch>
          </p:blipFill>
          <p:spPr>
            <a:xfrm>
              <a:off x="278238" y="12591891"/>
              <a:ext cx="9728936" cy="2852350"/>
            </a:xfrm>
            <a:prstGeom prst="rect">
              <a:avLst/>
            </a:prstGeom>
          </p:spPr>
        </p:pic>
        <p:pic>
          <p:nvPicPr>
            <p:cNvPr id="14" name="Graphic 13" descr="Tick with solid fill">
              <a:extLst>
                <a:ext uri="{FF2B5EF4-FFF2-40B4-BE49-F238E27FC236}">
                  <a16:creationId xmlns:a16="http://schemas.microsoft.com/office/drawing/2014/main" id="{E90B67AF-3F53-5D57-802D-C842B2809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125969" y="14422542"/>
              <a:ext cx="841273" cy="97061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46FF087-C041-0658-59B7-B05AD6F4493E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py_003_dictionary_get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250510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C0FC5C-9A1B-2F88-F479-50424DDDD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AC545B3-CE47-A03F-6421-E8C90CB6AD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427" t="28769" r="11619" b="14751"/>
          <a:stretch>
            <a:fillRect/>
          </a:stretch>
        </p:blipFill>
        <p:spPr>
          <a:xfrm>
            <a:off x="-42917" y="4451710"/>
            <a:ext cx="10328330" cy="53755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0871C5-641B-5244-5AA7-5C85A833803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6551" t="33107" r="11373" b="19724"/>
          <a:stretch>
            <a:fillRect/>
          </a:stretch>
        </p:blipFill>
        <p:spPr>
          <a:xfrm>
            <a:off x="-42918" y="11822323"/>
            <a:ext cx="10328400" cy="420786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408F8D5-CBEF-DB53-71DD-415C735FFEF0}"/>
              </a:ext>
            </a:extLst>
          </p:cNvPr>
          <p:cNvSpPr/>
          <p:nvPr/>
        </p:nvSpPr>
        <p:spPr>
          <a:xfrm>
            <a:off x="2532857" y="2871992"/>
            <a:ext cx="521969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Legacy Way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0E9936-7110-450A-9576-39615EF11B30}"/>
              </a:ext>
            </a:extLst>
          </p:cNvPr>
          <p:cNvSpPr/>
          <p:nvPr/>
        </p:nvSpPr>
        <p:spPr>
          <a:xfrm>
            <a:off x="2090428" y="10228754"/>
            <a:ext cx="6104556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96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18" name="Curved Right Arrow 17">
            <a:extLst>
              <a:ext uri="{FF2B5EF4-FFF2-40B4-BE49-F238E27FC236}">
                <a16:creationId xmlns:a16="http://schemas.microsoft.com/office/drawing/2014/main" id="{E6FC7DB3-67EC-D839-66A1-97F35ACCD311}"/>
              </a:ext>
            </a:extLst>
          </p:cNvPr>
          <p:cNvSpPr/>
          <p:nvPr/>
        </p:nvSpPr>
        <p:spPr>
          <a:xfrm>
            <a:off x="2" y="7426033"/>
            <a:ext cx="1136071" cy="5375565"/>
          </a:xfrm>
          <a:prstGeom prst="curvedRigh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3D7D60-AD8E-40FA-06A8-4988EB02BF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119" y="4534837"/>
            <a:ext cx="1063167" cy="106316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8B3358B-03D9-F7B7-FBFC-221E87B77F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1467" y="11933159"/>
            <a:ext cx="1063167" cy="1063167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ECF38632-8D5A-997E-0904-548E4DA9ABDA}"/>
              </a:ext>
            </a:extLst>
          </p:cNvPr>
          <p:cNvSpPr/>
          <p:nvPr/>
        </p:nvSpPr>
        <p:spPr>
          <a:xfrm>
            <a:off x="-7708333" y="2819400"/>
            <a:ext cx="6768199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py_004_sequence_slicing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8365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10988C-393A-23A2-9DF5-C9402B5BC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23AC5CE5-04A1-B6FD-83C8-F82209A884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594" y="10519995"/>
            <a:ext cx="1063167" cy="106316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F44863-C29F-FCE4-E7E0-B9ABB8B5D9B5}"/>
              </a:ext>
            </a:extLst>
          </p:cNvPr>
          <p:cNvSpPr txBox="1"/>
          <p:nvPr/>
        </p:nvSpPr>
        <p:spPr>
          <a:xfrm>
            <a:off x="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80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Patrick Hand" pitchFamily="2" charset="77"/>
              </a:rPr>
              <a:t>Normal Way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8FC581-0BD0-5A6A-A485-3A1B1BC64D9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671" t="35066" r="18959" b="19538"/>
          <a:stretch>
            <a:fillRect/>
          </a:stretch>
        </p:blipFill>
        <p:spPr>
          <a:xfrm>
            <a:off x="5141913" y="5832762"/>
            <a:ext cx="5151989" cy="5860474"/>
          </a:xfrm>
          <a:prstGeom prst="rect">
            <a:avLst/>
          </a:prstGeom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943DB44-0373-2D09-5ACB-BE5BD55F24B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716" t="34385" r="19230" b="18534"/>
          <a:stretch>
            <a:fillRect/>
          </a:stretch>
        </p:blipFill>
        <p:spPr>
          <a:xfrm>
            <a:off x="-1" y="5832762"/>
            <a:ext cx="5141913" cy="58604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3668048-DB41-672C-2A26-164430233908}"/>
              </a:ext>
            </a:extLst>
          </p:cNvPr>
          <p:cNvSpPr txBox="1"/>
          <p:nvPr/>
        </p:nvSpPr>
        <p:spPr>
          <a:xfrm>
            <a:off x="5151990" y="3590249"/>
            <a:ext cx="51419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DE" sz="80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Pythonic Way</a:t>
            </a:r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A0E326E4-6752-ABE3-79D4-5CDE4020AD5E}"/>
              </a:ext>
            </a:extLst>
          </p:cNvPr>
          <p:cNvSpPr/>
          <p:nvPr/>
        </p:nvSpPr>
        <p:spPr>
          <a:xfrm>
            <a:off x="2052340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27" name="Down Arrow 26">
            <a:extLst>
              <a:ext uri="{FF2B5EF4-FFF2-40B4-BE49-F238E27FC236}">
                <a16:creationId xmlns:a16="http://schemas.microsoft.com/office/drawing/2014/main" id="{F383A996-922C-DA85-9D37-6CC58FCBA2FF}"/>
              </a:ext>
            </a:extLst>
          </p:cNvPr>
          <p:cNvSpPr/>
          <p:nvPr/>
        </p:nvSpPr>
        <p:spPr>
          <a:xfrm>
            <a:off x="7513073" y="4978368"/>
            <a:ext cx="720000" cy="1323439"/>
          </a:xfrm>
          <a:prstGeom prst="down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B644678F-DD43-F00C-B900-A7B1E39CFE71}"/>
              </a:ext>
            </a:extLst>
          </p:cNvPr>
          <p:cNvSpPr/>
          <p:nvPr/>
        </p:nvSpPr>
        <p:spPr>
          <a:xfrm>
            <a:off x="4350325" y="7947287"/>
            <a:ext cx="1321200" cy="720000"/>
          </a:xfrm>
          <a:prstGeom prst="rightArrow">
            <a:avLst/>
          </a:prstGeom>
          <a:solidFill>
            <a:srgbClr val="FFFF00"/>
          </a:solidFill>
          <a:ln w="317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latin typeface="Patrick Hand" pitchFamily="2" charset="77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7DF25F1-84EC-E55D-F294-EEE7333BFE9C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py_005_swap_variables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8280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73ACF6-9F08-4584-E579-88E998157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405E72F4-E39E-8FAD-652F-B4C2D2EE8911}"/>
              </a:ext>
            </a:extLst>
          </p:cNvPr>
          <p:cNvSpPr txBox="1"/>
          <p:nvPr/>
        </p:nvSpPr>
        <p:spPr>
          <a:xfrm>
            <a:off x="336388" y="3210690"/>
            <a:ext cx="9611203" cy="9233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List</a:t>
            </a:r>
            <a:r>
              <a:rPr lang="en-DE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 Index based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3C1D9-D9C0-F838-3FED-6DC134F0D204}"/>
              </a:ext>
            </a:extLst>
          </p:cNvPr>
          <p:cNvSpPr txBox="1">
            <a:spLocks/>
          </p:cNvSpPr>
          <p:nvPr/>
        </p:nvSpPr>
        <p:spPr>
          <a:xfrm>
            <a:off x="336388" y="8876708"/>
            <a:ext cx="9609769" cy="2303126"/>
          </a:xfrm>
          <a:prstGeom prst="rect">
            <a:avLst/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GB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M</a:t>
            </a:r>
            <a:r>
              <a:rPr lang="en-DE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ore readable and prevents “IndexError” bugs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53E3FC-8572-55A5-8B29-A4E703BE991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20" t="33139" r="12833" b="18458"/>
          <a:stretch>
            <a:fillRect/>
          </a:stretch>
        </p:blipFill>
        <p:spPr>
          <a:xfrm>
            <a:off x="337823" y="4198000"/>
            <a:ext cx="9609769" cy="46095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3BFD0B6-4AF1-C224-E230-00E04AF21B8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225" t="32654" r="10336" b="17009"/>
          <a:stretch>
            <a:fillRect/>
          </a:stretch>
        </p:blipFill>
        <p:spPr>
          <a:xfrm>
            <a:off x="337822" y="11259625"/>
            <a:ext cx="9611203" cy="4000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B0DAB2-598A-C4B1-C3A9-530FCFC98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4557" y="14070664"/>
            <a:ext cx="1063167" cy="1063167"/>
          </a:xfrm>
          <a:prstGeom prst="rect">
            <a:avLst/>
          </a:prstGeom>
        </p:spPr>
      </p:pic>
      <p:sp>
        <p:nvSpPr>
          <p:cNvPr id="7" name="Curved Left Arrow 6">
            <a:extLst>
              <a:ext uri="{FF2B5EF4-FFF2-40B4-BE49-F238E27FC236}">
                <a16:creationId xmlns:a16="http://schemas.microsoft.com/office/drawing/2014/main" id="{4F4EEE06-704E-18C9-AB2B-8C23A4B5BAC1}"/>
              </a:ext>
            </a:extLst>
          </p:cNvPr>
          <p:cNvSpPr/>
          <p:nvPr/>
        </p:nvSpPr>
        <p:spPr>
          <a:xfrm>
            <a:off x="8372281" y="6021236"/>
            <a:ext cx="1518251" cy="6452559"/>
          </a:xfrm>
          <a:prstGeom prst="curvedLeftArrow">
            <a:avLst/>
          </a:prstGeom>
          <a:solidFill>
            <a:srgbClr val="FFFF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B73D5E-1D32-6F09-29CE-A81E7A6F23E4}"/>
              </a:ext>
            </a:extLst>
          </p:cNvPr>
          <p:cNvSpPr/>
          <p:nvPr/>
        </p:nvSpPr>
        <p:spPr>
          <a:xfrm>
            <a:off x="-6888397" y="2819400"/>
            <a:ext cx="512832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py_006_enumerate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85386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ivot">
          <a:fgClr>
            <a:schemeClr val="bg1">
              <a:lumMod val="7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68936CF2-EFE7-0A56-5F22-A1457CF2CB86}"/>
              </a:ext>
            </a:extLst>
          </p:cNvPr>
          <p:cNvGrpSpPr/>
          <p:nvPr/>
        </p:nvGrpSpPr>
        <p:grpSpPr>
          <a:xfrm>
            <a:off x="297365" y="4382219"/>
            <a:ext cx="9690682" cy="4278703"/>
            <a:chOff x="232998" y="4382219"/>
            <a:chExt cx="9690682" cy="4278703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66BDBF16-7324-C359-13EB-C05F2D62C06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8433" t="32757" r="11268" b="18316"/>
            <a:stretch>
              <a:fillRect/>
            </a:stretch>
          </p:blipFill>
          <p:spPr>
            <a:xfrm>
              <a:off x="232998" y="4382219"/>
              <a:ext cx="9690682" cy="4278703"/>
            </a:xfrm>
            <a:prstGeom prst="rect">
              <a:avLst/>
            </a:prstGeom>
          </p:spPr>
        </p:pic>
        <p:pic>
          <p:nvPicPr>
            <p:cNvPr id="86" name="Graphic 85" descr="Close with solid fill">
              <a:extLst>
                <a:ext uri="{FF2B5EF4-FFF2-40B4-BE49-F238E27FC236}">
                  <a16:creationId xmlns:a16="http://schemas.microsoft.com/office/drawing/2014/main" id="{6ED8EA4F-3558-5DA3-7EBB-C7E095FB29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869700" y="4707196"/>
              <a:ext cx="914400" cy="914400"/>
            </a:xfrm>
            <a:prstGeom prst="rect">
              <a:avLst/>
            </a:prstGeom>
          </p:spPr>
        </p:pic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91BE2148-5B99-92E2-A86C-A2ED92CA6938}"/>
                </a:ext>
              </a:extLst>
            </p:cNvPr>
            <p:cNvCxnSpPr>
              <a:cxnSpLocks/>
            </p:cNvCxnSpPr>
            <p:nvPr/>
          </p:nvCxnSpPr>
          <p:spPr>
            <a:xfrm>
              <a:off x="5382883" y="5164396"/>
              <a:ext cx="3486817" cy="0"/>
            </a:xfrm>
            <a:prstGeom prst="straightConnector1">
              <a:avLst/>
            </a:prstGeom>
            <a:ln w="31750">
              <a:solidFill>
                <a:srgbClr val="FF000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EEA5A16-A8AD-2CD6-D0B9-9E6047E39071}"/>
              </a:ext>
            </a:extLst>
          </p:cNvPr>
          <p:cNvGrpSpPr/>
          <p:nvPr/>
        </p:nvGrpSpPr>
        <p:grpSpPr>
          <a:xfrm>
            <a:off x="297365" y="8971470"/>
            <a:ext cx="9690682" cy="4278701"/>
            <a:chOff x="232998" y="8971470"/>
            <a:chExt cx="9690682" cy="4278701"/>
          </a:xfrm>
        </p:grpSpPr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B90F781D-CFEE-8ED8-F94E-C48D737E1DF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18284" t="32749" r="11433" b="18336"/>
            <a:stretch>
              <a:fillRect/>
            </a:stretch>
          </p:blipFill>
          <p:spPr>
            <a:xfrm>
              <a:off x="232998" y="8971470"/>
              <a:ext cx="9690682" cy="4278701"/>
            </a:xfrm>
            <a:prstGeom prst="rect">
              <a:avLst/>
            </a:prstGeom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C14DD266-0237-70CE-24DF-8074AAEEF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9677" y="12117992"/>
              <a:ext cx="1063167" cy="1063167"/>
            </a:xfrm>
            <a:prstGeom prst="rect">
              <a:avLst/>
            </a:prstGeom>
          </p:spPr>
        </p:pic>
        <p:pic>
          <p:nvPicPr>
            <p:cNvPr id="88" name="Graphic 87" descr="Checkbox Ticked with solid fill">
              <a:extLst>
                <a:ext uri="{FF2B5EF4-FFF2-40B4-BE49-F238E27FC236}">
                  <a16:creationId xmlns:a16="http://schemas.microsoft.com/office/drawing/2014/main" id="{B2AC9583-C2C6-6C42-BCA2-5941DBEC6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69700" y="9947674"/>
              <a:ext cx="914400" cy="914400"/>
            </a:xfrm>
            <a:prstGeom prst="rect">
              <a:avLst/>
            </a:prstGeom>
          </p:spPr>
        </p:pic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5DE6B61C-48DF-C505-4BB6-1D08B15C9133}"/>
                </a:ext>
              </a:extLst>
            </p:cNvPr>
            <p:cNvCxnSpPr>
              <a:cxnSpLocks/>
            </p:cNvCxnSpPr>
            <p:nvPr/>
          </p:nvCxnSpPr>
          <p:spPr>
            <a:xfrm>
              <a:off x="6763109" y="10404874"/>
              <a:ext cx="2258991" cy="18758"/>
            </a:xfrm>
            <a:prstGeom prst="straightConnector1">
              <a:avLst/>
            </a:prstGeom>
            <a:ln w="31750">
              <a:solidFill>
                <a:srgbClr val="00B050"/>
              </a:solidFill>
              <a:headEnd type="none" w="lg" len="lg"/>
              <a:tailEnd type="arrow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FEF617D9-122A-AA15-1A86-D9BAE09F0F58}"/>
              </a:ext>
            </a:extLst>
          </p:cNvPr>
          <p:cNvSpPr txBox="1"/>
          <p:nvPr/>
        </p:nvSpPr>
        <p:spPr>
          <a:xfrm>
            <a:off x="739898" y="3160241"/>
            <a:ext cx="88056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Use </a:t>
            </a:r>
            <a:r>
              <a:rPr lang="en-DE" sz="4800" b="1" i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Walrus</a:t>
            </a:r>
            <a:r>
              <a:rPr lang="en-DE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 Operator</a:t>
            </a:r>
            <a:r>
              <a:rPr lang="en-US" sz="4800" b="1" i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  <a:latin typeface="Patrick Hand" pitchFamily="2" charset="77"/>
              </a:rPr>
              <a:t>(:=) in your codes</a:t>
            </a:r>
            <a:endParaRPr lang="en-DE" sz="4800" b="1" i="1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  <a:latin typeface="Patrick Hand" pitchFamily="2" charset="77"/>
            </a:endParaRPr>
          </a:p>
        </p:txBody>
      </p:sp>
      <p:sp>
        <p:nvSpPr>
          <p:cNvPr id="112" name="Curved Right Arrow 111">
            <a:extLst>
              <a:ext uri="{FF2B5EF4-FFF2-40B4-BE49-F238E27FC236}">
                <a16:creationId xmlns:a16="http://schemas.microsoft.com/office/drawing/2014/main" id="{7A5F38A8-0653-BF91-CCDD-59BAEA1A169F}"/>
              </a:ext>
            </a:extLst>
          </p:cNvPr>
          <p:cNvSpPr/>
          <p:nvPr/>
        </p:nvSpPr>
        <p:spPr>
          <a:xfrm>
            <a:off x="436946" y="4054420"/>
            <a:ext cx="1223200" cy="6211012"/>
          </a:xfrm>
          <a:prstGeom prst="curvedRightArrow">
            <a:avLst/>
          </a:prstGeom>
          <a:solidFill>
            <a:srgbClr val="FFC000"/>
          </a:solidFill>
          <a:ln w="3175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dirty="0">
              <a:solidFill>
                <a:schemeClr val="tx1"/>
              </a:solidFill>
              <a:latin typeface="Patrick Hand" pitchFamily="2" charset="77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955F01A-DD86-3AD9-6B7B-91D5259CC29E}"/>
              </a:ext>
            </a:extLst>
          </p:cNvPr>
          <p:cNvSpPr txBox="1"/>
          <p:nvPr/>
        </p:nvSpPr>
        <p:spPr>
          <a:xfrm>
            <a:off x="2928799" y="8965638"/>
            <a:ext cx="4427815" cy="830997"/>
          </a:xfrm>
          <a:prstGeom prst="rect">
            <a:avLst/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0" algn="l" defTabSz="457200" rtl="0" eaLnBrk="1" latinLnBrk="0" hangingPunct="1"/>
            <a:r>
              <a:rPr lang="en-US" sz="48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latin typeface="Patrick Hand" pitchFamily="2" charset="77"/>
              </a:rPr>
              <a:t>Concise &amp; Readable</a:t>
            </a:r>
            <a:endParaRPr lang="en-DE" sz="48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latin typeface="Patrick Hand" pitchFamily="2" charset="77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446986AC-1C3A-B474-6747-68140547BDEB}"/>
              </a:ext>
            </a:extLst>
          </p:cNvPr>
          <p:cNvSpPr/>
          <p:nvPr/>
        </p:nvSpPr>
        <p:spPr>
          <a:xfrm>
            <a:off x="-7666655" y="2819400"/>
            <a:ext cx="6684843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py_007_walrus_operator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309727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F27F718B-3075-03B3-8216-CB5C90C1159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122" t="24607" r="11265" b="13804"/>
          <a:stretch>
            <a:fillRect/>
          </a:stretch>
        </p:blipFill>
        <p:spPr>
          <a:xfrm>
            <a:off x="338586" y="4196968"/>
            <a:ext cx="9544666" cy="69917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88EAA7-EAD5-26FB-0617-9B43EF4A29B9}"/>
              </a:ext>
            </a:extLst>
          </p:cNvPr>
          <p:cNvSpPr txBox="1"/>
          <p:nvPr/>
        </p:nvSpPr>
        <p:spPr>
          <a:xfrm>
            <a:off x="338586" y="3131629"/>
            <a:ext cx="9544666" cy="923330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latin typeface="Patrick Hand" pitchFamily="2" charset="77"/>
              </a:rPr>
              <a:t>Stop using print() to test your code!</a:t>
            </a:r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latin typeface="Patrick Hand" pitchFamily="2" charset="77"/>
              </a:rPr>
              <a:t> </a:t>
            </a:r>
            <a:endParaRPr lang="en-DE" sz="5400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D67AC1-8CD7-9EA6-AA44-75765EDCB4D3}"/>
              </a:ext>
            </a:extLst>
          </p:cNvPr>
          <p:cNvSpPr txBox="1"/>
          <p:nvPr/>
        </p:nvSpPr>
        <p:spPr>
          <a:xfrm>
            <a:off x="338586" y="11505474"/>
            <a:ext cx="891971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Pre Requisite: pip install pytest</a:t>
            </a:r>
          </a:p>
          <a:p>
            <a:r>
              <a:rPr lang="en-GB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r>
              <a:rPr lang="en-DE" sz="4400" dirty="0">
                <a:ln w="0"/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un: pytest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5D8269C7-709E-6998-5283-B107C7781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662" y="10058156"/>
            <a:ext cx="1063167" cy="1063167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DEC39D2-B0EB-4B63-00D7-3B3E21C2FDC1}"/>
              </a:ext>
            </a:extLst>
          </p:cNvPr>
          <p:cNvCxnSpPr>
            <a:cxnSpLocks/>
          </p:cNvCxnSpPr>
          <p:nvPr/>
        </p:nvCxnSpPr>
        <p:spPr>
          <a:xfrm>
            <a:off x="313276" y="6263285"/>
            <a:ext cx="9609827" cy="0"/>
          </a:xfrm>
          <a:prstGeom prst="line">
            <a:avLst/>
          </a:prstGeom>
          <a:ln w="41275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2728270-9B9A-7A9F-F2A8-323E7A58C200}"/>
              </a:ext>
            </a:extLst>
          </p:cNvPr>
          <p:cNvCxnSpPr>
            <a:cxnSpLocks/>
          </p:cNvCxnSpPr>
          <p:nvPr/>
        </p:nvCxnSpPr>
        <p:spPr>
          <a:xfrm>
            <a:off x="344905" y="8417013"/>
            <a:ext cx="9609827" cy="0"/>
          </a:xfrm>
          <a:prstGeom prst="line">
            <a:avLst/>
          </a:prstGeom>
          <a:ln w="41275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Shield Tick with solid fill">
            <a:extLst>
              <a:ext uri="{FF2B5EF4-FFF2-40B4-BE49-F238E27FC236}">
                <a16:creationId xmlns:a16="http://schemas.microsoft.com/office/drawing/2014/main" id="{3E10B054-0ABA-4495-55F7-5348E50616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1582" y="8556576"/>
            <a:ext cx="914400" cy="914400"/>
          </a:xfrm>
          <a:prstGeom prst="rect">
            <a:avLst/>
          </a:prstGeom>
        </p:spPr>
      </p:pic>
      <p:pic>
        <p:nvPicPr>
          <p:cNvPr id="77" name="Graphic 76" descr="Close with solid fill">
            <a:extLst>
              <a:ext uri="{FF2B5EF4-FFF2-40B4-BE49-F238E27FC236}">
                <a16:creationId xmlns:a16="http://schemas.microsoft.com/office/drawing/2014/main" id="{0045C14B-3459-5991-D210-53E90DC022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11582" y="6757642"/>
            <a:ext cx="914400" cy="914400"/>
          </a:xfrm>
          <a:prstGeom prst="rect">
            <a:avLst/>
          </a:prstGeom>
        </p:spPr>
      </p:pic>
      <p:sp>
        <p:nvSpPr>
          <p:cNvPr id="78" name="Rectangle 77">
            <a:extLst>
              <a:ext uri="{FF2B5EF4-FFF2-40B4-BE49-F238E27FC236}">
                <a16:creationId xmlns:a16="http://schemas.microsoft.com/office/drawing/2014/main" id="{1982C4BB-6191-68AC-3E62-B22939BA4D48}"/>
              </a:ext>
            </a:extLst>
          </p:cNvPr>
          <p:cNvSpPr/>
          <p:nvPr/>
        </p:nvSpPr>
        <p:spPr>
          <a:xfrm>
            <a:off x="-7438227" y="2819400"/>
            <a:ext cx="6227987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py_008_pytest_assert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1959733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C989A062-81D4-7FA9-5D3B-97D7C84260BF}"/>
              </a:ext>
            </a:extLst>
          </p:cNvPr>
          <p:cNvGrpSpPr/>
          <p:nvPr/>
        </p:nvGrpSpPr>
        <p:grpSpPr>
          <a:xfrm>
            <a:off x="192450" y="4313208"/>
            <a:ext cx="9900512" cy="5656922"/>
            <a:chOff x="155122" y="4313208"/>
            <a:chExt cx="9900512" cy="5656922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5755EB69-8332-046F-562A-CD322CED90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5798" t="24886" r="9749" b="14308"/>
            <a:stretch>
              <a:fillRect/>
            </a:stretch>
          </p:blipFill>
          <p:spPr>
            <a:xfrm>
              <a:off x="155276" y="4313208"/>
              <a:ext cx="9900358" cy="5656922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E405CAD7-F4B0-7F74-1DFC-8CF2E970C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919562" y="8805718"/>
              <a:ext cx="1063167" cy="1063167"/>
            </a:xfrm>
            <a:prstGeom prst="rect">
              <a:avLst/>
            </a:prstGeom>
          </p:spPr>
        </p:pic>
        <p:pic>
          <p:nvPicPr>
            <p:cNvPr id="29" name="Graphic 28" descr="Shield Tick with solid fill">
              <a:extLst>
                <a:ext uri="{FF2B5EF4-FFF2-40B4-BE49-F238E27FC236}">
                  <a16:creationId xmlns:a16="http://schemas.microsoft.com/office/drawing/2014/main" id="{0CCABDA1-4CCF-B503-8099-FFC57C1D95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132274" y="6762284"/>
              <a:ext cx="914400" cy="914400"/>
            </a:xfrm>
            <a:prstGeom prst="rect">
              <a:avLst/>
            </a:prstGeom>
          </p:spPr>
        </p:pic>
        <p:pic>
          <p:nvPicPr>
            <p:cNvPr id="30" name="Graphic 29" descr="Close with solid fill">
              <a:extLst>
                <a:ext uri="{FF2B5EF4-FFF2-40B4-BE49-F238E27FC236}">
                  <a16:creationId xmlns:a16="http://schemas.microsoft.com/office/drawing/2014/main" id="{14362FE8-9002-3D9A-71C4-9C9B4C8821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132274" y="4549278"/>
              <a:ext cx="914400" cy="914400"/>
            </a:xfrm>
            <a:prstGeom prst="rect">
              <a:avLst/>
            </a:prstGeom>
          </p:spPr>
        </p:pic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3F613E7-6697-4EC0-8464-6D3C267DD305}"/>
                </a:ext>
              </a:extLst>
            </p:cNvPr>
            <p:cNvCxnSpPr>
              <a:cxnSpLocks/>
            </p:cNvCxnSpPr>
            <p:nvPr/>
          </p:nvCxnSpPr>
          <p:spPr>
            <a:xfrm>
              <a:off x="155122" y="8693061"/>
              <a:ext cx="9883259" cy="0"/>
            </a:xfrm>
            <a:prstGeom prst="line">
              <a:avLst/>
            </a:prstGeom>
            <a:ln w="41275">
              <a:solidFill>
                <a:schemeClr val="bg1"/>
              </a:solidFill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1B4CE6B-B7C7-47AA-F8CD-6C0FAC4DA742}"/>
                </a:ext>
              </a:extLst>
            </p:cNvPr>
            <p:cNvCxnSpPr>
              <a:cxnSpLocks/>
            </p:cNvCxnSpPr>
            <p:nvPr/>
          </p:nvCxnSpPr>
          <p:spPr>
            <a:xfrm>
              <a:off x="169498" y="6550836"/>
              <a:ext cx="9883259" cy="0"/>
            </a:xfrm>
            <a:prstGeom prst="line">
              <a:avLst/>
            </a:prstGeom>
            <a:ln w="41275">
              <a:solidFill>
                <a:schemeClr val="bg1"/>
              </a:solidFill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F7F61470-5978-9741-C789-354D64372206}"/>
              </a:ext>
            </a:extLst>
          </p:cNvPr>
          <p:cNvSpPr txBox="1"/>
          <p:nvPr/>
        </p:nvSpPr>
        <p:spPr>
          <a:xfrm>
            <a:off x="229149" y="3442094"/>
            <a:ext cx="9827115" cy="769441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4400" dirty="0"/>
              <a:t>Print is for YOU, Raise is for your CODE!</a:t>
            </a:r>
            <a:endParaRPr lang="en-DE" sz="4400" dirty="0">
              <a:solidFill>
                <a:srgbClr val="002060"/>
              </a:solidFill>
              <a:latin typeface="Patrick Hand" pitchFamily="2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6BE1470-D54F-6F8F-1C68-D491E457AF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906" y="10757495"/>
            <a:ext cx="9903600" cy="17223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525B6729-E387-A933-1E10-01ACD25E6653}"/>
              </a:ext>
            </a:extLst>
          </p:cNvPr>
          <p:cNvSpPr txBox="1"/>
          <p:nvPr/>
        </p:nvSpPr>
        <p:spPr>
          <a:xfrm>
            <a:off x="183193" y="10081029"/>
            <a:ext cx="9827115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DE" sz="3600" dirty="0">
                <a:solidFill>
                  <a:schemeClr val="tx1"/>
                </a:solidFill>
                <a:latin typeface="Patrick Hand" pitchFamily="2" charset="77"/>
              </a:rPr>
              <a:t>Output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27BD8FC-909C-7707-EADD-9BB7EF082556}"/>
              </a:ext>
            </a:extLst>
          </p:cNvPr>
          <p:cNvSpPr/>
          <p:nvPr/>
        </p:nvSpPr>
        <p:spPr>
          <a:xfrm>
            <a:off x="-7878251" y="2819400"/>
            <a:ext cx="7108036" cy="92333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trick Hand" pitchFamily="2" charset="77"/>
              </a:rPr>
              <a:t>py_009_raise_value_error</a:t>
            </a:r>
            <a:endParaRPr lang="en-DE" sz="5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6321762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smConfetti">
          <a:fgClr>
            <a:schemeClr val="accent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5D077D-CD3B-2596-C167-87FF71AC3F96}"/>
              </a:ext>
            </a:extLst>
          </p:cNvPr>
          <p:cNvSpPr txBox="1"/>
          <p:nvPr/>
        </p:nvSpPr>
        <p:spPr>
          <a:xfrm>
            <a:off x="2170229" y="1538168"/>
            <a:ext cx="59449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1" dirty="0">
                <a:ln/>
                <a:latin typeface="+mj-lt"/>
              </a:rPr>
              <a:t>@</a:t>
            </a:r>
            <a:r>
              <a:rPr lang="en-GB" sz="5400" b="1" dirty="0" err="1">
                <a:ln/>
                <a:latin typeface="+mj-lt"/>
              </a:rPr>
              <a:t>CodeWithEbrahim</a:t>
            </a:r>
            <a:endParaRPr lang="en-GB" sz="5400" b="1" dirty="0">
              <a:ln/>
              <a:latin typeface="+mj-lt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0DC9F19-7314-279A-182A-2FAC4145BABA}"/>
              </a:ext>
            </a:extLst>
          </p:cNvPr>
          <p:cNvGrpSpPr/>
          <p:nvPr/>
        </p:nvGrpSpPr>
        <p:grpSpPr>
          <a:xfrm>
            <a:off x="4153139" y="285709"/>
            <a:ext cx="1979135" cy="925200"/>
            <a:chOff x="4315976" y="15244200"/>
            <a:chExt cx="1979135" cy="9252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F1D7D9B-24E8-EF51-6F2B-6644446DAA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9911" y="15244200"/>
              <a:ext cx="925200" cy="9252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C14211A-2572-ACC1-2CBC-A47458A5B4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15976" y="15244200"/>
              <a:ext cx="925200" cy="925200"/>
            </a:xfrm>
            <a:prstGeom prst="rect">
              <a:avLst/>
            </a:prstGeom>
          </p:spPr>
        </p:pic>
      </p:grpSp>
      <p:sp>
        <p:nvSpPr>
          <p:cNvPr id="9" name="Right Arrow 8">
            <a:extLst>
              <a:ext uri="{FF2B5EF4-FFF2-40B4-BE49-F238E27FC236}">
                <a16:creationId xmlns:a16="http://schemas.microsoft.com/office/drawing/2014/main" id="{6D1AAAEE-0C0E-C465-D0BA-EF033B7257D6}"/>
              </a:ext>
            </a:extLst>
          </p:cNvPr>
          <p:cNvSpPr/>
          <p:nvPr/>
        </p:nvSpPr>
        <p:spPr>
          <a:xfrm>
            <a:off x="2895857" y="11520905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32EE6B-9F95-6B10-FE37-021FF9EB4ECA}"/>
              </a:ext>
            </a:extLst>
          </p:cNvPr>
          <p:cNvSpPr txBox="1"/>
          <p:nvPr/>
        </p:nvSpPr>
        <p:spPr>
          <a:xfrm>
            <a:off x="276045" y="11313869"/>
            <a:ext cx="21242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__name__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CCF012-097C-7EA9-8F50-D5B87AEF56C9}"/>
              </a:ext>
            </a:extLst>
          </p:cNvPr>
          <p:cNvSpPr txBox="1"/>
          <p:nvPr/>
        </p:nvSpPr>
        <p:spPr>
          <a:xfrm>
            <a:off x="5138462" y="11313869"/>
            <a:ext cx="45881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__main__ </a:t>
            </a:r>
            <a:r>
              <a:rPr lang="en-DE" sz="3600" dirty="0">
                <a:latin typeface="Patrick Hand" pitchFamily="2" charset="77"/>
              </a:rPr>
              <a:t>or </a:t>
            </a:r>
            <a:r>
              <a:rPr lang="en-GB" sz="3600" b="1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magic_vars</a:t>
            </a:r>
            <a:endParaRPr lang="en-DE" sz="3600" b="1" dirty="0">
              <a:latin typeface="Patrick Hand" pitchFamily="2" charset="77"/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D53344C2-B640-EC0B-B3FE-09DBE822B2C8}"/>
              </a:ext>
            </a:extLst>
          </p:cNvPr>
          <p:cNvSpPr/>
          <p:nvPr/>
        </p:nvSpPr>
        <p:spPr>
          <a:xfrm>
            <a:off x="2895857" y="12277158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AC7F21-4968-CAF2-B4FB-989227F10953}"/>
              </a:ext>
            </a:extLst>
          </p:cNvPr>
          <p:cNvSpPr txBox="1"/>
          <p:nvPr/>
        </p:nvSpPr>
        <p:spPr>
          <a:xfrm>
            <a:off x="290421" y="12070122"/>
            <a:ext cx="1813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__file__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FB4053-217A-72C1-4F57-F783C3DD66BC}"/>
              </a:ext>
            </a:extLst>
          </p:cNvPr>
          <p:cNvSpPr txBox="1"/>
          <p:nvPr/>
        </p:nvSpPr>
        <p:spPr>
          <a:xfrm>
            <a:off x="5152838" y="12070122"/>
            <a:ext cx="36118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/app/</a:t>
            </a:r>
            <a:r>
              <a:rPr lang="en-GB" sz="3600" b="1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magic_vars.py</a:t>
            </a:r>
            <a:endParaRPr lang="en-DE" sz="3600" b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ED996F69-B416-701A-0D10-21A8520837B2}"/>
              </a:ext>
            </a:extLst>
          </p:cNvPr>
          <p:cNvSpPr/>
          <p:nvPr/>
        </p:nvSpPr>
        <p:spPr>
          <a:xfrm>
            <a:off x="2895857" y="13126533"/>
            <a:ext cx="1639019" cy="293298"/>
          </a:xfrm>
          <a:prstGeom prst="rightArrow">
            <a:avLst/>
          </a:prstGeom>
          <a:solidFill>
            <a:srgbClr val="FF0000"/>
          </a:solidFill>
          <a:ln w="317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0" eaLnBrk="1" latinLnBrk="0" hangingPunct="1"/>
            <a:endParaRPr lang="en-DE" b="1" dirty="0">
              <a:ln w="22225">
                <a:solidFill>
                  <a:schemeClr val="accent2"/>
                </a:solidFill>
                <a:prstDash val="solid"/>
              </a:ln>
              <a:solidFill>
                <a:srgbClr val="C00000"/>
              </a:solidFill>
              <a:latin typeface="Patrick Hand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0BFD03-FFCD-BB92-8561-2492420B1B39}"/>
              </a:ext>
            </a:extLst>
          </p:cNvPr>
          <p:cNvSpPr txBox="1"/>
          <p:nvPr/>
        </p:nvSpPr>
        <p:spPr>
          <a:xfrm>
            <a:off x="290421" y="12919497"/>
            <a:ext cx="25571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3600" dirty="0">
                <a:latin typeface="Patrick Hand" pitchFamily="2" charset="77"/>
              </a:rPr>
              <a:t>__package__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14FB69-C7B0-8E6F-30FF-6B27547214AD}"/>
              </a:ext>
            </a:extLst>
          </p:cNvPr>
          <p:cNvSpPr txBox="1"/>
          <p:nvPr/>
        </p:nvSpPr>
        <p:spPr>
          <a:xfrm>
            <a:off x="5152838" y="12919497"/>
            <a:ext cx="43556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None</a:t>
            </a:r>
            <a:r>
              <a:rPr lang="en-US" sz="3600" dirty="0">
                <a:latin typeface="Patrick Hand" pitchFamily="2" charset="77"/>
              </a:rPr>
              <a:t> or </a:t>
            </a:r>
            <a:r>
              <a:rPr lang="en-U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name of package</a:t>
            </a:r>
            <a:endParaRPr lang="en-DE" sz="3600" b="1" dirty="0">
              <a:latin typeface="Patrick Hand" pitchFamily="2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686C9-E18B-4DD3-305F-2EB19B28DD1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5264" t="20482" r="8581" b="11981"/>
          <a:stretch>
            <a:fillRect/>
          </a:stretch>
        </p:blipFill>
        <p:spPr>
          <a:xfrm>
            <a:off x="151141" y="3616891"/>
            <a:ext cx="9983131" cy="72868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6102011-F70E-143B-2E74-E8E55F0FBD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8573" y="9774866"/>
            <a:ext cx="1063167" cy="106316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A150DD2-452F-B188-4AC9-00A3258E6533}"/>
              </a:ext>
            </a:extLst>
          </p:cNvPr>
          <p:cNvSpPr txBox="1"/>
          <p:nvPr/>
        </p:nvSpPr>
        <p:spPr>
          <a:xfrm>
            <a:off x="6745857" y="3657597"/>
            <a:ext cx="3321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</a:t>
            </a:r>
            <a:r>
              <a:rPr lang="en-DE" sz="2400" dirty="0">
                <a:solidFill>
                  <a:schemeClr val="bg1"/>
                </a:solidFill>
              </a:rPr>
              <a:t>ile name: magic_vars.py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59F1A2-B22C-5219-5969-65113B4369B8}"/>
              </a:ext>
            </a:extLst>
          </p:cNvPr>
          <p:cNvSpPr txBox="1"/>
          <p:nvPr/>
        </p:nvSpPr>
        <p:spPr>
          <a:xfrm>
            <a:off x="151141" y="2468165"/>
            <a:ext cx="9982800" cy="1107996"/>
          </a:xfrm>
          <a:prstGeom prst="rect">
            <a:avLst/>
          </a:prstGeom>
          <a:solidFill>
            <a:srgbClr val="FFFF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DE" sz="6600" b="1" dirty="0">
                <a:ln w="0">
                  <a:solidFill>
                    <a:schemeClr val="bg1"/>
                  </a:solidFill>
                </a:ln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Patrick Hand" pitchFamily="2" charset="77"/>
              </a:rPr>
              <a:t>Python Special Variables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649A9D-2FA9-D9EC-895D-62F1C7539235}"/>
              </a:ext>
            </a:extLst>
          </p:cNvPr>
          <p:cNvSpPr txBox="1"/>
          <p:nvPr/>
        </p:nvSpPr>
        <p:spPr>
          <a:xfrm>
            <a:off x="-8753367" y="2826600"/>
            <a:ext cx="7603363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py_010_special_variable_names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4146481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82B4FA4-54CE-F8EF-9FE8-9B59817B4D24}"/>
              </a:ext>
            </a:extLst>
          </p:cNvPr>
          <p:cNvSpPr txBox="1"/>
          <p:nvPr/>
        </p:nvSpPr>
        <p:spPr>
          <a:xfrm>
            <a:off x="223306" y="2468165"/>
            <a:ext cx="9838800" cy="1107996"/>
          </a:xfrm>
          <a:prstGeom prst="rect">
            <a:avLst/>
          </a:prstGeom>
          <a:ln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pathlib</a:t>
            </a:r>
            <a:endParaRPr lang="en-DE" sz="6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8147BC7-63E8-F552-FAF5-1E8EA5F3D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852" y="2494115"/>
            <a:ext cx="1063167" cy="106316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0E03DB-A5D0-7C3C-C45E-020B27EA03F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5099" t="18381" r="8553" b="9940"/>
          <a:stretch>
            <a:fillRect/>
          </a:stretch>
        </p:blipFill>
        <p:spPr>
          <a:xfrm>
            <a:off x="223579" y="4037162"/>
            <a:ext cx="9838255" cy="7783974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E6C352-2A47-650A-9234-C3DF3F810C43}"/>
              </a:ext>
            </a:extLst>
          </p:cNvPr>
          <p:cNvCxnSpPr>
            <a:cxnSpLocks/>
            <a:endCxn id="14" idx="3"/>
          </p:cNvCxnSpPr>
          <p:nvPr/>
        </p:nvCxnSpPr>
        <p:spPr>
          <a:xfrm>
            <a:off x="223579" y="792914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2D6D7F89-C47E-56C4-9355-13A359543B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68075" y="10358851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DFF07AD-5C5D-EBE3-F7F1-7D805603E5B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668075" y="5575171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D1EF262-28AB-179A-F611-B5A8CFF9D9DB}"/>
              </a:ext>
            </a:extLst>
          </p:cNvPr>
          <p:cNvSpPr txBox="1"/>
          <p:nvPr/>
        </p:nvSpPr>
        <p:spPr>
          <a:xfrm>
            <a:off x="213487" y="12387532"/>
            <a:ext cx="20408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Readable: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A5BC88-F15A-3738-DE5E-7E3E6AF2D763}"/>
              </a:ext>
            </a:extLst>
          </p:cNvPr>
          <p:cNvSpPr txBox="1"/>
          <p:nvPr/>
        </p:nvSpPr>
        <p:spPr>
          <a:xfrm>
            <a:off x="2365380" y="12387532"/>
            <a:ext cx="67389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latin typeface="Patrick Hand" pitchFamily="2" charset="77"/>
              </a:rPr>
              <a:t>Use the / operator to join paths easily.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691A230-89C2-97BC-EA0B-5A1547026FC2}"/>
              </a:ext>
            </a:extLst>
          </p:cNvPr>
          <p:cNvSpPr txBox="1"/>
          <p:nvPr/>
        </p:nvSpPr>
        <p:spPr>
          <a:xfrm>
            <a:off x="2365380" y="13207674"/>
            <a:ext cx="63271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Auto-handles Windows vs. Linux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EEEC48-48C2-1866-EF77-F57F21472377}"/>
              </a:ext>
            </a:extLst>
          </p:cNvPr>
          <p:cNvSpPr txBox="1"/>
          <p:nvPr/>
        </p:nvSpPr>
        <p:spPr>
          <a:xfrm>
            <a:off x="2365380" y="14027816"/>
            <a:ext cx="7686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Everything is an object, not just a string.</a:t>
            </a:r>
            <a:endParaRPr lang="en-DE" sz="3600" dirty="0">
              <a:latin typeface="Patrick Hand" pitchFamily="2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8B2339-07F2-9A25-79CD-9BB6EA178151}"/>
              </a:ext>
            </a:extLst>
          </p:cNvPr>
          <p:cNvSpPr txBox="1"/>
          <p:nvPr/>
        </p:nvSpPr>
        <p:spPr>
          <a:xfrm>
            <a:off x="213487" y="13207674"/>
            <a:ext cx="1423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Smart: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6A6396-DD35-DF1E-72A6-426DA90CEC4D}"/>
              </a:ext>
            </a:extLst>
          </p:cNvPr>
          <p:cNvSpPr txBox="1"/>
          <p:nvPr/>
        </p:nvSpPr>
        <p:spPr>
          <a:xfrm>
            <a:off x="213487" y="14027816"/>
            <a:ext cx="19841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Powerful:</a:t>
            </a:r>
            <a:endParaRPr lang="en-DE" sz="3600" dirty="0">
              <a:solidFill>
                <a:schemeClr val="bg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EABB6E-2AF5-A580-AFF3-F00672FA1B08}"/>
              </a:ext>
            </a:extLst>
          </p:cNvPr>
          <p:cNvSpPr txBox="1"/>
          <p:nvPr/>
        </p:nvSpPr>
        <p:spPr>
          <a:xfrm>
            <a:off x="-7857400" y="2527667"/>
            <a:ext cx="3659976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py_011_pathlib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952705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971DBD18-ECBF-F0B4-AFE2-DCDA447C4C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246" t="23158" r="13251" b="12790"/>
          <a:stretch>
            <a:fillRect/>
          </a:stretch>
        </p:blipFill>
        <p:spPr>
          <a:xfrm>
            <a:off x="223306" y="4208562"/>
            <a:ext cx="9838800" cy="1077179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2F516FD-316D-B719-C21B-68F85C795F3C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rPr>
              <a:t>Truthiness</a:t>
            </a:r>
            <a:endParaRPr lang="en-GB" b="1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CF25CE73-8562-EA92-101F-278FE6E68D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0DA8088-06F2-94B5-C3F4-15954706D4EF}"/>
              </a:ext>
            </a:extLst>
          </p:cNvPr>
          <p:cNvCxnSpPr>
            <a:cxnSpLocks/>
          </p:cNvCxnSpPr>
          <p:nvPr/>
        </p:nvCxnSpPr>
        <p:spPr>
          <a:xfrm>
            <a:off x="223579" y="10395900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Graphic 40" descr="Shield Tick with solid fill">
            <a:extLst>
              <a:ext uri="{FF2B5EF4-FFF2-40B4-BE49-F238E27FC236}">
                <a16:creationId xmlns:a16="http://schemas.microsoft.com/office/drawing/2014/main" id="{01510C08-436C-82D7-D02A-80A605474E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8075" y="10890478"/>
            <a:ext cx="914400" cy="914400"/>
          </a:xfrm>
          <a:prstGeom prst="rect">
            <a:avLst/>
          </a:prstGeom>
        </p:spPr>
      </p:pic>
      <p:pic>
        <p:nvPicPr>
          <p:cNvPr id="42" name="Graphic 41" descr="Close with solid fill">
            <a:extLst>
              <a:ext uri="{FF2B5EF4-FFF2-40B4-BE49-F238E27FC236}">
                <a16:creationId xmlns:a16="http://schemas.microsoft.com/office/drawing/2014/main" id="{F9E50DDB-5369-3F10-6CE1-B12F3117D4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668075" y="6404513"/>
            <a:ext cx="914400" cy="914400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12A4097-8AAB-831B-3B48-4F55095ED0A3}"/>
              </a:ext>
            </a:extLst>
          </p:cNvPr>
          <p:cNvSpPr txBox="1"/>
          <p:nvPr/>
        </p:nvSpPr>
        <p:spPr>
          <a:xfrm>
            <a:off x="-7857400" y="2527667"/>
            <a:ext cx="6369051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py_012_python_truthiness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5142648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dotGrid">
          <a:fgClr>
            <a:srgbClr val="92D050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77507D99-36CB-6227-152C-9190E799B830}"/>
              </a:ext>
            </a:extLst>
          </p:cNvPr>
          <p:cNvGrpSpPr/>
          <p:nvPr/>
        </p:nvGrpSpPr>
        <p:grpSpPr>
          <a:xfrm>
            <a:off x="223306" y="2872200"/>
            <a:ext cx="9838800" cy="1107996"/>
            <a:chOff x="223306" y="2872200"/>
            <a:chExt cx="9838800" cy="110799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6272F5-EA5E-8E54-DAF0-417836251F1B}"/>
                </a:ext>
              </a:extLst>
            </p:cNvPr>
            <p:cNvSpPr txBox="1"/>
            <p:nvPr/>
          </p:nvSpPr>
          <p:spPr>
            <a:xfrm>
              <a:off x="223306" y="2872200"/>
              <a:ext cx="9838800" cy="1107996"/>
            </a:xfrm>
            <a:prstGeom prst="rect">
              <a:avLst/>
            </a:prstGeom>
            <a:ln/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  <a:scene3d>
                <a:camera prst="orthographicFront"/>
                <a:lightRig rig="harsh" dir="t"/>
              </a:scene3d>
              <a:sp3d extrusionH="57150" prstMaterial="matte">
                <a:bevelT w="63500" h="12700" prst="angle"/>
                <a:contourClr>
                  <a:schemeClr val="bg1">
                    <a:lumMod val="65000"/>
                  </a:schemeClr>
                </a:contourClr>
              </a:sp3d>
            </a:bodyPr>
            <a:lstStyle/>
            <a:p>
              <a:pPr algn="ctr"/>
              <a:r>
                <a:rPr lang="en-GB" sz="6600" dirty="0"/>
                <a:t>is None </a:t>
              </a:r>
              <a:r>
                <a:rPr lang="en-GB" sz="6600" b="1" dirty="0">
                  <a:ln w="22225">
                    <a:solidFill>
                      <a:schemeClr val="accent2"/>
                    </a:solidFill>
                    <a:prstDash val="solid"/>
                  </a:ln>
                  <a:solidFill>
                    <a:srgbClr val="00B0F0"/>
                  </a:solidFill>
                </a:rPr>
                <a:t>vs</a:t>
              </a:r>
              <a:r>
                <a:rPr lang="en-GB" sz="6600" dirty="0"/>
                <a:t> == None</a:t>
              </a:r>
              <a:endParaRPr lang="en-GB" b="1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Patrick Hand" pitchFamily="2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749827E-2E74-ACEC-8444-637079C18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4001" y="2906105"/>
              <a:ext cx="1063167" cy="1063167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2D2F3E9-1457-70B6-481C-8273E393E2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942" t="25483" r="11277" b="14650"/>
          <a:stretch>
            <a:fillRect/>
          </a:stretch>
        </p:blipFill>
        <p:spPr>
          <a:xfrm>
            <a:off x="223306" y="4282067"/>
            <a:ext cx="9838800" cy="68415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26C78F-5842-BADA-97BD-2A58BA5E5C84}"/>
              </a:ext>
            </a:extLst>
          </p:cNvPr>
          <p:cNvSpPr txBox="1"/>
          <p:nvPr/>
        </p:nvSpPr>
        <p:spPr>
          <a:xfrm>
            <a:off x="223306" y="11731083"/>
            <a:ext cx="17279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Faster: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956DD6-0D86-8B09-E89A-759DDDD3D6BC}"/>
              </a:ext>
            </a:extLst>
          </p:cNvPr>
          <p:cNvSpPr txBox="1"/>
          <p:nvPr/>
        </p:nvSpPr>
        <p:spPr>
          <a:xfrm>
            <a:off x="2609831" y="11731083"/>
            <a:ext cx="731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Uses memory address comparison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D9AEC7-81A8-D8FA-9B3F-D7975BB39742}"/>
              </a:ext>
            </a:extLst>
          </p:cNvPr>
          <p:cNvSpPr txBox="1"/>
          <p:nvPr/>
        </p:nvSpPr>
        <p:spPr>
          <a:xfrm>
            <a:off x="223306" y="12814182"/>
            <a:ext cx="15274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Safer: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A4893F-4945-B7EB-1C1A-4AFCB0335910}"/>
              </a:ext>
            </a:extLst>
          </p:cNvPr>
          <p:cNvSpPr txBox="1"/>
          <p:nvPr/>
        </p:nvSpPr>
        <p:spPr>
          <a:xfrm>
            <a:off x="2609831" y="12804706"/>
            <a:ext cx="731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Avoids custom --</a:t>
            </a:r>
            <a:r>
              <a:rPr lang="en-GB" sz="4000" dirty="0" err="1">
                <a:latin typeface="Patrick Hand" pitchFamily="2" charset="77"/>
              </a:rPr>
              <a:t>eq</a:t>
            </a:r>
            <a:r>
              <a:rPr lang="en-GB" sz="4000" dirty="0">
                <a:latin typeface="Patrick Hand" pitchFamily="2" charset="77"/>
              </a:rPr>
              <a:t>-- method bugs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66C270-8250-9E8C-0C34-1C95D283B5CB}"/>
              </a:ext>
            </a:extLst>
          </p:cNvPr>
          <p:cNvSpPr txBox="1"/>
          <p:nvPr/>
        </p:nvSpPr>
        <p:spPr>
          <a:xfrm>
            <a:off x="223306" y="13897281"/>
            <a:ext cx="23101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Pythonic: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6807C-E3C5-9589-B831-282432DEFF7E}"/>
              </a:ext>
            </a:extLst>
          </p:cNvPr>
          <p:cNvSpPr txBox="1"/>
          <p:nvPr/>
        </p:nvSpPr>
        <p:spPr>
          <a:xfrm>
            <a:off x="2609831" y="13878330"/>
            <a:ext cx="7314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Follows the official PEP 8 standard</a:t>
            </a:r>
            <a:endParaRPr lang="en-DE" sz="4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B53DAC6-803E-6E54-0AFE-08E92D625C58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C66AB981-805B-D3EA-B666-79A9BBF3F4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68075" y="8637940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5EA347C-65F5-100D-F091-6637F8AA15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68075" y="6560627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A68B83D-36C3-1AF4-295A-A3B5F70300FD}"/>
              </a:ext>
            </a:extLst>
          </p:cNvPr>
          <p:cNvSpPr txBox="1"/>
          <p:nvPr/>
        </p:nvSpPr>
        <p:spPr>
          <a:xfrm>
            <a:off x="-7857400" y="2527667"/>
            <a:ext cx="7000634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py_013_is_none_comparision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73550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3935C7-D76D-D8A9-B1A0-857B7FCF6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E57E8F2-34E1-D30F-1E3C-9D9F815C62CE}"/>
              </a:ext>
            </a:extLst>
          </p:cNvPr>
          <p:cNvGrpSpPr/>
          <p:nvPr/>
        </p:nvGrpSpPr>
        <p:grpSpPr>
          <a:xfrm>
            <a:off x="223306" y="2872200"/>
            <a:ext cx="9838800" cy="1107996"/>
            <a:chOff x="223306" y="2872200"/>
            <a:chExt cx="9838800" cy="110799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9811DF6-DCA6-5BA5-173D-D3A1AD21181A}"/>
                </a:ext>
              </a:extLst>
            </p:cNvPr>
            <p:cNvSpPr txBox="1"/>
            <p:nvPr/>
          </p:nvSpPr>
          <p:spPr>
            <a:xfrm>
              <a:off x="223306" y="2872200"/>
              <a:ext cx="9838800" cy="1107996"/>
            </a:xfrm>
            <a:prstGeom prst="rect">
              <a:avLst/>
            </a:prstGeom>
            <a:ln/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  <a:scene3d>
                <a:camera prst="orthographicFront"/>
                <a:lightRig rig="harsh" dir="t"/>
              </a:scene3d>
              <a:sp3d extrusionH="57150" prstMaterial="matte">
                <a:bevelT w="63500" h="12700" prst="angle"/>
                <a:contourClr>
                  <a:schemeClr val="bg1">
                    <a:lumMod val="65000"/>
                  </a:schemeClr>
                </a:contourClr>
              </a:sp3d>
            </a:bodyPr>
            <a:lstStyle/>
            <a:p>
              <a:pPr algn="ctr"/>
              <a:r>
                <a:rPr lang="en-GB" sz="6600" b="1" dirty="0">
                  <a:latin typeface="+mj-lt"/>
                </a:rPr>
                <a:t>Use 'with' Statement</a:t>
              </a:r>
              <a:endParaRPr lang="en-GB" b="1" dirty="0">
                <a:ln w="0"/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j-lt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7B55E9B-ABE8-F7C9-F6DE-0B1F6CDFD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001" y="2906105"/>
              <a:ext cx="1063167" cy="1063167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C490A48-FDDC-CA56-7D3A-6259AD2D71C3}"/>
              </a:ext>
            </a:extLst>
          </p:cNvPr>
          <p:cNvSpPr txBox="1"/>
          <p:nvPr/>
        </p:nvSpPr>
        <p:spPr>
          <a:xfrm>
            <a:off x="186673" y="11731083"/>
            <a:ext cx="25457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Automatic: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107D96-4FC3-027C-1D15-683F85C805B5}"/>
              </a:ext>
            </a:extLst>
          </p:cNvPr>
          <p:cNvSpPr txBox="1"/>
          <p:nvPr/>
        </p:nvSpPr>
        <p:spPr>
          <a:xfrm>
            <a:off x="3425118" y="11731083"/>
            <a:ext cx="6673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No more manual close() calls</a:t>
            </a:r>
            <a:endParaRPr lang="en-DE" sz="48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E3EC7A-21B7-943A-EA25-C438EAE74DC0}"/>
              </a:ext>
            </a:extLst>
          </p:cNvPr>
          <p:cNvSpPr txBox="1"/>
          <p:nvPr/>
        </p:nvSpPr>
        <p:spPr>
          <a:xfrm>
            <a:off x="186673" y="12814182"/>
            <a:ext cx="13446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Safe: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AB019-507A-2EC2-3DA2-A9BB1C904276}"/>
              </a:ext>
            </a:extLst>
          </p:cNvPr>
          <p:cNvSpPr txBox="1"/>
          <p:nvPr/>
        </p:nvSpPr>
        <p:spPr>
          <a:xfrm>
            <a:off x="3490841" y="12804707"/>
            <a:ext cx="66078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Prevents leaks during errors</a:t>
            </a:r>
            <a:endParaRPr lang="en-DE" sz="48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EAAD5-4282-A2CD-8811-5319C0B2D77D}"/>
              </a:ext>
            </a:extLst>
          </p:cNvPr>
          <p:cNvSpPr txBox="1"/>
          <p:nvPr/>
        </p:nvSpPr>
        <p:spPr>
          <a:xfrm>
            <a:off x="186673" y="13878330"/>
            <a:ext cx="16257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Clean: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CDDF8-9461-833E-A5D0-B258E1311441}"/>
              </a:ext>
            </a:extLst>
          </p:cNvPr>
          <p:cNvSpPr txBox="1"/>
          <p:nvPr/>
        </p:nvSpPr>
        <p:spPr>
          <a:xfrm>
            <a:off x="3668775" y="13878330"/>
            <a:ext cx="64299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>
                <a:latin typeface="Patrick Hand" pitchFamily="2" charset="77"/>
              </a:rPr>
              <a:t>Less code, better readability</a:t>
            </a:r>
            <a:endParaRPr lang="en-DE" sz="4800" dirty="0">
              <a:latin typeface="Patrick Hand" pitchFamily="2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698CA1-BEA0-6457-A8B8-5A203D1CE90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574" t="23797" r="10300" b="14590"/>
          <a:stretch>
            <a:fillRect/>
          </a:stretch>
        </p:blipFill>
        <p:spPr>
          <a:xfrm>
            <a:off x="186673" y="4318974"/>
            <a:ext cx="9912067" cy="6765325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78A09D0-33BF-6B03-AE47-665AE3D0A683}"/>
              </a:ext>
            </a:extLst>
          </p:cNvPr>
          <p:cNvCxnSpPr>
            <a:cxnSpLocks/>
          </p:cNvCxnSpPr>
          <p:nvPr/>
        </p:nvCxnSpPr>
        <p:spPr>
          <a:xfrm>
            <a:off x="235460" y="6872124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5828BDD9-29EC-80B8-F9E0-00FC6D12F5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73493" y="7032169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A9BD8DFA-A234-2917-65AF-90E0E24DEF8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73493" y="4553412"/>
            <a:ext cx="914400" cy="9144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64E587C-A795-B2BF-C5C7-7BBE30BE9381}"/>
              </a:ext>
            </a:extLst>
          </p:cNvPr>
          <p:cNvSpPr txBox="1"/>
          <p:nvPr/>
        </p:nvSpPr>
        <p:spPr>
          <a:xfrm>
            <a:off x="-7857400" y="2527667"/>
            <a:ext cx="5684569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py_014_with_statement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9445453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D6513E-44C3-8C15-A7B0-E379B4EE7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3F2C2-B062-5AB0-8070-46F523BB3B8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0069" t="16107" r="11536" b="8322"/>
          <a:stretch>
            <a:fillRect/>
          </a:stretch>
        </p:blipFill>
        <p:spPr>
          <a:xfrm>
            <a:off x="963121" y="3537654"/>
            <a:ext cx="8359169" cy="118609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05B7D4-F280-F06F-B39C-2F00BFC25F26}"/>
              </a:ext>
            </a:extLst>
          </p:cNvPr>
          <p:cNvSpPr txBox="1"/>
          <p:nvPr/>
        </p:nvSpPr>
        <p:spPr>
          <a:xfrm>
            <a:off x="963120" y="2356655"/>
            <a:ext cx="8359169" cy="1107996"/>
          </a:xfrm>
          <a:prstGeom prst="rect">
            <a:avLst/>
          </a:prstGeom>
          <a:ln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Decor</a:t>
            </a:r>
            <a:r>
              <a:rPr lang="en-US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a</a:t>
            </a:r>
            <a:r>
              <a:rPr lang="en-DE" sz="6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Patrick Hand" pitchFamily="2" charset="77"/>
              </a:rPr>
              <a:t>tors</a:t>
            </a:r>
            <a:endParaRPr lang="en-DE" sz="66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0F0CA92-46F0-129E-D4FC-B71F8C1DEB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040" y="2382605"/>
            <a:ext cx="1063167" cy="1063167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96EFBF3-9D7A-45C0-5825-529AF9B87540}"/>
              </a:ext>
            </a:extLst>
          </p:cNvPr>
          <p:cNvCxnSpPr>
            <a:cxnSpLocks/>
          </p:cNvCxnSpPr>
          <p:nvPr/>
        </p:nvCxnSpPr>
        <p:spPr>
          <a:xfrm>
            <a:off x="963120" y="7661523"/>
            <a:ext cx="8359169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1D3086D5-48CC-ED96-614E-18E795A99A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83882" y="8084006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B4714FB7-C189-E14C-AA62-67E825ED6B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883882" y="6333449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5431B90-4C81-C2E6-27F3-4BE1F59B0FD5}"/>
              </a:ext>
            </a:extLst>
          </p:cNvPr>
          <p:cNvSpPr txBox="1"/>
          <p:nvPr/>
        </p:nvSpPr>
        <p:spPr>
          <a:xfrm>
            <a:off x="3104712" y="15407460"/>
            <a:ext cx="45094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l" defTabSz="457200" rtl="0" eaLnBrk="1" latinLnBrk="0" hangingPunct="1"/>
            <a:r>
              <a:rPr lang="en-US" sz="4000" dirty="0">
                <a:solidFill>
                  <a:schemeClr val="bg1"/>
                </a:solidFill>
              </a:rPr>
              <a:t>Powerful &amp; Reusable</a:t>
            </a:r>
            <a:endParaRPr lang="en-DE" sz="40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C720A1-BB63-65E7-EAD2-2F645218BC30}"/>
              </a:ext>
            </a:extLst>
          </p:cNvPr>
          <p:cNvSpPr txBox="1"/>
          <p:nvPr/>
        </p:nvSpPr>
        <p:spPr>
          <a:xfrm>
            <a:off x="202892" y="16076093"/>
            <a:ext cx="987962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Patrick Hand" pitchFamily="2" charset="77"/>
              </a:rPr>
              <a:t>Extend </a:t>
            </a:r>
            <a:r>
              <a:rPr lang="en-GB" sz="4400" dirty="0" err="1">
                <a:latin typeface="Patrick Hand" pitchFamily="2" charset="77"/>
              </a:rPr>
              <a:t>behavior</a:t>
            </a:r>
            <a:r>
              <a:rPr lang="en-GB" sz="4400" dirty="0">
                <a:latin typeface="Patrick Hand" pitchFamily="2" charset="77"/>
              </a:rPr>
              <a:t> without changing the core logic</a:t>
            </a:r>
            <a:endParaRPr lang="en-DE" sz="4400" dirty="0">
              <a:latin typeface="Patrick Hand" pitchFamily="2" charset="7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A0906F-C1A8-69EB-29A2-B230DC472ED4}"/>
              </a:ext>
            </a:extLst>
          </p:cNvPr>
          <p:cNvSpPr txBox="1"/>
          <p:nvPr/>
        </p:nvSpPr>
        <p:spPr>
          <a:xfrm>
            <a:off x="-7857400" y="2527667"/>
            <a:ext cx="4554452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py_015_decorators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61611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5000"/>
                <a:lumOff val="95000"/>
              </a:schemeClr>
            </a:gs>
            <a:gs pos="74000">
              <a:schemeClr val="accent6">
                <a:lumMod val="45000"/>
                <a:lumOff val="55000"/>
              </a:schemeClr>
            </a:gs>
            <a:gs pos="83000">
              <a:schemeClr val="accent6">
                <a:lumMod val="45000"/>
                <a:lumOff val="55000"/>
              </a:schemeClr>
            </a:gs>
            <a:gs pos="100000">
              <a:schemeClr val="accent6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E99C58-5AF8-CF25-9DE3-F4ED5841D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B527F96-D69C-E9DE-95C3-EFD7D7FB10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291" t="19079" r="10810" b="12309"/>
          <a:stretch>
            <a:fillRect/>
          </a:stretch>
        </p:blipFill>
        <p:spPr>
          <a:xfrm>
            <a:off x="236178" y="4227986"/>
            <a:ext cx="9838800" cy="9514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103D25-9216-BAB2-ACB7-9FFD1936580E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dirty="0"/>
              <a:t>F-Strings </a:t>
            </a:r>
            <a:r>
              <a:rPr lang="en-GB" sz="6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rgbClr val="00B0F0"/>
                </a:solidFill>
              </a:rPr>
              <a:t>vs</a:t>
            </a:r>
            <a:r>
              <a:rPr lang="en-GB" sz="6600" dirty="0"/>
              <a:t> Format</a:t>
            </a:r>
            <a:endParaRPr lang="en-GB" b="1" dirty="0">
              <a:ln w="0"/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Patrick Hand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4B819E-3D27-043B-A206-CB6B143459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0B9811-0F6C-A74D-399A-984849072C23}"/>
              </a:ext>
            </a:extLst>
          </p:cNvPr>
          <p:cNvSpPr txBox="1"/>
          <p:nvPr/>
        </p:nvSpPr>
        <p:spPr>
          <a:xfrm>
            <a:off x="223306" y="13872121"/>
            <a:ext cx="24229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Readable: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8813AD-F7A7-B5FC-5C7D-0687E4D3D610}"/>
              </a:ext>
            </a:extLst>
          </p:cNvPr>
          <p:cNvSpPr txBox="1"/>
          <p:nvPr/>
        </p:nvSpPr>
        <p:spPr>
          <a:xfrm>
            <a:off x="2381255" y="13872121"/>
            <a:ext cx="75437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Direct variable injection into strings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6376E3-CABD-1877-68D4-60BF8B8214F8}"/>
              </a:ext>
            </a:extLst>
          </p:cNvPr>
          <p:cNvSpPr txBox="1"/>
          <p:nvPr/>
        </p:nvSpPr>
        <p:spPr>
          <a:xfrm>
            <a:off x="223306" y="14955220"/>
            <a:ext cx="17279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Faster: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482C2-56C7-DEF8-3919-CB98C47190C8}"/>
              </a:ext>
            </a:extLst>
          </p:cNvPr>
          <p:cNvSpPr txBox="1"/>
          <p:nvPr/>
        </p:nvSpPr>
        <p:spPr>
          <a:xfrm>
            <a:off x="2369994" y="14945744"/>
            <a:ext cx="79154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F-Strings are optimized by the compiler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6DD4EA-520B-F2EB-D460-A5C71B3EE88D}"/>
              </a:ext>
            </a:extLst>
          </p:cNvPr>
          <p:cNvSpPr txBox="1"/>
          <p:nvPr/>
        </p:nvSpPr>
        <p:spPr>
          <a:xfrm>
            <a:off x="223306" y="16038319"/>
            <a:ext cx="21579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Modern: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E6ABE3-1E92-6F86-7CA0-C6FADF7C5095}"/>
              </a:ext>
            </a:extLst>
          </p:cNvPr>
          <p:cNvSpPr txBox="1"/>
          <p:nvPr/>
        </p:nvSpPr>
        <p:spPr>
          <a:xfrm>
            <a:off x="2381269" y="16019368"/>
            <a:ext cx="75433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The standard since Python 3.6+</a:t>
            </a:r>
            <a:endParaRPr lang="en-DE" sz="4000" dirty="0">
              <a:latin typeface="Patrick Hand" pitchFamily="2" charset="77"/>
            </a:endParaRPr>
          </a:p>
        </p:txBody>
      </p: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ACE77A71-8D07-48B7-30F8-7E68A4376F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4331" y="12429350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69FC5ED-505E-33C0-5388-8BBC9AF48473}"/>
              </a:ext>
            </a:extLst>
          </p:cNvPr>
          <p:cNvSpPr txBox="1"/>
          <p:nvPr/>
        </p:nvSpPr>
        <p:spPr>
          <a:xfrm>
            <a:off x="-7857400" y="2527667"/>
            <a:ext cx="7104830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py_016_f_strings_vs_format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20ED27D-E93D-A20A-4C8F-B643F6E96957}"/>
              </a:ext>
            </a:extLst>
          </p:cNvPr>
          <p:cNvCxnSpPr>
            <a:cxnSpLocks/>
          </p:cNvCxnSpPr>
          <p:nvPr/>
        </p:nvCxnSpPr>
        <p:spPr>
          <a:xfrm>
            <a:off x="236451" y="8767822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C1FF8D1C-0DE8-68A0-48D5-B6ED8B1B7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7203" y="7809557"/>
            <a:ext cx="914400" cy="91440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DE21DD3-BC0C-FFAD-871E-662DE0033853}"/>
              </a:ext>
            </a:extLst>
          </p:cNvPr>
          <p:cNvCxnSpPr>
            <a:cxnSpLocks/>
          </p:cNvCxnSpPr>
          <p:nvPr/>
        </p:nvCxnSpPr>
        <p:spPr>
          <a:xfrm>
            <a:off x="232736" y="10659811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54038AA9-B89F-0FCE-89F0-93FC989743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7203" y="9701540"/>
            <a:ext cx="914400" cy="9144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790796-F6C2-8B89-95FA-2E549CC68251}"/>
              </a:ext>
            </a:extLst>
          </p:cNvPr>
          <p:cNvCxnSpPr>
            <a:cxnSpLocks/>
          </p:cNvCxnSpPr>
          <p:nvPr/>
        </p:nvCxnSpPr>
        <p:spPr>
          <a:xfrm>
            <a:off x="210435" y="6846096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728601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0">
          <a:fgClr>
            <a:srgbClr val="FFC000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DB729E-F8DD-029C-9B05-01CFB72AC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B3B024-AFE3-B787-1CF0-88840F303020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</a:rPr>
              <a:t>Zip function</a:t>
            </a:r>
            <a:endParaRPr lang="en-GB" b="1" dirty="0">
              <a:ln/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lumMod val="50000"/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2CAF92-9DDC-DFC3-FF81-8A5C6F422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BBD432-F653-9467-301C-A4F29799E896}"/>
              </a:ext>
            </a:extLst>
          </p:cNvPr>
          <p:cNvSpPr txBox="1"/>
          <p:nvPr/>
        </p:nvSpPr>
        <p:spPr>
          <a:xfrm>
            <a:off x="111653" y="11731083"/>
            <a:ext cx="21763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Efficient: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FF69-10AD-2D7D-57DB-432C9733AE0A}"/>
              </a:ext>
            </a:extLst>
          </p:cNvPr>
          <p:cNvSpPr txBox="1"/>
          <p:nvPr/>
        </p:nvSpPr>
        <p:spPr>
          <a:xfrm>
            <a:off x="2258341" y="11731083"/>
            <a:ext cx="76805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Loops through multiple </a:t>
            </a:r>
            <a:r>
              <a:rPr lang="en-GB" sz="4000" dirty="0" err="1">
                <a:latin typeface="Patrick Hand" pitchFamily="2" charset="77"/>
              </a:rPr>
              <a:t>iterables</a:t>
            </a:r>
            <a:r>
              <a:rPr lang="en-GB" sz="4000" dirty="0">
                <a:latin typeface="Patrick Hand" pitchFamily="2" charset="77"/>
              </a:rPr>
              <a:t> at once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68B171-25AA-CACD-A094-E0B38D31F23D}"/>
              </a:ext>
            </a:extLst>
          </p:cNvPr>
          <p:cNvSpPr txBox="1"/>
          <p:nvPr/>
        </p:nvSpPr>
        <p:spPr>
          <a:xfrm>
            <a:off x="111653" y="12814182"/>
            <a:ext cx="23101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Pythonic: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5BBC69-7564-146A-362D-6284651CA860}"/>
              </a:ext>
            </a:extLst>
          </p:cNvPr>
          <p:cNvSpPr txBox="1"/>
          <p:nvPr/>
        </p:nvSpPr>
        <p:spPr>
          <a:xfrm>
            <a:off x="2258341" y="12804706"/>
            <a:ext cx="79154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Eliminates the need for manual indexing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005E2A-72FF-9431-1DDA-030C01BAAB6B}"/>
              </a:ext>
            </a:extLst>
          </p:cNvPr>
          <p:cNvSpPr txBox="1"/>
          <p:nvPr/>
        </p:nvSpPr>
        <p:spPr>
          <a:xfrm>
            <a:off x="111653" y="13897281"/>
            <a:ext cx="18870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Simple: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C93386-7003-550B-8361-770B236BA91B}"/>
              </a:ext>
            </a:extLst>
          </p:cNvPr>
          <p:cNvSpPr txBox="1"/>
          <p:nvPr/>
        </p:nvSpPr>
        <p:spPr>
          <a:xfrm>
            <a:off x="2258341" y="13878330"/>
            <a:ext cx="75433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Makes your loops cleaner and shorter</a:t>
            </a:r>
            <a:endParaRPr lang="en-DE" sz="4000" dirty="0">
              <a:latin typeface="Patrick Hand" pitchFamily="2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E6C76C4-FC93-6C5B-E086-9AF81FFBFE3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633" t="23605" r="10338" b="13822"/>
          <a:stretch>
            <a:fillRect/>
          </a:stretch>
        </p:blipFill>
        <p:spPr>
          <a:xfrm>
            <a:off x="230584" y="4178515"/>
            <a:ext cx="9814357" cy="6647320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7A0EC55-6918-894A-527C-6A7222C04E32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chemeClr val="bg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D3791C2A-331F-9DF3-9F0C-661BDA7109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00733" y="9487027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0F6E4447-33BF-BCE5-BC44-10826ACC2BA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00733" y="7132128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4C48AE9-4418-800E-A60F-791956D2CB7B}"/>
              </a:ext>
            </a:extLst>
          </p:cNvPr>
          <p:cNvSpPr txBox="1"/>
          <p:nvPr/>
        </p:nvSpPr>
        <p:spPr>
          <a:xfrm>
            <a:off x="-7857400" y="2527667"/>
            <a:ext cx="5089855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py_017_zip_function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58098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20">
          <a:fgClr>
            <a:srgbClr val="FFC000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DEF06-3490-6241-1F61-A42204550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8E0008-9AB4-2A98-E8E5-B5D3D1A4C9B7}"/>
              </a:ext>
            </a:extLst>
          </p:cNvPr>
          <p:cNvSpPr txBox="1"/>
          <p:nvPr/>
        </p:nvSpPr>
        <p:spPr>
          <a:xfrm>
            <a:off x="223306" y="2872200"/>
            <a:ext cx="9838800" cy="1107996"/>
          </a:xfrm>
          <a:prstGeom prst="rect">
            <a:avLst/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6600" b="1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Patrick Hand" pitchFamily="2" charset="77"/>
              </a:rPr>
              <a:t>….</a:t>
            </a:r>
            <a:endParaRPr lang="en-GB" b="1" dirty="0">
              <a:ln/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lumMod val="50000"/>
                    <a:alpha val="40000"/>
                  </a:schemeClr>
                </a:outerShdw>
              </a:effectLst>
              <a:latin typeface="Patrick Hand" pitchFamily="2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D17B3F-D238-2B0B-EC89-5F7DF89B7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01" y="2906105"/>
            <a:ext cx="1063167" cy="1063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A83D46-1034-6666-755A-5BB815E6D643}"/>
              </a:ext>
            </a:extLst>
          </p:cNvPr>
          <p:cNvSpPr txBox="1"/>
          <p:nvPr/>
        </p:nvSpPr>
        <p:spPr>
          <a:xfrm>
            <a:off x="223306" y="11731083"/>
            <a:ext cx="21763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Efficient:</a:t>
            </a:r>
            <a:r>
              <a:rPr lang="en-GB" sz="4000" dirty="0"/>
              <a:t> </a:t>
            </a:r>
            <a:endParaRPr lang="en-DE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8CD719-0BE7-56F8-0136-ADB67AE57FA3}"/>
              </a:ext>
            </a:extLst>
          </p:cNvPr>
          <p:cNvSpPr txBox="1"/>
          <p:nvPr/>
        </p:nvSpPr>
        <p:spPr>
          <a:xfrm>
            <a:off x="2369994" y="11731083"/>
            <a:ext cx="76805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………..</a:t>
            </a:r>
            <a:endParaRPr lang="en-DE" sz="4000" dirty="0">
              <a:latin typeface="Patrick Hand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A83BAB-0D84-5CAA-431F-2D411BE8BAF3}"/>
              </a:ext>
            </a:extLst>
          </p:cNvPr>
          <p:cNvSpPr txBox="1"/>
          <p:nvPr/>
        </p:nvSpPr>
        <p:spPr>
          <a:xfrm>
            <a:off x="223306" y="12814182"/>
            <a:ext cx="23101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Pythonic: </a:t>
            </a:r>
            <a:endParaRPr lang="en-DE" sz="4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39ABD9-2EA3-E049-8123-B75F32D53D91}"/>
              </a:ext>
            </a:extLst>
          </p:cNvPr>
          <p:cNvSpPr txBox="1"/>
          <p:nvPr/>
        </p:nvSpPr>
        <p:spPr>
          <a:xfrm>
            <a:off x="2369994" y="12804706"/>
            <a:ext cx="79154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0" dirty="0">
                <a:latin typeface="Patrick Hand" pitchFamily="2" charset="77"/>
              </a:rPr>
              <a:t>……..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4CE8A2-672C-BFB7-CF4D-C6A5A0BE0F35}"/>
              </a:ext>
            </a:extLst>
          </p:cNvPr>
          <p:cNvSpPr txBox="1"/>
          <p:nvPr/>
        </p:nvSpPr>
        <p:spPr>
          <a:xfrm>
            <a:off x="223306" y="13897281"/>
            <a:ext cx="18870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/>
              <a:t>Simple: </a:t>
            </a:r>
            <a:endParaRPr lang="en-DE" sz="4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A446CA-FACD-8141-96D9-0C45DC6001A8}"/>
              </a:ext>
            </a:extLst>
          </p:cNvPr>
          <p:cNvSpPr txBox="1"/>
          <p:nvPr/>
        </p:nvSpPr>
        <p:spPr>
          <a:xfrm>
            <a:off x="2369994" y="13878330"/>
            <a:ext cx="75433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>
                <a:latin typeface="Patrick Hand" pitchFamily="2" charset="77"/>
              </a:rPr>
              <a:t>………</a:t>
            </a:r>
            <a:endParaRPr lang="en-DE" sz="4000" dirty="0">
              <a:latin typeface="Patrick Hand" pitchFamily="2" charset="77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7368A16-FFD4-42E9-93DD-F095D0771DAC}"/>
              </a:ext>
            </a:extLst>
          </p:cNvPr>
          <p:cNvCxnSpPr>
            <a:cxnSpLocks/>
          </p:cNvCxnSpPr>
          <p:nvPr/>
        </p:nvCxnSpPr>
        <p:spPr>
          <a:xfrm>
            <a:off x="223579" y="8410989"/>
            <a:ext cx="9838255" cy="0"/>
          </a:xfrm>
          <a:prstGeom prst="line">
            <a:avLst/>
          </a:prstGeom>
          <a:ln w="38100">
            <a:solidFill>
              <a:srgbClr val="FFC000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Shield Tick with solid fill">
            <a:extLst>
              <a:ext uri="{FF2B5EF4-FFF2-40B4-BE49-F238E27FC236}">
                <a16:creationId xmlns:a16="http://schemas.microsoft.com/office/drawing/2014/main" id="{EB4807D0-9F0F-5D16-75CA-7253269DE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68075" y="8637940"/>
            <a:ext cx="914400" cy="914400"/>
          </a:xfrm>
          <a:prstGeom prst="rect">
            <a:avLst/>
          </a:prstGeom>
        </p:spPr>
      </p:pic>
      <p:pic>
        <p:nvPicPr>
          <p:cNvPr id="19" name="Graphic 18" descr="Close with solid fill">
            <a:extLst>
              <a:ext uri="{FF2B5EF4-FFF2-40B4-BE49-F238E27FC236}">
                <a16:creationId xmlns:a16="http://schemas.microsoft.com/office/drawing/2014/main" id="{46AA1765-F8D0-1254-85C9-AEF33D4A37D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68075" y="6560627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90096C9-DC9C-60DF-715D-BEFC52B329EE}"/>
              </a:ext>
            </a:extLst>
          </p:cNvPr>
          <p:cNvSpPr txBox="1"/>
          <p:nvPr/>
        </p:nvSpPr>
        <p:spPr>
          <a:xfrm>
            <a:off x="-7857400" y="2527667"/>
            <a:ext cx="5089855" cy="83099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Patrick Hand" pitchFamily="2" charset="77"/>
              </a:rPr>
              <a:t>py_017_zip_function</a:t>
            </a:r>
            <a:endParaRPr lang="en-DE" sz="4800" dirty="0">
              <a:solidFill>
                <a:srgbClr val="FF0000"/>
              </a:solidFill>
              <a:latin typeface="Patrick Hand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50419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6904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1750">
          <a:solidFill>
            <a:schemeClr val="accent1">
              <a:shade val="15000"/>
            </a:schemeClr>
          </a:solidFill>
        </a:ln>
      </a:spPr>
      <a:bodyPr rtlCol="0" anchor="ctr"/>
      <a:lstStyle>
        <a:defPPr marL="0" algn="ctr" defTabSz="457200" rtl="0" eaLnBrk="1" latinLnBrk="0" hangingPunct="1">
          <a:defRPr dirty="0">
            <a:latin typeface="Patrick Hand" pitchFamily="2" charset="7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0">
          <a:solidFill>
            <a:schemeClr val="tx1"/>
          </a:solidFill>
          <a:headEnd type="none"/>
          <a:tailEnd type="arrow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4000" dirty="0" smtClean="0">
            <a:latin typeface="Patrick Hand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1c9b508-7c6e-42bd-bedf-808292653d6c}" enabled="1" method="Standard" siteId="{2882be50-2012-4d88-ac86-544124e120c8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25532</TotalTime>
  <Words>543</Words>
  <Application>Microsoft Macintosh PowerPoint</Application>
  <PresentationFormat>Custom</PresentationFormat>
  <Paragraphs>129</Paragraphs>
  <Slides>20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Calibri Light</vt:lpstr>
      <vt:lpstr>Patrick Hand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Salehi Oshtorjani, Ebrahim (K-DACT/F)</dc:creator>
  <cp:lastModifiedBy>Salehi Oshtorjani, Ebrahim (K-DACT/F)</cp:lastModifiedBy>
  <cp:revision>338</cp:revision>
  <cp:lastPrinted>2025-12-17T08:49:37Z</cp:lastPrinted>
  <dcterms:created xsi:type="dcterms:W3CDTF">2025-12-17T08:13:25Z</dcterms:created>
  <dcterms:modified xsi:type="dcterms:W3CDTF">2026-01-05T01:33:21Z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Atlas:8</vt:lpwstr>
  </property>
  <property fmtid="{D5CDD505-2E9C-101B-9397-08002B2CF9AE}" pid="3" name="ClassificationContentMarkingFooterText">
    <vt:lpwstr>INTERNAL</vt:lpwstr>
  </property>
</Properties>
</file>