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comments/modernComment_122_9A36DA00.xml" ContentType="application/vnd.ms-powerpoint.comments+xml"/>
  <Override PartName="/ppt/notesSlides/notesSlide4.xml" ContentType="application/vnd.openxmlformats-officedocument.presentationml.notesSlide+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126"/>
  </p:notesMasterIdLst>
  <p:handoutMasterIdLst>
    <p:handoutMasterId r:id="rId127"/>
  </p:handoutMasterIdLst>
  <p:sldIdLst>
    <p:sldId id="278" r:id="rId2"/>
    <p:sldId id="279" r:id="rId3"/>
    <p:sldId id="311" r:id="rId4"/>
    <p:sldId id="312" r:id="rId5"/>
    <p:sldId id="313" r:id="rId6"/>
    <p:sldId id="280" r:id="rId7"/>
    <p:sldId id="281" r:id="rId8"/>
    <p:sldId id="288" r:id="rId9"/>
    <p:sldId id="339" r:id="rId10"/>
    <p:sldId id="340" r:id="rId11"/>
    <p:sldId id="290" r:id="rId12"/>
    <p:sldId id="289" r:id="rId13"/>
    <p:sldId id="314" r:id="rId14"/>
    <p:sldId id="315" r:id="rId15"/>
    <p:sldId id="343" r:id="rId16"/>
    <p:sldId id="344" r:id="rId17"/>
    <p:sldId id="345" r:id="rId18"/>
    <p:sldId id="346" r:id="rId19"/>
    <p:sldId id="350" r:id="rId20"/>
    <p:sldId id="351" r:id="rId21"/>
    <p:sldId id="352" r:id="rId22"/>
    <p:sldId id="291" r:id="rId23"/>
    <p:sldId id="336" r:id="rId24"/>
    <p:sldId id="337" r:id="rId25"/>
    <p:sldId id="338" r:id="rId26"/>
    <p:sldId id="309" r:id="rId27"/>
    <p:sldId id="292" r:id="rId28"/>
    <p:sldId id="333" r:id="rId29"/>
    <p:sldId id="334" r:id="rId30"/>
    <p:sldId id="335" r:id="rId31"/>
    <p:sldId id="293" r:id="rId32"/>
    <p:sldId id="327" r:id="rId33"/>
    <p:sldId id="294" r:id="rId34"/>
    <p:sldId id="306" r:id="rId35"/>
    <p:sldId id="321" r:id="rId36"/>
    <p:sldId id="322" r:id="rId37"/>
    <p:sldId id="318" r:id="rId38"/>
    <p:sldId id="330" r:id="rId39"/>
    <p:sldId id="347" r:id="rId40"/>
    <p:sldId id="348" r:id="rId41"/>
    <p:sldId id="296" r:id="rId42"/>
    <p:sldId id="297" r:id="rId43"/>
    <p:sldId id="298" r:id="rId44"/>
    <p:sldId id="331" r:id="rId45"/>
    <p:sldId id="332" r:id="rId46"/>
    <p:sldId id="341" r:id="rId47"/>
    <p:sldId id="342" r:id="rId48"/>
    <p:sldId id="299" r:id="rId49"/>
    <p:sldId id="300" r:id="rId50"/>
    <p:sldId id="301" r:id="rId51"/>
    <p:sldId id="324" r:id="rId52"/>
    <p:sldId id="325" r:id="rId53"/>
    <p:sldId id="326" r:id="rId54"/>
    <p:sldId id="302" r:id="rId55"/>
    <p:sldId id="303" r:id="rId56"/>
    <p:sldId id="319" r:id="rId57"/>
    <p:sldId id="320" r:id="rId58"/>
    <p:sldId id="304" r:id="rId59"/>
    <p:sldId id="316" r:id="rId60"/>
    <p:sldId id="317" r:id="rId61"/>
    <p:sldId id="310" r:id="rId62"/>
    <p:sldId id="305" r:id="rId63"/>
    <p:sldId id="328" r:id="rId64"/>
    <p:sldId id="329" r:id="rId65"/>
    <p:sldId id="349" r:id="rId66"/>
    <p:sldId id="307" r:id="rId67"/>
    <p:sldId id="323" r:id="rId68"/>
    <p:sldId id="308" r:id="rId69"/>
    <p:sldId id="353" r:id="rId70"/>
    <p:sldId id="354" r:id="rId71"/>
    <p:sldId id="355" r:id="rId72"/>
    <p:sldId id="356" r:id="rId73"/>
    <p:sldId id="357" r:id="rId74"/>
    <p:sldId id="359" r:id="rId75"/>
    <p:sldId id="360" r:id="rId76"/>
    <p:sldId id="358" r:id="rId77"/>
    <p:sldId id="361" r:id="rId78"/>
    <p:sldId id="362" r:id="rId79"/>
    <p:sldId id="364" r:id="rId80"/>
    <p:sldId id="365" r:id="rId81"/>
    <p:sldId id="367" r:id="rId82"/>
    <p:sldId id="366" r:id="rId83"/>
    <p:sldId id="368" r:id="rId84"/>
    <p:sldId id="369" r:id="rId85"/>
    <p:sldId id="370" r:id="rId86"/>
    <p:sldId id="371" r:id="rId87"/>
    <p:sldId id="372" r:id="rId88"/>
    <p:sldId id="375" r:id="rId89"/>
    <p:sldId id="376" r:id="rId90"/>
    <p:sldId id="373" r:id="rId91"/>
    <p:sldId id="377" r:id="rId92"/>
    <p:sldId id="378" r:id="rId93"/>
    <p:sldId id="379" r:id="rId94"/>
    <p:sldId id="380" r:id="rId95"/>
    <p:sldId id="381" r:id="rId96"/>
    <p:sldId id="382" r:id="rId97"/>
    <p:sldId id="383" r:id="rId98"/>
    <p:sldId id="384" r:id="rId99"/>
    <p:sldId id="386" r:id="rId100"/>
    <p:sldId id="387" r:id="rId101"/>
    <p:sldId id="388" r:id="rId102"/>
    <p:sldId id="385" r:id="rId103"/>
    <p:sldId id="389" r:id="rId104"/>
    <p:sldId id="391" r:id="rId105"/>
    <p:sldId id="393" r:id="rId106"/>
    <p:sldId id="392" r:id="rId107"/>
    <p:sldId id="390" r:id="rId108"/>
    <p:sldId id="394" r:id="rId109"/>
    <p:sldId id="397" r:id="rId110"/>
    <p:sldId id="398" r:id="rId111"/>
    <p:sldId id="396" r:id="rId112"/>
    <p:sldId id="395" r:id="rId113"/>
    <p:sldId id="399" r:id="rId114"/>
    <p:sldId id="402" r:id="rId115"/>
    <p:sldId id="404" r:id="rId116"/>
    <p:sldId id="405" r:id="rId117"/>
    <p:sldId id="403" r:id="rId118"/>
    <p:sldId id="401" r:id="rId119"/>
    <p:sldId id="406" r:id="rId120"/>
    <p:sldId id="400" r:id="rId121"/>
    <p:sldId id="407" r:id="rId122"/>
    <p:sldId id="408" r:id="rId123"/>
    <p:sldId id="409" r:id="rId124"/>
    <p:sldId id="410" r:id="rId125"/>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964FBC3-BE9F-3441-B9E2-0B820C9A988D}">
          <p14:sldIdLst>
            <p14:sldId id="278"/>
            <p14:sldId id="279"/>
            <p14:sldId id="311"/>
            <p14:sldId id="312"/>
            <p14:sldId id="313"/>
            <p14:sldId id="280"/>
            <p14:sldId id="281"/>
            <p14:sldId id="288"/>
            <p14:sldId id="339"/>
            <p14:sldId id="340"/>
            <p14:sldId id="290"/>
            <p14:sldId id="289"/>
            <p14:sldId id="314"/>
            <p14:sldId id="315"/>
            <p14:sldId id="343"/>
            <p14:sldId id="344"/>
            <p14:sldId id="345"/>
            <p14:sldId id="346"/>
            <p14:sldId id="350"/>
            <p14:sldId id="351"/>
            <p14:sldId id="352"/>
            <p14:sldId id="291"/>
            <p14:sldId id="336"/>
            <p14:sldId id="337"/>
            <p14:sldId id="338"/>
            <p14:sldId id="309"/>
            <p14:sldId id="292"/>
            <p14:sldId id="333"/>
            <p14:sldId id="334"/>
            <p14:sldId id="335"/>
            <p14:sldId id="293"/>
            <p14:sldId id="327"/>
            <p14:sldId id="294"/>
            <p14:sldId id="306"/>
            <p14:sldId id="321"/>
            <p14:sldId id="322"/>
            <p14:sldId id="318"/>
            <p14:sldId id="330"/>
            <p14:sldId id="347"/>
            <p14:sldId id="348"/>
            <p14:sldId id="296"/>
            <p14:sldId id="297"/>
            <p14:sldId id="298"/>
            <p14:sldId id="331"/>
            <p14:sldId id="332"/>
            <p14:sldId id="341"/>
            <p14:sldId id="342"/>
            <p14:sldId id="299"/>
            <p14:sldId id="300"/>
            <p14:sldId id="301"/>
            <p14:sldId id="324"/>
            <p14:sldId id="325"/>
            <p14:sldId id="326"/>
            <p14:sldId id="302"/>
            <p14:sldId id="303"/>
            <p14:sldId id="319"/>
            <p14:sldId id="320"/>
            <p14:sldId id="304"/>
            <p14:sldId id="316"/>
            <p14:sldId id="317"/>
            <p14:sldId id="310"/>
            <p14:sldId id="305"/>
            <p14:sldId id="328"/>
            <p14:sldId id="329"/>
            <p14:sldId id="349"/>
            <p14:sldId id="307"/>
            <p14:sldId id="323"/>
            <p14:sldId id="308"/>
            <p14:sldId id="353"/>
            <p14:sldId id="354"/>
            <p14:sldId id="355"/>
            <p14:sldId id="356"/>
            <p14:sldId id="357"/>
            <p14:sldId id="359"/>
            <p14:sldId id="360"/>
            <p14:sldId id="358"/>
            <p14:sldId id="361"/>
            <p14:sldId id="362"/>
            <p14:sldId id="364"/>
            <p14:sldId id="365"/>
            <p14:sldId id="367"/>
            <p14:sldId id="366"/>
            <p14:sldId id="368"/>
            <p14:sldId id="369"/>
            <p14:sldId id="370"/>
            <p14:sldId id="371"/>
            <p14:sldId id="372"/>
            <p14:sldId id="375"/>
            <p14:sldId id="376"/>
            <p14:sldId id="373"/>
            <p14:sldId id="377"/>
            <p14:sldId id="378"/>
            <p14:sldId id="379"/>
            <p14:sldId id="380"/>
            <p14:sldId id="381"/>
            <p14:sldId id="382"/>
            <p14:sldId id="383"/>
            <p14:sldId id="384"/>
            <p14:sldId id="386"/>
            <p14:sldId id="387"/>
            <p14:sldId id="388"/>
            <p14:sldId id="385"/>
            <p14:sldId id="389"/>
            <p14:sldId id="391"/>
            <p14:sldId id="393"/>
            <p14:sldId id="392"/>
            <p14:sldId id="390"/>
            <p14:sldId id="394"/>
            <p14:sldId id="397"/>
            <p14:sldId id="398"/>
            <p14:sldId id="396"/>
            <p14:sldId id="395"/>
            <p14:sldId id="399"/>
            <p14:sldId id="402"/>
            <p14:sldId id="404"/>
            <p14:sldId id="405"/>
            <p14:sldId id="403"/>
            <p14:sldId id="401"/>
            <p14:sldId id="406"/>
            <p14:sldId id="400"/>
            <p14:sldId id="407"/>
            <p14:sldId id="408"/>
            <p14:sldId id="409"/>
            <p14:sldId id="410"/>
          </p14:sldIdLst>
        </p14:section>
      </p14:sectionLst>
    </p:ex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9898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932"/>
    <p:restoredTop sz="96069"/>
  </p:normalViewPr>
  <p:slideViewPr>
    <p:cSldViewPr snapToGrid="0">
      <p:cViewPr>
        <p:scale>
          <a:sx n="71" d="100"/>
          <a:sy n="71" d="100"/>
        </p:scale>
        <p:origin x="2992" y="-336"/>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presProps" Target="pres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viewProps" Target="view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microsoft.com/office/2018/10/relationships/authors" Target="author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handoutMaster" Target="handoutMasters/handoutMaster1.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19.05.26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19.05.26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69F1D-9FBB-36F5-9FE7-3423D7915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AB02F-394F-A51C-04FD-DDAAF17A3F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4D174-8DE6-FFDC-EF78-0644121E83C8}"/>
              </a:ext>
            </a:extLst>
          </p:cNvPr>
          <p:cNvSpPr>
            <a:spLocks noGrp="1"/>
          </p:cNvSpPr>
          <p:nvPr>
            <p:ph type="body" idx="1"/>
          </p:nvPr>
        </p:nvSpPr>
        <p:spPr/>
        <p:txBody>
          <a:bodyPr/>
          <a:lstStyle/>
          <a:p>
            <a:r>
              <a:rPr lang="en-GB"/>
              <a:t>Video 011</a:t>
            </a:r>
            <a:br>
              <a:rPr lang="en-GB"/>
            </a:br>
            <a:r>
              <a:rPr lang="en-GB"/>
              <a:t>F</a:t>
            </a:r>
            <a:r>
              <a:rPr lang="en-DE"/>
              <a:t>older: </a:t>
            </a:r>
            <a:r>
              <a:rPr lang="en-GB"/>
              <a:t>py_011_pathlib</a:t>
            </a:r>
            <a:endParaRPr lang="en-DE" dirty="0"/>
          </a:p>
        </p:txBody>
      </p:sp>
      <p:sp>
        <p:nvSpPr>
          <p:cNvPr id="4" name="Slide Number Placeholder 3">
            <a:extLst>
              <a:ext uri="{FF2B5EF4-FFF2-40B4-BE49-F238E27FC236}">
                <a16:creationId xmlns:a16="http://schemas.microsoft.com/office/drawing/2014/main" id="{69ADF59E-F413-6C42-6CF8-5D5734372A6E}"/>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3292208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8269F-2611-C21E-D603-35F4483587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B802A2-D304-467F-5231-1474C6DA80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672D1D-3D2B-97AD-F1A7-28961E1E3418}"/>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5C60CA1E-2B55-4A0A-872E-5D61174F86F8}"/>
              </a:ext>
            </a:extLst>
          </p:cNvPr>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272448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12</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5/19/26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5/19/26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5/19/26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5/19/26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5/19/26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5/19/26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5/19/26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5/19/26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5/19/26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5/19/26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5/19/26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5/19/26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9.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2.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9.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1.xml.rels><?xml version="1.0" encoding="UTF-8" standalone="yes"?>
<Relationships xmlns="http://schemas.openxmlformats.org/package/2006/relationships"><Relationship Id="rId3" Type="http://schemas.openxmlformats.org/officeDocument/2006/relationships/image" Target="../media/image50.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1.png"/></Relationships>
</file>

<file path=ppt/slides/_rels/slide43.xml.rels><?xml version="1.0" encoding="UTF-8" standalone="yes"?>
<Relationships xmlns="http://schemas.openxmlformats.org/package/2006/relationships"><Relationship Id="rId3" Type="http://schemas.openxmlformats.org/officeDocument/2006/relationships/image" Target="../media/image52.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3.png"/></Relationships>
</file>

<file path=ppt/slides/_rels/slide4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4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58.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50.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9.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61.png"/><Relationship Id="rId4" Type="http://schemas.openxmlformats.org/officeDocument/2006/relationships/image" Target="../media/image11.png"/></Relationships>
</file>

<file path=ppt/slides/_rels/slide5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65.png"/></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5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11.png"/></Relationships>
</file>

<file path=ppt/slides/_rels/slide5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68.png"/><Relationship Id="rId4" Type="http://schemas.openxmlformats.org/officeDocument/2006/relationships/image" Target="../media/image8.svg"/></Relationships>
</file>

<file path=ppt/slides/_rels/slide5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5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6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6.png"/></Relationships>
</file>

<file path=ppt/slides/_rels/slide6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66.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68.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81.png"/></Relationships>
</file>

<file path=ppt/slides/_rels/slide6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86.png"/></Relationships>
</file>

<file path=ppt/slides/_rels/slide75.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8.png"/></Relationships>
</file>

<file path=ppt/slides/_rels/slide7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9.png"/></Relationships>
</file>

<file path=ppt/slides/_rels/slide80.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0.png"/></Relationships>
</file>

<file path=ppt/slides/_rels/slide8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1.png"/></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2.png"/></Relationships>
</file>

<file path=ppt/slides/_rels/slide85.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5.svg"/><Relationship Id="rId5" Type="http://schemas.openxmlformats.org/officeDocument/2006/relationships/image" Target="../media/image3.png"/><Relationship Id="rId4" Type="http://schemas.openxmlformats.org/officeDocument/2006/relationships/image" Target="../media/image94.png"/></Relationships>
</file>

<file path=ppt/slides/_rels/slide8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96.png"/></Relationships>
</file>

<file path=ppt/slides/_rels/slide8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9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98.xml.rels><?xml version="1.0" encoding="UTF-8" standalone="yes"?>
<Relationships xmlns="http://schemas.openxmlformats.org/package/2006/relationships"><Relationship Id="rId8" Type="http://schemas.openxmlformats.org/officeDocument/2006/relationships/image" Target="../media/image106.svg"/><Relationship Id="rId3" Type="http://schemas.openxmlformats.org/officeDocument/2006/relationships/image" Target="../media/image11.png"/><Relationship Id="rId7" Type="http://schemas.openxmlformats.org/officeDocument/2006/relationships/image" Target="../media/image105.sv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104.svg"/><Relationship Id="rId5" Type="http://schemas.openxmlformats.org/officeDocument/2006/relationships/image" Target="../media/image103.svg"/><Relationship Id="rId4" Type="http://schemas.openxmlformats.org/officeDocument/2006/relationships/image" Target="../media/image102.png"/></Relationships>
</file>

<file path=ppt/slides/_rels/slide9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7.png"/><Relationship Id="rId4" Type="http://schemas.openxmlformats.org/officeDocument/2006/relationships/image" Target="../media/image102.png"/></Relationships>
</file>

<file path=ppt/slides/_rels/slide10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8.png"/><Relationship Id="rId4" Type="http://schemas.openxmlformats.org/officeDocument/2006/relationships/image" Target="../media/image102.png"/></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9.png"/><Relationship Id="rId4" Type="http://schemas.openxmlformats.org/officeDocument/2006/relationships/image" Target="../media/image102.png"/></Relationships>
</file>

<file path=ppt/slides/_rels/slide10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103.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0.png"/></Relationships>
</file>

<file path=ppt/slides/_rels/slide105.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1.png"/></Relationships>
</file>

<file path=ppt/slides/_rels/slide106.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2.png"/></Relationships>
</file>

<file path=ppt/slides/_rels/slide107.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3.png"/></Relationships>
</file>

<file path=ppt/slides/_rels/slide109.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4.png"/></Relationships>
</file>

<file path=ppt/slides/_rels/slide110.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5.png"/></Relationships>
</file>

<file path=ppt/slides/_rels/slide111.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6.png"/></Relationships>
</file>

<file path=ppt/slides/_rels/slide112.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7.png"/></Relationships>
</file>

<file path=ppt/slides/_rels/slide115.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117.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119.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1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24749E08-71C2-6880-1BD8-5D7039C979C0}"/>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8221EFB-910E-F5D5-06DA-B080A5F2674A}"/>
              </a:ext>
            </a:extLst>
          </p:cNvPr>
          <p:cNvSpPr txBox="1"/>
          <p:nvPr/>
        </p:nvSpPr>
        <p:spPr>
          <a:xfrm>
            <a:off x="149506" y="3138109"/>
            <a:ext cx="9986400" cy="1200329"/>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72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Custom Exceptions</a:t>
            </a:r>
          </a:p>
        </p:txBody>
      </p:sp>
      <p:sp>
        <p:nvSpPr>
          <p:cNvPr id="22" name="TextBox 21">
            <a:extLst>
              <a:ext uri="{FF2B5EF4-FFF2-40B4-BE49-F238E27FC236}">
                <a16:creationId xmlns:a16="http://schemas.microsoft.com/office/drawing/2014/main" id="{92DD6A70-2186-CFE5-2A8E-1B0875E1CAE3}"/>
              </a:ext>
            </a:extLst>
          </p:cNvPr>
          <p:cNvSpPr txBox="1"/>
          <p:nvPr/>
        </p:nvSpPr>
        <p:spPr>
          <a:xfrm>
            <a:off x="-8753367" y="2826600"/>
            <a:ext cx="66591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 </a:t>
            </a:r>
            <a:r>
              <a:rPr lang="en-US" sz="4800" dirty="0" err="1">
                <a:ln w="0"/>
                <a:solidFill>
                  <a:schemeClr val="tx1"/>
                </a:solidFill>
                <a:effectLst>
                  <a:outerShdw blurRad="38100" dist="19050" dir="2700000" algn="tl" rotWithShape="0">
                    <a:schemeClr val="dk1">
                      <a:alpha val="40000"/>
                    </a:schemeClr>
                  </a:outerShdw>
                </a:effectLst>
                <a:latin typeface="Patrick Hand" pitchFamily="2" charset="77"/>
              </a:rPr>
              <a:t>custom_exceptions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BB81E0B3-71BE-60BA-8DDA-A980F240882F}"/>
              </a:ext>
            </a:extLst>
          </p:cNvPr>
          <p:cNvPicPr>
            <a:picLocks noChangeAspect="1"/>
          </p:cNvPicPr>
          <p:nvPr/>
        </p:nvPicPr>
        <p:blipFill>
          <a:blip r:embed="rId2"/>
          <a:stretch>
            <a:fillRect/>
          </a:stretch>
        </p:blipFill>
        <p:spPr>
          <a:xfrm>
            <a:off x="235271" y="3178265"/>
            <a:ext cx="1063167" cy="1063167"/>
          </a:xfrm>
          <a:prstGeom prst="rect">
            <a:avLst/>
          </a:prstGeom>
        </p:spPr>
      </p:pic>
      <p:pic>
        <p:nvPicPr>
          <p:cNvPr id="3" name="Picture 2">
            <a:extLst>
              <a:ext uri="{FF2B5EF4-FFF2-40B4-BE49-F238E27FC236}">
                <a16:creationId xmlns:a16="http://schemas.microsoft.com/office/drawing/2014/main" id="{3311FF87-4A6F-AA5B-528C-4EEA506ED75F}"/>
              </a:ext>
            </a:extLst>
          </p:cNvPr>
          <p:cNvPicPr>
            <a:picLocks noChangeAspect="1"/>
          </p:cNvPicPr>
          <p:nvPr/>
        </p:nvPicPr>
        <p:blipFill rotWithShape="1">
          <a:blip r:embed="rId3"/>
          <a:srcRect l="13587" t="17494" r="10412" b="11332"/>
          <a:stretch>
            <a:fillRect/>
          </a:stretch>
        </p:blipFill>
        <p:spPr>
          <a:xfrm>
            <a:off x="149506" y="4454586"/>
            <a:ext cx="9986400" cy="7644311"/>
          </a:xfrm>
          <a:prstGeom prst="rect">
            <a:avLst/>
          </a:prstGeom>
        </p:spPr>
      </p:pic>
      <p:sp>
        <p:nvSpPr>
          <p:cNvPr id="4" name="TextBox 3">
            <a:extLst>
              <a:ext uri="{FF2B5EF4-FFF2-40B4-BE49-F238E27FC236}">
                <a16:creationId xmlns:a16="http://schemas.microsoft.com/office/drawing/2014/main" id="{F53B4733-BC4E-98DF-515E-10181B657EE7}"/>
              </a:ext>
            </a:extLst>
          </p:cNvPr>
          <p:cNvSpPr txBox="1"/>
          <p:nvPr/>
        </p:nvSpPr>
        <p:spPr>
          <a:xfrm>
            <a:off x="496566" y="12183759"/>
            <a:ext cx="9292281" cy="2862322"/>
          </a:xfrm>
          <a:prstGeom prst="rect">
            <a:avLst/>
          </a:prstGeom>
          <a:noFill/>
        </p:spPr>
        <p:txBody>
          <a:bodyPr wrap="square" rtlCol="0">
            <a:spAutoFit/>
          </a:bodyPr>
          <a:lstStyle/>
          <a:p>
            <a:pPr algn="ctr"/>
            <a:r>
              <a:rPr lang="en-GB" sz="6000" b="1" dirty="0">
                <a:latin typeface="Patrick Hand" pitchFamily="2" charset="77"/>
              </a:rPr>
              <a:t>Stop Raising Generic Errors: Build Clean Custom Exceptions in Python</a:t>
            </a:r>
            <a:endParaRPr lang="en-DE" sz="6000" b="1" dirty="0">
              <a:latin typeface="Patrick Hand" pitchFamily="2" charset="77"/>
            </a:endParaRPr>
          </a:p>
        </p:txBody>
      </p:sp>
      <p:cxnSp>
        <p:nvCxnSpPr>
          <p:cNvPr id="5" name="Straight Connector 4">
            <a:extLst>
              <a:ext uri="{FF2B5EF4-FFF2-40B4-BE49-F238E27FC236}">
                <a16:creationId xmlns:a16="http://schemas.microsoft.com/office/drawing/2014/main" id="{BCA292DB-F49B-5900-2057-16A67289D869}"/>
              </a:ext>
            </a:extLst>
          </p:cNvPr>
          <p:cNvCxnSpPr>
            <a:cxnSpLocks/>
          </p:cNvCxnSpPr>
          <p:nvPr/>
        </p:nvCxnSpPr>
        <p:spPr>
          <a:xfrm>
            <a:off x="223579" y="651203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CB1BE94-3FAE-58FE-94D8-31CBA29F1E1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54817" y="9205659"/>
            <a:ext cx="914400" cy="914400"/>
          </a:xfrm>
          <a:prstGeom prst="rect">
            <a:avLst/>
          </a:prstGeom>
        </p:spPr>
      </p:pic>
      <p:pic>
        <p:nvPicPr>
          <p:cNvPr id="7" name="Graphic 6" descr="Close with solid fill">
            <a:extLst>
              <a:ext uri="{FF2B5EF4-FFF2-40B4-BE49-F238E27FC236}">
                <a16:creationId xmlns:a16="http://schemas.microsoft.com/office/drawing/2014/main" id="{8CFDED51-9E54-7C83-66D0-87639A90F71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54817" y="5481692"/>
            <a:ext cx="914400" cy="914400"/>
          </a:xfrm>
          <a:prstGeom prst="rect">
            <a:avLst/>
          </a:prstGeom>
        </p:spPr>
      </p:pic>
    </p:spTree>
    <p:extLst>
      <p:ext uri="{BB962C8B-B14F-4D97-AF65-F5344CB8AC3E}">
        <p14:creationId xmlns:p14="http://schemas.microsoft.com/office/powerpoint/2010/main" val="21776515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481666EA-937A-BA02-5676-8DF1D44083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5DC637D-2687-BAEC-1CAA-35981DB8C7E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spread</a:t>
            </a:r>
            <a:endParaRPr lang="en-DE" sz="7200" dirty="0">
              <a:ln w="0"/>
              <a:effectLst>
                <a:outerShdw blurRad="38100" dist="19050" dir="2700000" algn="tl" rotWithShape="0">
                  <a:schemeClr val="dk1">
                    <a:alpha val="40000"/>
                  </a:schemeClr>
                </a:outerShdw>
              </a:effectLst>
              <a:latin typeface="+mj-lt"/>
            </a:endParaRPr>
          </a:p>
        </p:txBody>
      </p:sp>
      <p:pic>
        <p:nvPicPr>
          <p:cNvPr id="2" name="Picture 1">
            <a:extLst>
              <a:ext uri="{FF2B5EF4-FFF2-40B4-BE49-F238E27FC236}">
                <a16:creationId xmlns:a16="http://schemas.microsoft.com/office/drawing/2014/main" id="{720014C2-D995-7E5B-038B-460030A90BD8}"/>
              </a:ext>
            </a:extLst>
          </p:cNvPr>
          <p:cNvPicPr>
            <a:picLocks noChangeAspect="1"/>
          </p:cNvPicPr>
          <p:nvPr/>
        </p:nvPicPr>
        <p:blipFill rotWithShape="1">
          <a:blip r:embed="rId4"/>
          <a:srcRect l="18076" t="20103" r="9332" b="10590"/>
          <a:stretch>
            <a:fillRect/>
          </a:stretch>
        </p:blipFill>
        <p:spPr>
          <a:xfrm>
            <a:off x="223306" y="4473145"/>
            <a:ext cx="9838800" cy="8511073"/>
          </a:xfrm>
          <a:prstGeom prst="rect">
            <a:avLst/>
          </a:prstGeom>
        </p:spPr>
      </p:pic>
      <p:sp>
        <p:nvSpPr>
          <p:cNvPr id="4" name="Right Arrow 3">
            <a:extLst>
              <a:ext uri="{FF2B5EF4-FFF2-40B4-BE49-F238E27FC236}">
                <a16:creationId xmlns:a16="http://schemas.microsoft.com/office/drawing/2014/main" id="{5427EA68-1906-8DA4-12C0-D18B1781D252}"/>
              </a:ext>
            </a:extLst>
          </p:cNvPr>
          <p:cNvSpPr/>
          <p:nvPr/>
        </p:nvSpPr>
        <p:spPr>
          <a:xfrm>
            <a:off x="2505154" y="16014356"/>
            <a:ext cx="5263978" cy="1334530"/>
          </a:xfrm>
          <a:prstGeom prst="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4000" dirty="0">
                <a:ln w="0"/>
                <a:solidFill>
                  <a:schemeClr val="tx1"/>
                </a:solidFill>
                <a:effectLst>
                  <a:outerShdw blurRad="38100" dist="19050" dir="2700000" algn="tl" rotWithShape="0">
                    <a:schemeClr val="dk1">
                      <a:alpha val="40000"/>
                    </a:schemeClr>
                  </a:outerShdw>
                </a:effectLst>
                <a:latin typeface="Patrick Hand" pitchFamily="2" charset="77"/>
              </a:rPr>
              <a:t>Next</a:t>
            </a:r>
            <a:endParaRPr lang="en-DE" sz="4000" dirty="0">
              <a:latin typeface="Patrick Hand" pitchFamily="2" charset="77"/>
            </a:endParaRPr>
          </a:p>
        </p:txBody>
      </p:sp>
      <p:sp>
        <p:nvSpPr>
          <p:cNvPr id="10" name="TextBox 9">
            <a:extLst>
              <a:ext uri="{FF2B5EF4-FFF2-40B4-BE49-F238E27FC236}">
                <a16:creationId xmlns:a16="http://schemas.microsoft.com/office/drawing/2014/main" id="{1262A051-0A0B-7D31-4A07-549D54A3DF56}"/>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1" name="Picture 10">
            <a:extLst>
              <a:ext uri="{FF2B5EF4-FFF2-40B4-BE49-F238E27FC236}">
                <a16:creationId xmlns:a16="http://schemas.microsoft.com/office/drawing/2014/main" id="{A4C46D8A-01A6-1F75-38E3-605256354E9E}"/>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1449838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F6815F90-8783-D7B0-216C-EA633FDE421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96CD64D-FC73-629A-3F5F-2F8AE080DF1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rest</a:t>
            </a:r>
            <a:endParaRPr lang="en-DE" sz="7200" dirty="0">
              <a:ln w="0"/>
              <a:effectLst>
                <a:outerShdw blurRad="38100" dist="19050" dir="2700000" algn="tl" rotWithShape="0">
                  <a:schemeClr val="dk1">
                    <a:alpha val="40000"/>
                  </a:schemeClr>
                </a:outerShdw>
              </a:effectLst>
              <a:latin typeface="+mj-lt"/>
            </a:endParaRPr>
          </a:p>
        </p:txBody>
      </p:sp>
      <p:pic>
        <p:nvPicPr>
          <p:cNvPr id="7" name="Picture 6">
            <a:extLst>
              <a:ext uri="{FF2B5EF4-FFF2-40B4-BE49-F238E27FC236}">
                <a16:creationId xmlns:a16="http://schemas.microsoft.com/office/drawing/2014/main" id="{F2814F2D-EE7A-8888-1920-798F1FF226E5}"/>
              </a:ext>
            </a:extLst>
          </p:cNvPr>
          <p:cNvPicPr preferRelativeResize="0">
            <a:picLocks/>
          </p:cNvPicPr>
          <p:nvPr/>
        </p:nvPicPr>
        <p:blipFill rotWithShape="1">
          <a:blip r:embed="rId4"/>
          <a:srcRect l="19834" t="19773" r="12847" b="11528"/>
          <a:stretch>
            <a:fillRect/>
          </a:stretch>
        </p:blipFill>
        <p:spPr>
          <a:xfrm>
            <a:off x="223306" y="4474800"/>
            <a:ext cx="9838800" cy="8510400"/>
          </a:xfrm>
          <a:prstGeom prst="rect">
            <a:avLst/>
          </a:prstGeom>
        </p:spPr>
      </p:pic>
      <p:sp>
        <p:nvSpPr>
          <p:cNvPr id="11" name="TextBox 10">
            <a:extLst>
              <a:ext uri="{FF2B5EF4-FFF2-40B4-BE49-F238E27FC236}">
                <a16:creationId xmlns:a16="http://schemas.microsoft.com/office/drawing/2014/main" id="{DE722491-7635-8958-B847-B99395A9EC98}"/>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2" name="Picture 11">
            <a:extLst>
              <a:ext uri="{FF2B5EF4-FFF2-40B4-BE49-F238E27FC236}">
                <a16:creationId xmlns:a16="http://schemas.microsoft.com/office/drawing/2014/main" id="{79E6ED59-A915-84A2-F5AA-DDB5E1B3DC24}"/>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2805417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9EA5746-4CA2-7F18-A479-AC6A5D4059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5DC900B-164F-FC29-9459-456AC455A3FE}"/>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FF1E42BB-D9EC-10A8-903D-6BF740B6C82B}"/>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E8F33130-30C1-CF29-4F19-0710F7074820}"/>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54FCA99-4121-035B-A997-1C5F783EEA48}"/>
              </a:ext>
            </a:extLst>
          </p:cNvPr>
          <p:cNvSpPr txBox="1"/>
          <p:nvPr/>
        </p:nvSpPr>
        <p:spPr>
          <a:xfrm>
            <a:off x="-10467474"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28" name="Picture 27">
            <a:extLst>
              <a:ext uri="{FF2B5EF4-FFF2-40B4-BE49-F238E27FC236}">
                <a16:creationId xmlns:a16="http://schemas.microsoft.com/office/drawing/2014/main" id="{10148781-0096-5479-1154-E21B39EBCC45}"/>
              </a:ext>
            </a:extLst>
          </p:cNvPr>
          <p:cNvPicPr preferRelativeResize="0">
            <a:picLocks/>
          </p:cNvPicPr>
          <p:nvPr/>
        </p:nvPicPr>
        <p:blipFill rotWithShape="1">
          <a:blip r:embed="rId3"/>
          <a:srcRect l="21291" t="22608" r="15162" b="14033"/>
          <a:stretch>
            <a:fillRect/>
          </a:stretch>
        </p:blipFill>
        <p:spPr>
          <a:xfrm>
            <a:off x="223306" y="4444504"/>
            <a:ext cx="9838800" cy="7200000"/>
          </a:xfrm>
          <a:prstGeom prst="rect">
            <a:avLst/>
          </a:prstGeom>
        </p:spPr>
      </p:pic>
      <p:sp>
        <p:nvSpPr>
          <p:cNvPr id="29" name="Right Arrow 28">
            <a:extLst>
              <a:ext uri="{FF2B5EF4-FFF2-40B4-BE49-F238E27FC236}">
                <a16:creationId xmlns:a16="http://schemas.microsoft.com/office/drawing/2014/main" id="{B2452425-A657-B484-00CB-7B674C76C00A}"/>
              </a:ext>
            </a:extLst>
          </p:cNvPr>
          <p:cNvSpPr/>
          <p:nvPr/>
        </p:nvSpPr>
        <p:spPr>
          <a:xfrm>
            <a:off x="4113074" y="12546419"/>
            <a:ext cx="2059264" cy="935665"/>
          </a:xfrm>
          <a:prstGeom prst="rightArrow">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solidFill>
                <a:schemeClr val="dk1"/>
              </a:solidFill>
            </a:endParaRPr>
          </a:p>
        </p:txBody>
      </p:sp>
    </p:spTree>
    <p:extLst>
      <p:ext uri="{BB962C8B-B14F-4D97-AF65-F5344CB8AC3E}">
        <p14:creationId xmlns:p14="http://schemas.microsoft.com/office/powerpoint/2010/main" val="3967779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0A116EC-18E4-F6C7-62AD-CBB8038D83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98024A7-8029-686B-CAF7-D329D64B3C78}"/>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4002FBA-E8FC-E022-419B-BAD542B03CAC}"/>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BCF2A538-535F-510E-6366-5199D7147795}"/>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D3B7DDB-BFA3-8712-7A19-00E83DD87C1A}"/>
              </a:ext>
            </a:extLst>
          </p:cNvPr>
          <p:cNvSpPr txBox="1"/>
          <p:nvPr/>
        </p:nvSpPr>
        <p:spPr>
          <a:xfrm>
            <a:off x="-10299032"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3" name="Picture 2">
            <a:extLst>
              <a:ext uri="{FF2B5EF4-FFF2-40B4-BE49-F238E27FC236}">
                <a16:creationId xmlns:a16="http://schemas.microsoft.com/office/drawing/2014/main" id="{5177E3B8-DC6D-0DB6-8CD8-F4FA7CE05AF8}"/>
              </a:ext>
            </a:extLst>
          </p:cNvPr>
          <p:cNvPicPr preferRelativeResize="0">
            <a:picLocks/>
          </p:cNvPicPr>
          <p:nvPr/>
        </p:nvPicPr>
        <p:blipFill rotWithShape="1">
          <a:blip r:embed="rId3"/>
          <a:srcRect l="20039" t="22126" r="13264" b="14462"/>
          <a:stretch>
            <a:fillRect/>
          </a:stretch>
        </p:blipFill>
        <p:spPr>
          <a:xfrm>
            <a:off x="223306" y="4451684"/>
            <a:ext cx="9838800" cy="7200000"/>
          </a:xfrm>
          <a:prstGeom prst="rect">
            <a:avLst/>
          </a:prstGeom>
        </p:spPr>
      </p:pic>
    </p:spTree>
    <p:extLst>
      <p:ext uri="{BB962C8B-B14F-4D97-AF65-F5344CB8AC3E}">
        <p14:creationId xmlns:p14="http://schemas.microsoft.com/office/powerpoint/2010/main" val="28986690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889AC99C-E326-22AF-A647-FB81C057F9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70213C-CD04-4AE6-D4F7-708234A72820}"/>
              </a:ext>
            </a:extLst>
          </p:cNvPr>
          <p:cNvPicPr>
            <a:picLocks noChangeAspect="1"/>
          </p:cNvPicPr>
          <p:nvPr/>
        </p:nvPicPr>
        <p:blipFill rotWithShape="1">
          <a:blip r:embed="rId2"/>
          <a:srcRect l="14295" t="18373" r="7588" b="10355"/>
          <a:stretch>
            <a:fillRect/>
          </a:stretch>
        </p:blipFill>
        <p:spPr>
          <a:xfrm>
            <a:off x="223306" y="4293050"/>
            <a:ext cx="9838800" cy="6877146"/>
          </a:xfrm>
          <a:prstGeom prst="rect">
            <a:avLst/>
          </a:prstGeom>
        </p:spPr>
      </p:pic>
      <p:sp>
        <p:nvSpPr>
          <p:cNvPr id="4" name="TextBox 3">
            <a:extLst>
              <a:ext uri="{FF2B5EF4-FFF2-40B4-BE49-F238E27FC236}">
                <a16:creationId xmlns:a16="http://schemas.microsoft.com/office/drawing/2014/main" id="{92F0583A-02E4-0D7B-D116-4D4AFAD1C15B}"/>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B67E0830-101E-5A9B-024A-AD8B673A4834}"/>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13" name="TextBox 12">
            <a:extLst>
              <a:ext uri="{FF2B5EF4-FFF2-40B4-BE49-F238E27FC236}">
                <a16:creationId xmlns:a16="http://schemas.microsoft.com/office/drawing/2014/main" id="{913B624C-1EEA-3AC6-B68D-F5BF535BEE0C}"/>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psycopg2.connect() with credentials</a:t>
            </a:r>
            <a:endParaRPr lang="en-DE" sz="4000" dirty="0">
              <a:latin typeface="Patrick Hand" pitchFamily="2" charset="77"/>
            </a:endParaRPr>
          </a:p>
        </p:txBody>
      </p:sp>
      <p:sp>
        <p:nvSpPr>
          <p:cNvPr id="10" name="Right Arrow 9">
            <a:extLst>
              <a:ext uri="{FF2B5EF4-FFF2-40B4-BE49-F238E27FC236}">
                <a16:creationId xmlns:a16="http://schemas.microsoft.com/office/drawing/2014/main" id="{77783B63-4072-FC1F-D84B-9FAE0AAD9041}"/>
              </a:ext>
            </a:extLst>
          </p:cNvPr>
          <p:cNvSpPr/>
          <p:nvPr/>
        </p:nvSpPr>
        <p:spPr>
          <a:xfrm>
            <a:off x="3449256" y="13623402"/>
            <a:ext cx="2696901" cy="671332"/>
          </a:xfrm>
          <a:prstGeom prst="rightArrow">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dirty="0">
                <a:latin typeface="Patrick Hand" pitchFamily="2" charset="77"/>
              </a:rPr>
              <a:t>Next</a:t>
            </a:r>
          </a:p>
        </p:txBody>
      </p:sp>
    </p:spTree>
    <p:extLst>
      <p:ext uri="{BB962C8B-B14F-4D97-AF65-F5344CB8AC3E}">
        <p14:creationId xmlns:p14="http://schemas.microsoft.com/office/powerpoint/2010/main" val="38346247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C7AEECF2-1D26-350E-64A5-655B45D37A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29BA40-05B7-B9EC-0886-4B8C6200A056}"/>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E084F14-015E-B59A-F189-55AA65FEEA9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8" name="Picture 7">
            <a:extLst>
              <a:ext uri="{FF2B5EF4-FFF2-40B4-BE49-F238E27FC236}">
                <a16:creationId xmlns:a16="http://schemas.microsoft.com/office/drawing/2014/main" id="{6DF56886-202C-8FB9-79F0-4FC3A96E245F}"/>
              </a:ext>
            </a:extLst>
          </p:cNvPr>
          <p:cNvPicPr preferRelativeResize="0">
            <a:picLocks/>
          </p:cNvPicPr>
          <p:nvPr/>
        </p:nvPicPr>
        <p:blipFill rotWithShape="1">
          <a:blip r:embed="rId3"/>
          <a:srcRect l="22619" t="23207" r="8384" b="10060"/>
          <a:stretch>
            <a:fillRect/>
          </a:stretch>
        </p:blipFill>
        <p:spPr>
          <a:xfrm>
            <a:off x="223034" y="4294800"/>
            <a:ext cx="9838800" cy="6876000"/>
          </a:xfrm>
          <a:prstGeom prst="rect">
            <a:avLst/>
          </a:prstGeom>
        </p:spPr>
      </p:pic>
      <p:sp>
        <p:nvSpPr>
          <p:cNvPr id="2" name="TextBox 1">
            <a:extLst>
              <a:ext uri="{FF2B5EF4-FFF2-40B4-BE49-F238E27FC236}">
                <a16:creationId xmlns:a16="http://schemas.microsoft.com/office/drawing/2014/main" id="{94B3EF2A-BBE8-3339-9239-7073C350DB0E}"/>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cursor, query execution &amp; error handling</a:t>
            </a:r>
            <a:endParaRPr lang="en-DE" sz="4000" dirty="0">
              <a:latin typeface="Patrick Hand" pitchFamily="2" charset="77"/>
            </a:endParaRPr>
          </a:p>
        </p:txBody>
      </p:sp>
    </p:spTree>
    <p:extLst>
      <p:ext uri="{BB962C8B-B14F-4D97-AF65-F5344CB8AC3E}">
        <p14:creationId xmlns:p14="http://schemas.microsoft.com/office/powerpoint/2010/main" val="14696143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06FAFD4-F5F6-C12B-6E9B-15B62498FC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C0807C0-2C79-D6DB-331C-2B703BDB9BC0}"/>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75F4B03F-99EE-3E09-A45B-D50B8996D33F}"/>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2" name="TextBox 1">
            <a:extLst>
              <a:ext uri="{FF2B5EF4-FFF2-40B4-BE49-F238E27FC236}">
                <a16:creationId xmlns:a16="http://schemas.microsoft.com/office/drawing/2014/main" id="{07BC8BF3-58ED-2079-1095-29046F58A5F6}"/>
              </a:ext>
            </a:extLst>
          </p:cNvPr>
          <p:cNvSpPr txBox="1"/>
          <p:nvPr/>
        </p:nvSpPr>
        <p:spPr>
          <a:xfrm>
            <a:off x="547157" y="10926693"/>
            <a:ext cx="1119360" cy="707886"/>
          </a:xfrm>
          <a:prstGeom prst="rect">
            <a:avLst/>
          </a:prstGeom>
          <a:noFill/>
        </p:spPr>
        <p:txBody>
          <a:bodyPr wrap="square" rtlCol="0">
            <a:spAutoFit/>
          </a:bodyPr>
          <a:lstStyle/>
          <a:p>
            <a:pPr algn="ctr"/>
            <a:r>
              <a:rPr lang="en-GB" sz="4000" dirty="0">
                <a:latin typeface="Patrick Hand" pitchFamily="2" charset="77"/>
              </a:rPr>
              <a:t>mat1</a:t>
            </a:r>
            <a:endParaRPr lang="en-DE" sz="4000" dirty="0">
              <a:latin typeface="Patrick Hand" pitchFamily="2" charset="77"/>
            </a:endParaRPr>
          </a:p>
        </p:txBody>
      </p:sp>
      <p:pic>
        <p:nvPicPr>
          <p:cNvPr id="3" name="Picture 2">
            <a:extLst>
              <a:ext uri="{FF2B5EF4-FFF2-40B4-BE49-F238E27FC236}">
                <a16:creationId xmlns:a16="http://schemas.microsoft.com/office/drawing/2014/main" id="{7641DFDB-1C55-66F2-801A-BDAA88320D5D}"/>
              </a:ext>
            </a:extLst>
          </p:cNvPr>
          <p:cNvPicPr>
            <a:picLocks/>
          </p:cNvPicPr>
          <p:nvPr/>
        </p:nvPicPr>
        <p:blipFill rotWithShape="1">
          <a:blip r:embed="rId4"/>
          <a:srcRect l="15093" t="29327" r="12045" b="18936"/>
          <a:stretch>
            <a:fillRect/>
          </a:stretch>
        </p:blipFill>
        <p:spPr>
          <a:xfrm>
            <a:off x="223306" y="4324349"/>
            <a:ext cx="9838800" cy="5400000"/>
          </a:xfrm>
          <a:prstGeom prst="rect">
            <a:avLst/>
          </a:prstGeom>
        </p:spPr>
      </p:pic>
      <p:sp>
        <p:nvSpPr>
          <p:cNvPr id="6" name="Double Bracket 5">
            <a:extLst>
              <a:ext uri="{FF2B5EF4-FFF2-40B4-BE49-F238E27FC236}">
                <a16:creationId xmlns:a16="http://schemas.microsoft.com/office/drawing/2014/main" id="{3604A4E8-0240-4921-7D16-393CEF8A083B}"/>
              </a:ext>
            </a:extLst>
          </p:cNvPr>
          <p:cNvSpPr/>
          <p:nvPr/>
        </p:nvSpPr>
        <p:spPr>
          <a:xfrm>
            <a:off x="18570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7" name="TextBox 6">
            <a:extLst>
              <a:ext uri="{FF2B5EF4-FFF2-40B4-BE49-F238E27FC236}">
                <a16:creationId xmlns:a16="http://schemas.microsoft.com/office/drawing/2014/main" id="{DE7C9993-A5C8-9995-EE57-E4AC6B63E5BD}"/>
              </a:ext>
            </a:extLst>
          </p:cNvPr>
          <p:cNvSpPr txBox="1"/>
          <p:nvPr/>
        </p:nvSpPr>
        <p:spPr>
          <a:xfrm>
            <a:off x="2185606" y="10637966"/>
            <a:ext cx="1486304" cy="1323439"/>
          </a:xfrm>
          <a:prstGeom prst="rect">
            <a:avLst/>
          </a:prstGeom>
          <a:noFill/>
        </p:spPr>
        <p:txBody>
          <a:bodyPr wrap="none" rtlCol="0">
            <a:spAutoFit/>
          </a:bodyPr>
          <a:lstStyle/>
          <a:p>
            <a:pPr algn="l"/>
            <a:r>
              <a:rPr lang="en-GB" sz="4000" dirty="0">
                <a:latin typeface="Patrick Hand" pitchFamily="2" charset="77"/>
              </a:rPr>
              <a:t>1       0</a:t>
            </a:r>
          </a:p>
          <a:p>
            <a:pPr algn="l"/>
            <a:r>
              <a:rPr lang="en-GB" sz="4000" dirty="0">
                <a:latin typeface="Patrick Hand" pitchFamily="2" charset="77"/>
              </a:rPr>
              <a:t>0      1</a:t>
            </a:r>
            <a:endParaRPr lang="en-DE" sz="4000" dirty="0">
              <a:latin typeface="Patrick Hand" pitchFamily="2" charset="77"/>
            </a:endParaRPr>
          </a:p>
        </p:txBody>
      </p:sp>
      <p:sp>
        <p:nvSpPr>
          <p:cNvPr id="10" name="TextBox 9">
            <a:extLst>
              <a:ext uri="{FF2B5EF4-FFF2-40B4-BE49-F238E27FC236}">
                <a16:creationId xmlns:a16="http://schemas.microsoft.com/office/drawing/2014/main" id="{737E4E51-638E-5418-E38F-AC097AD27851}"/>
              </a:ext>
            </a:extLst>
          </p:cNvPr>
          <p:cNvSpPr txBox="1"/>
          <p:nvPr/>
        </p:nvSpPr>
        <p:spPr>
          <a:xfrm>
            <a:off x="4800600" y="10926693"/>
            <a:ext cx="1285517" cy="707886"/>
          </a:xfrm>
          <a:prstGeom prst="rect">
            <a:avLst/>
          </a:prstGeom>
          <a:noFill/>
        </p:spPr>
        <p:txBody>
          <a:bodyPr wrap="square" rtlCol="0">
            <a:spAutoFit/>
          </a:bodyPr>
          <a:lstStyle/>
          <a:p>
            <a:pPr algn="ctr"/>
            <a:r>
              <a:rPr lang="en-GB" sz="4000" dirty="0">
                <a:latin typeface="Patrick Hand" pitchFamily="2" charset="77"/>
              </a:rPr>
              <a:t>mat2</a:t>
            </a:r>
            <a:endParaRPr lang="en-DE" sz="4000" dirty="0">
              <a:latin typeface="Patrick Hand" pitchFamily="2" charset="77"/>
            </a:endParaRPr>
          </a:p>
        </p:txBody>
      </p:sp>
      <p:sp>
        <p:nvSpPr>
          <p:cNvPr id="11" name="Double Bracket 10">
            <a:extLst>
              <a:ext uri="{FF2B5EF4-FFF2-40B4-BE49-F238E27FC236}">
                <a16:creationId xmlns:a16="http://schemas.microsoft.com/office/drawing/2014/main" id="{D0944FD2-43B0-3A23-02FC-4997520AA61E}"/>
              </a:ext>
            </a:extLst>
          </p:cNvPr>
          <p:cNvSpPr/>
          <p:nvPr/>
        </p:nvSpPr>
        <p:spPr>
          <a:xfrm>
            <a:off x="62766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2" name="TextBox 11">
            <a:extLst>
              <a:ext uri="{FF2B5EF4-FFF2-40B4-BE49-F238E27FC236}">
                <a16:creationId xmlns:a16="http://schemas.microsoft.com/office/drawing/2014/main" id="{A405B480-BE18-78F5-3C3B-AA01C64395A5}"/>
              </a:ext>
            </a:extLst>
          </p:cNvPr>
          <p:cNvSpPr txBox="1"/>
          <p:nvPr/>
        </p:nvSpPr>
        <p:spPr>
          <a:xfrm>
            <a:off x="6605206" y="10637966"/>
            <a:ext cx="1486304" cy="1323439"/>
          </a:xfrm>
          <a:prstGeom prst="rect">
            <a:avLst/>
          </a:prstGeom>
          <a:noFill/>
        </p:spPr>
        <p:txBody>
          <a:bodyPr wrap="none" rtlCol="0">
            <a:spAutoFit/>
          </a:bodyPr>
          <a:lstStyle/>
          <a:p>
            <a:pPr algn="l"/>
            <a:r>
              <a:rPr lang="en-GB" sz="4000" dirty="0">
                <a:latin typeface="Patrick Hand" pitchFamily="2" charset="77"/>
              </a:rPr>
              <a:t>5       6</a:t>
            </a:r>
          </a:p>
          <a:p>
            <a:pPr algn="l"/>
            <a:r>
              <a:rPr lang="en-GB" sz="4000" dirty="0">
                <a:latin typeface="Patrick Hand" pitchFamily="2" charset="77"/>
              </a:rPr>
              <a:t>7      8</a:t>
            </a:r>
            <a:endParaRPr lang="en-DE" sz="4000" dirty="0">
              <a:latin typeface="Patrick Hand" pitchFamily="2" charset="77"/>
            </a:endParaRPr>
          </a:p>
        </p:txBody>
      </p:sp>
    </p:spTree>
    <p:extLst>
      <p:ext uri="{BB962C8B-B14F-4D97-AF65-F5344CB8AC3E}">
        <p14:creationId xmlns:p14="http://schemas.microsoft.com/office/powerpoint/2010/main" val="15476704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73E1832-29C9-D816-2AFC-8ED79E1EE74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863E269-3916-C6D5-DDE8-4A1CCAC50739}"/>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1E4CC30-AB61-FE07-6341-2832FA65911F}"/>
              </a:ext>
            </a:extLst>
          </p:cNvPr>
          <p:cNvPicPr>
            <a:picLocks noChangeAspect="1"/>
          </p:cNvPicPr>
          <p:nvPr/>
        </p:nvPicPr>
        <p:blipFill>
          <a:blip r:embed="rId3"/>
          <a:stretch>
            <a:fillRect/>
          </a:stretch>
        </p:blipFill>
        <p:spPr>
          <a:xfrm>
            <a:off x="279499" y="3138586"/>
            <a:ext cx="1063167" cy="1063167"/>
          </a:xfrm>
          <a:prstGeom prst="rect">
            <a:avLst/>
          </a:prstGeom>
        </p:spPr>
      </p:pic>
      <p:pic>
        <p:nvPicPr>
          <p:cNvPr id="6" name="Picture 5">
            <a:extLst>
              <a:ext uri="{FF2B5EF4-FFF2-40B4-BE49-F238E27FC236}">
                <a16:creationId xmlns:a16="http://schemas.microsoft.com/office/drawing/2014/main" id="{C2101CF4-889C-1C14-B8AE-5772AC3763CE}"/>
              </a:ext>
            </a:extLst>
          </p:cNvPr>
          <p:cNvPicPr preferRelativeResize="0">
            <a:picLocks/>
          </p:cNvPicPr>
          <p:nvPr/>
        </p:nvPicPr>
        <p:blipFill rotWithShape="1">
          <a:blip r:embed="rId4"/>
          <a:srcRect l="16394" t="24152" r="12341" b="15258"/>
          <a:stretch>
            <a:fillRect/>
          </a:stretch>
        </p:blipFill>
        <p:spPr>
          <a:xfrm>
            <a:off x="223034" y="4324349"/>
            <a:ext cx="9838800" cy="5400000"/>
          </a:xfrm>
          <a:prstGeom prst="rect">
            <a:avLst/>
          </a:prstGeom>
        </p:spPr>
      </p:pic>
      <p:sp>
        <p:nvSpPr>
          <p:cNvPr id="12" name="TextBox 11">
            <a:extLst>
              <a:ext uri="{FF2B5EF4-FFF2-40B4-BE49-F238E27FC236}">
                <a16:creationId xmlns:a16="http://schemas.microsoft.com/office/drawing/2014/main" id="{D4CF9064-4B2F-79EC-6A8B-6CEC0D54E5C1}"/>
              </a:ext>
            </a:extLst>
          </p:cNvPr>
          <p:cNvSpPr txBox="1"/>
          <p:nvPr/>
        </p:nvSpPr>
        <p:spPr>
          <a:xfrm>
            <a:off x="1961356" y="10221843"/>
            <a:ext cx="4028717" cy="1323439"/>
          </a:xfrm>
          <a:prstGeom prst="rect">
            <a:avLst/>
          </a:prstGeom>
          <a:noFill/>
        </p:spPr>
        <p:txBody>
          <a:bodyPr wrap="square" rtlCol="0">
            <a:spAutoFit/>
          </a:bodyPr>
          <a:lstStyle/>
          <a:p>
            <a:pPr algn="ctr"/>
            <a:r>
              <a:rPr lang="en-GB" sz="4000" dirty="0">
                <a:latin typeface="Patrick Hand" pitchFamily="2" charset="77"/>
              </a:rPr>
              <a:t>multiplication1</a:t>
            </a:r>
          </a:p>
          <a:p>
            <a:pPr algn="ctr"/>
            <a:r>
              <a:rPr lang="en-GB" sz="4000" dirty="0">
                <a:latin typeface="Patrick Hand" pitchFamily="2" charset="77"/>
              </a:rPr>
              <a:t>multiplication2</a:t>
            </a:r>
          </a:p>
        </p:txBody>
      </p:sp>
      <p:sp>
        <p:nvSpPr>
          <p:cNvPr id="13" name="Double Bracket 12">
            <a:extLst>
              <a:ext uri="{FF2B5EF4-FFF2-40B4-BE49-F238E27FC236}">
                <a16:creationId xmlns:a16="http://schemas.microsoft.com/office/drawing/2014/main" id="{3D73C771-62B0-4F9A-1677-D41FAAD1BD81}"/>
              </a:ext>
            </a:extLst>
          </p:cNvPr>
          <p:cNvSpPr/>
          <p:nvPr/>
        </p:nvSpPr>
        <p:spPr>
          <a:xfrm>
            <a:off x="6180572" y="98804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4" name="TextBox 13">
            <a:extLst>
              <a:ext uri="{FF2B5EF4-FFF2-40B4-BE49-F238E27FC236}">
                <a16:creationId xmlns:a16="http://schemas.microsoft.com/office/drawing/2014/main" id="{3E830A40-53C6-756D-6B3B-A30123F981C3}"/>
              </a:ext>
            </a:extLst>
          </p:cNvPr>
          <p:cNvSpPr txBox="1"/>
          <p:nvPr/>
        </p:nvSpPr>
        <p:spPr>
          <a:xfrm>
            <a:off x="6509162" y="10295066"/>
            <a:ext cx="1486304" cy="1323439"/>
          </a:xfrm>
          <a:prstGeom prst="rect">
            <a:avLst/>
          </a:prstGeom>
          <a:noFill/>
        </p:spPr>
        <p:txBody>
          <a:bodyPr wrap="none" rtlCol="0">
            <a:spAutoFit/>
          </a:bodyPr>
          <a:lstStyle/>
          <a:p>
            <a:pPr algn="ctr"/>
            <a:r>
              <a:rPr lang="en-GB" sz="4000" dirty="0">
                <a:latin typeface="Patrick Hand" pitchFamily="2" charset="77"/>
              </a:rPr>
              <a:t>5       6</a:t>
            </a:r>
          </a:p>
          <a:p>
            <a:pPr algn="ctr"/>
            <a:r>
              <a:rPr lang="en-GB" sz="4000" dirty="0">
                <a:latin typeface="Patrick Hand" pitchFamily="2" charset="77"/>
              </a:rPr>
              <a:t>7      8</a:t>
            </a:r>
            <a:endParaRPr lang="en-DE" sz="4000" dirty="0">
              <a:latin typeface="Patrick Hand" pitchFamily="2" charset="77"/>
            </a:endParaRPr>
          </a:p>
        </p:txBody>
      </p:sp>
      <p:grpSp>
        <p:nvGrpSpPr>
          <p:cNvPr id="19" name="Group 18">
            <a:extLst>
              <a:ext uri="{FF2B5EF4-FFF2-40B4-BE49-F238E27FC236}">
                <a16:creationId xmlns:a16="http://schemas.microsoft.com/office/drawing/2014/main" id="{AA50E18C-1F43-9739-7A72-579F64E83C62}"/>
              </a:ext>
            </a:extLst>
          </p:cNvPr>
          <p:cNvGrpSpPr/>
          <p:nvPr/>
        </p:nvGrpSpPr>
        <p:grpSpPr>
          <a:xfrm>
            <a:off x="266700" y="12318861"/>
            <a:ext cx="8057356" cy="2114550"/>
            <a:chOff x="419100" y="12318861"/>
            <a:chExt cx="8057356" cy="2114550"/>
          </a:xfrm>
        </p:grpSpPr>
        <p:sp>
          <p:nvSpPr>
            <p:cNvPr id="16" name="TextBox 15">
              <a:extLst>
                <a:ext uri="{FF2B5EF4-FFF2-40B4-BE49-F238E27FC236}">
                  <a16:creationId xmlns:a16="http://schemas.microsoft.com/office/drawing/2014/main" id="{B6945A97-02AD-B5B2-46CC-C8944A7510E7}"/>
                </a:ext>
              </a:extLst>
            </p:cNvPr>
            <p:cNvSpPr txBox="1"/>
            <p:nvPr/>
          </p:nvSpPr>
          <p:spPr>
            <a:xfrm>
              <a:off x="419100" y="12660243"/>
              <a:ext cx="5723373" cy="707886"/>
            </a:xfrm>
            <a:prstGeom prst="rect">
              <a:avLst/>
            </a:prstGeom>
            <a:noFill/>
          </p:spPr>
          <p:txBody>
            <a:bodyPr wrap="square" rtlCol="0">
              <a:spAutoFit/>
            </a:bodyPr>
            <a:lstStyle/>
            <a:p>
              <a:pPr algn="ctr"/>
              <a:r>
                <a:rPr lang="en-GB" sz="4000" dirty="0" err="1">
                  <a:latin typeface="Patrick Hand" pitchFamily="2" charset="77"/>
                </a:rPr>
                <a:t>element_wise_multiplication</a:t>
              </a:r>
              <a:endParaRPr lang="en-GB" sz="4000" dirty="0">
                <a:latin typeface="Patrick Hand" pitchFamily="2" charset="77"/>
              </a:endParaRPr>
            </a:p>
          </p:txBody>
        </p:sp>
        <p:sp>
          <p:nvSpPr>
            <p:cNvPr id="17" name="Double Bracket 16">
              <a:extLst>
                <a:ext uri="{FF2B5EF4-FFF2-40B4-BE49-F238E27FC236}">
                  <a16:creationId xmlns:a16="http://schemas.microsoft.com/office/drawing/2014/main" id="{0CD5E1D3-E079-2748-5105-2054DBB702C4}"/>
                </a:ext>
              </a:extLst>
            </p:cNvPr>
            <p:cNvSpPr/>
            <p:nvPr/>
          </p:nvSpPr>
          <p:spPr>
            <a:xfrm>
              <a:off x="6332972" y="123188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3A189EE-5A50-41F1-DE40-919E33FB4306}"/>
                </a:ext>
              </a:extLst>
            </p:cNvPr>
            <p:cNvSpPr txBox="1"/>
            <p:nvPr/>
          </p:nvSpPr>
          <p:spPr>
            <a:xfrm>
              <a:off x="6661562" y="12733466"/>
              <a:ext cx="1486304" cy="1323439"/>
            </a:xfrm>
            <a:prstGeom prst="rect">
              <a:avLst/>
            </a:prstGeom>
            <a:noFill/>
          </p:spPr>
          <p:txBody>
            <a:bodyPr wrap="none" rtlCol="0">
              <a:spAutoFit/>
            </a:bodyPr>
            <a:lstStyle/>
            <a:p>
              <a:pPr algn="ctr"/>
              <a:r>
                <a:rPr lang="en-GB" sz="4000" dirty="0">
                  <a:latin typeface="Patrick Hand" pitchFamily="2" charset="77"/>
                </a:rPr>
                <a:t>5       0</a:t>
              </a:r>
            </a:p>
            <a:p>
              <a:pPr algn="ctr"/>
              <a:r>
                <a:rPr lang="en-GB" sz="4000" dirty="0">
                  <a:latin typeface="Patrick Hand" pitchFamily="2" charset="77"/>
                </a:rPr>
                <a:t>0      8</a:t>
              </a:r>
              <a:endParaRPr lang="en-DE" sz="4000" dirty="0">
                <a:latin typeface="Patrick Hand" pitchFamily="2" charset="77"/>
              </a:endParaRPr>
            </a:p>
          </p:txBody>
        </p:sp>
      </p:grpSp>
    </p:spTree>
    <p:extLst>
      <p:ext uri="{BB962C8B-B14F-4D97-AF65-F5344CB8AC3E}">
        <p14:creationId xmlns:p14="http://schemas.microsoft.com/office/powerpoint/2010/main" val="141981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DB5F593-22A7-F7C6-F23D-6320A11735D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10C963E-2F72-2382-301F-E246F8CC0991}"/>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9E52F5F7-D172-577A-5DA6-E0287F4FBC45}"/>
              </a:ext>
            </a:extLst>
          </p:cNvPr>
          <p:cNvPicPr>
            <a:picLocks noChangeAspect="1"/>
          </p:cNvPicPr>
          <p:nvPr/>
        </p:nvPicPr>
        <p:blipFill>
          <a:blip r:embed="rId2"/>
          <a:stretch>
            <a:fillRect/>
          </a:stretch>
        </p:blipFill>
        <p:spPr>
          <a:xfrm>
            <a:off x="291074" y="3127011"/>
            <a:ext cx="1063167" cy="1063167"/>
          </a:xfrm>
          <a:prstGeom prst="rect">
            <a:avLst/>
          </a:prstGeom>
        </p:spPr>
      </p:pic>
      <p:sp>
        <p:nvSpPr>
          <p:cNvPr id="7" name="TextBox 6">
            <a:extLst>
              <a:ext uri="{FF2B5EF4-FFF2-40B4-BE49-F238E27FC236}">
                <a16:creationId xmlns:a16="http://schemas.microsoft.com/office/drawing/2014/main" id="{1B5A4101-4D5E-685F-3D48-05D3473EA11A}"/>
              </a:ext>
            </a:extLst>
          </p:cNvPr>
          <p:cNvSpPr txBox="1"/>
          <p:nvPr/>
        </p:nvSpPr>
        <p:spPr>
          <a:xfrm>
            <a:off x="354856" y="5400675"/>
            <a:ext cx="1861407"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nput_1 (1)</a:t>
            </a:r>
          </a:p>
        </p:txBody>
      </p:sp>
      <p:sp>
        <p:nvSpPr>
          <p:cNvPr id="8" name="TextBox 7">
            <a:extLst>
              <a:ext uri="{FF2B5EF4-FFF2-40B4-BE49-F238E27FC236}">
                <a16:creationId xmlns:a16="http://schemas.microsoft.com/office/drawing/2014/main" id="{30BDDEC7-07A9-4C1F-095E-F840C48C28C1}"/>
              </a:ext>
            </a:extLst>
          </p:cNvPr>
          <p:cNvSpPr txBox="1"/>
          <p:nvPr/>
        </p:nvSpPr>
        <p:spPr>
          <a:xfrm>
            <a:off x="354856" y="6381749"/>
            <a:ext cx="194796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nput_2 (2)</a:t>
            </a:r>
          </a:p>
        </p:txBody>
      </p:sp>
      <p:sp>
        <p:nvSpPr>
          <p:cNvPr id="9" name="TextBox 8">
            <a:extLst>
              <a:ext uri="{FF2B5EF4-FFF2-40B4-BE49-F238E27FC236}">
                <a16:creationId xmlns:a16="http://schemas.microsoft.com/office/drawing/2014/main" id="{D5F95503-4F39-14C6-EC5B-2CB100E5B254}"/>
              </a:ext>
            </a:extLst>
          </p:cNvPr>
          <p:cNvSpPr txBox="1"/>
          <p:nvPr/>
        </p:nvSpPr>
        <p:spPr>
          <a:xfrm>
            <a:off x="354856" y="7362823"/>
            <a:ext cx="193193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nput_3 (3)</a:t>
            </a:r>
          </a:p>
        </p:txBody>
      </p:sp>
      <p:sp>
        <p:nvSpPr>
          <p:cNvPr id="10" name="TextBox 9">
            <a:extLst>
              <a:ext uri="{FF2B5EF4-FFF2-40B4-BE49-F238E27FC236}">
                <a16:creationId xmlns:a16="http://schemas.microsoft.com/office/drawing/2014/main" id="{F7C649D4-DE2C-F795-4DB1-53DC1B32585B}"/>
              </a:ext>
            </a:extLst>
          </p:cNvPr>
          <p:cNvSpPr txBox="1"/>
          <p:nvPr/>
        </p:nvSpPr>
        <p:spPr>
          <a:xfrm>
            <a:off x="2903563" y="5400675"/>
            <a:ext cx="1136850"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W=0.2</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1" name="TextBox 10">
            <a:extLst>
              <a:ext uri="{FF2B5EF4-FFF2-40B4-BE49-F238E27FC236}">
                <a16:creationId xmlns:a16="http://schemas.microsoft.com/office/drawing/2014/main" id="{D71766CC-D5F7-0298-B8C9-A8FEBC5996A5}"/>
              </a:ext>
            </a:extLst>
          </p:cNvPr>
          <p:cNvSpPr txBox="1"/>
          <p:nvPr/>
        </p:nvSpPr>
        <p:spPr>
          <a:xfrm>
            <a:off x="2903563" y="6381749"/>
            <a:ext cx="11224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W=0.8</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5" name="TextBox 14">
            <a:extLst>
              <a:ext uri="{FF2B5EF4-FFF2-40B4-BE49-F238E27FC236}">
                <a16:creationId xmlns:a16="http://schemas.microsoft.com/office/drawing/2014/main" id="{C3A124B6-7FA6-7235-5D56-D70495203681}"/>
              </a:ext>
            </a:extLst>
          </p:cNvPr>
          <p:cNvSpPr txBox="1"/>
          <p:nvPr/>
        </p:nvSpPr>
        <p:spPr>
          <a:xfrm>
            <a:off x="2903563" y="7362823"/>
            <a:ext cx="12827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W=-0.5</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21" name="Straight Arrow Connector 20">
            <a:extLst>
              <a:ext uri="{FF2B5EF4-FFF2-40B4-BE49-F238E27FC236}">
                <a16:creationId xmlns:a16="http://schemas.microsoft.com/office/drawing/2014/main" id="{C147649A-AC9E-4667-56D1-32532B2FA84B}"/>
              </a:ext>
            </a:extLst>
          </p:cNvPr>
          <p:cNvCxnSpPr>
            <a:cxnSpLocks/>
          </p:cNvCxnSpPr>
          <p:nvPr/>
        </p:nvCxnSpPr>
        <p:spPr>
          <a:xfrm>
            <a:off x="2216263" y="569306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3D96E72-68DA-4919-D974-9EE861F57CA9}"/>
              </a:ext>
            </a:extLst>
          </p:cNvPr>
          <p:cNvCxnSpPr>
            <a:cxnSpLocks/>
          </p:cNvCxnSpPr>
          <p:nvPr/>
        </p:nvCxnSpPr>
        <p:spPr>
          <a:xfrm>
            <a:off x="2216263" y="7655211"/>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22849C2-E97B-8D26-9255-7FAE234652F1}"/>
              </a:ext>
            </a:extLst>
          </p:cNvPr>
          <p:cNvCxnSpPr>
            <a:cxnSpLocks/>
          </p:cNvCxnSpPr>
          <p:nvPr/>
        </p:nvCxnSpPr>
        <p:spPr>
          <a:xfrm>
            <a:off x="3974658" y="5659219"/>
            <a:ext cx="1187089" cy="503567"/>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AAEFF39A-6BF7-B560-0FF9-21210E08C82F}"/>
              </a:ext>
            </a:extLst>
          </p:cNvPr>
          <p:cNvCxnSpPr>
            <a:cxnSpLocks/>
            <a:stCxn id="11" idx="3"/>
            <a:endCxn id="33" idx="1"/>
          </p:cNvCxnSpPr>
          <p:nvPr/>
        </p:nvCxnSpPr>
        <p:spPr>
          <a:xfrm flipV="1">
            <a:off x="4025986" y="6657485"/>
            <a:ext cx="1121334" cy="16652"/>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FA9FA9F-8460-EF02-4578-A496A8C0BC81}"/>
              </a:ext>
            </a:extLst>
          </p:cNvPr>
          <p:cNvCxnSpPr>
            <a:cxnSpLocks/>
          </p:cNvCxnSpPr>
          <p:nvPr/>
        </p:nvCxnSpPr>
        <p:spPr>
          <a:xfrm flipV="1">
            <a:off x="4198044" y="7184993"/>
            <a:ext cx="963703" cy="466033"/>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5E346C75-2443-DB10-1736-9540B5634B55}"/>
              </a:ext>
            </a:extLst>
          </p:cNvPr>
          <p:cNvSpPr txBox="1"/>
          <p:nvPr/>
        </p:nvSpPr>
        <p:spPr>
          <a:xfrm>
            <a:off x="5147320" y="6180431"/>
            <a:ext cx="4783237" cy="954107"/>
          </a:xfrm>
          <a:prstGeom prst="rect">
            <a:avLst/>
          </a:prstGeom>
          <a:noFill/>
        </p:spPr>
        <p:txBody>
          <a:bodyPr wrap="square" rtlCol="0">
            <a:spAutoFit/>
          </a:bodyPr>
          <a:lstStyle/>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neuron ] + bias(0.7)     --&gt; output</a:t>
            </a:r>
          </a:p>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1*0.2+2*0.8+3*-0.5+0.7 --&gt; 1.0</a:t>
            </a:r>
            <a:endParaRPr lang="en-DE"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50" name="Straight Arrow Connector 49">
            <a:extLst>
              <a:ext uri="{FF2B5EF4-FFF2-40B4-BE49-F238E27FC236}">
                <a16:creationId xmlns:a16="http://schemas.microsoft.com/office/drawing/2014/main" id="{57CF8DB9-8828-FEB8-62F0-2F7CBA38D004}"/>
              </a:ext>
            </a:extLst>
          </p:cNvPr>
          <p:cNvCxnSpPr>
            <a:cxnSpLocks/>
          </p:cNvCxnSpPr>
          <p:nvPr/>
        </p:nvCxnSpPr>
        <p:spPr>
          <a:xfrm>
            <a:off x="2216263" y="667125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1C59D28F-ECC7-6381-3E2A-D37F93FA68E2}"/>
              </a:ext>
            </a:extLst>
          </p:cNvPr>
          <p:cNvSpPr txBox="1"/>
          <p:nvPr/>
        </p:nvSpPr>
        <p:spPr>
          <a:xfrm>
            <a:off x="257326" y="8603455"/>
            <a:ext cx="9770760" cy="923330"/>
          </a:xfrm>
          <a:prstGeom prst="rect">
            <a:avLst/>
          </a:prstGeom>
          <a:noFill/>
        </p:spPr>
        <p:txBody>
          <a:bodyPr wrap="square" rtlCol="0">
            <a:spAutoFit/>
          </a:bodyPr>
          <a:lstStyle/>
          <a:p>
            <a:pPr algn="ctr"/>
            <a:r>
              <a:rPr lang="en-GB" sz="5400" dirty="0">
                <a:latin typeface="Patrick Hand" pitchFamily="2" charset="77"/>
              </a:rPr>
              <a:t>Simulating a Neural Network Neuron</a:t>
            </a:r>
          </a:p>
        </p:txBody>
      </p:sp>
      <p:sp>
        <p:nvSpPr>
          <p:cNvPr id="53" name="Right Arrow 52">
            <a:extLst>
              <a:ext uri="{FF2B5EF4-FFF2-40B4-BE49-F238E27FC236}">
                <a16:creationId xmlns:a16="http://schemas.microsoft.com/office/drawing/2014/main" id="{4E9F9069-8009-7877-35F7-B66768C848FD}"/>
              </a:ext>
            </a:extLst>
          </p:cNvPr>
          <p:cNvSpPr/>
          <p:nvPr/>
        </p:nvSpPr>
        <p:spPr>
          <a:xfrm>
            <a:off x="4407297" y="9715493"/>
            <a:ext cx="1470818" cy="700087"/>
          </a:xfrm>
          <a:prstGeom prst="rightArrow">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5400" b="1" dirty="0">
              <a:ln/>
              <a:solidFill>
                <a:schemeClr val="accent4"/>
              </a:solidFill>
            </a:endParaRPr>
          </a:p>
        </p:txBody>
      </p:sp>
      <p:sp>
        <p:nvSpPr>
          <p:cNvPr id="69" name="TextBox 68">
            <a:extLst>
              <a:ext uri="{FF2B5EF4-FFF2-40B4-BE49-F238E27FC236}">
                <a16:creationId xmlns:a16="http://schemas.microsoft.com/office/drawing/2014/main" id="{38436260-86E2-8F6A-CCB5-3F8C254C2B47}"/>
              </a:ext>
            </a:extLst>
          </p:cNvPr>
          <p:cNvSpPr txBox="1"/>
          <p:nvPr/>
        </p:nvSpPr>
        <p:spPr>
          <a:xfrm>
            <a:off x="2403129" y="5344904"/>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0" name="TextBox 69">
            <a:extLst>
              <a:ext uri="{FF2B5EF4-FFF2-40B4-BE49-F238E27FC236}">
                <a16:creationId xmlns:a16="http://schemas.microsoft.com/office/drawing/2014/main" id="{9C5A7313-7CE5-5750-A6EB-3746A27840D5}"/>
              </a:ext>
            </a:extLst>
          </p:cNvPr>
          <p:cNvSpPr txBox="1"/>
          <p:nvPr/>
        </p:nvSpPr>
        <p:spPr>
          <a:xfrm>
            <a:off x="2403129" y="6325987"/>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1" name="TextBox 70">
            <a:extLst>
              <a:ext uri="{FF2B5EF4-FFF2-40B4-BE49-F238E27FC236}">
                <a16:creationId xmlns:a16="http://schemas.microsoft.com/office/drawing/2014/main" id="{426AB5B8-9702-9702-F287-AF64429BF63F}"/>
              </a:ext>
            </a:extLst>
          </p:cNvPr>
          <p:cNvSpPr txBox="1"/>
          <p:nvPr/>
        </p:nvSpPr>
        <p:spPr>
          <a:xfrm>
            <a:off x="2403129" y="7321359"/>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2" name="TextBox 71">
            <a:extLst>
              <a:ext uri="{FF2B5EF4-FFF2-40B4-BE49-F238E27FC236}">
                <a16:creationId xmlns:a16="http://schemas.microsoft.com/office/drawing/2014/main" id="{8EC09BB0-E57C-AE3C-30E1-F01CFA061AE1}"/>
              </a:ext>
            </a:extLst>
          </p:cNvPr>
          <p:cNvSpPr txBox="1"/>
          <p:nvPr/>
        </p:nvSpPr>
        <p:spPr>
          <a:xfrm>
            <a:off x="4461601" y="5454823"/>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3" name="TextBox 72">
            <a:extLst>
              <a:ext uri="{FF2B5EF4-FFF2-40B4-BE49-F238E27FC236}">
                <a16:creationId xmlns:a16="http://schemas.microsoft.com/office/drawing/2014/main" id="{F8C275E1-95D1-7788-FD38-737D481A516B}"/>
              </a:ext>
            </a:extLst>
          </p:cNvPr>
          <p:cNvSpPr txBox="1"/>
          <p:nvPr/>
        </p:nvSpPr>
        <p:spPr>
          <a:xfrm>
            <a:off x="4461601" y="6207301"/>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4" name="TextBox 73">
            <a:extLst>
              <a:ext uri="{FF2B5EF4-FFF2-40B4-BE49-F238E27FC236}">
                <a16:creationId xmlns:a16="http://schemas.microsoft.com/office/drawing/2014/main" id="{D74AB11F-293E-6CEB-6C3F-B5A37EE0D1A1}"/>
              </a:ext>
            </a:extLst>
          </p:cNvPr>
          <p:cNvSpPr txBox="1"/>
          <p:nvPr/>
        </p:nvSpPr>
        <p:spPr>
          <a:xfrm>
            <a:off x="4461601" y="7259825"/>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6539036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F15DE27B-1219-010D-A0CC-0C624B04B0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3EAECC4-BF72-B536-16FB-2F5B94CC168C}"/>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dirty="0">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42862CE5-591E-D9DA-4C37-412B89A95A26}"/>
              </a:ext>
            </a:extLst>
          </p:cNvPr>
          <p:cNvPicPr>
            <a:picLocks noChangeAspect="1"/>
          </p:cNvPicPr>
          <p:nvPr/>
        </p:nvPicPr>
        <p:blipFill>
          <a:blip r:embed="rId2"/>
          <a:stretch>
            <a:fillRect/>
          </a:stretch>
        </p:blipFill>
        <p:spPr>
          <a:xfrm>
            <a:off x="291074" y="3127011"/>
            <a:ext cx="1063167" cy="1063167"/>
          </a:xfrm>
          <a:prstGeom prst="rect">
            <a:avLst/>
          </a:prstGeom>
        </p:spPr>
      </p:pic>
      <p:pic>
        <p:nvPicPr>
          <p:cNvPr id="19" name="Picture 18">
            <a:extLst>
              <a:ext uri="{FF2B5EF4-FFF2-40B4-BE49-F238E27FC236}">
                <a16:creationId xmlns:a16="http://schemas.microsoft.com/office/drawing/2014/main" id="{8DBDB357-2436-AA41-D93C-EFD7EC3A5038}"/>
              </a:ext>
            </a:extLst>
          </p:cNvPr>
          <p:cNvPicPr>
            <a:picLocks noChangeAspect="1"/>
          </p:cNvPicPr>
          <p:nvPr/>
        </p:nvPicPr>
        <p:blipFill rotWithShape="1">
          <a:blip r:embed="rId3"/>
          <a:srcRect l="17451" t="29971" r="12948" b="18920"/>
          <a:stretch>
            <a:fillRect/>
          </a:stretch>
        </p:blipFill>
        <p:spPr>
          <a:xfrm>
            <a:off x="223306" y="4359728"/>
            <a:ext cx="9838800" cy="4872548"/>
          </a:xfrm>
          <a:prstGeom prst="rect">
            <a:avLst/>
          </a:prstGeom>
        </p:spPr>
      </p:pic>
    </p:spTree>
    <p:extLst>
      <p:ext uri="{BB962C8B-B14F-4D97-AF65-F5344CB8AC3E}">
        <p14:creationId xmlns:p14="http://schemas.microsoft.com/office/powerpoint/2010/main" val="12318238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wdUpDiag">
          <a:fgClr>
            <a:schemeClr val="accent4">
              <a:lumMod val="40000"/>
              <a:lumOff val="60000"/>
            </a:schemeClr>
          </a:fgClr>
          <a:bgClr>
            <a:schemeClr val="bg1"/>
          </a:bgClr>
        </a:pattFill>
        <a:effectLst/>
      </p:bgPr>
    </p:bg>
    <p:spTree>
      <p:nvGrpSpPr>
        <p:cNvPr id="1" name="">
          <a:extLst>
            <a:ext uri="{FF2B5EF4-FFF2-40B4-BE49-F238E27FC236}">
              <a16:creationId xmlns:a16="http://schemas.microsoft.com/office/drawing/2014/main" id="{8244C819-49D4-2478-51DF-35987C93D1D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EED02A7-15EC-9420-B376-27C7B0439D2A}"/>
              </a:ext>
            </a:extLst>
          </p:cNvPr>
          <p:cNvSpPr txBox="1"/>
          <p:nvPr/>
        </p:nvSpPr>
        <p:spPr>
          <a:xfrm>
            <a:off x="223306" y="3104679"/>
            <a:ext cx="9838800" cy="1097069"/>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EC945671-D56F-73AF-74E7-39B4F401998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017DA81B-CB17-D319-D44F-D94C41812147}"/>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C3F6864D-C25D-5FB0-CC23-8BF0E04035E7}"/>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F3F4DDF6-9548-B16A-87B6-39CC7B77F4B4}"/>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D2D03F7B-5243-EAC7-815F-F29C190673A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C475396-5259-3DC2-656A-03F60E49B3AD}"/>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E824B7D0-482C-2536-8C05-097384E1997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1334A83A-7DFD-30B1-1C2E-0A89D9C5101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2DD77596-9CAA-AA90-E86A-750377068BE7}"/>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F538BA2-DA03-A127-55E8-8FA78517E1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0F2FB275-C0F1-E3C9-A011-DB304C3107E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28B98EED-0A41-55CC-1A32-FAF27CBC1848}"/>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70731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33691B4-A2E6-C41F-CF0E-9909EBD21DA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9D605D8-189D-2739-B1D9-911B7D2EFC4B}"/>
              </a:ext>
            </a:extLst>
          </p:cNvPr>
          <p:cNvSpPr txBox="1"/>
          <p:nvPr/>
        </p:nvSpPr>
        <p:spPr>
          <a:xfrm>
            <a:off x="223579" y="3104679"/>
            <a:ext cx="9838255" cy="1097069"/>
          </a:xfrm>
          <a:prstGeom prst="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GB" sz="5400" dirty="0">
                <a:ln w="0"/>
                <a:solidFill>
                  <a:schemeClr val="tx1"/>
                </a:solidFill>
                <a:effectLst>
                  <a:outerShdw blurRad="38100" dist="19050" dir="2700000" algn="tl" rotWithShape="0">
                    <a:schemeClr val="dk1">
                      <a:alpha val="40000"/>
                    </a:schemeClr>
                  </a:outerShdw>
                </a:effectLst>
              </a:rPr>
              <a:t>Don't Let </a:t>
            </a:r>
            <a:r>
              <a:rPr lang="en-GB" sz="5400" dirty="0" err="1">
                <a:ln w="0"/>
                <a:solidFill>
                  <a:schemeClr val="tx1"/>
                </a:solidFill>
                <a:effectLst>
                  <a:outerShdw blurRad="38100" dist="19050" dir="2700000" algn="tl" rotWithShape="0">
                    <a:schemeClr val="dk1">
                      <a:alpha val="40000"/>
                    </a:schemeClr>
                  </a:outerShdw>
                </a:effectLst>
              </a:rPr>
              <a:t>NaNs</a:t>
            </a:r>
            <a:r>
              <a:rPr lang="en-GB" sz="5400" dirty="0">
                <a:ln w="0"/>
                <a:solidFill>
                  <a:schemeClr val="tx1"/>
                </a:solidFill>
                <a:effectLst>
                  <a:outerShdw blurRad="38100" dist="19050" dir="2700000" algn="tl" rotWithShape="0">
                    <a:schemeClr val="dk1">
                      <a:alpha val="40000"/>
                    </a:schemeClr>
                  </a:outerShdw>
                </a:effectLst>
              </a:rPr>
              <a:t> Ruin Your Data!</a:t>
            </a:r>
            <a:endParaRPr lang="en-GB" sz="1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B4B5B41F-56C2-D8F0-CA8B-FDE8BB45994A}"/>
              </a:ext>
            </a:extLst>
          </p:cNvPr>
          <p:cNvPicPr>
            <a:picLocks noChangeAspect="1"/>
          </p:cNvPicPr>
          <p:nvPr/>
        </p:nvPicPr>
        <p:blipFill>
          <a:blip r:embed="rId3"/>
          <a:stretch>
            <a:fillRect/>
          </a:stretch>
        </p:blipFill>
        <p:spPr>
          <a:xfrm>
            <a:off x="291074" y="3127011"/>
            <a:ext cx="1063167" cy="1063167"/>
          </a:xfrm>
          <a:prstGeom prst="rect">
            <a:avLst/>
          </a:prstGeom>
        </p:spPr>
      </p:pic>
      <p:pic>
        <p:nvPicPr>
          <p:cNvPr id="3" name="Picture 2">
            <a:extLst>
              <a:ext uri="{FF2B5EF4-FFF2-40B4-BE49-F238E27FC236}">
                <a16:creationId xmlns:a16="http://schemas.microsoft.com/office/drawing/2014/main" id="{BFD286B6-CBCB-B8AC-358A-062FD4BF8E8B}"/>
              </a:ext>
            </a:extLst>
          </p:cNvPr>
          <p:cNvPicPr>
            <a:picLocks noChangeAspect="1"/>
          </p:cNvPicPr>
          <p:nvPr/>
        </p:nvPicPr>
        <p:blipFill rotWithShape="1">
          <a:blip r:embed="rId4"/>
          <a:srcRect l="16305" t="17094" r="9680" b="11092"/>
          <a:stretch>
            <a:fillRect/>
          </a:stretch>
        </p:blipFill>
        <p:spPr>
          <a:xfrm>
            <a:off x="223306" y="4260741"/>
            <a:ext cx="9838800" cy="8846883"/>
          </a:xfrm>
          <a:prstGeom prst="rect">
            <a:avLst/>
          </a:prstGeom>
        </p:spPr>
      </p:pic>
      <p:cxnSp>
        <p:nvCxnSpPr>
          <p:cNvPr id="6" name="Straight Connector 5">
            <a:extLst>
              <a:ext uri="{FF2B5EF4-FFF2-40B4-BE49-F238E27FC236}">
                <a16:creationId xmlns:a16="http://schemas.microsoft.com/office/drawing/2014/main" id="{EBA098F1-605B-1D3A-CF09-A6E348C8683E}"/>
              </a:ext>
            </a:extLst>
          </p:cNvPr>
          <p:cNvCxnSpPr>
            <a:cxnSpLocks/>
          </p:cNvCxnSpPr>
          <p:nvPr/>
        </p:nvCxnSpPr>
        <p:spPr>
          <a:xfrm>
            <a:off x="221448" y="895937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5A57466A-4EF9-7DB5-6ED2-6704113F3AB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10004712"/>
            <a:ext cx="914400" cy="914400"/>
          </a:xfrm>
          <a:prstGeom prst="rect">
            <a:avLst/>
          </a:prstGeom>
        </p:spPr>
      </p:pic>
      <p:pic>
        <p:nvPicPr>
          <p:cNvPr id="8" name="Graphic 7" descr="Close with solid fill">
            <a:extLst>
              <a:ext uri="{FF2B5EF4-FFF2-40B4-BE49-F238E27FC236}">
                <a16:creationId xmlns:a16="http://schemas.microsoft.com/office/drawing/2014/main" id="{431962F5-74C3-2F1D-AFE9-736B9EC0EE9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08576" y="7559397"/>
            <a:ext cx="914400" cy="914400"/>
          </a:xfrm>
          <a:prstGeom prst="rect">
            <a:avLst/>
          </a:prstGeom>
        </p:spPr>
      </p:pic>
      <p:cxnSp>
        <p:nvCxnSpPr>
          <p:cNvPr id="9" name="Straight Connector 8">
            <a:extLst>
              <a:ext uri="{FF2B5EF4-FFF2-40B4-BE49-F238E27FC236}">
                <a16:creationId xmlns:a16="http://schemas.microsoft.com/office/drawing/2014/main" id="{E7C8A313-154F-7077-6579-1C8495994F43}"/>
              </a:ext>
            </a:extLst>
          </p:cNvPr>
          <p:cNvCxnSpPr>
            <a:cxnSpLocks/>
          </p:cNvCxnSpPr>
          <p:nvPr/>
        </p:nvCxnSpPr>
        <p:spPr>
          <a:xfrm>
            <a:off x="221445" y="711888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61713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a:gsLst>
            <a:gs pos="0">
              <a:schemeClr val="accent6">
                <a:lumMod val="67000"/>
              </a:schemeClr>
            </a:gs>
            <a:gs pos="48000">
              <a:schemeClr val="accent6">
                <a:lumMod val="97000"/>
                <a:lumOff val="3000"/>
              </a:schemeClr>
            </a:gs>
            <a:gs pos="100000">
              <a:schemeClr val="accent6">
                <a:lumMod val="60000"/>
                <a:lumOff val="40000"/>
              </a:schemeClr>
            </a:gs>
          </a:gsLst>
          <a:lin ang="16200000" scaled="1"/>
        </a:gradFill>
        <a:effectLst/>
      </p:bgPr>
    </p:bg>
    <p:spTree>
      <p:nvGrpSpPr>
        <p:cNvPr id="1" name="">
          <a:extLst>
            <a:ext uri="{FF2B5EF4-FFF2-40B4-BE49-F238E27FC236}">
              <a16:creationId xmlns:a16="http://schemas.microsoft.com/office/drawing/2014/main" id="{A06265A8-64FB-069C-0F02-06B6A773D00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447DDA6-26D1-3A5F-BB12-81BC01ACC803}"/>
              </a:ext>
            </a:extLst>
          </p:cNvPr>
          <p:cNvSpPr txBox="1"/>
          <p:nvPr/>
        </p:nvSpPr>
        <p:spPr>
          <a:xfrm>
            <a:off x="223306" y="3104679"/>
            <a:ext cx="9838800" cy="1097069"/>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1C554C3-4337-55BB-20F7-D29D14E20ED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908FC447-4143-A4AD-A535-92561E6AA08D}"/>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0DA2DB96-7131-F6E0-241D-62F16ABF55A0}"/>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50188B34-CB31-F7A2-06F5-5A32729A89B9}"/>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26106358-2A85-9BDA-ADAC-6A73D8914C7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0777722D-2ED9-9E02-2FB8-C46C0AEE3FE4}"/>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BC70ADED-2856-39DE-975F-966319499DF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D7615E14-E39D-0A7B-9B47-FBEDAF0FA78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91A6CC26-F815-ECDA-91C8-7B9923A6F1CF}"/>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82F56261-A742-1402-629F-FCEA80AD20E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27BBEE3B-0F20-29F8-F609-B39DF56DFD5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F58DF45D-E2D9-2573-5B19-6019880A25BD}"/>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26024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A0CBC614-49A2-EC8F-5615-A2B383914C7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CB103-F84C-FB3F-B06B-B4D92F8A722E}"/>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6B8F8371-32F9-87B8-4C5D-B193DEFFCB8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DA12B2F3-67D6-1414-3AD6-CA0548A0ACA3}"/>
              </a:ext>
            </a:extLst>
          </p:cNvPr>
          <p:cNvSpPr txBox="1"/>
          <p:nvPr/>
        </p:nvSpPr>
        <p:spPr>
          <a:xfrm>
            <a:off x="-5008791" y="3344771"/>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7" name="Picture 6">
            <a:extLst>
              <a:ext uri="{FF2B5EF4-FFF2-40B4-BE49-F238E27FC236}">
                <a16:creationId xmlns:a16="http://schemas.microsoft.com/office/drawing/2014/main" id="{F206A547-ADE0-CC82-B9FB-9A624EFAA430}"/>
              </a:ext>
            </a:extLst>
          </p:cNvPr>
          <p:cNvPicPr preferRelativeResize="0">
            <a:picLocks/>
          </p:cNvPicPr>
          <p:nvPr/>
        </p:nvPicPr>
        <p:blipFill rotWithShape="1">
          <a:blip r:embed="rId3"/>
          <a:srcRect l="19453" t="22064" r="12866" b="14122"/>
          <a:stretch>
            <a:fillRect/>
          </a:stretch>
        </p:blipFill>
        <p:spPr>
          <a:xfrm>
            <a:off x="223306" y="4448013"/>
            <a:ext cx="9838800" cy="7200000"/>
          </a:xfrm>
          <a:prstGeom prst="rect">
            <a:avLst/>
          </a:prstGeom>
        </p:spPr>
      </p:pic>
      <p:sp>
        <p:nvSpPr>
          <p:cNvPr id="8" name="Right Arrow 7">
            <a:extLst>
              <a:ext uri="{FF2B5EF4-FFF2-40B4-BE49-F238E27FC236}">
                <a16:creationId xmlns:a16="http://schemas.microsoft.com/office/drawing/2014/main" id="{34A4905D-32B0-4A01-391A-1B3D3C590DA1}"/>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0669587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CF8C96A1-C6D8-4685-7AF3-4A7C25FBDA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043558-9068-37AA-EC42-80A8CC844D82}"/>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E231520-EC22-148C-9C79-BDF316CCFE0E}"/>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A28A0992-3763-D6E8-35E6-C97A72176E43}"/>
              </a:ext>
            </a:extLst>
          </p:cNvPr>
          <p:cNvSpPr txBox="1"/>
          <p:nvPr/>
        </p:nvSpPr>
        <p:spPr>
          <a:xfrm>
            <a:off x="-4850132" y="3511196"/>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A372FEA1-9501-CA26-2312-4492CC787032}"/>
              </a:ext>
            </a:extLst>
          </p:cNvPr>
          <p:cNvPicPr preferRelativeResize="0">
            <a:picLocks/>
          </p:cNvPicPr>
          <p:nvPr/>
        </p:nvPicPr>
        <p:blipFill rotWithShape="1">
          <a:blip r:embed="rId3"/>
          <a:srcRect l="21499" t="24718" r="14354" b="16482"/>
          <a:stretch>
            <a:fillRect/>
          </a:stretch>
        </p:blipFill>
        <p:spPr>
          <a:xfrm>
            <a:off x="223306" y="4448011"/>
            <a:ext cx="9838800" cy="7200000"/>
          </a:xfrm>
          <a:prstGeom prst="rect">
            <a:avLst/>
          </a:prstGeom>
        </p:spPr>
      </p:pic>
      <p:sp>
        <p:nvSpPr>
          <p:cNvPr id="8" name="Right Arrow 7">
            <a:extLst>
              <a:ext uri="{FF2B5EF4-FFF2-40B4-BE49-F238E27FC236}">
                <a16:creationId xmlns:a16="http://schemas.microsoft.com/office/drawing/2014/main" id="{C78F65AD-8201-18E9-158B-7D4682AA5330}"/>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1944557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299DA961-F7FA-F184-0BD0-14B3E7781DC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9BB289-18FA-4E60-93AF-41330F2891F0}"/>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E04722-EE67-04FC-5D65-DDD5F5E59A6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7F7A0A8C-1F5C-6001-9295-32CA5E50E0A4}"/>
              </a:ext>
            </a:extLst>
          </p:cNvPr>
          <p:cNvSpPr txBox="1"/>
          <p:nvPr/>
        </p:nvSpPr>
        <p:spPr>
          <a:xfrm>
            <a:off x="-4989617" y="3571994"/>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4840AEC4-C533-BE18-D9F5-7A84320EE44A}"/>
              </a:ext>
            </a:extLst>
          </p:cNvPr>
          <p:cNvPicPr preferRelativeResize="0">
            <a:picLocks/>
          </p:cNvPicPr>
          <p:nvPr/>
        </p:nvPicPr>
        <p:blipFill rotWithShape="1">
          <a:blip r:embed="rId3"/>
          <a:srcRect l="19622" t="26155" r="13447" b="16504"/>
          <a:stretch>
            <a:fillRect/>
          </a:stretch>
        </p:blipFill>
        <p:spPr>
          <a:xfrm>
            <a:off x="223306" y="4448011"/>
            <a:ext cx="9838800" cy="7200000"/>
          </a:xfrm>
          <a:prstGeom prst="rect">
            <a:avLst/>
          </a:prstGeom>
        </p:spPr>
      </p:pic>
    </p:spTree>
    <p:extLst>
      <p:ext uri="{BB962C8B-B14F-4D97-AF65-F5344CB8AC3E}">
        <p14:creationId xmlns:p14="http://schemas.microsoft.com/office/powerpoint/2010/main" val="41495673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EE7605-6957-20BC-B5B2-CF2854305BE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6D76173-70C8-4798-DE15-3C64274ADE68}"/>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34A3F080-950A-0FC0-79F5-E0CB27118264}"/>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8FC52874-F60F-2720-9030-C34F663CCEB2}"/>
              </a:ext>
            </a:extLst>
          </p:cNvPr>
          <p:cNvSpPr txBox="1"/>
          <p:nvPr/>
        </p:nvSpPr>
        <p:spPr>
          <a:xfrm>
            <a:off x="318575" y="9144000"/>
            <a:ext cx="9648263" cy="923330"/>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Same array, same result</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37035E2B-FCD2-51C7-A287-234ACF2BE25B}"/>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2E72F1D9-8CEC-6CBC-2F1E-82A13BB2418F}"/>
              </a:ext>
            </a:extLst>
          </p:cNvPr>
          <p:cNvPicPr preferRelativeResize="0">
            <a:picLocks/>
          </p:cNvPicPr>
          <p:nvPr/>
        </p:nvPicPr>
        <p:blipFill rotWithShape="1">
          <a:blip r:embed="rId4"/>
          <a:srcRect l="23248" t="32862" r="15948" b="20809"/>
          <a:stretch>
            <a:fillRect/>
          </a:stretch>
        </p:blipFill>
        <p:spPr>
          <a:xfrm>
            <a:off x="223306" y="4330841"/>
            <a:ext cx="9838800" cy="4680000"/>
          </a:xfrm>
          <a:prstGeom prst="rect">
            <a:avLst/>
          </a:prstGeom>
        </p:spPr>
      </p:pic>
      <p:sp>
        <p:nvSpPr>
          <p:cNvPr id="7" name="Right Arrow 6">
            <a:extLst>
              <a:ext uri="{FF2B5EF4-FFF2-40B4-BE49-F238E27FC236}">
                <a16:creationId xmlns:a16="http://schemas.microsoft.com/office/drawing/2014/main" id="{20C1247A-1699-7E23-4F5E-204BFF77348C}"/>
              </a:ext>
            </a:extLst>
          </p:cNvPr>
          <p:cNvSpPr/>
          <p:nvPr/>
        </p:nvSpPr>
        <p:spPr>
          <a:xfrm>
            <a:off x="4352293" y="11160727"/>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16929681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7DBBE0AF-EF35-E969-339B-850D03EFD8C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140CFF2-85CC-7A40-3F0B-61787D1201B0}"/>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83EEF54-FB74-13AD-E56A-DF1150A4EEF8}"/>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5FC2A139-B646-2977-CC7E-B8D266905E8E}"/>
              </a:ext>
            </a:extLst>
          </p:cNvPr>
          <p:cNvSpPr txBox="1"/>
          <p:nvPr/>
        </p:nvSpPr>
        <p:spPr>
          <a:xfrm>
            <a:off x="318575" y="9092121"/>
            <a:ext cx="9648263" cy="1754326"/>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Clean and simple with built-in functions like sum(), </a:t>
            </a:r>
            <a:r>
              <a:rPr lang="en-GB" sz="5400" dirty="0" err="1">
                <a:ln w="0"/>
                <a:effectLst>
                  <a:outerShdw blurRad="38100" dist="19050" dir="2700000" algn="tl" rotWithShape="0">
                    <a:schemeClr val="dk1">
                      <a:alpha val="40000"/>
                    </a:schemeClr>
                  </a:outerShdw>
                </a:effectLst>
                <a:latin typeface="Patrick Hand" pitchFamily="2" charset="77"/>
              </a:rPr>
              <a:t>len</a:t>
            </a:r>
            <a:r>
              <a:rPr lang="en-GB" sz="5400" dirty="0">
                <a:ln w="0"/>
                <a:effectLst>
                  <a:outerShdw blurRad="38100" dist="19050" dir="2700000" algn="tl" rotWithShape="0">
                    <a:schemeClr val="dk1">
                      <a:alpha val="40000"/>
                    </a:schemeClr>
                  </a:outerShdw>
                </a:effectLst>
                <a:latin typeface="Patrick Hand" pitchFamily="2" charset="77"/>
              </a:rPr>
              <a:t>(), and max()</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5C7199EB-BD58-80F9-B63D-CEC8EB832CD4}"/>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EF21784C-8F90-C781-873F-A5FA465E899D}"/>
              </a:ext>
            </a:extLst>
          </p:cNvPr>
          <p:cNvPicPr preferRelativeResize="0">
            <a:picLocks/>
          </p:cNvPicPr>
          <p:nvPr/>
        </p:nvPicPr>
        <p:blipFill rotWithShape="1">
          <a:blip r:embed="rId4"/>
          <a:srcRect l="17594" t="38114" r="15085" b="23945"/>
          <a:stretch>
            <a:fillRect/>
          </a:stretch>
        </p:blipFill>
        <p:spPr>
          <a:xfrm>
            <a:off x="223305" y="4330839"/>
            <a:ext cx="9838800" cy="4680000"/>
          </a:xfrm>
          <a:prstGeom prst="rect">
            <a:avLst/>
          </a:prstGeom>
        </p:spPr>
      </p:pic>
      <p:sp>
        <p:nvSpPr>
          <p:cNvPr id="3" name="Right Arrow 2">
            <a:extLst>
              <a:ext uri="{FF2B5EF4-FFF2-40B4-BE49-F238E27FC236}">
                <a16:creationId xmlns:a16="http://schemas.microsoft.com/office/drawing/2014/main" id="{34E5098F-720D-4DD5-C5DC-BC33148F921C}"/>
              </a:ext>
            </a:extLst>
          </p:cNvPr>
          <p:cNvSpPr/>
          <p:nvPr/>
        </p:nvSpPr>
        <p:spPr>
          <a:xfrm>
            <a:off x="4352293" y="11160728"/>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30700257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8C227AB-01A4-58D4-3671-2567B39095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5291226-82FD-9043-5FC9-3F510352681D}"/>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E5B8028D-0D8E-D713-4CAE-20C1F090B06E}"/>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A501121A-6D8B-F861-CBFC-991A4310E0F0}"/>
              </a:ext>
            </a:extLst>
          </p:cNvPr>
          <p:cNvSpPr txBox="1"/>
          <p:nvPr/>
        </p:nvSpPr>
        <p:spPr>
          <a:xfrm>
            <a:off x="223306" y="9075682"/>
            <a:ext cx="9648263" cy="286232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Short and powerful with </a:t>
            </a:r>
            <a:r>
              <a:rPr lang="en-GB" sz="6000" dirty="0" err="1">
                <a:ln w="0"/>
                <a:effectLst>
                  <a:outerShdw blurRad="38100" dist="19050" dir="2700000" algn="tl" rotWithShape="0">
                    <a:schemeClr val="dk1">
                      <a:alpha val="40000"/>
                    </a:schemeClr>
                  </a:outerShdw>
                </a:effectLst>
                <a:latin typeface="Patrick Hand" pitchFamily="2" charset="77"/>
              </a:rPr>
              <a:t>np.mean</a:t>
            </a:r>
            <a:r>
              <a:rPr lang="en-GB" sz="6000" dirty="0">
                <a:ln w="0"/>
                <a:effectLst>
                  <a:outerShdw blurRad="38100" dist="19050" dir="2700000" algn="tl" rotWithShape="0">
                    <a:schemeClr val="dk1">
                      <a:alpha val="40000"/>
                    </a:schemeClr>
                  </a:outerShdw>
                </a:effectLst>
                <a:latin typeface="Patrick Hand" pitchFamily="2" charset="77"/>
              </a:rPr>
              <a:t>(), </a:t>
            </a:r>
            <a:r>
              <a:rPr lang="en-GB" sz="6000" dirty="0" err="1">
                <a:ln w="0"/>
                <a:effectLst>
                  <a:outerShdw blurRad="38100" dist="19050" dir="2700000" algn="tl" rotWithShape="0">
                    <a:schemeClr val="dk1">
                      <a:alpha val="40000"/>
                    </a:schemeClr>
                  </a:outerShdw>
                </a:effectLst>
                <a:latin typeface="Patrick Hand" pitchFamily="2" charset="77"/>
              </a:rPr>
              <a:t>np.max</a:t>
            </a:r>
            <a:r>
              <a:rPr lang="en-GB" sz="6000" dirty="0">
                <a:ln w="0"/>
                <a:effectLst>
                  <a:outerShdw blurRad="38100" dist="19050" dir="2700000" algn="tl" rotWithShape="0">
                    <a:schemeClr val="dk1">
                      <a:alpha val="40000"/>
                    </a:schemeClr>
                  </a:outerShdw>
                </a:effectLst>
                <a:latin typeface="Patrick Hand" pitchFamily="2" charset="77"/>
              </a:rPr>
              <a:t>(), and </a:t>
            </a:r>
            <a:r>
              <a:rPr lang="en-GB" sz="6000" dirty="0" err="1">
                <a:ln w="0"/>
                <a:effectLst>
                  <a:outerShdw blurRad="38100" dist="19050" dir="2700000" algn="tl" rotWithShape="0">
                    <a:schemeClr val="dk1">
                      <a:alpha val="40000"/>
                    </a:schemeClr>
                  </a:outerShdw>
                </a:effectLst>
                <a:latin typeface="Patrick Hand" pitchFamily="2" charset="77"/>
              </a:rPr>
              <a:t>np.sum</a:t>
            </a:r>
            <a:r>
              <a:rPr lang="en-GB" sz="6000" dirty="0">
                <a:ln w="0"/>
                <a:effectLst>
                  <a:outerShdw blurRad="38100" dist="19050" dir="2700000" algn="tl" rotWithShape="0">
                    <a:schemeClr val="dk1">
                      <a:alpha val="40000"/>
                    </a:schemeClr>
                  </a:outerShdw>
                </a:effectLst>
                <a:latin typeface="Patrick Hand" pitchFamily="2" charset="77"/>
              </a:rPr>
              <a:t>()</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D0AD9CA3-6CC2-804A-94B1-67647A57C57A}"/>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C0E7ADD7-2CDE-A786-A848-5271F69C6A73}"/>
              </a:ext>
            </a:extLst>
          </p:cNvPr>
          <p:cNvPicPr preferRelativeResize="0">
            <a:picLocks/>
          </p:cNvPicPr>
          <p:nvPr/>
        </p:nvPicPr>
        <p:blipFill rotWithShape="1">
          <a:blip r:embed="rId4"/>
          <a:srcRect l="20451" t="33096" r="16381" b="20241"/>
          <a:stretch>
            <a:fillRect/>
          </a:stretch>
        </p:blipFill>
        <p:spPr>
          <a:xfrm>
            <a:off x="223306" y="4330841"/>
            <a:ext cx="9838800" cy="4680000"/>
          </a:xfrm>
          <a:prstGeom prst="rect">
            <a:avLst/>
          </a:prstGeom>
        </p:spPr>
      </p:pic>
    </p:spTree>
    <p:extLst>
      <p:ext uri="{BB962C8B-B14F-4D97-AF65-F5344CB8AC3E}">
        <p14:creationId xmlns:p14="http://schemas.microsoft.com/office/powerpoint/2010/main" val="30607013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32.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6BE3B4F8-D6C9-74DD-5149-E041CE2D7670}"/>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48F2687B-62A1-CA9A-B19B-C48CE110FC4A}"/>
              </a:ext>
            </a:extLst>
          </p:cNvPr>
          <p:cNvPicPr>
            <a:picLocks noChangeAspect="1"/>
          </p:cNvPicPr>
          <p:nvPr/>
        </p:nvPicPr>
        <p:blipFill rotWithShape="1">
          <a:blip r:embed="rId2"/>
          <a:srcRect l="20025" t="24894" r="13708" b="19564"/>
          <a:stretch>
            <a:fillRect/>
          </a:stretch>
        </p:blipFill>
        <p:spPr>
          <a:xfrm>
            <a:off x="223306" y="4235322"/>
            <a:ext cx="9838800" cy="6374838"/>
          </a:xfrm>
          <a:prstGeom prst="rect">
            <a:avLst/>
          </a:prstGeom>
        </p:spPr>
      </p:pic>
      <p:sp>
        <p:nvSpPr>
          <p:cNvPr id="4" name="TextBox 3">
            <a:extLst>
              <a:ext uri="{FF2B5EF4-FFF2-40B4-BE49-F238E27FC236}">
                <a16:creationId xmlns:a16="http://schemas.microsoft.com/office/drawing/2014/main" id="{708C3ABA-CE40-ADF7-BF1E-269435408D9A}"/>
              </a:ext>
            </a:extLst>
          </p:cNvPr>
          <p:cNvSpPr txBox="1"/>
          <p:nvPr/>
        </p:nvSpPr>
        <p:spPr>
          <a:xfrm>
            <a:off x="223306" y="308002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If Statements</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EBBAF22-3A41-F8C5-2680-6F6C85D435A2}"/>
              </a:ext>
            </a:extLst>
          </p:cNvPr>
          <p:cNvPicPr>
            <a:picLocks noChangeAspect="1"/>
          </p:cNvPicPr>
          <p:nvPr/>
        </p:nvPicPr>
        <p:blipFill>
          <a:blip r:embed="rId3"/>
          <a:stretch>
            <a:fillRect/>
          </a:stretch>
        </p:blipFill>
        <p:spPr>
          <a:xfrm>
            <a:off x="264001" y="3113927"/>
            <a:ext cx="1063167" cy="1063167"/>
          </a:xfrm>
          <a:prstGeom prst="rect">
            <a:avLst/>
          </a:prstGeom>
        </p:spPr>
      </p:pic>
      <p:sp>
        <p:nvSpPr>
          <p:cNvPr id="11" name="TextBox 10">
            <a:extLst>
              <a:ext uri="{FF2B5EF4-FFF2-40B4-BE49-F238E27FC236}">
                <a16:creationId xmlns:a16="http://schemas.microsoft.com/office/drawing/2014/main" id="{9A8F7F27-31CA-7DB4-04DA-1B95A1E05A6F}"/>
              </a:ext>
            </a:extLst>
          </p:cNvPr>
          <p:cNvSpPr txBox="1"/>
          <p:nvPr/>
        </p:nvSpPr>
        <p:spPr>
          <a:xfrm>
            <a:off x="245874" y="10696248"/>
            <a:ext cx="9793665" cy="1015663"/>
          </a:xfrm>
          <a:prstGeom prst="rect">
            <a:avLst/>
          </a:prstGeom>
          <a:noFill/>
        </p:spPr>
        <p:txBody>
          <a:bodyPr wrap="square" rtlCol="0">
            <a:spAutoFit/>
          </a:bodyPr>
          <a:lstStyle/>
          <a:p>
            <a:pPr algn="ctr"/>
            <a:r>
              <a:rPr lang="en-GB" sz="6000" dirty="0">
                <a:latin typeface="Patrick Hand" pitchFamily="2" charset="77"/>
              </a:rPr>
              <a:t>Which one would be better? Why?</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F1DD80C1-3098-6457-A6BD-F35433E60955}"/>
              </a:ext>
            </a:extLst>
          </p:cNvPr>
          <p:cNvCxnSpPr>
            <a:cxnSpLocks/>
          </p:cNvCxnSpPr>
          <p:nvPr/>
        </p:nvCxnSpPr>
        <p:spPr>
          <a:xfrm>
            <a:off x="223579" y="675310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E5A735-D127-9529-7178-55B46AB042F3}"/>
              </a:ext>
            </a:extLst>
          </p:cNvPr>
          <p:cNvCxnSpPr>
            <a:cxnSpLocks/>
          </p:cNvCxnSpPr>
          <p:nvPr/>
        </p:nvCxnSpPr>
        <p:spPr>
          <a:xfrm>
            <a:off x="226079" y="795481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CAD8D70-125F-7631-76AF-46810C05F444}"/>
              </a:ext>
            </a:extLst>
          </p:cNvPr>
          <p:cNvCxnSpPr>
            <a:cxnSpLocks/>
          </p:cNvCxnSpPr>
          <p:nvPr/>
        </p:nvCxnSpPr>
        <p:spPr>
          <a:xfrm>
            <a:off x="213589" y="91715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75597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r"/>
            <a:r>
              <a:rPr lang="en-GB" sz="6000" b="1" dirty="0"/>
              <a:t>PEP 8: Better line breaks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3F9C6260-3B40-C4E2-D0FA-74F575E25827}"/>
              </a:ext>
            </a:extLst>
          </p:cNvPr>
          <p:cNvPicPr>
            <a:picLocks noChangeAspect="1"/>
          </p:cNvPicPr>
          <p:nvPr/>
        </p:nvPicPr>
        <p:blipFill rotWithShape="1">
          <a:blip r:embed="rId4"/>
          <a:srcRect l="15206" t="22792" r="10439" b="21438"/>
          <a:stretch>
            <a:fillRect/>
          </a:stretch>
        </p:blipFill>
        <p:spPr>
          <a:xfrm>
            <a:off x="223579" y="4439164"/>
            <a:ext cx="9838255" cy="5708618"/>
          </a:xfrm>
          <a:prstGeom prst="rect">
            <a:avLst/>
          </a:prstGeom>
        </p:spPr>
      </p:pic>
      <p:sp>
        <p:nvSpPr>
          <p:cNvPr id="13" name="TextBox 12">
            <a:extLst>
              <a:ext uri="{FF2B5EF4-FFF2-40B4-BE49-F238E27FC236}">
                <a16:creationId xmlns:a16="http://schemas.microsoft.com/office/drawing/2014/main" id="{9FD6638E-EA6F-32B1-4BFA-0CBD50D4D970}"/>
              </a:ext>
            </a:extLst>
          </p:cNvPr>
          <p:cNvSpPr txBox="1"/>
          <p:nvPr/>
        </p:nvSpPr>
        <p:spPr>
          <a:xfrm>
            <a:off x="223306" y="10276331"/>
            <a:ext cx="9838800" cy="2308324"/>
          </a:xfrm>
          <a:prstGeom prst="rect">
            <a:avLst/>
          </a:prstGeom>
          <a:noFill/>
        </p:spPr>
        <p:txBody>
          <a:bodyPr wrap="square" rtlCol="0">
            <a:spAutoFit/>
          </a:bodyPr>
          <a:lstStyle/>
          <a:p>
            <a:pPr algn="ctr"/>
            <a:r>
              <a:rPr lang="en-GB" sz="7200" dirty="0">
                <a:latin typeface="Patrick Hand" pitchFamily="2" charset="77"/>
              </a:rPr>
              <a:t>Stop breaking lines like this in Python</a:t>
            </a:r>
            <a:endParaRPr lang="en-DE" sz="72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73864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99439" y="8761723"/>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399439" y="5912814"/>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34.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6B51E76E-BEAE-DC42-3D3B-E07729C4355F}"/>
              </a:ext>
            </a:extLst>
          </p:cNvPr>
          <p:cNvPicPr>
            <a:picLocks noChangeAspect="1"/>
          </p:cNvPicPr>
          <p:nvPr/>
        </p:nvPicPr>
        <p:blipFill rotWithShape="1">
          <a:blip r:embed="rId2"/>
          <a:srcRect l="16548" t="30035" r="11310" b="26898"/>
          <a:stretch>
            <a:fillRect/>
          </a:stretch>
        </p:blipFill>
        <p:spPr>
          <a:xfrm>
            <a:off x="223306" y="4454562"/>
            <a:ext cx="9838800" cy="3762583"/>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3202057"/>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use def, not f = lambda</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3264836"/>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223306" y="8579726"/>
            <a:ext cx="9838801"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def</a:t>
            </a:r>
            <a:r>
              <a:rPr lang="en-GB" sz="6000" dirty="0">
                <a:ln w="0"/>
                <a:effectLst>
                  <a:outerShdw blurRad="38100" dist="19050" dir="2700000" algn="tl" rotWithShape="0">
                    <a:schemeClr val="dk1">
                      <a:alpha val="40000"/>
                    </a:schemeClr>
                  </a:outerShdw>
                </a:effectLst>
                <a:latin typeface="Patrick Hand" pitchFamily="2" charset="77"/>
              </a:rPr>
              <a:t> instead of an assignment that binds a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lambda</a:t>
            </a:r>
            <a:r>
              <a:rPr lang="en-GB" sz="6000" dirty="0">
                <a:ln w="0"/>
                <a:effectLst>
                  <a:outerShdw blurRad="38100" dist="19050" dir="2700000" algn="tl" rotWithShape="0">
                    <a:schemeClr val="dk1">
                      <a:alpha val="40000"/>
                    </a:schemeClr>
                  </a:outerShdw>
                </a:effectLst>
                <a:latin typeface="Patrick Hand" pitchFamily="2" charset="77"/>
              </a:rPr>
              <a:t> expression.</a:t>
            </a:r>
            <a:endParaRPr lang="en-DE" sz="6000" dirty="0">
              <a:ln w="0"/>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08" y="7267852"/>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95708" y="5285263"/>
            <a:ext cx="914400" cy="914400"/>
          </a:xfrm>
          <a:prstGeom prst="rect">
            <a:avLst/>
          </a:prstGeom>
        </p:spPr>
      </p:pic>
      <p:cxnSp>
        <p:nvCxnSpPr>
          <p:cNvPr id="33" name="Straight Connector 32">
            <a:extLst>
              <a:ext uri="{FF2B5EF4-FFF2-40B4-BE49-F238E27FC236}">
                <a16:creationId xmlns:a16="http://schemas.microsoft.com/office/drawing/2014/main" id="{CAC46A23-0121-8D85-7A48-AA61DB5409AC}"/>
              </a:ext>
            </a:extLst>
          </p:cNvPr>
          <p:cNvCxnSpPr>
            <a:cxnSpLocks/>
          </p:cNvCxnSpPr>
          <p:nvPr/>
        </p:nvCxnSpPr>
        <p:spPr>
          <a:xfrm>
            <a:off x="223579" y="643879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6376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E5F3FFF2-11F0-B20A-CFFE-1F57250FBA9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F80ECB7-9A05-D8A1-C0F9-E954C15BD110}"/>
              </a:ext>
            </a:extLst>
          </p:cNvPr>
          <p:cNvPicPr>
            <a:picLocks noChangeAspect="1"/>
          </p:cNvPicPr>
          <p:nvPr/>
        </p:nvPicPr>
        <p:blipFill rotWithShape="1">
          <a:blip r:embed="rId2"/>
          <a:srcRect l="17236" t="19507" r="12426" b="16319"/>
          <a:stretch>
            <a:fillRect/>
          </a:stretch>
        </p:blipFill>
        <p:spPr>
          <a:xfrm>
            <a:off x="223306" y="4523149"/>
            <a:ext cx="9838800" cy="8180259"/>
          </a:xfrm>
          <a:prstGeom prst="rect">
            <a:avLst/>
          </a:prstGeom>
        </p:spPr>
      </p:pic>
      <p:sp>
        <p:nvSpPr>
          <p:cNvPr id="4" name="TextBox 3">
            <a:extLst>
              <a:ext uri="{FF2B5EF4-FFF2-40B4-BE49-F238E27FC236}">
                <a16:creationId xmlns:a16="http://schemas.microsoft.com/office/drawing/2014/main" id="{0AA37B28-9783-55FC-3344-A9471B2F0E51}"/>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Don’t Use Plain Strings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F3D0136F-0FD8-CC4D-02D7-DF8DCEF338A7}"/>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9" name="Graphic 18" descr="Close with solid fill">
            <a:extLst>
              <a:ext uri="{FF2B5EF4-FFF2-40B4-BE49-F238E27FC236}">
                <a16:creationId xmlns:a16="http://schemas.microsoft.com/office/drawing/2014/main" id="{B8EF9327-3C45-2AD4-6C4E-A35226D94E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10187" y="7403684"/>
            <a:ext cx="914400" cy="914400"/>
          </a:xfrm>
          <a:prstGeom prst="rect">
            <a:avLst/>
          </a:prstGeom>
        </p:spPr>
      </p:pic>
      <p:sp>
        <p:nvSpPr>
          <p:cNvPr id="7" name="Right Arrow 6">
            <a:extLst>
              <a:ext uri="{FF2B5EF4-FFF2-40B4-BE49-F238E27FC236}">
                <a16:creationId xmlns:a16="http://schemas.microsoft.com/office/drawing/2014/main" id="{E9DF0D82-9F8D-087E-B825-D3C087761284}"/>
              </a:ext>
            </a:extLst>
          </p:cNvPr>
          <p:cNvSpPr/>
          <p:nvPr/>
        </p:nvSpPr>
        <p:spPr>
          <a:xfrm>
            <a:off x="4516541" y="13278678"/>
            <a:ext cx="1252330" cy="775252"/>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1543909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237F2473-478F-E019-CB49-04B50286CE8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4914727-2B42-55F4-CD9C-232AD41B7758}"/>
              </a:ext>
            </a:extLst>
          </p:cNvPr>
          <p:cNvPicPr>
            <a:picLocks noChangeAspect="1"/>
          </p:cNvPicPr>
          <p:nvPr/>
        </p:nvPicPr>
        <p:blipFill rotWithShape="1">
          <a:blip r:embed="rId2"/>
          <a:srcRect l="18316" t="19533" r="12769" b="16891"/>
          <a:stretch>
            <a:fillRect/>
          </a:stretch>
        </p:blipFill>
        <p:spPr>
          <a:xfrm>
            <a:off x="241883" y="4523148"/>
            <a:ext cx="9801646" cy="8497110"/>
          </a:xfrm>
          <a:prstGeom prst="rect">
            <a:avLst/>
          </a:prstGeom>
        </p:spPr>
      </p:pic>
      <p:sp>
        <p:nvSpPr>
          <p:cNvPr id="4" name="TextBox 3">
            <a:extLst>
              <a:ext uri="{FF2B5EF4-FFF2-40B4-BE49-F238E27FC236}">
                <a16:creationId xmlns:a16="http://schemas.microsoft.com/office/drawing/2014/main" id="{81B003A3-B383-9AEB-65EC-7946B237F5EB}"/>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Enum Instead</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AE380B00-7DC0-8F93-FD26-113AA21DE748}"/>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70A9A7B8-C583-F4DF-0BCE-C6A3382EE2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4430" y="6614872"/>
            <a:ext cx="914400" cy="914400"/>
          </a:xfrm>
          <a:prstGeom prst="rect">
            <a:avLst/>
          </a:prstGeom>
        </p:spPr>
      </p:pic>
    </p:spTree>
    <p:extLst>
      <p:ext uri="{BB962C8B-B14F-4D97-AF65-F5344CB8AC3E}">
        <p14:creationId xmlns:p14="http://schemas.microsoft.com/office/powerpoint/2010/main" val="35094071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B234D720-52B5-38C9-ABA1-1080E297B8EA}"/>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60B7857C-8723-BEC8-D768-C9038BCB0C1F}"/>
              </a:ext>
            </a:extLst>
          </p:cNvPr>
          <p:cNvPicPr>
            <a:picLocks noChangeAspect="1"/>
          </p:cNvPicPr>
          <p:nvPr/>
        </p:nvPicPr>
        <p:blipFill rotWithShape="1">
          <a:blip r:embed="rId2"/>
          <a:srcRect l="17936" t="15441" r="12963" b="13060"/>
          <a:stretch>
            <a:fillRect/>
          </a:stretch>
        </p:blipFill>
        <p:spPr>
          <a:xfrm>
            <a:off x="223306" y="4391545"/>
            <a:ext cx="9838800" cy="12399129"/>
          </a:xfrm>
          <a:prstGeom prst="rect">
            <a:avLst/>
          </a:prstGeom>
        </p:spPr>
      </p:pic>
      <p:sp>
        <p:nvSpPr>
          <p:cNvPr id="4" name="TextBox 3">
            <a:extLst>
              <a:ext uri="{FF2B5EF4-FFF2-40B4-BE49-F238E27FC236}">
                <a16:creationId xmlns:a16="http://schemas.microsoft.com/office/drawing/2014/main" id="{79119935-9274-77F7-5D51-4A22B65BB6AA}"/>
              </a:ext>
            </a:extLst>
          </p:cNvPr>
          <p:cNvSpPr txBox="1"/>
          <p:nvPr/>
        </p:nvSpPr>
        <p:spPr>
          <a:xfrm>
            <a:off x="223307" y="3175262"/>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Assert </a:t>
            </a:r>
            <a:r>
              <a:rPr lang="en-US" sz="72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Exception</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A50773C7-3959-58C2-6050-91E3FF74E828}"/>
              </a:ext>
            </a:extLst>
          </p:cNvPr>
          <p:cNvPicPr>
            <a:picLocks noChangeAspect="1"/>
          </p:cNvPicPr>
          <p:nvPr/>
        </p:nvPicPr>
        <p:blipFill>
          <a:blip r:embed="rId3"/>
          <a:stretch>
            <a:fillRect/>
          </a:stretch>
        </p:blipFill>
        <p:spPr>
          <a:xfrm>
            <a:off x="304696" y="3251376"/>
            <a:ext cx="1063167" cy="1063167"/>
          </a:xfrm>
          <a:prstGeom prst="rect">
            <a:avLst/>
          </a:prstGeom>
          <a:ln w="19050">
            <a:solidFill>
              <a:schemeClr val="bg1"/>
            </a:solidFill>
          </a:ln>
        </p:spPr>
      </p:pic>
      <p:cxnSp>
        <p:nvCxnSpPr>
          <p:cNvPr id="12" name="Straight Connector 11">
            <a:extLst>
              <a:ext uri="{FF2B5EF4-FFF2-40B4-BE49-F238E27FC236}">
                <a16:creationId xmlns:a16="http://schemas.microsoft.com/office/drawing/2014/main" id="{1BAF570A-EB9B-BFA8-FD36-DD3A741C3C93}"/>
              </a:ext>
            </a:extLst>
          </p:cNvPr>
          <p:cNvCxnSpPr>
            <a:cxnSpLocks/>
          </p:cNvCxnSpPr>
          <p:nvPr/>
        </p:nvCxnSpPr>
        <p:spPr>
          <a:xfrm>
            <a:off x="223579" y="896993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D829CC3A-9F41-DEC9-4725-ED014A2596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0740522"/>
            <a:ext cx="914400" cy="914400"/>
          </a:xfrm>
          <a:prstGeom prst="rect">
            <a:avLst/>
          </a:prstGeom>
        </p:spPr>
      </p:pic>
      <p:pic>
        <p:nvPicPr>
          <p:cNvPr id="15" name="Graphic 14" descr="Close with solid fill">
            <a:extLst>
              <a:ext uri="{FF2B5EF4-FFF2-40B4-BE49-F238E27FC236}">
                <a16:creationId xmlns:a16="http://schemas.microsoft.com/office/drawing/2014/main" id="{838B1903-785A-8154-43BC-95377589491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5978842"/>
            <a:ext cx="914400" cy="914400"/>
          </a:xfrm>
          <a:prstGeom prst="rect">
            <a:avLst/>
          </a:prstGeom>
        </p:spPr>
      </p:pic>
    </p:spTree>
    <p:extLst>
      <p:ext uri="{BB962C8B-B14F-4D97-AF65-F5344CB8AC3E}">
        <p14:creationId xmlns:p14="http://schemas.microsoft.com/office/powerpoint/2010/main" val="10422263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34B95025-DAE7-B93F-317D-C322485705B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64D1362-09E0-C55E-31B5-7544E32A6CC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a:t>
            </a:r>
            <a:r>
              <a:rPr lang="en-GB" sz="6000" b="1" dirty="0" err="1"/>
              <a:t>itertools.groupby</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460C34CE-6E9B-69AA-3E71-5070E7B28E89}"/>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89B4CFC9-A35D-F9AB-DCD5-7B23EF1AFE8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84430" y="6614872"/>
            <a:ext cx="914400" cy="914400"/>
          </a:xfrm>
          <a:prstGeom prst="rect">
            <a:avLst/>
          </a:prstGeom>
        </p:spPr>
      </p:pic>
      <p:pic>
        <p:nvPicPr>
          <p:cNvPr id="6" name="Picture 5">
            <a:extLst>
              <a:ext uri="{FF2B5EF4-FFF2-40B4-BE49-F238E27FC236}">
                <a16:creationId xmlns:a16="http://schemas.microsoft.com/office/drawing/2014/main" id="{84F4941B-B765-D2CC-E002-F58458EAEB17}"/>
              </a:ext>
            </a:extLst>
          </p:cNvPr>
          <p:cNvPicPr>
            <a:picLocks noChangeAspect="1"/>
          </p:cNvPicPr>
          <p:nvPr/>
        </p:nvPicPr>
        <p:blipFill rotWithShape="1">
          <a:blip r:embed="rId4"/>
          <a:srcRect l="18869" t="20325" r="12827" b="16243"/>
          <a:stretch>
            <a:fillRect/>
          </a:stretch>
        </p:blipFill>
        <p:spPr>
          <a:xfrm>
            <a:off x="223306" y="4446947"/>
            <a:ext cx="9838800" cy="8409389"/>
          </a:xfrm>
          <a:prstGeom prst="rect">
            <a:avLst/>
          </a:prstGeom>
        </p:spPr>
      </p:pic>
      <p:sp>
        <p:nvSpPr>
          <p:cNvPr id="7" name="TextBox 6">
            <a:extLst>
              <a:ext uri="{FF2B5EF4-FFF2-40B4-BE49-F238E27FC236}">
                <a16:creationId xmlns:a16="http://schemas.microsoft.com/office/drawing/2014/main" id="{D00F4D01-A5EA-DC40-8C40-9491B0CF9BC1}"/>
              </a:ext>
            </a:extLst>
          </p:cNvPr>
          <p:cNvSpPr txBox="1"/>
          <p:nvPr/>
        </p:nvSpPr>
        <p:spPr>
          <a:xfrm>
            <a:off x="223306" y="12856621"/>
            <a:ext cx="9838800" cy="923330"/>
          </a:xfrm>
          <a:prstGeom prst="rect">
            <a:avLst/>
          </a:prstGeom>
          <a:noFill/>
        </p:spPr>
        <p:txBody>
          <a:bodyPr wrap="square" rtlCol="0">
            <a:spAutoFit/>
          </a:bodyPr>
          <a:lstStyle/>
          <a:p>
            <a:pPr algn="ctr"/>
            <a:r>
              <a:rPr lang="en-GB" sz="5400" dirty="0">
                <a:latin typeface="Patrick Hand" pitchFamily="2" charset="77"/>
              </a:rPr>
              <a:t>Use </a:t>
            </a:r>
            <a:r>
              <a:rPr lang="en-GB" sz="5400" dirty="0" err="1">
                <a:latin typeface="Patrick Hand" pitchFamily="2" charset="77"/>
              </a:rPr>
              <a:t>groupby</a:t>
            </a:r>
            <a:r>
              <a:rPr lang="en-GB" sz="5400" dirty="0">
                <a:latin typeface="Patrick Hand" pitchFamily="2" charset="77"/>
              </a:rPr>
              <a:t> to group your array</a:t>
            </a:r>
          </a:p>
        </p:txBody>
      </p:sp>
    </p:spTree>
    <p:extLst>
      <p:ext uri="{BB962C8B-B14F-4D97-AF65-F5344CB8AC3E}">
        <p14:creationId xmlns:p14="http://schemas.microsoft.com/office/powerpoint/2010/main" val="18376542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pattFill prst="pct20">
          <a:fgClr>
            <a:schemeClr val="accent6"/>
          </a:fgClr>
          <a:bgClr>
            <a:schemeClr val="bg1"/>
          </a:bgClr>
        </a:pattFill>
        <a:effectLst/>
      </p:bgPr>
    </p:bg>
    <p:spTree>
      <p:nvGrpSpPr>
        <p:cNvPr id="1" name="">
          <a:extLst>
            <a:ext uri="{FF2B5EF4-FFF2-40B4-BE49-F238E27FC236}">
              <a16:creationId xmlns:a16="http://schemas.microsoft.com/office/drawing/2014/main" id="{80D93A09-3D05-FA91-E2ED-50B2BB571A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02E5FF8-1330-0A05-07F6-6E692625A711}"/>
              </a:ext>
            </a:extLst>
          </p:cNvPr>
          <p:cNvSpPr txBox="1"/>
          <p:nvPr/>
        </p:nvSpPr>
        <p:spPr>
          <a:xfrm>
            <a:off x="223306" y="3136810"/>
            <a:ext cx="9838800" cy="1277088"/>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oAutofit/>
          </a:bodyPr>
          <a:lstStyle/>
          <a:p>
            <a:pPr algn="r"/>
            <a:r>
              <a:rPr lang="en-GB" sz="5400" b="1" dirty="0"/>
              <a:t>Python List vs NumPy Speed!</a:t>
            </a:r>
            <a:endParaRPr lang="en-GB" sz="54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704F8B27-0B96-FCB3-60D6-56C84FC28B01}"/>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E61FAC62-F65C-C231-701B-20428659F705}"/>
              </a:ext>
            </a:extLst>
          </p:cNvPr>
          <p:cNvPicPr>
            <a:picLocks noChangeAspect="1"/>
          </p:cNvPicPr>
          <p:nvPr/>
        </p:nvPicPr>
        <p:blipFill rotWithShape="1">
          <a:blip r:embed="rId3"/>
          <a:srcRect l="16385" t="17034" r="10605" b="10442"/>
          <a:stretch>
            <a:fillRect/>
          </a:stretch>
        </p:blipFill>
        <p:spPr>
          <a:xfrm>
            <a:off x="223306" y="4523148"/>
            <a:ext cx="9838800" cy="9419602"/>
          </a:xfrm>
          <a:prstGeom prst="rect">
            <a:avLst/>
          </a:prstGeom>
        </p:spPr>
      </p:pic>
      <p:cxnSp>
        <p:nvCxnSpPr>
          <p:cNvPr id="8" name="Straight Connector 7">
            <a:extLst>
              <a:ext uri="{FF2B5EF4-FFF2-40B4-BE49-F238E27FC236}">
                <a16:creationId xmlns:a16="http://schemas.microsoft.com/office/drawing/2014/main" id="{CD7BA47D-E5BF-228D-CBB1-0FE20BAE200D}"/>
              </a:ext>
            </a:extLst>
          </p:cNvPr>
          <p:cNvCxnSpPr>
            <a:cxnSpLocks/>
          </p:cNvCxnSpPr>
          <p:nvPr/>
        </p:nvCxnSpPr>
        <p:spPr>
          <a:xfrm>
            <a:off x="223579" y="1178485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47B9E05F-AF19-8DD6-D44E-B2E3B23053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2874121"/>
            <a:ext cx="914400" cy="914400"/>
          </a:xfrm>
          <a:prstGeom prst="rect">
            <a:avLst/>
          </a:prstGeom>
        </p:spPr>
      </p:pic>
      <p:pic>
        <p:nvPicPr>
          <p:cNvPr id="10" name="Graphic 9" descr="Close with solid fill">
            <a:extLst>
              <a:ext uri="{FF2B5EF4-FFF2-40B4-BE49-F238E27FC236}">
                <a16:creationId xmlns:a16="http://schemas.microsoft.com/office/drawing/2014/main" id="{DBDE2528-5889-F4FA-079E-00A11FCC497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708156"/>
            <a:ext cx="914400" cy="914400"/>
          </a:xfrm>
          <a:prstGeom prst="rect">
            <a:avLst/>
          </a:prstGeom>
        </p:spPr>
      </p:pic>
      <p:cxnSp>
        <p:nvCxnSpPr>
          <p:cNvPr id="11" name="Straight Connector 10">
            <a:extLst>
              <a:ext uri="{FF2B5EF4-FFF2-40B4-BE49-F238E27FC236}">
                <a16:creationId xmlns:a16="http://schemas.microsoft.com/office/drawing/2014/main" id="{AA4D9A3E-11E8-6291-FFB9-B2B49D40274F}"/>
              </a:ext>
            </a:extLst>
          </p:cNvPr>
          <p:cNvCxnSpPr>
            <a:cxnSpLocks/>
          </p:cNvCxnSpPr>
          <p:nvPr/>
        </p:nvCxnSpPr>
        <p:spPr>
          <a:xfrm>
            <a:off x="214618" y="948092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16074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89000"/>
              </a:schemeClr>
            </a:gs>
            <a:gs pos="23000">
              <a:schemeClr val="accent4">
                <a:lumMod val="89000"/>
              </a:schemeClr>
            </a:gs>
            <a:gs pos="69000">
              <a:schemeClr val="accent4">
                <a:lumMod val="75000"/>
              </a:schemeClr>
            </a:gs>
            <a:gs pos="97000">
              <a:schemeClr val="accent4">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0E8A6CC-776A-94B3-FAED-43DE97B088C2}"/>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6FDFE46A-D6F2-79A7-9CE5-8006323C9750}"/>
              </a:ext>
            </a:extLst>
          </p:cNvPr>
          <p:cNvPicPr>
            <a:picLocks noChangeAspect="1"/>
          </p:cNvPicPr>
          <p:nvPr/>
        </p:nvPicPr>
        <p:blipFill rotWithShape="1">
          <a:blip r:embed="rId2"/>
          <a:srcRect l="17800" t="20450" r="12605" b="12216"/>
          <a:stretch>
            <a:fillRect/>
          </a:stretch>
        </p:blipFill>
        <p:spPr>
          <a:xfrm>
            <a:off x="223306" y="4523148"/>
            <a:ext cx="9838800" cy="8448532"/>
          </a:xfrm>
          <a:prstGeom prst="rect">
            <a:avLst/>
          </a:prstGeom>
        </p:spPr>
      </p:pic>
      <p:sp>
        <p:nvSpPr>
          <p:cNvPr id="4" name="TextBox 3">
            <a:extLst>
              <a:ext uri="{FF2B5EF4-FFF2-40B4-BE49-F238E27FC236}">
                <a16:creationId xmlns:a16="http://schemas.microsoft.com/office/drawing/2014/main" id="{10FC548D-622D-378F-A0F3-E63D8E6DC82A}"/>
              </a:ext>
            </a:extLst>
          </p:cNvPr>
          <p:cNvSpPr txBox="1"/>
          <p:nvPr/>
        </p:nvSpPr>
        <p:spPr>
          <a:xfrm>
            <a:off x="223306" y="3136810"/>
            <a:ext cx="9838800" cy="1277088"/>
          </a:xfrm>
          <a:prstGeom prst="rect">
            <a:avLst/>
          </a:prstGeom>
          <a:ln/>
        </p:spPr>
        <p:style>
          <a:lnRef idx="2">
            <a:schemeClr val="accent4">
              <a:shade val="15000"/>
            </a:schemeClr>
          </a:lnRef>
          <a:fillRef idx="1">
            <a:schemeClr val="accent4"/>
          </a:fillRef>
          <a:effectRef idx="0">
            <a:schemeClr val="accent4"/>
          </a:effectRef>
          <a:fontRef idx="minor">
            <a:schemeClr val="lt1"/>
          </a:fontRef>
        </p:style>
        <p:txBody>
          <a:bodyPr wrap="square" rtlCol="0" anchor="ctr">
            <a:noAutofit/>
          </a:bodyPr>
          <a:lstStyle/>
          <a:p>
            <a:pPr algn="r"/>
            <a:r>
              <a:rPr lang="en-GB" sz="5400" dirty="0">
                <a:ln w="0"/>
                <a:solidFill>
                  <a:schemeClr val="tx1"/>
                </a:solidFill>
                <a:effectLst>
                  <a:outerShdw blurRad="38100" dist="19050" dir="2700000" algn="tl" rotWithShape="0">
                    <a:schemeClr val="dk1">
                      <a:alpha val="40000"/>
                    </a:schemeClr>
                  </a:outerShdw>
                </a:effectLst>
              </a:rPr>
              <a:t>Python List vs NumPy Speed!</a:t>
            </a:r>
            <a:endParaRPr lang="en-GB" sz="5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E34BA670-8FD1-251A-6252-3087A60C32B0}"/>
              </a:ext>
            </a:extLst>
          </p:cNvPr>
          <p:cNvPicPr>
            <a:picLocks noChangeAspect="1"/>
          </p:cNvPicPr>
          <p:nvPr/>
        </p:nvPicPr>
        <p:blipFill>
          <a:blip r:embed="rId3"/>
          <a:stretch>
            <a:fillRect/>
          </a:stretch>
        </p:blipFill>
        <p:spPr>
          <a:xfrm>
            <a:off x="383921" y="3246060"/>
            <a:ext cx="1063167" cy="1063167"/>
          </a:xfrm>
          <a:prstGeom prst="rect">
            <a:avLst/>
          </a:prstGeom>
        </p:spPr>
      </p:pic>
      <p:cxnSp>
        <p:nvCxnSpPr>
          <p:cNvPr id="8" name="Straight Connector 7">
            <a:extLst>
              <a:ext uri="{FF2B5EF4-FFF2-40B4-BE49-F238E27FC236}">
                <a16:creationId xmlns:a16="http://schemas.microsoft.com/office/drawing/2014/main" id="{50251100-DE4C-6943-D041-E25ECDD43F74}"/>
              </a:ext>
            </a:extLst>
          </p:cNvPr>
          <p:cNvCxnSpPr>
            <a:cxnSpLocks/>
          </p:cNvCxnSpPr>
          <p:nvPr/>
        </p:nvCxnSpPr>
        <p:spPr>
          <a:xfrm>
            <a:off x="223579" y="1049974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81E2123A-F121-B038-91EA-DF360AC84E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1639" y="11199904"/>
            <a:ext cx="914400" cy="914400"/>
          </a:xfrm>
          <a:prstGeom prst="rect">
            <a:avLst/>
          </a:prstGeom>
        </p:spPr>
      </p:pic>
      <p:pic>
        <p:nvPicPr>
          <p:cNvPr id="10" name="Graphic 9" descr="Close with solid fill">
            <a:extLst>
              <a:ext uri="{FF2B5EF4-FFF2-40B4-BE49-F238E27FC236}">
                <a16:creationId xmlns:a16="http://schemas.microsoft.com/office/drawing/2014/main" id="{A8A2DCC6-3669-2036-C7D6-6FB03F1FA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51639" y="8423045"/>
            <a:ext cx="914400" cy="914400"/>
          </a:xfrm>
          <a:prstGeom prst="rect">
            <a:avLst/>
          </a:prstGeom>
        </p:spPr>
      </p:pic>
      <p:cxnSp>
        <p:nvCxnSpPr>
          <p:cNvPr id="11" name="Straight Connector 10">
            <a:extLst>
              <a:ext uri="{FF2B5EF4-FFF2-40B4-BE49-F238E27FC236}">
                <a16:creationId xmlns:a16="http://schemas.microsoft.com/office/drawing/2014/main" id="{F394E2D3-E0C7-F79F-44AA-2FF862DE77B3}"/>
              </a:ext>
            </a:extLst>
          </p:cNvPr>
          <p:cNvCxnSpPr>
            <a:cxnSpLocks/>
          </p:cNvCxnSpPr>
          <p:nvPr/>
        </p:nvCxnSpPr>
        <p:spPr>
          <a:xfrm>
            <a:off x="214618" y="688599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04496C97-D5EC-43C3-03AC-FF05F459B7D3}"/>
              </a:ext>
            </a:extLst>
          </p:cNvPr>
          <p:cNvSpPr txBox="1"/>
          <p:nvPr/>
        </p:nvSpPr>
        <p:spPr>
          <a:xfrm>
            <a:off x="223306" y="13057340"/>
            <a:ext cx="9838800" cy="1938992"/>
          </a:xfrm>
          <a:prstGeom prst="rect">
            <a:avLst/>
          </a:prstGeom>
          <a:noFill/>
        </p:spPr>
        <p:txBody>
          <a:bodyPr wrap="square" rtlCol="0">
            <a:spAutoFit/>
          </a:bodyPr>
          <a:lstStyle/>
          <a:p>
            <a:pPr algn="ctr"/>
            <a:r>
              <a:rPr lang="en-GB" sz="60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Use Boolean Masks for instant data manipulation</a:t>
            </a:r>
          </a:p>
        </p:txBody>
      </p:sp>
    </p:spTree>
    <p:extLst>
      <p:ext uri="{BB962C8B-B14F-4D97-AF65-F5344CB8AC3E}">
        <p14:creationId xmlns:p14="http://schemas.microsoft.com/office/powerpoint/2010/main" val="36086065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43.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F58B12-DCCE-EEF4-0317-2F8AE8C608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B7E48DE-BF68-8E47-84A4-08F1E639C28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2BE9D88D-02D1-1A3F-9B31-285212FD6012}"/>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5" name="Picture 4">
            <a:extLst>
              <a:ext uri="{FF2B5EF4-FFF2-40B4-BE49-F238E27FC236}">
                <a16:creationId xmlns:a16="http://schemas.microsoft.com/office/drawing/2014/main" id="{F1D9A34C-9ECF-C1E5-1DC6-3ABD21C82FF7}"/>
              </a:ext>
            </a:extLst>
          </p:cNvPr>
          <p:cNvPicPr preferRelativeResize="0">
            <a:picLocks/>
          </p:cNvPicPr>
          <p:nvPr/>
        </p:nvPicPr>
        <p:blipFill rotWithShape="1">
          <a:blip r:embed="rId4"/>
          <a:srcRect l="18681" t="19585" r="12797" b="13286"/>
          <a:stretch>
            <a:fillRect/>
          </a:stretch>
        </p:blipFill>
        <p:spPr>
          <a:xfrm>
            <a:off x="223306" y="4511386"/>
            <a:ext cx="9838800" cy="9000000"/>
          </a:xfrm>
          <a:prstGeom prst="rect">
            <a:avLst/>
          </a:prstGeom>
        </p:spPr>
      </p:pic>
    </p:spTree>
    <p:extLst>
      <p:ext uri="{BB962C8B-B14F-4D97-AF65-F5344CB8AC3E}">
        <p14:creationId xmlns:p14="http://schemas.microsoft.com/office/powerpoint/2010/main" val="16017363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231C1D6-49F7-9B7F-E3ED-78F80A84B9A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71A339-D3D8-A3A6-F1B6-BF1386184657}"/>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116A5176-5812-6261-2BC6-3D5992E9E8E5}"/>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45B7BCEE-E446-0DC0-4AFB-853DCA689C78}"/>
              </a:ext>
            </a:extLst>
          </p:cNvPr>
          <p:cNvPicPr preferRelativeResize="0">
            <a:picLocks/>
          </p:cNvPicPr>
          <p:nvPr/>
        </p:nvPicPr>
        <p:blipFill rotWithShape="1">
          <a:blip r:embed="rId4"/>
          <a:srcRect l="17122" t="20099" r="12080" b="12973"/>
          <a:stretch>
            <a:fillRect/>
          </a:stretch>
        </p:blipFill>
        <p:spPr>
          <a:xfrm>
            <a:off x="223305" y="4511385"/>
            <a:ext cx="9838800" cy="9000000"/>
          </a:xfrm>
          <a:prstGeom prst="rect">
            <a:avLst/>
          </a:prstGeom>
        </p:spPr>
      </p:pic>
    </p:spTree>
    <p:extLst>
      <p:ext uri="{BB962C8B-B14F-4D97-AF65-F5344CB8AC3E}">
        <p14:creationId xmlns:p14="http://schemas.microsoft.com/office/powerpoint/2010/main" val="29662090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5230050-251E-AE82-8B8A-EB5D9B4CA9D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811E92D-7FE7-68BE-A941-C44D5C12C85F}"/>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6600" b="1" dirty="0">
                <a:ln w="0"/>
                <a:solidFill>
                  <a:schemeClr val="tx1"/>
                </a:solidFill>
                <a:effectLst>
                  <a:outerShdw blurRad="38100" dist="19050" dir="2700000" algn="tl" rotWithShape="0">
                    <a:schemeClr val="dk1">
                      <a:alpha val="40000"/>
                    </a:schemeClr>
                  </a:outerShdw>
                </a:effectLst>
                <a:latin typeface="+mj-lt"/>
              </a:rPr>
              <a:t>Boilerplate Constructors</a:t>
            </a:r>
          </a:p>
        </p:txBody>
      </p:sp>
      <p:pic>
        <p:nvPicPr>
          <p:cNvPr id="3" name="Picture 2">
            <a:extLst>
              <a:ext uri="{FF2B5EF4-FFF2-40B4-BE49-F238E27FC236}">
                <a16:creationId xmlns:a16="http://schemas.microsoft.com/office/drawing/2014/main" id="{F0D59821-886F-AB76-F279-03652F7BCB8E}"/>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2" name="Picture 1">
            <a:extLst>
              <a:ext uri="{FF2B5EF4-FFF2-40B4-BE49-F238E27FC236}">
                <a16:creationId xmlns:a16="http://schemas.microsoft.com/office/drawing/2014/main" id="{0B729A66-405A-A6C2-BB4B-B0817AE3731D}"/>
              </a:ext>
            </a:extLst>
          </p:cNvPr>
          <p:cNvPicPr preferRelativeResize="0">
            <a:picLocks/>
          </p:cNvPicPr>
          <p:nvPr/>
        </p:nvPicPr>
        <p:blipFill rotWithShape="1">
          <a:blip r:embed="rId3"/>
          <a:srcRect l="17457" t="21491" r="12351" b="13203"/>
          <a:stretch>
            <a:fillRect/>
          </a:stretch>
        </p:blipFill>
        <p:spPr>
          <a:xfrm>
            <a:off x="223306" y="4549486"/>
            <a:ext cx="9838800" cy="7200000"/>
          </a:xfrm>
          <a:prstGeom prst="rect">
            <a:avLst/>
          </a:prstGeom>
        </p:spPr>
      </p:pic>
      <p:sp>
        <p:nvSpPr>
          <p:cNvPr id="7" name="Right Arrow 6">
            <a:extLst>
              <a:ext uri="{FF2B5EF4-FFF2-40B4-BE49-F238E27FC236}">
                <a16:creationId xmlns:a16="http://schemas.microsoft.com/office/drawing/2014/main" id="{FC1BBC9F-2B2C-06B9-94AF-F024644F1143}"/>
              </a:ext>
            </a:extLst>
          </p:cNvPr>
          <p:cNvSpPr/>
          <p:nvPr/>
        </p:nvSpPr>
        <p:spPr>
          <a:xfrm>
            <a:off x="4238228" y="12401550"/>
            <a:ext cx="1808956" cy="876300"/>
          </a:xfrm>
          <a:prstGeom prst="rightArrow">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marL="0" algn="l" defTabSz="457200" rtl="0" eaLnBrk="1" latinLnBrk="0" hangingPunct="1"/>
            <a:endParaRPr lang="en-DE" sz="66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24820708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67D3725-E485-066A-DFD4-3B3D25175E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BFB7E05-3D9E-7FA5-A634-1CDA1D142F7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b="1" dirty="0">
                <a:ln w="0"/>
                <a:solidFill>
                  <a:schemeClr val="tx1"/>
                </a:solidFill>
                <a:effectLst>
                  <a:outerShdw blurRad="38100" dist="19050" dir="2700000" algn="tl" rotWithShape="0">
                    <a:schemeClr val="dk1">
                      <a:alpha val="40000"/>
                    </a:schemeClr>
                  </a:outerShdw>
                </a:effectLst>
                <a:latin typeface="+mj-lt"/>
              </a:rPr>
              <a:t>Parameter Properties</a:t>
            </a:r>
          </a:p>
        </p:txBody>
      </p:sp>
      <p:pic>
        <p:nvPicPr>
          <p:cNvPr id="3" name="Picture 2">
            <a:extLst>
              <a:ext uri="{FF2B5EF4-FFF2-40B4-BE49-F238E27FC236}">
                <a16:creationId xmlns:a16="http://schemas.microsoft.com/office/drawing/2014/main" id="{E9909B3A-1639-0B18-F14F-6E965D01CE0C}"/>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D7C02C88-796B-C2C3-575E-82D3F8F3FC77}"/>
              </a:ext>
            </a:extLst>
          </p:cNvPr>
          <p:cNvPicPr preferRelativeResize="0">
            <a:picLocks/>
          </p:cNvPicPr>
          <p:nvPr/>
        </p:nvPicPr>
        <p:blipFill rotWithShape="1">
          <a:blip r:embed="rId3"/>
          <a:srcRect l="17478" t="28173" r="12078" b="18028"/>
          <a:stretch>
            <a:fillRect/>
          </a:stretch>
        </p:blipFill>
        <p:spPr>
          <a:xfrm>
            <a:off x="223306" y="4549486"/>
            <a:ext cx="9838800" cy="7200000"/>
          </a:xfrm>
          <a:prstGeom prst="rect">
            <a:avLst/>
          </a:prstGeom>
        </p:spPr>
      </p:pic>
    </p:spTree>
    <p:extLst>
      <p:ext uri="{BB962C8B-B14F-4D97-AF65-F5344CB8AC3E}">
        <p14:creationId xmlns:p14="http://schemas.microsoft.com/office/powerpoint/2010/main" val="42342398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4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5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1AFB35A8-885F-AF4B-58B9-DB3E3173A6D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E7C04-70FD-2A4F-96AD-2F42C2422963}"/>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1AF0C9D-2FA5-75D8-645B-F9D9447D5C01}"/>
              </a:ext>
            </a:extLst>
          </p:cNvPr>
          <p:cNvSpPr txBox="1"/>
          <p:nvPr/>
        </p:nvSpPr>
        <p:spPr>
          <a:xfrm>
            <a:off x="282706" y="4440891"/>
            <a:ext cx="9720000" cy="6065775"/>
          </a:xfrm>
          <a:prstGeom prst="rect">
            <a:avLst/>
          </a:prstGeom>
          <a:noFill/>
        </p:spPr>
        <p:txBody>
          <a:bodyPr wrap="square" rtlCol="0">
            <a:noAutofit/>
          </a:bodyPr>
          <a:lstStyle/>
          <a:p>
            <a:pPr algn="just"/>
            <a:r>
              <a:rPr lang="en-GB" sz="4000" dirty="0">
                <a:ln w="0"/>
                <a:solidFill>
                  <a:srgbClr val="FF0000"/>
                </a:solidFill>
                <a:effectLst>
                  <a:outerShdw blurRad="38100" dist="19050" dir="2700000" algn="tl" rotWithShape="0">
                    <a:schemeClr val="dk1">
                      <a:alpha val="40000"/>
                    </a:schemeClr>
                  </a:outerShdw>
                </a:effectLst>
                <a:latin typeface="+mj-lt"/>
              </a:rPr>
              <a:t>Type guards </a:t>
            </a:r>
            <a:r>
              <a:rPr lang="en-GB" sz="4000" dirty="0">
                <a:ln w="0"/>
                <a:effectLst>
                  <a:outerShdw blurRad="38100" dist="19050" dir="2700000" algn="tl" rotWithShape="0">
                    <a:schemeClr val="dk1">
                      <a:alpha val="40000"/>
                    </a:schemeClr>
                  </a:outerShdw>
                </a:effectLst>
                <a:latin typeface="+mj-lt"/>
              </a:rPr>
              <a:t>are a powerful feature in</a:t>
            </a:r>
          </a:p>
          <a:p>
            <a:pPr algn="just"/>
            <a:r>
              <a:rPr lang="en-GB" sz="4000" dirty="0">
                <a:ln w="0"/>
                <a:effectLst>
                  <a:outerShdw blurRad="38100" dist="19050" dir="2700000" algn="tl" rotWithShape="0">
                    <a:schemeClr val="dk1">
                      <a:alpha val="40000"/>
                    </a:schemeClr>
                  </a:outerShdw>
                </a:effectLst>
                <a:latin typeface="+mj-lt"/>
              </a:rPr>
              <a:t>TypeScript that allow you to narrow down</a:t>
            </a:r>
          </a:p>
          <a:p>
            <a:pPr algn="just"/>
            <a:r>
              <a:rPr lang="en-GB" sz="4000" dirty="0">
                <a:ln w="0"/>
                <a:effectLst>
                  <a:outerShdw blurRad="38100" dist="19050" dir="2700000" algn="tl" rotWithShape="0">
                    <a:schemeClr val="dk1">
                      <a:alpha val="40000"/>
                    </a:schemeClr>
                  </a:outerShdw>
                </a:effectLst>
                <a:latin typeface="+mj-lt"/>
              </a:rPr>
              <a:t>the type of an object within a conditional block.</a:t>
            </a:r>
          </a:p>
          <a:p>
            <a:pPr algn="just"/>
            <a:endParaRPr lang="en-GB" sz="4000" dirty="0">
              <a:ln w="0"/>
              <a:effectLst>
                <a:outerShdw blurRad="38100" dist="19050" dir="2700000" algn="tl" rotWithShape="0">
                  <a:schemeClr val="dk1">
                    <a:alpha val="40000"/>
                  </a:schemeClr>
                </a:outerShdw>
              </a:effectLst>
              <a:latin typeface="+mj-lt"/>
            </a:endParaRPr>
          </a:p>
          <a:p>
            <a:pPr algn="just"/>
            <a:r>
              <a:rPr lang="en-GB" sz="4000" dirty="0">
                <a:ln w="0"/>
                <a:effectLst>
                  <a:outerShdw blurRad="38100" dist="19050" dir="2700000" algn="tl" rotWithShape="0">
                    <a:schemeClr val="dk1">
                      <a:alpha val="40000"/>
                    </a:schemeClr>
                  </a:outerShdw>
                </a:effectLst>
                <a:latin typeface="+mj-lt"/>
              </a:rPr>
              <a:t>This is particularly useful when dealing with</a:t>
            </a:r>
          </a:p>
          <a:p>
            <a:pPr algn="just"/>
            <a:r>
              <a:rPr lang="en-GB" sz="4000" dirty="0">
                <a:ln w="0"/>
                <a:effectLst>
                  <a:outerShdw blurRad="38100" dist="19050" dir="2700000" algn="tl" rotWithShape="0">
                    <a:schemeClr val="dk1">
                      <a:alpha val="40000"/>
                    </a:schemeClr>
                  </a:outerShdw>
                </a:effectLst>
                <a:latin typeface="+mj-lt"/>
              </a:rPr>
              <a:t>values of type </a:t>
            </a:r>
            <a:r>
              <a:rPr lang="en-GB" sz="4000" dirty="0">
                <a:ln w="0"/>
                <a:solidFill>
                  <a:srgbClr val="FF0000"/>
                </a:solidFill>
                <a:effectLst>
                  <a:outerShdw blurRad="38100" dist="19050" dir="2700000" algn="tl" rotWithShape="0">
                    <a:schemeClr val="dk1">
                      <a:alpha val="40000"/>
                    </a:schemeClr>
                  </a:outerShdw>
                </a:effectLst>
                <a:latin typeface="+mj-lt"/>
              </a:rPr>
              <a:t>unknown</a:t>
            </a:r>
            <a:r>
              <a:rPr lang="en-GB" sz="4000" dirty="0">
                <a:ln w="0"/>
                <a:effectLst>
                  <a:outerShdw blurRad="38100" dist="19050" dir="2700000" algn="tl" rotWithShape="0">
                    <a:schemeClr val="dk1">
                      <a:alpha val="40000"/>
                    </a:schemeClr>
                  </a:outerShdw>
                </a:effectLst>
                <a:latin typeface="+mj-lt"/>
              </a:rPr>
              <a:t> or </a:t>
            </a:r>
            <a:r>
              <a:rPr lang="en-GB" sz="4000" dirty="0">
                <a:ln w="0"/>
                <a:solidFill>
                  <a:srgbClr val="FF0000"/>
                </a:solidFill>
                <a:effectLst>
                  <a:outerShdw blurRad="38100" dist="19050" dir="2700000" algn="tl" rotWithShape="0">
                    <a:schemeClr val="dk1">
                      <a:alpha val="40000"/>
                    </a:schemeClr>
                  </a:outerShdw>
                </a:effectLst>
                <a:latin typeface="+mj-lt"/>
              </a:rPr>
              <a:t>any</a:t>
            </a:r>
            <a:r>
              <a:rPr lang="en-GB" sz="4000" dirty="0">
                <a:ln w="0"/>
                <a:effectLst>
                  <a:outerShdw blurRad="38100" dist="19050" dir="2700000" algn="tl" rotWithShape="0">
                    <a:schemeClr val="dk1">
                      <a:alpha val="40000"/>
                    </a:schemeClr>
                  </a:outerShdw>
                </a:effectLst>
                <a:latin typeface="+mj-lt"/>
              </a:rPr>
              <a:t>, ensuring type safety</a:t>
            </a:r>
          </a:p>
          <a:p>
            <a:pPr algn="just"/>
            <a:r>
              <a:rPr lang="en-GB" sz="4000" dirty="0">
                <a:ln w="0"/>
                <a:effectLst>
                  <a:outerShdw blurRad="38100" dist="19050" dir="2700000" algn="tl" rotWithShape="0">
                    <a:schemeClr val="dk1">
                      <a:alpha val="40000"/>
                    </a:schemeClr>
                  </a:outerShdw>
                </a:effectLst>
                <a:latin typeface="+mj-lt"/>
              </a:rPr>
              <a:t> before accessing properties of the object.</a:t>
            </a:r>
            <a:endParaRPr lang="en-DE" sz="40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5BC2FCD-5FD6-A699-B1D4-D5746ED09FE6}"/>
              </a:ext>
            </a:extLst>
          </p:cNvPr>
          <p:cNvPicPr>
            <a:picLocks noChangeAspect="1"/>
          </p:cNvPicPr>
          <p:nvPr/>
        </p:nvPicPr>
        <p:blipFill>
          <a:blip r:embed="rId2"/>
          <a:stretch>
            <a:fillRect/>
          </a:stretch>
        </p:blipFill>
        <p:spPr>
          <a:xfrm>
            <a:off x="402973" y="3266751"/>
            <a:ext cx="1062000" cy="1062000"/>
          </a:xfrm>
          <a:prstGeom prst="rect">
            <a:avLst/>
          </a:prstGeom>
        </p:spPr>
      </p:pic>
      <p:sp>
        <p:nvSpPr>
          <p:cNvPr id="21" name="TextBox 20">
            <a:extLst>
              <a:ext uri="{FF2B5EF4-FFF2-40B4-BE49-F238E27FC236}">
                <a16:creationId xmlns:a16="http://schemas.microsoft.com/office/drawing/2014/main" id="{96CF3F9B-68EB-7199-63DB-D8E823C8D3EC}"/>
              </a:ext>
            </a:extLst>
          </p:cNvPr>
          <p:cNvSpPr txBox="1"/>
          <p:nvPr/>
        </p:nvSpPr>
        <p:spPr>
          <a:xfrm>
            <a:off x="282706" y="10725663"/>
            <a:ext cx="9720000" cy="2347785"/>
          </a:xfrm>
          <a:prstGeom prst="rect">
            <a:avLst/>
          </a:prstGeom>
          <a:noFill/>
        </p:spPr>
        <p:txBody>
          <a:bodyPr wrap="square" rtlCol="0">
            <a:noAutofit/>
          </a:bodyPr>
          <a:lstStyle/>
          <a:p>
            <a:r>
              <a:rPr lang="en-GB" sz="3600" dirty="0">
                <a:latin typeface="Monaco" pitchFamily="2" charset="77"/>
                <a:ea typeface="Menlo" panose="020B0609030804020204" pitchFamily="49" charset="0"/>
                <a:cs typeface="Menlo" panose="020B0609030804020204" pitchFamily="49" charset="0"/>
              </a:rPr>
              <a:t>type Response = {</a:t>
            </a:r>
          </a:p>
          <a:p>
            <a:r>
              <a:rPr lang="en-GB" sz="3600" dirty="0">
                <a:latin typeface="Monaco" pitchFamily="2" charset="77"/>
                <a:ea typeface="Menlo" panose="020B0609030804020204" pitchFamily="49" charset="0"/>
                <a:cs typeface="Menlo" panose="020B0609030804020204" pitchFamily="49" charset="0"/>
              </a:rPr>
              <a:t>status: number;</a:t>
            </a:r>
          </a:p>
          <a:p>
            <a:r>
              <a:rPr lang="en-GB" sz="3600" dirty="0">
                <a:latin typeface="Monaco" pitchFamily="2" charset="77"/>
                <a:ea typeface="Menlo" panose="020B0609030804020204" pitchFamily="49" charset="0"/>
                <a:cs typeface="Menlo" panose="020B0609030804020204" pitchFamily="49" charset="0"/>
              </a:rPr>
              <a:t>message?: string;</a:t>
            </a:r>
          </a:p>
          <a:p>
            <a:r>
              <a:rPr lang="en-GB" sz="3600" dirty="0">
                <a:latin typeface="Monaco" pitchFamily="2" charset="77"/>
                <a:ea typeface="Menlo" panose="020B0609030804020204" pitchFamily="49" charset="0"/>
                <a:cs typeface="Menlo" panose="020B0609030804020204" pitchFamily="49" charset="0"/>
              </a:rPr>
              <a:t>};</a:t>
            </a:r>
          </a:p>
          <a:p>
            <a:br>
              <a:rPr lang="en-GB" sz="3600" dirty="0">
                <a:latin typeface="Monaco" pitchFamily="2" charset="77"/>
                <a:ea typeface="Menlo" panose="020B0609030804020204" pitchFamily="49" charset="0"/>
                <a:cs typeface="Menlo" panose="020B0609030804020204" pitchFamily="49" charset="0"/>
              </a:rPr>
            </a:br>
            <a:endParaRPr lang="en-GB" sz="3600" dirty="0">
              <a:latin typeface="Monaco" pitchFamily="2" charset="77"/>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351835306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504716E5-4C43-CF1C-AA7B-6E60535942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2F8BA8F-867C-CB22-00CF-766478D20AAF}"/>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6F237B3-0B1E-F524-E2A2-E1B3B381B3F5}"/>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This is a custom </a:t>
            </a:r>
            <a:r>
              <a:rPr lang="en-GB" sz="3600" dirty="0">
                <a:ln w="0"/>
                <a:solidFill>
                  <a:srgbClr val="FF0000"/>
                </a:solidFill>
                <a:effectLst>
                  <a:outerShdw blurRad="38100" dist="19050" dir="2700000" algn="tl" rotWithShape="0">
                    <a:schemeClr val="dk1">
                      <a:alpha val="40000"/>
                    </a:schemeClr>
                  </a:outerShdw>
                </a:effectLst>
                <a:latin typeface="+mj-lt"/>
              </a:rPr>
              <a:t>Type Guard</a:t>
            </a:r>
            <a:r>
              <a:rPr lang="en-GB" sz="3600" dirty="0">
                <a:ln w="0"/>
                <a:effectLst>
                  <a:outerShdw blurRad="38100" dist="19050" dir="2700000" algn="tl" rotWithShape="0">
                    <a:schemeClr val="dk1">
                      <a:alpha val="40000"/>
                    </a:schemeClr>
                  </a:outerShdw>
                </a:effectLst>
                <a:latin typeface="+mj-lt"/>
              </a:rPr>
              <a:t>. It checks</a:t>
            </a:r>
          </a:p>
          <a:p>
            <a:r>
              <a:rPr lang="en-GB" sz="3600" dirty="0">
                <a:ln w="0"/>
                <a:effectLst>
                  <a:outerShdw blurRad="38100" dist="19050" dir="2700000" algn="tl" rotWithShape="0">
                    <a:schemeClr val="dk1">
                      <a:alpha val="40000"/>
                    </a:schemeClr>
                  </a:outerShdw>
                </a:effectLst>
                <a:latin typeface="+mj-lt"/>
              </a:rPr>
              <a:t>if an unknown value is a Response object.</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389149CF-EC33-E562-8504-DDB14E6E6237}"/>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BC894D-A871-2FDF-B3DF-4E53E156E420}"/>
              </a:ext>
            </a:extLst>
          </p:cNvPr>
          <p:cNvPicPr>
            <a:picLocks noChangeAspect="1"/>
          </p:cNvPicPr>
          <p:nvPr/>
        </p:nvPicPr>
        <p:blipFill rotWithShape="1">
          <a:blip r:embed="rId3"/>
          <a:srcRect l="19258" t="23379" r="11218" b="19155"/>
          <a:stretch>
            <a:fillRect/>
          </a:stretch>
        </p:blipFill>
        <p:spPr>
          <a:xfrm>
            <a:off x="282706" y="5966847"/>
            <a:ext cx="9720000" cy="6434365"/>
          </a:xfrm>
          <a:prstGeom prst="rect">
            <a:avLst/>
          </a:prstGeom>
        </p:spPr>
      </p:pic>
    </p:spTree>
    <p:extLst>
      <p:ext uri="{BB962C8B-B14F-4D97-AF65-F5344CB8AC3E}">
        <p14:creationId xmlns:p14="http://schemas.microsoft.com/office/powerpoint/2010/main" val="134330867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02D01AB4-CB32-2536-9E50-1A91B6209C0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478FDF-5ECB-A685-DA3C-86C9E9C80BE1}"/>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992A551-552D-296B-B696-8E80E42A6021}"/>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Here is shown how to write the </a:t>
            </a:r>
            <a:r>
              <a:rPr lang="en-GB" sz="3600" dirty="0">
                <a:ln w="0"/>
                <a:solidFill>
                  <a:srgbClr val="FF0000"/>
                </a:solidFill>
                <a:effectLst>
                  <a:outerShdw blurRad="38100" dist="19050" dir="2700000" algn="tl" rotWithShape="0">
                    <a:schemeClr val="dk1">
                      <a:alpha val="40000"/>
                    </a:schemeClr>
                  </a:outerShdw>
                </a:effectLst>
                <a:latin typeface="+mj-lt"/>
              </a:rPr>
              <a:t>Type Guard </a:t>
            </a:r>
          </a:p>
          <a:p>
            <a:r>
              <a:rPr lang="en-GB" sz="3600" dirty="0">
                <a:ln w="0"/>
                <a:effectLst>
                  <a:outerShdw blurRad="38100" dist="19050" dir="2700000" algn="tl" rotWithShape="0">
                    <a:schemeClr val="dk1">
                      <a:alpha val="40000"/>
                    </a:schemeClr>
                  </a:outerShdw>
                </a:effectLst>
                <a:latin typeface="+mj-lt"/>
              </a:rPr>
              <a:t>Function that handles the response. </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FBFFC65-C30C-413D-3125-24867E1AECBA}"/>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8" name="Picture 7">
            <a:extLst>
              <a:ext uri="{FF2B5EF4-FFF2-40B4-BE49-F238E27FC236}">
                <a16:creationId xmlns:a16="http://schemas.microsoft.com/office/drawing/2014/main" id="{F2667FC8-FB7E-6F0F-E4E7-5D8CFC39602E}"/>
              </a:ext>
            </a:extLst>
          </p:cNvPr>
          <p:cNvPicPr>
            <a:picLocks noChangeAspect="1"/>
          </p:cNvPicPr>
          <p:nvPr/>
        </p:nvPicPr>
        <p:blipFill rotWithShape="1">
          <a:blip r:embed="rId3"/>
          <a:srcRect l="21630" t="27409" r="14989" b="21320"/>
          <a:stretch>
            <a:fillRect/>
          </a:stretch>
        </p:blipFill>
        <p:spPr>
          <a:xfrm>
            <a:off x="282706" y="5924540"/>
            <a:ext cx="9720000" cy="6764767"/>
          </a:xfrm>
          <a:prstGeom prst="rect">
            <a:avLst/>
          </a:prstGeom>
        </p:spPr>
      </p:pic>
    </p:spTree>
    <p:extLst>
      <p:ext uri="{BB962C8B-B14F-4D97-AF65-F5344CB8AC3E}">
        <p14:creationId xmlns:p14="http://schemas.microsoft.com/office/powerpoint/2010/main" val="41190395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Callbacks: avoid ?:</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1698535"/>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Stop making callback params optional in TypeScript</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Picture 1">
            <a:extLst>
              <a:ext uri="{FF2B5EF4-FFF2-40B4-BE49-F238E27FC236}">
                <a16:creationId xmlns:a16="http://schemas.microsoft.com/office/drawing/2014/main" id="{3D52B6AB-9DAB-5B3E-861A-F1EF5121A58B}"/>
              </a:ext>
            </a:extLst>
          </p:cNvPr>
          <p:cNvPicPr>
            <a:picLocks noChangeAspect="1"/>
          </p:cNvPicPr>
          <p:nvPr/>
        </p:nvPicPr>
        <p:blipFill rotWithShape="1">
          <a:blip r:embed="rId4"/>
          <a:srcRect l="12556" t="15581" r="8949" b="12861"/>
          <a:stretch>
            <a:fillRect/>
          </a:stretch>
        </p:blipFill>
        <p:spPr>
          <a:xfrm>
            <a:off x="223306" y="4414909"/>
            <a:ext cx="9838800" cy="7107144"/>
          </a:xfrm>
          <a:prstGeom prst="rect">
            <a:avLst/>
          </a:prstGeom>
        </p:spPr>
      </p:pic>
      <p:cxnSp>
        <p:nvCxnSpPr>
          <p:cNvPr id="5" name="Straight Connector 4">
            <a:extLst>
              <a:ext uri="{FF2B5EF4-FFF2-40B4-BE49-F238E27FC236}">
                <a16:creationId xmlns:a16="http://schemas.microsoft.com/office/drawing/2014/main" id="{ABF597FB-7C4D-10C6-9E0E-1B1037C57E69}"/>
              </a:ext>
            </a:extLst>
          </p:cNvPr>
          <p:cNvCxnSpPr>
            <a:cxnSpLocks/>
          </p:cNvCxnSpPr>
          <p:nvPr/>
        </p:nvCxnSpPr>
        <p:spPr>
          <a:xfrm>
            <a:off x="233306" y="8258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3E1FC09-DDEB-ADBE-01B1-B9BEE0A103C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9407636"/>
            <a:ext cx="914400" cy="914400"/>
          </a:xfrm>
          <a:prstGeom prst="rect">
            <a:avLst/>
          </a:prstGeom>
        </p:spPr>
      </p:pic>
      <p:pic>
        <p:nvPicPr>
          <p:cNvPr id="7" name="Graphic 6" descr="Close with solid fill">
            <a:extLst>
              <a:ext uri="{FF2B5EF4-FFF2-40B4-BE49-F238E27FC236}">
                <a16:creationId xmlns:a16="http://schemas.microsoft.com/office/drawing/2014/main" id="{01F7B3A8-6536-282D-0ADF-BB7B2FB1AEB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6410351"/>
            <a:ext cx="914400" cy="9144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128497" y="3188097"/>
            <a:ext cx="10028419"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solidFill>
                  <a:srgbClr val="00B050"/>
                </a:solidFill>
              </a:rPr>
              <a:t>Verbose </a:t>
            </a:r>
            <a:r>
              <a:rPr lang="en-GB" sz="6000" b="1" dirty="0">
                <a:solidFill>
                  <a:srgbClr val="C00000"/>
                </a:solidFill>
              </a:rPr>
              <a:t>vs</a:t>
            </a:r>
            <a:r>
              <a:rPr lang="en-GB" sz="6000" b="1" dirty="0">
                <a:solidFill>
                  <a:srgbClr val="00B050"/>
                </a:solidFill>
              </a:rPr>
              <a:t> Short Class</a:t>
            </a:r>
            <a:endParaRPr lang="en-GB" sz="28700" b="1" dirty="0">
              <a:ln w="0"/>
              <a:solidFill>
                <a:srgbClr val="00B050"/>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201773" y="3283581"/>
            <a:ext cx="1062000" cy="1062000"/>
          </a:xfrm>
          <a:prstGeom prst="rect">
            <a:avLst/>
          </a:prstGeom>
        </p:spPr>
      </p:pic>
      <p:pic>
        <p:nvPicPr>
          <p:cNvPr id="2" name="Picture 1">
            <a:extLst>
              <a:ext uri="{FF2B5EF4-FFF2-40B4-BE49-F238E27FC236}">
                <a16:creationId xmlns:a16="http://schemas.microsoft.com/office/drawing/2014/main" id="{25FB4109-0620-2F2D-FEFE-70FEEDC62514}"/>
              </a:ext>
            </a:extLst>
          </p:cNvPr>
          <p:cNvPicPr>
            <a:picLocks noChangeAspect="1"/>
          </p:cNvPicPr>
          <p:nvPr/>
        </p:nvPicPr>
        <p:blipFill rotWithShape="1">
          <a:blip r:embed="rId4"/>
          <a:srcRect l="17081" t="17341" r="11312" b="11476"/>
          <a:stretch>
            <a:fillRect/>
          </a:stretch>
        </p:blipFill>
        <p:spPr>
          <a:xfrm>
            <a:off x="127906" y="4520577"/>
            <a:ext cx="10029600" cy="9410753"/>
          </a:xfrm>
          <a:prstGeom prst="rect">
            <a:avLst/>
          </a:prstGeom>
        </p:spPr>
      </p:pic>
      <p:sp>
        <p:nvSpPr>
          <p:cNvPr id="5" name="TextBox 4">
            <a:extLst>
              <a:ext uri="{FF2B5EF4-FFF2-40B4-BE49-F238E27FC236}">
                <a16:creationId xmlns:a16="http://schemas.microsoft.com/office/drawing/2014/main" id="{F2E84A01-D94E-DF8E-9132-2584D4857955}"/>
              </a:ext>
            </a:extLst>
          </p:cNvPr>
          <p:cNvSpPr txBox="1"/>
          <p:nvPr/>
        </p:nvSpPr>
        <p:spPr>
          <a:xfrm>
            <a:off x="403306" y="13992025"/>
            <a:ext cx="9478800" cy="1107878"/>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approach do you prefer?</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cxnSp>
        <p:nvCxnSpPr>
          <p:cNvPr id="6" name="Straight Connector 5">
            <a:extLst>
              <a:ext uri="{FF2B5EF4-FFF2-40B4-BE49-F238E27FC236}">
                <a16:creationId xmlns:a16="http://schemas.microsoft.com/office/drawing/2014/main" id="{58737F9C-22C6-342B-1BF9-5BF8939687AC}"/>
              </a:ext>
            </a:extLst>
          </p:cNvPr>
          <p:cNvCxnSpPr>
            <a:cxnSpLocks/>
          </p:cNvCxnSpPr>
          <p:nvPr/>
        </p:nvCxnSpPr>
        <p:spPr>
          <a:xfrm>
            <a:off x="98396" y="9487598"/>
            <a:ext cx="1005852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533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9A284E5C-D69D-59E4-30C4-B21074DAFD3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9807EC8-646C-8D0B-6C63-10DE26AF427F}"/>
              </a:ext>
            </a:extLst>
          </p:cNvPr>
          <p:cNvPicPr>
            <a:picLocks noChangeAspect="1"/>
          </p:cNvPicPr>
          <p:nvPr/>
        </p:nvPicPr>
        <p:blipFill rotWithShape="1">
          <a:blip r:embed="rId3"/>
          <a:srcRect l="18385" t="16592" r="12949" b="13415"/>
          <a:stretch>
            <a:fillRect/>
          </a:stretch>
        </p:blipFill>
        <p:spPr>
          <a:xfrm>
            <a:off x="223306" y="4421841"/>
            <a:ext cx="9838800" cy="11086779"/>
          </a:xfrm>
          <a:prstGeom prst="rect">
            <a:avLst/>
          </a:prstGeom>
        </p:spPr>
      </p:pic>
      <p:sp>
        <p:nvSpPr>
          <p:cNvPr id="4" name="TextBox 3">
            <a:extLst>
              <a:ext uri="{FF2B5EF4-FFF2-40B4-BE49-F238E27FC236}">
                <a16:creationId xmlns:a16="http://schemas.microsoft.com/office/drawing/2014/main" id="{3E2E7330-A4BA-7B66-10CB-B29D9D5FE80F}"/>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Don’t Use </a:t>
            </a: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enum</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2B13A439-95BC-C319-88DD-7839A7BCCFB3}"/>
              </a:ext>
            </a:extLst>
          </p:cNvPr>
          <p:cNvPicPr>
            <a:picLocks noChangeAspect="1"/>
          </p:cNvPicPr>
          <p:nvPr/>
        </p:nvPicPr>
        <p:blipFill>
          <a:blip r:embed="rId4"/>
          <a:stretch>
            <a:fillRect/>
          </a:stretch>
        </p:blipFill>
        <p:spPr>
          <a:xfrm>
            <a:off x="321693" y="3184845"/>
            <a:ext cx="1062000" cy="1062000"/>
          </a:xfrm>
          <a:prstGeom prst="rect">
            <a:avLst/>
          </a:prstGeom>
        </p:spPr>
      </p:pic>
      <p:pic>
        <p:nvPicPr>
          <p:cNvPr id="7" name="Graphic 6" descr="Close with solid fill">
            <a:extLst>
              <a:ext uri="{FF2B5EF4-FFF2-40B4-BE49-F238E27FC236}">
                <a16:creationId xmlns:a16="http://schemas.microsoft.com/office/drawing/2014/main" id="{9D28F317-0EC2-8168-67F0-807D6344854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8457814"/>
            <a:ext cx="914400" cy="914400"/>
          </a:xfrm>
          <a:prstGeom prst="rect">
            <a:avLst/>
          </a:prstGeom>
        </p:spPr>
      </p:pic>
    </p:spTree>
    <p:extLst>
      <p:ext uri="{BB962C8B-B14F-4D97-AF65-F5344CB8AC3E}">
        <p14:creationId xmlns:p14="http://schemas.microsoft.com/office/powerpoint/2010/main" val="27548018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D140C36E-B125-B5A5-B3E0-015105779E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2B3CAC-DC87-7DE3-BB9B-636AA0942581}"/>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Use String Unions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6CFE004A-B494-AD6E-DD27-86721A98CC44}"/>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Graphic 1" descr="Shield Tick with solid fill">
            <a:extLst>
              <a:ext uri="{FF2B5EF4-FFF2-40B4-BE49-F238E27FC236}">
                <a16:creationId xmlns:a16="http://schemas.microsoft.com/office/drawing/2014/main" id="{49828D70-CE1B-444D-D170-C462C00F342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01124" y="8457814"/>
            <a:ext cx="914400" cy="914400"/>
          </a:xfrm>
          <a:prstGeom prst="rect">
            <a:avLst/>
          </a:prstGeom>
        </p:spPr>
      </p:pic>
      <p:pic>
        <p:nvPicPr>
          <p:cNvPr id="6" name="Picture 5">
            <a:extLst>
              <a:ext uri="{FF2B5EF4-FFF2-40B4-BE49-F238E27FC236}">
                <a16:creationId xmlns:a16="http://schemas.microsoft.com/office/drawing/2014/main" id="{FB39047D-27A6-CEE5-E2F9-5C02E51A3DB5}"/>
              </a:ext>
            </a:extLst>
          </p:cNvPr>
          <p:cNvPicPr>
            <a:picLocks noChangeAspect="1"/>
          </p:cNvPicPr>
          <p:nvPr/>
        </p:nvPicPr>
        <p:blipFill rotWithShape="1">
          <a:blip r:embed="rId5"/>
          <a:srcRect l="17027" t="16063" r="12132" b="13769"/>
          <a:stretch>
            <a:fillRect/>
          </a:stretch>
        </p:blipFill>
        <p:spPr>
          <a:xfrm>
            <a:off x="223306" y="4421841"/>
            <a:ext cx="9838800" cy="10661062"/>
          </a:xfrm>
          <a:prstGeom prst="rect">
            <a:avLst/>
          </a:prstGeom>
        </p:spPr>
      </p:pic>
    </p:spTree>
    <p:extLst>
      <p:ext uri="{BB962C8B-B14F-4D97-AF65-F5344CB8AC3E}">
        <p14:creationId xmlns:p14="http://schemas.microsoft.com/office/powerpoint/2010/main" val="16341122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Inline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093815"/>
            <a:ext cx="9610887" cy="3303829"/>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is erased, only the module is imported (side-effect).</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30E91099-BFDF-26CC-77D0-5395547BF94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0B8FAA34-C55B-BE9E-A91F-0F0FDC0283CE}"/>
              </a:ext>
            </a:extLst>
          </p:cNvPr>
          <p:cNvPicPr>
            <a:picLocks noChangeAspect="1"/>
          </p:cNvPicPr>
          <p:nvPr/>
        </p:nvPicPr>
        <p:blipFill rotWithShape="1">
          <a:blip r:embed="rId3"/>
          <a:srcRect l="12284" t="34501" r="9947" b="29111"/>
          <a:stretch>
            <a:fillRect/>
          </a:stretch>
        </p:blipFill>
        <p:spPr>
          <a:xfrm>
            <a:off x="223306" y="4449622"/>
            <a:ext cx="9838800" cy="1822903"/>
          </a:xfrm>
          <a:prstGeom prst="rect">
            <a:avLst/>
          </a:prstGeom>
        </p:spPr>
      </p:pic>
      <p:pic>
        <p:nvPicPr>
          <p:cNvPr id="8" name="Picture 7">
            <a:extLst>
              <a:ext uri="{FF2B5EF4-FFF2-40B4-BE49-F238E27FC236}">
                <a16:creationId xmlns:a16="http://schemas.microsoft.com/office/drawing/2014/main" id="{D650CF42-39A5-8C5F-8733-BFA6D76D3A55}"/>
              </a:ext>
            </a:extLst>
          </p:cNvPr>
          <p:cNvPicPr>
            <a:picLocks noChangeAspect="1"/>
          </p:cNvPicPr>
          <p:nvPr/>
        </p:nvPicPr>
        <p:blipFill rotWithShape="1">
          <a:blip r:embed="rId4"/>
          <a:srcRect l="13035" t="34636" r="9318" b="24464"/>
          <a:stretch>
            <a:fillRect/>
          </a:stretch>
        </p:blipFill>
        <p:spPr>
          <a:xfrm>
            <a:off x="223306" y="8969960"/>
            <a:ext cx="9838800" cy="2052121"/>
          </a:xfrm>
          <a:prstGeom prst="rect">
            <a:avLst/>
          </a:prstGeom>
        </p:spPr>
      </p:pic>
      <p:sp>
        <p:nvSpPr>
          <p:cNvPr id="9" name="TextBox 8">
            <a:extLst>
              <a:ext uri="{FF2B5EF4-FFF2-40B4-BE49-F238E27FC236}">
                <a16:creationId xmlns:a16="http://schemas.microsoft.com/office/drawing/2014/main" id="{07C7F848-3185-C204-EE5F-532CA539ACFF}"/>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05E93C66-ABCA-BFCE-FB95-75DF774847A1}"/>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Tree>
    <p:extLst>
      <p:ext uri="{BB962C8B-B14F-4D97-AF65-F5344CB8AC3E}">
        <p14:creationId xmlns:p14="http://schemas.microsoft.com/office/powerpoint/2010/main" val="28755557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5C7D7448-EC05-B638-3AF3-3052660292DE}"/>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0DF4302D-60BB-6BC4-704A-4CD160192A79}"/>
              </a:ext>
            </a:extLst>
          </p:cNvPr>
          <p:cNvPicPr>
            <a:picLocks noChangeAspect="1"/>
          </p:cNvPicPr>
          <p:nvPr/>
        </p:nvPicPr>
        <p:blipFill rotWithShape="1">
          <a:blip r:embed="rId3"/>
          <a:srcRect l="13143" t="18610" r="9173" b="19682"/>
          <a:stretch>
            <a:fillRect/>
          </a:stretch>
        </p:blipFill>
        <p:spPr>
          <a:xfrm>
            <a:off x="223306" y="4540886"/>
            <a:ext cx="9838800" cy="5778485"/>
          </a:xfrm>
          <a:prstGeom prst="rect">
            <a:avLst/>
          </a:prstGeom>
        </p:spPr>
      </p:pic>
      <p:sp>
        <p:nvSpPr>
          <p:cNvPr id="4" name="TextBox 3">
            <a:extLst>
              <a:ext uri="{FF2B5EF4-FFF2-40B4-BE49-F238E27FC236}">
                <a16:creationId xmlns:a16="http://schemas.microsoft.com/office/drawing/2014/main" id="{8673C2C8-6B03-1C25-784B-C102B01D7C53}"/>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5BE44388-80D8-3CA8-3F12-FFCFCA1E36B7}"/>
              </a:ext>
            </a:extLst>
          </p:cNvPr>
          <p:cNvPicPr>
            <a:picLocks noChangeAspect="1"/>
          </p:cNvPicPr>
          <p:nvPr/>
        </p:nvPicPr>
        <p:blipFill>
          <a:blip r:embed="rId4"/>
          <a:stretch>
            <a:fillRect/>
          </a:stretch>
        </p:blipFill>
        <p:spPr>
          <a:xfrm>
            <a:off x="265941" y="3267539"/>
            <a:ext cx="1062000" cy="1062000"/>
          </a:xfrm>
          <a:prstGeom prst="rect">
            <a:avLst/>
          </a:prstGeom>
        </p:spPr>
      </p:pic>
      <p:sp>
        <p:nvSpPr>
          <p:cNvPr id="33" name="TextBox 32">
            <a:extLst>
              <a:ext uri="{FF2B5EF4-FFF2-40B4-BE49-F238E27FC236}">
                <a16:creationId xmlns:a16="http://schemas.microsoft.com/office/drawing/2014/main" id="{4ED3E644-F118-C0F6-BE76-AED1688C2C47}"/>
              </a:ext>
            </a:extLst>
          </p:cNvPr>
          <p:cNvSpPr txBox="1"/>
          <p:nvPr/>
        </p:nvSpPr>
        <p:spPr>
          <a:xfrm>
            <a:off x="403306" y="10547458"/>
            <a:ext cx="9478800" cy="3377090"/>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How to use </a:t>
            </a:r>
            <a:r>
              <a:rPr lang="en-GB" sz="6600" b="1" dirty="0">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unknown</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and </a:t>
            </a:r>
            <a:r>
              <a:rPr lang="en-GB" sz="6600" b="1" dirty="0" err="1">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ReturnType</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TypeScript when handling fetched data.</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34" name="Right Arrow 33">
            <a:extLst>
              <a:ext uri="{FF2B5EF4-FFF2-40B4-BE49-F238E27FC236}">
                <a16:creationId xmlns:a16="http://schemas.microsoft.com/office/drawing/2014/main" id="{5C0307BB-9A19-3BF4-264E-C2F01AB66948}"/>
              </a:ext>
            </a:extLst>
          </p:cNvPr>
          <p:cNvSpPr/>
          <p:nvPr/>
        </p:nvSpPr>
        <p:spPr>
          <a:xfrm>
            <a:off x="3490369" y="15546833"/>
            <a:ext cx="3304674" cy="1024662"/>
          </a:xfrm>
          <a:prstGeom prst="rightArrow">
            <a:avLst/>
          </a:prstGeom>
          <a:solidFill>
            <a:srgbClr val="00B0F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3600" dirty="0">
                <a:solidFill>
                  <a:schemeClr val="tx1"/>
                </a:solidFill>
                <a:latin typeface="Patrick Hand" pitchFamily="2" charset="77"/>
              </a:rPr>
              <a:t>Next</a:t>
            </a:r>
          </a:p>
        </p:txBody>
      </p:sp>
    </p:spTree>
    <p:extLst>
      <p:ext uri="{BB962C8B-B14F-4D97-AF65-F5344CB8AC3E}">
        <p14:creationId xmlns:p14="http://schemas.microsoft.com/office/powerpoint/2010/main" val="16305469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87C8B6FA-2876-17A4-B537-49C32D3DD55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9E4EC4F-5DBD-FDA1-D1EF-AEAA4EB211E5}"/>
              </a:ext>
            </a:extLst>
          </p:cNvPr>
          <p:cNvPicPr>
            <a:picLocks noChangeAspect="1"/>
          </p:cNvPicPr>
          <p:nvPr/>
        </p:nvPicPr>
        <p:blipFill rotWithShape="1">
          <a:blip r:embed="rId3"/>
          <a:srcRect l="13388" t="20094" r="9009" b="13085"/>
          <a:stretch>
            <a:fillRect/>
          </a:stretch>
        </p:blipFill>
        <p:spPr>
          <a:xfrm>
            <a:off x="223306" y="4539281"/>
            <a:ext cx="9838800" cy="7038900"/>
          </a:xfrm>
          <a:prstGeom prst="rect">
            <a:avLst/>
          </a:prstGeom>
        </p:spPr>
      </p:pic>
      <p:sp>
        <p:nvSpPr>
          <p:cNvPr id="4" name="TextBox 3">
            <a:extLst>
              <a:ext uri="{FF2B5EF4-FFF2-40B4-BE49-F238E27FC236}">
                <a16:creationId xmlns:a16="http://schemas.microsoft.com/office/drawing/2014/main" id="{73C6060F-1E9B-B3A2-1208-44813D4D0D7B}"/>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4FD853DF-2460-131E-4A13-ADC955A2099D}"/>
              </a:ext>
            </a:extLst>
          </p:cNvPr>
          <p:cNvPicPr>
            <a:picLocks noChangeAspect="1"/>
          </p:cNvPicPr>
          <p:nvPr/>
        </p:nvPicPr>
        <p:blipFill>
          <a:blip r:embed="rId4"/>
          <a:stretch>
            <a:fillRect/>
          </a:stretch>
        </p:blipFill>
        <p:spPr>
          <a:xfrm>
            <a:off x="265941" y="3267539"/>
            <a:ext cx="1062000" cy="1062000"/>
          </a:xfrm>
          <a:prstGeom prst="rect">
            <a:avLst/>
          </a:prstGeom>
        </p:spPr>
      </p:pic>
      <p:cxnSp>
        <p:nvCxnSpPr>
          <p:cNvPr id="19" name="Straight Connector 18">
            <a:extLst>
              <a:ext uri="{FF2B5EF4-FFF2-40B4-BE49-F238E27FC236}">
                <a16:creationId xmlns:a16="http://schemas.microsoft.com/office/drawing/2014/main" id="{25F35631-C177-8E12-9618-0783C72DCC90}"/>
              </a:ext>
            </a:extLst>
          </p:cNvPr>
          <p:cNvCxnSpPr>
            <a:cxnSpLocks/>
          </p:cNvCxnSpPr>
          <p:nvPr/>
        </p:nvCxnSpPr>
        <p:spPr>
          <a:xfrm>
            <a:off x="233306" y="5916659"/>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0" name="Graphic 19" descr="Shield Tick with solid fill">
            <a:extLst>
              <a:ext uri="{FF2B5EF4-FFF2-40B4-BE49-F238E27FC236}">
                <a16:creationId xmlns:a16="http://schemas.microsoft.com/office/drawing/2014/main" id="{BEC52408-C27A-6C30-F374-C8F49C085BE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72426" y="10121916"/>
            <a:ext cx="914400" cy="914400"/>
          </a:xfrm>
          <a:prstGeom prst="rect">
            <a:avLst/>
          </a:prstGeom>
        </p:spPr>
      </p:pic>
      <p:pic>
        <p:nvPicPr>
          <p:cNvPr id="21" name="Graphic 20" descr="Close with solid fill">
            <a:extLst>
              <a:ext uri="{FF2B5EF4-FFF2-40B4-BE49-F238E27FC236}">
                <a16:creationId xmlns:a16="http://schemas.microsoft.com/office/drawing/2014/main" id="{8EB56F4B-4192-C30A-13E8-69E88794BB4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4534776"/>
            <a:ext cx="914400" cy="914400"/>
          </a:xfrm>
          <a:prstGeom prst="rect">
            <a:avLst/>
          </a:prstGeom>
        </p:spPr>
      </p:pic>
      <p:cxnSp>
        <p:nvCxnSpPr>
          <p:cNvPr id="27" name="Straight Connector 26">
            <a:extLst>
              <a:ext uri="{FF2B5EF4-FFF2-40B4-BE49-F238E27FC236}">
                <a16:creationId xmlns:a16="http://schemas.microsoft.com/office/drawing/2014/main" id="{D7BA29D7-C437-B428-61A5-2218F182F57F}"/>
              </a:ext>
            </a:extLst>
          </p:cNvPr>
          <p:cNvCxnSpPr>
            <a:cxnSpLocks/>
          </p:cNvCxnSpPr>
          <p:nvPr/>
        </p:nvCxnSpPr>
        <p:spPr>
          <a:xfrm>
            <a:off x="241328" y="90047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8" name="Graphic 27" descr="Close with solid fill">
            <a:extLst>
              <a:ext uri="{FF2B5EF4-FFF2-40B4-BE49-F238E27FC236}">
                <a16:creationId xmlns:a16="http://schemas.microsoft.com/office/drawing/2014/main" id="{197931BA-57F5-4372-8914-6632E487254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6608698"/>
            <a:ext cx="914400" cy="914400"/>
          </a:xfrm>
          <a:prstGeom prst="rect">
            <a:avLst/>
          </a:prstGeom>
        </p:spPr>
      </p:pic>
    </p:spTree>
    <p:extLst>
      <p:ext uri="{BB962C8B-B14F-4D97-AF65-F5344CB8AC3E}">
        <p14:creationId xmlns:p14="http://schemas.microsoft.com/office/powerpoint/2010/main" val="4491238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3BB9E19D-ADAB-0ACD-6139-843C4E8044B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D5BD5D8-B2FC-DD3A-216A-B8AF60DAD9F8}"/>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statement level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3546F947-6628-4AC3-609A-3FC12C72FDE1}"/>
              </a:ext>
            </a:extLst>
          </p:cNvPr>
          <p:cNvSpPr txBox="1"/>
          <p:nvPr/>
        </p:nvSpPr>
        <p:spPr>
          <a:xfrm>
            <a:off x="337263" y="11093814"/>
            <a:ext cx="9610887" cy="3420207"/>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type is completely erased (no import statement remains).</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E8064E8A-AAFD-B8B9-5C97-139429C0F3F1}"/>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0A9C9538-6477-A01C-A0E6-F001698CA89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0325E51B-9979-F00C-2B0F-A8615F0D64B2}"/>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5654786D-356C-5F03-4F98-2B09AEDD6D83}"/>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17" name="Picture 16">
            <a:extLst>
              <a:ext uri="{FF2B5EF4-FFF2-40B4-BE49-F238E27FC236}">
                <a16:creationId xmlns:a16="http://schemas.microsoft.com/office/drawing/2014/main" id="{8BB79D39-1E59-8E80-0A64-1110633E14E6}"/>
              </a:ext>
            </a:extLst>
          </p:cNvPr>
          <p:cNvPicPr>
            <a:picLocks noChangeAspect="1"/>
          </p:cNvPicPr>
          <p:nvPr/>
        </p:nvPicPr>
        <p:blipFill rotWithShape="1">
          <a:blip r:embed="rId3"/>
          <a:srcRect l="10553" t="32743" r="8334" b="23173"/>
          <a:stretch>
            <a:fillRect/>
          </a:stretch>
        </p:blipFill>
        <p:spPr>
          <a:xfrm>
            <a:off x="223306" y="4401230"/>
            <a:ext cx="9838800" cy="1703034"/>
          </a:xfrm>
          <a:prstGeom prst="rect">
            <a:avLst/>
          </a:prstGeom>
        </p:spPr>
      </p:pic>
      <p:pic>
        <p:nvPicPr>
          <p:cNvPr id="18" name="Picture 17">
            <a:extLst>
              <a:ext uri="{FF2B5EF4-FFF2-40B4-BE49-F238E27FC236}">
                <a16:creationId xmlns:a16="http://schemas.microsoft.com/office/drawing/2014/main" id="{A63FDE4B-C66E-422C-9953-6D5692122708}"/>
              </a:ext>
            </a:extLst>
          </p:cNvPr>
          <p:cNvPicPr>
            <a:picLocks noChangeAspect="1"/>
          </p:cNvPicPr>
          <p:nvPr/>
        </p:nvPicPr>
        <p:blipFill rotWithShape="1">
          <a:blip r:embed="rId4"/>
          <a:srcRect l="11571" t="34525" r="9386" b="38519"/>
          <a:stretch>
            <a:fillRect/>
          </a:stretch>
        </p:blipFill>
        <p:spPr>
          <a:xfrm>
            <a:off x="43306" y="9256372"/>
            <a:ext cx="10198800" cy="1377219"/>
          </a:xfrm>
          <a:prstGeom prst="rect">
            <a:avLst/>
          </a:prstGeom>
        </p:spPr>
      </p:pic>
    </p:spTree>
    <p:extLst>
      <p:ext uri="{BB962C8B-B14F-4D97-AF65-F5344CB8AC3E}">
        <p14:creationId xmlns:p14="http://schemas.microsoft.com/office/powerpoint/2010/main" val="36172570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31FB3A1-E3CC-EF33-6973-752C04781EF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F79E95-C028-2C30-2EDA-27EC53019AB6}"/>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23E6B0E0-EC85-9DE6-9437-740695057568}"/>
              </a:ext>
            </a:extLst>
          </p:cNvPr>
          <p:cNvSpPr txBox="1"/>
          <p:nvPr/>
        </p:nvSpPr>
        <p:spPr>
          <a:xfrm>
            <a:off x="337263" y="14357072"/>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Declare a type</a:t>
            </a:r>
          </a:p>
          <a:p>
            <a:pPr algn="ctr"/>
            <a:r>
              <a:rPr lang="en-GB" sz="8000" dirty="0">
                <a:ln w="0"/>
                <a:effectLst>
                  <a:outerShdw blurRad="38100" dist="19050" dir="2700000" algn="tl" rotWithShape="0">
                    <a:schemeClr val="dk1">
                      <a:alpha val="40000"/>
                    </a:schemeClr>
                  </a:outerShdw>
                </a:effectLst>
                <a:latin typeface="Patrick Hand" pitchFamily="2" charset="77"/>
              </a:rPr>
              <a:t>Exclude </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1A060AF-7DA4-C8A9-2999-0FF5BAC85566}"/>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2" name="Picture 21">
            <a:extLst>
              <a:ext uri="{FF2B5EF4-FFF2-40B4-BE49-F238E27FC236}">
                <a16:creationId xmlns:a16="http://schemas.microsoft.com/office/drawing/2014/main" id="{42274E07-A0FF-9907-ED31-2D5D4208CB9B}"/>
              </a:ext>
            </a:extLst>
          </p:cNvPr>
          <p:cNvPicPr>
            <a:picLocks noChangeAspect="1"/>
          </p:cNvPicPr>
          <p:nvPr/>
        </p:nvPicPr>
        <p:blipFill rotWithShape="1">
          <a:blip r:embed="rId4"/>
          <a:srcRect l="22335" t="24787" r="14510" b="20510"/>
          <a:stretch>
            <a:fillRect/>
          </a:stretch>
        </p:blipFill>
        <p:spPr>
          <a:xfrm>
            <a:off x="223306" y="4491640"/>
            <a:ext cx="9838800" cy="9838800"/>
          </a:xfrm>
          <a:prstGeom prst="rect">
            <a:avLst/>
          </a:prstGeom>
        </p:spPr>
      </p:pic>
    </p:spTree>
    <p:extLst>
      <p:ext uri="{BB962C8B-B14F-4D97-AF65-F5344CB8AC3E}">
        <p14:creationId xmlns:p14="http://schemas.microsoft.com/office/powerpoint/2010/main" val="37114602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1C8E17D-516F-62BF-128A-CAE4639A8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E64849-4294-B6BD-2FD8-D41313D905A5}"/>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BA965C23-9667-0DE3-2572-E8EE88D143FF}"/>
              </a:ext>
            </a:extLst>
          </p:cNvPr>
          <p:cNvSpPr txBox="1"/>
          <p:nvPr/>
        </p:nvSpPr>
        <p:spPr>
          <a:xfrm>
            <a:off x="337263" y="14339143"/>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Have you ever used Exclude?</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6E7447-ADC4-3AD2-C334-5F083FB89255}"/>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 name="Picture 1">
            <a:extLst>
              <a:ext uri="{FF2B5EF4-FFF2-40B4-BE49-F238E27FC236}">
                <a16:creationId xmlns:a16="http://schemas.microsoft.com/office/drawing/2014/main" id="{2E6F80D2-ED30-3542-C57A-B0C1C2EE3765}"/>
              </a:ext>
            </a:extLst>
          </p:cNvPr>
          <p:cNvPicPr>
            <a:picLocks noChangeAspect="1"/>
          </p:cNvPicPr>
          <p:nvPr/>
        </p:nvPicPr>
        <p:blipFill rotWithShape="1">
          <a:blip r:embed="rId4"/>
          <a:srcRect l="16656" t="15682" r="11745" b="10103"/>
          <a:stretch>
            <a:fillRect/>
          </a:stretch>
        </p:blipFill>
        <p:spPr>
          <a:xfrm>
            <a:off x="223306" y="4478095"/>
            <a:ext cx="9838800" cy="9838800"/>
          </a:xfrm>
          <a:prstGeom prst="rect">
            <a:avLst/>
          </a:prstGeom>
        </p:spPr>
      </p:pic>
    </p:spTree>
    <p:extLst>
      <p:ext uri="{BB962C8B-B14F-4D97-AF65-F5344CB8AC3E}">
        <p14:creationId xmlns:p14="http://schemas.microsoft.com/office/powerpoint/2010/main" val="381564940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6194011-EE77-B1DE-7E1D-7788F9551B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DB50ED9-B7A7-9720-EA4C-F461AD2AE4DB}"/>
              </a:ext>
            </a:extLst>
          </p:cNvPr>
          <p:cNvSpPr txBox="1"/>
          <p:nvPr/>
        </p:nvSpPr>
        <p:spPr>
          <a:xfrm>
            <a:off x="223306" y="3181473"/>
            <a:ext cx="9838800" cy="1236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bodyPr>
          <a:lstStyle/>
          <a:p>
            <a:pPr algn="ctr"/>
            <a:r>
              <a:rPr lang="en-GB" sz="5400" b="1" dirty="0">
                <a:ln w="0"/>
                <a:solidFill>
                  <a:schemeClr val="tx1"/>
                </a:solidFill>
                <a:effectLst>
                  <a:outerShdw blurRad="38100" dist="19050" dir="2700000" algn="tl" rotWithShape="0">
                    <a:schemeClr val="dk1">
                      <a:alpha val="40000"/>
                    </a:schemeClr>
                  </a:outerShdw>
                </a:effectLst>
                <a:latin typeface="+mj-lt"/>
              </a:rPr>
              <a:t>Long</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if/else </a:t>
            </a:r>
            <a:r>
              <a:rPr lang="en-GB" sz="5400" b="1" dirty="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rPr>
              <a:t>vs</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Object Map</a:t>
            </a:r>
          </a:p>
        </p:txBody>
      </p:sp>
      <p:sp>
        <p:nvSpPr>
          <p:cNvPr id="13" name="TextBox 12">
            <a:extLst>
              <a:ext uri="{FF2B5EF4-FFF2-40B4-BE49-F238E27FC236}">
                <a16:creationId xmlns:a16="http://schemas.microsoft.com/office/drawing/2014/main" id="{33B7B4B2-2319-CE62-94D3-CD6E9BD0C46C}"/>
              </a:ext>
            </a:extLst>
          </p:cNvPr>
          <p:cNvSpPr txBox="1"/>
          <p:nvPr/>
        </p:nvSpPr>
        <p:spPr>
          <a:xfrm>
            <a:off x="337263" y="15434360"/>
            <a:ext cx="9610887" cy="1070560"/>
          </a:xfrm>
          <a:prstGeom prst="rect">
            <a:avLst/>
          </a:prstGeom>
          <a:noFill/>
        </p:spPr>
        <p:txBody>
          <a:bodyPr wrap="square" rtlCol="0">
            <a:noAutofit/>
          </a:bodyPr>
          <a:lstStyle/>
          <a:p>
            <a:pPr algn="ctr"/>
            <a:r>
              <a:rPr lang="en-GB" sz="60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Cleaner, shorter, easier to scale</a:t>
            </a:r>
          </a:p>
        </p:txBody>
      </p:sp>
      <p:pic>
        <p:nvPicPr>
          <p:cNvPr id="3" name="Picture 2">
            <a:extLst>
              <a:ext uri="{FF2B5EF4-FFF2-40B4-BE49-F238E27FC236}">
                <a16:creationId xmlns:a16="http://schemas.microsoft.com/office/drawing/2014/main" id="{877F7C96-67E9-8567-C4A8-1E1A278D4CFA}"/>
              </a:ext>
            </a:extLst>
          </p:cNvPr>
          <p:cNvPicPr>
            <a:picLocks noChangeAspect="1"/>
          </p:cNvPicPr>
          <p:nvPr/>
        </p:nvPicPr>
        <p:blipFill>
          <a:blip r:embed="rId2"/>
          <a:stretch>
            <a:fillRect/>
          </a:stretch>
        </p:blipFill>
        <p:spPr>
          <a:xfrm>
            <a:off x="321693" y="3276957"/>
            <a:ext cx="1062000" cy="1062000"/>
          </a:xfrm>
          <a:prstGeom prst="rect">
            <a:avLst/>
          </a:prstGeom>
        </p:spPr>
      </p:pic>
      <p:pic>
        <p:nvPicPr>
          <p:cNvPr id="6" name="Picture 5">
            <a:extLst>
              <a:ext uri="{FF2B5EF4-FFF2-40B4-BE49-F238E27FC236}">
                <a16:creationId xmlns:a16="http://schemas.microsoft.com/office/drawing/2014/main" id="{1832A0F1-898B-1400-C0D4-05D479198F82}"/>
              </a:ext>
            </a:extLst>
          </p:cNvPr>
          <p:cNvPicPr>
            <a:picLocks noChangeAspect="1"/>
          </p:cNvPicPr>
          <p:nvPr/>
        </p:nvPicPr>
        <p:blipFill rotWithShape="1">
          <a:blip r:embed="rId3"/>
          <a:srcRect l="18642" t="18077" r="13358" b="11401"/>
          <a:stretch>
            <a:fillRect/>
          </a:stretch>
        </p:blipFill>
        <p:spPr>
          <a:xfrm>
            <a:off x="223306" y="4513953"/>
            <a:ext cx="9838800" cy="10824923"/>
          </a:xfrm>
          <a:prstGeom prst="rect">
            <a:avLst/>
          </a:prstGeom>
        </p:spPr>
      </p:pic>
      <p:cxnSp>
        <p:nvCxnSpPr>
          <p:cNvPr id="7" name="Straight Connector 6">
            <a:extLst>
              <a:ext uri="{FF2B5EF4-FFF2-40B4-BE49-F238E27FC236}">
                <a16:creationId xmlns:a16="http://schemas.microsoft.com/office/drawing/2014/main" id="{6F235370-0961-B40F-567D-00DAA594398A}"/>
              </a:ext>
            </a:extLst>
          </p:cNvPr>
          <p:cNvCxnSpPr>
            <a:cxnSpLocks/>
          </p:cNvCxnSpPr>
          <p:nvPr/>
        </p:nvCxnSpPr>
        <p:spPr>
          <a:xfrm>
            <a:off x="233306" y="1109304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FF1CCC7C-E97F-CA35-FE08-12DBE807339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89643" y="13065236"/>
            <a:ext cx="914400" cy="914400"/>
          </a:xfrm>
          <a:prstGeom prst="rect">
            <a:avLst/>
          </a:prstGeom>
        </p:spPr>
      </p:pic>
      <p:pic>
        <p:nvPicPr>
          <p:cNvPr id="9" name="Graphic 8" descr="Close with solid fill">
            <a:extLst>
              <a:ext uri="{FF2B5EF4-FFF2-40B4-BE49-F238E27FC236}">
                <a16:creationId xmlns:a16="http://schemas.microsoft.com/office/drawing/2014/main" id="{3395B209-718B-1445-D7A9-CEB48284549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89643" y="8482991"/>
            <a:ext cx="914400" cy="914400"/>
          </a:xfrm>
          <a:prstGeom prst="rect">
            <a:avLst/>
          </a:prstGeom>
        </p:spPr>
      </p:pic>
      <p:cxnSp>
        <p:nvCxnSpPr>
          <p:cNvPr id="10" name="Straight Connector 9">
            <a:extLst>
              <a:ext uri="{FF2B5EF4-FFF2-40B4-BE49-F238E27FC236}">
                <a16:creationId xmlns:a16="http://schemas.microsoft.com/office/drawing/2014/main" id="{C574DBED-7EE6-1AD0-5701-EA515A5028EA}"/>
              </a:ext>
            </a:extLst>
          </p:cNvPr>
          <p:cNvCxnSpPr>
            <a:cxnSpLocks/>
          </p:cNvCxnSpPr>
          <p:nvPr/>
        </p:nvCxnSpPr>
        <p:spPr>
          <a:xfrm>
            <a:off x="233306" y="5972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427603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1EC06F2-27D7-6698-2C8D-77B39943CE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E29565-AFE8-6E93-A1CE-8778D4C453E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algn="r"/>
            <a:r>
              <a:rPr lang="en-US"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How to Test a React Component </a:t>
            </a:r>
            <a:endParaRPr lang="en-GB" sz="4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3C018E2-48FC-3D9D-7370-97A2BD2A6A2F}"/>
              </a:ext>
            </a:extLst>
          </p:cNvPr>
          <p:cNvSpPr txBox="1"/>
          <p:nvPr/>
        </p:nvSpPr>
        <p:spPr>
          <a:xfrm>
            <a:off x="-10475910" y="2463702"/>
            <a:ext cx="8189910" cy="156966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vitest_002_test_react_component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01F29B2-3AB1-D03B-675A-AB7071D08B54}"/>
              </a:ext>
            </a:extLst>
          </p:cNvPr>
          <p:cNvPicPr>
            <a:picLocks noChangeAspect="1"/>
          </p:cNvPicPr>
          <p:nvPr/>
        </p:nvPicPr>
        <p:blipFill>
          <a:blip r:embed="rId3"/>
          <a:stretch>
            <a:fillRect/>
          </a:stretch>
        </p:blipFill>
        <p:spPr>
          <a:xfrm>
            <a:off x="405750" y="3190540"/>
            <a:ext cx="1062000" cy="1062000"/>
          </a:xfrm>
          <a:prstGeom prst="rect">
            <a:avLst/>
          </a:prstGeom>
        </p:spPr>
      </p:pic>
      <p:sp>
        <p:nvSpPr>
          <p:cNvPr id="8" name="TextBox 7">
            <a:extLst>
              <a:ext uri="{FF2B5EF4-FFF2-40B4-BE49-F238E27FC236}">
                <a16:creationId xmlns:a16="http://schemas.microsoft.com/office/drawing/2014/main" id="{9AD4F8CF-ED38-FA9F-03B3-3D41703ABEA1}"/>
              </a:ext>
            </a:extLst>
          </p:cNvPr>
          <p:cNvSpPr txBox="1"/>
          <p:nvPr/>
        </p:nvSpPr>
        <p:spPr>
          <a:xfrm>
            <a:off x="337263" y="11434479"/>
            <a:ext cx="9610887" cy="3797586"/>
          </a:xfrm>
          <a:prstGeom prst="rect">
            <a:avLst/>
          </a:prstGeom>
          <a:noFill/>
        </p:spPr>
        <p:txBody>
          <a:bodyPr wrap="square" rtlCol="0">
            <a:noAutofit/>
          </a:bodyPr>
          <a:lstStyle/>
          <a:p>
            <a:pPr algn="ctr"/>
            <a:r>
              <a:rPr lang="en-GB" sz="7200" dirty="0">
                <a:latin typeface="Patrick Hand" pitchFamily="2" charset="77"/>
              </a:rPr>
              <a:t>Use </a:t>
            </a:r>
            <a:r>
              <a:rPr lang="en-GB" sz="7200" dirty="0" err="1">
                <a:latin typeface="Patrick Hand" pitchFamily="2" charset="77"/>
              </a:rPr>
              <a:t>screen.getByRole</a:t>
            </a:r>
            <a:r>
              <a:rPr lang="en-GB" sz="7200" dirty="0">
                <a:latin typeface="Patrick Hand" pitchFamily="2" charset="77"/>
              </a:rPr>
              <a:t> to find an element by its ARIA role</a:t>
            </a:r>
            <a:endParaRPr lang="en-DE" sz="7200" dirty="0">
              <a:ln w="0"/>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81B2A9B-7086-5554-69D9-3FFCA759B380}"/>
              </a:ext>
            </a:extLst>
          </p:cNvPr>
          <p:cNvPicPr>
            <a:picLocks noChangeAspect="1"/>
          </p:cNvPicPr>
          <p:nvPr/>
        </p:nvPicPr>
        <p:blipFill rotWithShape="1">
          <a:blip r:embed="rId4"/>
          <a:srcRect l="16743" t="19905" r="11644" b="17358"/>
          <a:stretch>
            <a:fillRect/>
          </a:stretch>
        </p:blipFill>
        <p:spPr>
          <a:xfrm>
            <a:off x="226708" y="4387779"/>
            <a:ext cx="9831997" cy="7026822"/>
          </a:xfrm>
          <a:prstGeom prst="rect">
            <a:avLst/>
          </a:prstGeom>
        </p:spPr>
      </p:pic>
    </p:spTree>
    <p:extLst>
      <p:ext uri="{BB962C8B-B14F-4D97-AF65-F5344CB8AC3E}">
        <p14:creationId xmlns:p14="http://schemas.microsoft.com/office/powerpoint/2010/main" val="39741755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22B8976F-8E5A-BA81-77BB-666A8AEFD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CAD7BE-3672-66B3-F53D-E6BE0A0D1A7E}"/>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3FB6AD61-66B3-DBD3-AEA7-C94FE0506243}"/>
              </a:ext>
            </a:extLst>
          </p:cNvPr>
          <p:cNvSpPr txBox="1"/>
          <p:nvPr/>
        </p:nvSpPr>
        <p:spPr>
          <a:xfrm>
            <a:off x="-7932735" y="3103042"/>
            <a:ext cx="712224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js_001_const_vs_var_vs_let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3DE2D7C1-F175-C398-3AC9-DAC3A1E7750B}"/>
              </a:ext>
            </a:extLst>
          </p:cNvPr>
          <p:cNvSpPr txBox="1"/>
          <p:nvPr/>
        </p:nvSpPr>
        <p:spPr>
          <a:xfrm>
            <a:off x="1145454" y="4984252"/>
            <a:ext cx="8408504" cy="123699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Are you still using </a:t>
            </a:r>
            <a:r>
              <a:rPr lang="en-DE"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DE" sz="5400" dirty="0">
                <a:ln w="0"/>
                <a:effectLst>
                  <a:outerShdw blurRad="38100" dist="19050" dir="2700000" algn="tl" rotWithShape="0">
                    <a:schemeClr val="dk1">
                      <a:alpha val="40000"/>
                    </a:schemeClr>
                  </a:outerShdw>
                </a:effectLst>
                <a:latin typeface="Patrick Hand" pitchFamily="2" charset="77"/>
              </a:rPr>
              <a:t>?</a:t>
            </a:r>
          </a:p>
        </p:txBody>
      </p:sp>
      <p:pic>
        <p:nvPicPr>
          <p:cNvPr id="9" name="Picture 8">
            <a:extLst>
              <a:ext uri="{FF2B5EF4-FFF2-40B4-BE49-F238E27FC236}">
                <a16:creationId xmlns:a16="http://schemas.microsoft.com/office/drawing/2014/main" id="{16BB1B75-4D28-2A45-641D-D9DED76CBD5E}"/>
              </a:ext>
            </a:extLst>
          </p:cNvPr>
          <p:cNvPicPr>
            <a:picLocks noChangeAspect="1"/>
          </p:cNvPicPr>
          <p:nvPr/>
        </p:nvPicPr>
        <p:blipFill>
          <a:blip r:embed="rId3"/>
          <a:stretch>
            <a:fillRect/>
          </a:stretch>
        </p:blipFill>
        <p:spPr>
          <a:xfrm>
            <a:off x="312757" y="3190540"/>
            <a:ext cx="1062000" cy="1062000"/>
          </a:xfrm>
          <a:prstGeom prst="rect">
            <a:avLst/>
          </a:prstGeom>
        </p:spPr>
      </p:pic>
      <p:sp>
        <p:nvSpPr>
          <p:cNvPr id="10" name="TextBox 9">
            <a:extLst>
              <a:ext uri="{FF2B5EF4-FFF2-40B4-BE49-F238E27FC236}">
                <a16:creationId xmlns:a16="http://schemas.microsoft.com/office/drawing/2014/main" id="{E2DDE42E-7CE0-F0DE-9F70-34FCCEA0C96C}"/>
              </a:ext>
            </a:extLst>
          </p:cNvPr>
          <p:cNvSpPr txBox="1"/>
          <p:nvPr/>
        </p:nvSpPr>
        <p:spPr>
          <a:xfrm>
            <a:off x="1145454" y="13128022"/>
            <a:ext cx="8408504" cy="3044550"/>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GB" sz="5400" dirty="0">
                <a:ln w="0"/>
                <a:effectLst>
                  <a:outerShdw blurRad="38100" dist="19050" dir="2700000" algn="tl" rotWithShape="0">
                    <a:schemeClr val="dk1">
                      <a:alpha val="40000"/>
                    </a:schemeClr>
                  </a:outerShdw>
                </a:effectLst>
                <a:latin typeface="Patrick Hand" pitchFamily="2" charset="77"/>
              </a:rPr>
              <a:t> : Avoid this! It’s outdated, prone to bugs, and has confusing scoping rules.</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11" name="TextBox 10">
            <a:extLst>
              <a:ext uri="{FF2B5EF4-FFF2-40B4-BE49-F238E27FC236}">
                <a16:creationId xmlns:a16="http://schemas.microsoft.com/office/drawing/2014/main" id="{4CBBCDDB-2C02-14AA-8060-BEA17CDF26C2}"/>
              </a:ext>
            </a:extLst>
          </p:cNvPr>
          <p:cNvSpPr txBox="1"/>
          <p:nvPr/>
        </p:nvSpPr>
        <p:spPr>
          <a:xfrm>
            <a:off x="1145454" y="6714302"/>
            <a:ext cx="8408504" cy="2713807"/>
          </a:xfrm>
          <a:prstGeom prst="rect">
            <a:avLst/>
          </a:prstGeom>
          <a:noFill/>
        </p:spPr>
        <p:txBody>
          <a:bodyPr wrap="square" rtlCol="0">
            <a:noAutofit/>
          </a:bodyPr>
          <a:lstStyle/>
          <a:p>
            <a:pPr algn="just"/>
            <a:r>
              <a:rPr lang="en-GB" sz="5400" b="1"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5400" dirty="0">
                <a:ln w="0"/>
                <a:effectLst>
                  <a:outerShdw blurRad="38100" dist="19050" dir="2700000" algn="tl" rotWithShape="0">
                    <a:schemeClr val="dk1">
                      <a:alpha val="40000"/>
                    </a:schemeClr>
                  </a:outerShdw>
                </a:effectLst>
                <a:latin typeface="Patrick Hand" pitchFamily="2" charset="77"/>
              </a:rPr>
              <a:t> : </a:t>
            </a:r>
            <a:r>
              <a:rPr lang="en-US" sz="5400" dirty="0">
                <a:ln w="0"/>
                <a:effectLst>
                  <a:outerShdw blurRad="38100" dist="19050" dir="2700000" algn="tl" rotWithShape="0">
                    <a:schemeClr val="dk1">
                      <a:alpha val="40000"/>
                    </a:schemeClr>
                  </a:outerShdw>
                </a:effectLst>
                <a:latin typeface="Patrick Hand" pitchFamily="2" charset="77"/>
              </a:rPr>
              <a:t>Use this by default for variables and objects that shouldn’t be reassigned.</a:t>
            </a:r>
          </a:p>
        </p:txBody>
      </p:sp>
      <p:sp>
        <p:nvSpPr>
          <p:cNvPr id="12" name="TextBox 11">
            <a:extLst>
              <a:ext uri="{FF2B5EF4-FFF2-40B4-BE49-F238E27FC236}">
                <a16:creationId xmlns:a16="http://schemas.microsoft.com/office/drawing/2014/main" id="{B7C641B1-C950-339F-48C2-EBDCE0E47DE9}"/>
              </a:ext>
            </a:extLst>
          </p:cNvPr>
          <p:cNvSpPr txBox="1"/>
          <p:nvPr/>
        </p:nvSpPr>
        <p:spPr>
          <a:xfrm>
            <a:off x="1145454" y="9921163"/>
            <a:ext cx="8408504" cy="2713807"/>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let</a:t>
            </a:r>
            <a:r>
              <a:rPr lang="en-GB" sz="5400" dirty="0">
                <a:ln w="0"/>
                <a:effectLst>
                  <a:outerShdw blurRad="38100" dist="19050" dir="2700000" algn="tl" rotWithShape="0">
                    <a:schemeClr val="dk1">
                      <a:alpha val="40000"/>
                    </a:schemeClr>
                  </a:outerShdw>
                </a:effectLst>
                <a:latin typeface="Patrick Hand" pitchFamily="2" charset="77"/>
              </a:rPr>
              <a:t> : Use this only when a value needs to change during the code lifecycle.</a:t>
            </a:r>
          </a:p>
        </p:txBody>
      </p:sp>
      <p:cxnSp>
        <p:nvCxnSpPr>
          <p:cNvPr id="15" name="Straight Connector 14">
            <a:extLst>
              <a:ext uri="{FF2B5EF4-FFF2-40B4-BE49-F238E27FC236}">
                <a16:creationId xmlns:a16="http://schemas.microsoft.com/office/drawing/2014/main" id="{F6A1C789-370D-893D-E10F-F284B63C7E04}"/>
              </a:ext>
            </a:extLst>
          </p:cNvPr>
          <p:cNvCxnSpPr>
            <a:cxnSpLocks/>
          </p:cNvCxnSpPr>
          <p:nvPr/>
        </p:nvCxnSpPr>
        <p:spPr>
          <a:xfrm>
            <a:off x="630381" y="9674636"/>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FD6D5FD-05B9-36FF-FBC3-F9E184BDBA51}"/>
              </a:ext>
            </a:extLst>
          </p:cNvPr>
          <p:cNvCxnSpPr>
            <a:cxnSpLocks/>
          </p:cNvCxnSpPr>
          <p:nvPr/>
        </p:nvCxnSpPr>
        <p:spPr>
          <a:xfrm>
            <a:off x="630381" y="12881497"/>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7057F80-1A11-0912-9CFC-9DC73593D985}"/>
              </a:ext>
            </a:extLst>
          </p:cNvPr>
          <p:cNvCxnSpPr>
            <a:cxnSpLocks/>
          </p:cNvCxnSpPr>
          <p:nvPr/>
        </p:nvCxnSpPr>
        <p:spPr>
          <a:xfrm>
            <a:off x="630381" y="6467775"/>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B8252B83-0285-6886-149B-CB28573ED7FB}"/>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5700716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182A447-7C22-2312-582C-6B74392302A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5BC4F6D-E6EC-AB95-2411-41363DB2ADAE}"/>
              </a:ext>
            </a:extLst>
          </p:cNvPr>
          <p:cNvPicPr>
            <a:picLocks noChangeAspect="1"/>
          </p:cNvPicPr>
          <p:nvPr/>
        </p:nvPicPr>
        <p:blipFill rotWithShape="1">
          <a:blip r:embed="rId3"/>
          <a:srcRect l="29281" t="27747" r="17647" b="23498"/>
          <a:stretch>
            <a:fillRect/>
          </a:stretch>
        </p:blipFill>
        <p:spPr>
          <a:xfrm>
            <a:off x="223306" y="4451600"/>
            <a:ext cx="9838800" cy="11153661"/>
          </a:xfrm>
          <a:prstGeom prst="rect">
            <a:avLst/>
          </a:prstGeom>
        </p:spPr>
      </p:pic>
      <p:sp>
        <p:nvSpPr>
          <p:cNvPr id="4" name="TextBox 3">
            <a:extLst>
              <a:ext uri="{FF2B5EF4-FFF2-40B4-BE49-F238E27FC236}">
                <a16:creationId xmlns:a16="http://schemas.microsoft.com/office/drawing/2014/main" id="{6B9D3CB9-04FA-A3F4-5E21-49CAD0882232}"/>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const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0D04F7E9-ED55-6C30-CDC4-774CCD9A6A3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F37D4B84-8228-1188-3196-70098F4FDC29}"/>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5" name="Straight Connector 4">
            <a:extLst>
              <a:ext uri="{FF2B5EF4-FFF2-40B4-BE49-F238E27FC236}">
                <a16:creationId xmlns:a16="http://schemas.microsoft.com/office/drawing/2014/main" id="{1F94149E-614F-D033-C1C7-1B29206D0C2B}"/>
              </a:ext>
            </a:extLst>
          </p:cNvPr>
          <p:cNvCxnSpPr>
            <a:cxnSpLocks/>
          </p:cNvCxnSpPr>
          <p:nvPr/>
        </p:nvCxnSpPr>
        <p:spPr>
          <a:xfrm>
            <a:off x="233306" y="1013404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FE98F297-4704-4F7E-553B-3CB737325C6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102626"/>
            <a:ext cx="914400" cy="914400"/>
          </a:xfrm>
          <a:prstGeom prst="rect">
            <a:avLst/>
          </a:prstGeom>
        </p:spPr>
      </p:pic>
      <p:pic>
        <p:nvPicPr>
          <p:cNvPr id="8" name="Graphic 7" descr="Close with solid fill">
            <a:extLst>
              <a:ext uri="{FF2B5EF4-FFF2-40B4-BE49-F238E27FC236}">
                <a16:creationId xmlns:a16="http://schemas.microsoft.com/office/drawing/2014/main" id="{092C0F8D-4B6E-B934-B9D0-0E3543FEE4E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360655"/>
            <a:ext cx="914400" cy="914400"/>
          </a:xfrm>
          <a:prstGeom prst="rect">
            <a:avLst/>
          </a:prstGeom>
        </p:spPr>
      </p:pic>
      <p:sp>
        <p:nvSpPr>
          <p:cNvPr id="9" name="Right Arrow 8">
            <a:extLst>
              <a:ext uri="{FF2B5EF4-FFF2-40B4-BE49-F238E27FC236}">
                <a16:creationId xmlns:a16="http://schemas.microsoft.com/office/drawing/2014/main" id="{C34A2B67-78B9-2C30-8234-95E22EC73724}"/>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86505340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3C954C3-F83B-0BE5-03CB-AD15D01F7D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DA53FE-85E5-E3A7-23DF-CE064DB089E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let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B2FE6413-CC36-C489-D7C0-97568204C7F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1FF2E926-B651-DD15-EA7D-A45614DE7A3C}"/>
              </a:ext>
            </a:extLst>
          </p:cNvPr>
          <p:cNvPicPr>
            <a:picLocks noChangeAspect="1"/>
          </p:cNvPicPr>
          <p:nvPr/>
        </p:nvPicPr>
        <p:blipFill rotWithShape="1">
          <a:blip r:embed="rId3"/>
          <a:srcRect l="24491" t="22920" r="15366" b="14228"/>
          <a:stretch>
            <a:fillRect/>
          </a:stretch>
        </p:blipFill>
        <p:spPr>
          <a:xfrm>
            <a:off x="223306" y="4427535"/>
            <a:ext cx="9838800" cy="11484082"/>
          </a:xfrm>
          <a:prstGeom prst="rect">
            <a:avLst/>
          </a:prstGeom>
        </p:spPr>
      </p:pic>
      <p:pic>
        <p:nvPicPr>
          <p:cNvPr id="5" name="Picture 4">
            <a:extLst>
              <a:ext uri="{FF2B5EF4-FFF2-40B4-BE49-F238E27FC236}">
                <a16:creationId xmlns:a16="http://schemas.microsoft.com/office/drawing/2014/main" id="{0DA02285-21AF-E7BA-4549-A8663813D0B1}"/>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6" name="Straight Connector 5">
            <a:extLst>
              <a:ext uri="{FF2B5EF4-FFF2-40B4-BE49-F238E27FC236}">
                <a16:creationId xmlns:a16="http://schemas.microsoft.com/office/drawing/2014/main" id="{A9556AD9-924B-9A37-6386-DADCB03243E4}"/>
              </a:ext>
            </a:extLst>
          </p:cNvPr>
          <p:cNvCxnSpPr>
            <a:cxnSpLocks/>
          </p:cNvCxnSpPr>
          <p:nvPr/>
        </p:nvCxnSpPr>
        <p:spPr>
          <a:xfrm>
            <a:off x="233306" y="10290160"/>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EB59C297-4C8A-2B6B-9AC8-89FF4CD6A5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637881"/>
            <a:ext cx="914400" cy="914400"/>
          </a:xfrm>
          <a:prstGeom prst="rect">
            <a:avLst/>
          </a:prstGeom>
        </p:spPr>
      </p:pic>
      <p:pic>
        <p:nvPicPr>
          <p:cNvPr id="9" name="Graphic 8" descr="Close with solid fill">
            <a:extLst>
              <a:ext uri="{FF2B5EF4-FFF2-40B4-BE49-F238E27FC236}">
                <a16:creationId xmlns:a16="http://schemas.microsoft.com/office/drawing/2014/main" id="{DB73DB4B-BFC0-0EA6-8B68-B47D457F919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650582"/>
            <a:ext cx="914400" cy="914400"/>
          </a:xfrm>
          <a:prstGeom prst="rect">
            <a:avLst/>
          </a:prstGeom>
        </p:spPr>
      </p:pic>
      <p:sp>
        <p:nvSpPr>
          <p:cNvPr id="10" name="Right Arrow 9">
            <a:extLst>
              <a:ext uri="{FF2B5EF4-FFF2-40B4-BE49-F238E27FC236}">
                <a16:creationId xmlns:a16="http://schemas.microsoft.com/office/drawing/2014/main" id="{E23CC3DD-EE0E-07C8-6EB5-B98DB7788E28}"/>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02185053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96723B31-928E-01AD-0080-770C96EA577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DDD7E26-D329-C0DF-9C99-835FCF1A346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F98ACA1F-3645-9AA1-241B-2245AE69AD25}"/>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9692809-F040-536A-D85F-0714CB3235DE}"/>
              </a:ext>
            </a:extLst>
          </p:cNvPr>
          <p:cNvSpPr txBox="1"/>
          <p:nvPr/>
        </p:nvSpPr>
        <p:spPr>
          <a:xfrm>
            <a:off x="223306" y="4984252"/>
            <a:ext cx="9838800" cy="3225470"/>
          </a:xfrm>
          <a:prstGeom prst="rect">
            <a:avLst/>
          </a:prstGeom>
          <a:noFill/>
        </p:spPr>
        <p:txBody>
          <a:bodyPr wrap="square" rtlCol="0">
            <a:noAutofit/>
          </a:bodyPr>
          <a:lstStyle/>
          <a:p>
            <a:pPr algn="ctr"/>
            <a:r>
              <a:rPr lang="en-DE" sz="7200" dirty="0">
                <a:ln w="0"/>
                <a:effectLst>
                  <a:outerShdw blurRad="38100" dist="19050" dir="2700000" algn="tl" rotWithShape="0">
                    <a:schemeClr val="dk1">
                      <a:alpha val="40000"/>
                    </a:schemeClr>
                  </a:outerShdw>
                </a:effectLst>
                <a:latin typeface="Patrick Hand" pitchFamily="2" charset="77"/>
              </a:rPr>
              <a:t>What are your preferences?</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algn="ctr"/>
            <a:r>
              <a:rPr lang="en-DE" sz="7200" dirty="0">
                <a:ln w="0"/>
                <a:effectLst>
                  <a:outerShdw blurRad="38100" dist="19050" dir="2700000" algn="tl" rotWithShape="0">
                    <a:schemeClr val="dk1">
                      <a:alpha val="40000"/>
                    </a:schemeClr>
                  </a:outerShdw>
                </a:effectLst>
                <a:latin typeface="Patrick Hand" pitchFamily="2" charset="77"/>
              </a:rPr>
              <a:t>Write in the comments !!!</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marL="685800" indent="-685800" algn="ctr">
              <a:buFont typeface="Arial" panose="020B0604020202020204" pitchFamily="34" charset="0"/>
              <a:buChar char="•"/>
            </a:pPr>
            <a:endParaRPr lang="en-GB" sz="7200" dirty="0">
              <a:ln w="0"/>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B5F98B28-F456-EFEE-D52A-987FEEC0806F}"/>
              </a:ext>
            </a:extLst>
          </p:cNvPr>
          <p:cNvPicPr>
            <a:picLocks noChangeAspect="1"/>
          </p:cNvPicPr>
          <p:nvPr/>
        </p:nvPicPr>
        <p:blipFill>
          <a:blip r:embed="rId3"/>
          <a:stretch>
            <a:fillRect/>
          </a:stretch>
        </p:blipFill>
        <p:spPr>
          <a:xfrm>
            <a:off x="312757" y="3190540"/>
            <a:ext cx="1062000" cy="1062000"/>
          </a:xfrm>
          <a:prstGeom prst="rect">
            <a:avLst/>
          </a:prstGeom>
        </p:spPr>
      </p:pic>
    </p:spTree>
    <p:extLst>
      <p:ext uri="{BB962C8B-B14F-4D97-AF65-F5344CB8AC3E}">
        <p14:creationId xmlns:p14="http://schemas.microsoft.com/office/powerpoint/2010/main" val="262031058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F3743C9-1A74-66D3-BB39-6AE6837D4A3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E9F197-6271-D172-E290-40E620BA428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96CD4CE8-19CF-042A-C737-6530EDDB2B2F}"/>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6" name="TextBox 5">
            <a:extLst>
              <a:ext uri="{FF2B5EF4-FFF2-40B4-BE49-F238E27FC236}">
                <a16:creationId xmlns:a16="http://schemas.microsoft.com/office/drawing/2014/main" id="{5C7BFA3D-823E-9764-0695-61D32DFE43F0}"/>
              </a:ext>
            </a:extLst>
          </p:cNvPr>
          <p:cNvSpPr txBox="1"/>
          <p:nvPr/>
        </p:nvSpPr>
        <p:spPr>
          <a:xfrm>
            <a:off x="223306" y="4651040"/>
            <a:ext cx="9749349" cy="8496924"/>
          </a:xfrm>
          <a:prstGeom prst="rect">
            <a:avLst/>
          </a:prstGeom>
          <a:noFill/>
        </p:spPr>
        <p:txBody>
          <a:bodyPr wrap="square" rtlCol="0">
            <a:noAutofit/>
          </a:bodyPr>
          <a:lstStyle/>
          <a:p>
            <a:pPr algn="just"/>
            <a:r>
              <a:rPr lang="en-US" sz="5400" dirty="0">
                <a:ln w="0"/>
                <a:effectLst>
                  <a:outerShdw blurRad="38100" dist="19050" dir="2700000" algn="tl" rotWithShape="0">
                    <a:schemeClr val="dk1">
                      <a:alpha val="40000"/>
                    </a:schemeClr>
                  </a:outerShdw>
                </a:effectLst>
                <a:latin typeface="Patrick Hand" pitchFamily="2" charset="77"/>
              </a:rPr>
              <a:t>Using a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Patrick Hand" pitchFamily="2" charset="77"/>
              </a:rPr>
              <a:t>constructor</a:t>
            </a:r>
            <a:r>
              <a:rPr lang="en-US" sz="5400" dirty="0">
                <a:ln w="0"/>
                <a:effectLst>
                  <a:outerShdw blurRad="38100" dist="19050" dir="2700000" algn="tl" rotWithShape="0">
                    <a:schemeClr val="dk1">
                      <a:alpha val="40000"/>
                    </a:schemeClr>
                  </a:outerShdw>
                </a:effectLst>
                <a:latin typeface="Patrick Hand" pitchFamily="2" charset="77"/>
              </a:rPr>
              <a:t> means creating a new object from a class and manually setting its properties. This is often unnecessary for simple objects. </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For example:</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const item = new Object();</a:t>
            </a:r>
          </a:p>
          <a:p>
            <a:pPr algn="just"/>
            <a:r>
              <a:rPr lang="en-US" sz="5400" dirty="0">
                <a:ln w="0"/>
                <a:effectLst>
                  <a:outerShdw blurRad="38100" dist="19050" dir="2700000" algn="tl" rotWithShape="0">
                    <a:schemeClr val="dk1">
                      <a:alpha val="40000"/>
                    </a:schemeClr>
                  </a:outerShdw>
                </a:effectLst>
                <a:latin typeface="Patrick Hand" pitchFamily="2" charset="77"/>
              </a:rPr>
              <a:t>OR</a:t>
            </a:r>
          </a:p>
          <a:p>
            <a:pPr algn="just"/>
            <a:r>
              <a:rPr lang="en-US" sz="5400" dirty="0">
                <a:ln w="0"/>
                <a:effectLst>
                  <a:outerShdw blurRad="38100" dist="19050" dir="2700000" algn="tl" rotWithShape="0">
                    <a:schemeClr val="dk1">
                      <a:alpha val="40000"/>
                    </a:schemeClr>
                  </a:outerShdw>
                </a:effectLst>
                <a:latin typeface="Patrick Hand" pitchFamily="2" charset="77"/>
              </a:rPr>
              <a:t>item = </a:t>
            </a:r>
            <a:r>
              <a:rPr lang="en-US" sz="5400" dirty="0" err="1">
                <a:ln w="0"/>
                <a:effectLst>
                  <a:outerShdw blurRad="38100" dist="19050" dir="2700000" algn="tl" rotWithShape="0">
                    <a:schemeClr val="dk1">
                      <a:alpha val="40000"/>
                    </a:schemeClr>
                  </a:outerShdw>
                </a:effectLst>
                <a:latin typeface="Patrick Hand" pitchFamily="2" charset="77"/>
              </a:rPr>
              <a:t>dict</a:t>
            </a:r>
            <a:r>
              <a:rPr lang="en-US" sz="5400" dirty="0">
                <a:ln w="0"/>
                <a:effectLst>
                  <a:outerShdw blurRad="38100" dist="19050" dir="2700000" algn="tl" rotWithShape="0">
                    <a:schemeClr val="dk1">
                      <a:alpha val="40000"/>
                    </a:schemeClr>
                  </a:outerShdw>
                </a:effectLst>
                <a:latin typeface="Patrick Hand" pitchFamily="2" charset="77"/>
              </a:rPr>
              <a:t>()</a:t>
            </a:r>
          </a:p>
        </p:txBody>
      </p:sp>
      <p:sp>
        <p:nvSpPr>
          <p:cNvPr id="12" name="Right Arrow 11">
            <a:extLst>
              <a:ext uri="{FF2B5EF4-FFF2-40B4-BE49-F238E27FC236}">
                <a16:creationId xmlns:a16="http://schemas.microsoft.com/office/drawing/2014/main" id="{6E76A62E-CF71-AFB9-CB2D-3ABCECA93A8A}"/>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0180048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47D0E4D-CB6D-633D-0B2F-88391B1F824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BC5621F-9C34-DC54-23D4-96BC263B86BB}"/>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633FD707-5C91-06B7-A972-B64EE29FF5F2}"/>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C6C49E14-4090-3A0C-A7C9-C54A831F5023}"/>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2" name="Picture 1">
            <a:extLst>
              <a:ext uri="{FF2B5EF4-FFF2-40B4-BE49-F238E27FC236}">
                <a16:creationId xmlns:a16="http://schemas.microsoft.com/office/drawing/2014/main" id="{2B86A6FA-9355-AE3E-D413-AC98C1D126B9}"/>
              </a:ext>
            </a:extLst>
          </p:cNvPr>
          <p:cNvPicPr preferRelativeResize="0">
            <a:picLocks/>
          </p:cNvPicPr>
          <p:nvPr/>
        </p:nvPicPr>
        <p:blipFill rotWithShape="1">
          <a:blip r:embed="rId4"/>
          <a:srcRect l="16795" t="30215" r="14044" b="26360"/>
          <a:stretch>
            <a:fillRect/>
          </a:stretch>
        </p:blipFill>
        <p:spPr>
          <a:xfrm>
            <a:off x="223305" y="4427535"/>
            <a:ext cx="9838800" cy="4680000"/>
          </a:xfrm>
          <a:prstGeom prst="rect">
            <a:avLst/>
          </a:prstGeom>
        </p:spPr>
      </p:pic>
      <p:cxnSp>
        <p:nvCxnSpPr>
          <p:cNvPr id="3" name="Straight Connector 2">
            <a:extLst>
              <a:ext uri="{FF2B5EF4-FFF2-40B4-BE49-F238E27FC236}">
                <a16:creationId xmlns:a16="http://schemas.microsoft.com/office/drawing/2014/main" id="{95AAFA2D-2583-15FC-2580-AAEC7EFB486A}"/>
              </a:ext>
            </a:extLst>
          </p:cNvPr>
          <p:cNvCxnSpPr>
            <a:cxnSpLocks/>
          </p:cNvCxnSpPr>
          <p:nvPr/>
        </p:nvCxnSpPr>
        <p:spPr>
          <a:xfrm>
            <a:off x="233306" y="6828141"/>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5" name="Right Arrow 4">
            <a:extLst>
              <a:ext uri="{FF2B5EF4-FFF2-40B4-BE49-F238E27FC236}">
                <a16:creationId xmlns:a16="http://schemas.microsoft.com/office/drawing/2014/main" id="{E435A217-F89B-85AF-BE3E-E923536EEB96}"/>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73085191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B87662E-DE2E-54F8-DA39-CFFB953F14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B3570AA-A90D-A999-2A96-0BC20BC806A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3B872644-AB86-6698-EA3A-DB33B5028B17}"/>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321882E-DEB4-935B-B260-4EC2A202AB0A}"/>
              </a:ext>
            </a:extLst>
          </p:cNvPr>
          <p:cNvPicPr preferRelativeResize="0">
            <a:picLocks/>
          </p:cNvPicPr>
          <p:nvPr/>
        </p:nvPicPr>
        <p:blipFill rotWithShape="1">
          <a:blip r:embed="rId3"/>
          <a:srcRect l="17598" t="31499" r="13684" b="22607"/>
          <a:stretch>
            <a:fillRect/>
          </a:stretch>
        </p:blipFill>
        <p:spPr>
          <a:xfrm>
            <a:off x="223306" y="4427536"/>
            <a:ext cx="9838800" cy="4680000"/>
          </a:xfrm>
          <a:prstGeom prst="rect">
            <a:avLst/>
          </a:prstGeom>
        </p:spPr>
      </p:pic>
      <p:pic>
        <p:nvPicPr>
          <p:cNvPr id="3" name="Picture 2">
            <a:extLst>
              <a:ext uri="{FF2B5EF4-FFF2-40B4-BE49-F238E27FC236}">
                <a16:creationId xmlns:a16="http://schemas.microsoft.com/office/drawing/2014/main" id="{74AD9930-9FA4-5923-77AB-E251A6EAF3DE}"/>
              </a:ext>
            </a:extLst>
          </p:cNvPr>
          <p:cNvPicPr>
            <a:picLocks noChangeAspect="1"/>
          </p:cNvPicPr>
          <p:nvPr/>
        </p:nvPicPr>
        <p:blipFill>
          <a:blip r:embed="rId4"/>
          <a:stretch>
            <a:fillRect/>
          </a:stretch>
        </p:blipFill>
        <p:spPr>
          <a:xfrm>
            <a:off x="332639" y="3196286"/>
            <a:ext cx="1063167" cy="1063167"/>
          </a:xfrm>
          <a:prstGeom prst="rect">
            <a:avLst/>
          </a:prstGeom>
        </p:spPr>
      </p:pic>
      <p:cxnSp>
        <p:nvCxnSpPr>
          <p:cNvPr id="5" name="Straight Connector 4">
            <a:extLst>
              <a:ext uri="{FF2B5EF4-FFF2-40B4-BE49-F238E27FC236}">
                <a16:creationId xmlns:a16="http://schemas.microsoft.com/office/drawing/2014/main" id="{0F10F09E-B4E0-4056-0BA9-DD57336018D2}"/>
              </a:ext>
            </a:extLst>
          </p:cNvPr>
          <p:cNvCxnSpPr>
            <a:cxnSpLocks/>
          </p:cNvCxnSpPr>
          <p:nvPr/>
        </p:nvCxnSpPr>
        <p:spPr>
          <a:xfrm>
            <a:off x="233306" y="6329373"/>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6" name="Right Arrow 5">
            <a:extLst>
              <a:ext uri="{FF2B5EF4-FFF2-40B4-BE49-F238E27FC236}">
                <a16:creationId xmlns:a16="http://schemas.microsoft.com/office/drawing/2014/main" id="{2892F6C6-138F-0F78-3659-F2E7F0035EBD}"/>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403033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16A4D19-6F44-D7C7-60EC-E336007C4C8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446CFCD-C391-BAB4-5F67-0690FBD23474}"/>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Literal vs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3D40EE94-63F8-DB68-6E2B-B840982D0F4C}"/>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ABE5758-605A-6DEF-0CA3-987C90DA754F}"/>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02211373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FEEEF63F-05E6-DA35-C379-11D3F25F8CA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1F7EF2-9234-089A-91E3-BF5B46ED308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968BC9ED-1ECF-B702-5C76-31C24693B46D}"/>
              </a:ext>
            </a:extLst>
          </p:cNvPr>
          <p:cNvSpPr txBox="1"/>
          <p:nvPr/>
        </p:nvSpPr>
        <p:spPr>
          <a:xfrm>
            <a:off x="-7873383" y="3167085"/>
            <a:ext cx="7213726"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js_005_no_array_constructor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C98CF51-B431-EC78-9DD7-E4639D082A92}"/>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6" name="Picture 5">
            <a:extLst>
              <a:ext uri="{FF2B5EF4-FFF2-40B4-BE49-F238E27FC236}">
                <a16:creationId xmlns:a16="http://schemas.microsoft.com/office/drawing/2014/main" id="{9CF2BB6E-30BB-3E21-3772-46C6D64098C1}"/>
              </a:ext>
            </a:extLst>
          </p:cNvPr>
          <p:cNvPicPr>
            <a:picLocks noChangeAspect="1"/>
          </p:cNvPicPr>
          <p:nvPr/>
        </p:nvPicPr>
        <p:blipFill rotWithShape="1">
          <a:blip r:embed="rId4"/>
          <a:srcRect l="20337" t="28776" r="15360" b="25613"/>
          <a:stretch>
            <a:fillRect/>
          </a:stretch>
        </p:blipFill>
        <p:spPr>
          <a:xfrm>
            <a:off x="223306" y="4427536"/>
            <a:ext cx="9838800" cy="5534325"/>
          </a:xfrm>
          <a:prstGeom prst="rect">
            <a:avLst/>
          </a:prstGeom>
        </p:spPr>
      </p:pic>
      <p:cxnSp>
        <p:nvCxnSpPr>
          <p:cNvPr id="7" name="Straight Connector 6">
            <a:extLst>
              <a:ext uri="{FF2B5EF4-FFF2-40B4-BE49-F238E27FC236}">
                <a16:creationId xmlns:a16="http://schemas.microsoft.com/office/drawing/2014/main" id="{28235F81-CBFD-9CF3-8A8E-9364918B8C5B}"/>
              </a:ext>
            </a:extLst>
          </p:cNvPr>
          <p:cNvCxnSpPr>
            <a:cxnSpLocks/>
          </p:cNvCxnSpPr>
          <p:nvPr/>
        </p:nvCxnSpPr>
        <p:spPr>
          <a:xfrm>
            <a:off x="233306" y="695382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73389461-30C0-E0F2-7F7E-A6E5490DC8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7337712"/>
            <a:ext cx="914400" cy="914400"/>
          </a:xfrm>
          <a:prstGeom prst="rect">
            <a:avLst/>
          </a:prstGeom>
        </p:spPr>
      </p:pic>
      <p:pic>
        <p:nvPicPr>
          <p:cNvPr id="9" name="Graphic 8" descr="Close with solid fill">
            <a:extLst>
              <a:ext uri="{FF2B5EF4-FFF2-40B4-BE49-F238E27FC236}">
                <a16:creationId xmlns:a16="http://schemas.microsoft.com/office/drawing/2014/main" id="{F7017F99-371A-8860-96AA-8DCE2B2FEC4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852619"/>
            <a:ext cx="914400" cy="914400"/>
          </a:xfrm>
          <a:prstGeom prst="rect">
            <a:avLst/>
          </a:prstGeom>
        </p:spPr>
      </p:pic>
      <p:sp>
        <p:nvSpPr>
          <p:cNvPr id="10" name="Right Arrow 9">
            <a:extLst>
              <a:ext uri="{FF2B5EF4-FFF2-40B4-BE49-F238E27FC236}">
                <a16:creationId xmlns:a16="http://schemas.microsoft.com/office/drawing/2014/main" id="{F2D6D2E1-4ED0-DCDC-18D7-77E940B4F2D1}"/>
              </a:ext>
            </a:extLst>
          </p:cNvPr>
          <p:cNvSpPr/>
          <p:nvPr/>
        </p:nvSpPr>
        <p:spPr>
          <a:xfrm>
            <a:off x="4676714" y="10181489"/>
            <a:ext cx="931985" cy="685824"/>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marL="0" algn="l" defTabSz="457200" rtl="0" eaLnBrk="1" latinLnBrk="0" hangingPunct="1"/>
            <a:endParaRPr lang="en-DE" sz="7200" dirty="0">
              <a:ln/>
              <a:solidFill>
                <a:schemeClr val="accent4"/>
              </a:solidFill>
            </a:endParaRPr>
          </a:p>
        </p:txBody>
      </p:sp>
    </p:spTree>
    <p:extLst>
      <p:ext uri="{BB962C8B-B14F-4D97-AF65-F5344CB8AC3E}">
        <p14:creationId xmlns:p14="http://schemas.microsoft.com/office/powerpoint/2010/main" val="368471383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9714E5A-07D2-D682-6533-06E93CFF3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51C5440-3B7A-E64D-FCFD-928BA7469A9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792BF6A5-06E4-A0E1-6813-31071F20A33A}"/>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79054432-C733-7733-BDE4-A1E88E4C2CF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117713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B6D604BC-A08E-87CF-CAEE-01301A8EADC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284C8B7-A30A-0E55-5A93-564B24E9BD03}"/>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DCC6012A-A9AD-7F0E-2D66-6D022C0629F5}"/>
              </a:ext>
            </a:extLst>
          </p:cNvPr>
          <p:cNvPicPr>
            <a:picLocks noChangeAspect="1"/>
          </p:cNvPicPr>
          <p:nvPr/>
        </p:nvPicPr>
        <p:blipFill>
          <a:blip r:embed="rId2"/>
          <a:stretch>
            <a:fillRect/>
          </a:stretch>
        </p:blipFill>
        <p:spPr>
          <a:xfrm>
            <a:off x="1511021" y="3190540"/>
            <a:ext cx="1062000" cy="1062000"/>
          </a:xfrm>
          <a:prstGeom prst="rect">
            <a:avLst/>
          </a:prstGeom>
        </p:spPr>
      </p:pic>
      <p:pic>
        <p:nvPicPr>
          <p:cNvPr id="5" name="Picture 4">
            <a:extLst>
              <a:ext uri="{FF2B5EF4-FFF2-40B4-BE49-F238E27FC236}">
                <a16:creationId xmlns:a16="http://schemas.microsoft.com/office/drawing/2014/main" id="{6BEBEBBD-750A-70AD-994A-4BF57A73F192}"/>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8" name="Picture 7">
            <a:extLst>
              <a:ext uri="{FF2B5EF4-FFF2-40B4-BE49-F238E27FC236}">
                <a16:creationId xmlns:a16="http://schemas.microsoft.com/office/drawing/2014/main" id="{9FCD4E01-56B7-E263-1B8F-0ED2B463E5B3}"/>
              </a:ext>
            </a:extLst>
          </p:cNvPr>
          <p:cNvPicPr>
            <a:picLocks noChangeAspect="1"/>
          </p:cNvPicPr>
          <p:nvPr/>
        </p:nvPicPr>
        <p:blipFill rotWithShape="1">
          <a:blip r:embed="rId4"/>
          <a:srcRect l="21844" t="22152" r="13351" b="16455"/>
          <a:stretch>
            <a:fillRect/>
          </a:stretch>
        </p:blipFill>
        <p:spPr>
          <a:xfrm>
            <a:off x="223306" y="4427535"/>
            <a:ext cx="9838800" cy="9495586"/>
          </a:xfrm>
          <a:prstGeom prst="rect">
            <a:avLst/>
          </a:prstGeom>
        </p:spPr>
      </p:pic>
      <p:cxnSp>
        <p:nvCxnSpPr>
          <p:cNvPr id="11" name="Straight Connector 10">
            <a:extLst>
              <a:ext uri="{FF2B5EF4-FFF2-40B4-BE49-F238E27FC236}">
                <a16:creationId xmlns:a16="http://schemas.microsoft.com/office/drawing/2014/main" id="{D9E0CFC0-3D2C-0637-413F-A15D4398C9F5}"/>
              </a:ext>
            </a:extLst>
          </p:cNvPr>
          <p:cNvCxnSpPr>
            <a:cxnSpLocks/>
          </p:cNvCxnSpPr>
          <p:nvPr/>
        </p:nvCxnSpPr>
        <p:spPr>
          <a:xfrm>
            <a:off x="233306" y="1159997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2" name="Graphic 11" descr="Shield Tick with solid fill">
            <a:extLst>
              <a:ext uri="{FF2B5EF4-FFF2-40B4-BE49-F238E27FC236}">
                <a16:creationId xmlns:a16="http://schemas.microsoft.com/office/drawing/2014/main" id="{943677B2-5396-31EB-19A3-7B8C877323C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11885006"/>
            <a:ext cx="914400" cy="914400"/>
          </a:xfrm>
          <a:prstGeom prst="rect">
            <a:avLst/>
          </a:prstGeom>
        </p:spPr>
      </p:pic>
      <p:pic>
        <p:nvPicPr>
          <p:cNvPr id="14" name="Graphic 13" descr="Close with solid fill">
            <a:extLst>
              <a:ext uri="{FF2B5EF4-FFF2-40B4-BE49-F238E27FC236}">
                <a16:creationId xmlns:a16="http://schemas.microsoft.com/office/drawing/2014/main" id="{7B804695-1C4A-0415-4591-E5E4BDBDD72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556058"/>
            <a:ext cx="914400" cy="914400"/>
          </a:xfrm>
          <a:prstGeom prst="rect">
            <a:avLst/>
          </a:prstGeom>
        </p:spPr>
      </p:pic>
      <p:sp>
        <p:nvSpPr>
          <p:cNvPr id="15" name="Right Arrow 14">
            <a:extLst>
              <a:ext uri="{FF2B5EF4-FFF2-40B4-BE49-F238E27FC236}">
                <a16:creationId xmlns:a16="http://schemas.microsoft.com/office/drawing/2014/main" id="{D78D3400-A301-138C-44AF-A86AC5967091}"/>
              </a:ext>
            </a:extLst>
          </p:cNvPr>
          <p:cNvSpPr/>
          <p:nvPr/>
        </p:nvSpPr>
        <p:spPr>
          <a:xfrm>
            <a:off x="4676714" y="14308656"/>
            <a:ext cx="931985" cy="685824"/>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l" defTabSz="457200" rtl="0"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98531404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9288621C-2B23-2DCB-E11B-ABB3BA05D8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A515B6B-811A-F95F-23D4-4E147BBF748C}"/>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EFDB36EA-81CC-57D2-7234-6C196E886204}"/>
              </a:ext>
            </a:extLst>
          </p:cNvPr>
          <p:cNvPicPr>
            <a:picLocks noChangeAspect="1"/>
          </p:cNvPicPr>
          <p:nvPr/>
        </p:nvPicPr>
        <p:blipFill>
          <a:blip r:embed="rId2"/>
          <a:stretch>
            <a:fillRect/>
          </a:stretch>
        </p:blipFill>
        <p:spPr>
          <a:xfrm>
            <a:off x="1511021" y="3190540"/>
            <a:ext cx="1062000" cy="1062000"/>
          </a:xfrm>
          <a:prstGeom prst="rect">
            <a:avLst/>
          </a:prstGeom>
        </p:spPr>
      </p:pic>
      <p:sp>
        <p:nvSpPr>
          <p:cNvPr id="2" name="TextBox 1">
            <a:extLst>
              <a:ext uri="{FF2B5EF4-FFF2-40B4-BE49-F238E27FC236}">
                <a16:creationId xmlns:a16="http://schemas.microsoft.com/office/drawing/2014/main" id="{982642FB-F511-9038-59EC-B0E0309344B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42F009E5-CBB0-1DF3-8E60-C19CEB38283A}"/>
              </a:ext>
            </a:extLst>
          </p:cNvPr>
          <p:cNvPicPr>
            <a:picLocks noChangeAspect="1"/>
          </p:cNvPicPr>
          <p:nvPr/>
        </p:nvPicPr>
        <p:blipFill>
          <a:blip r:embed="rId3"/>
          <a:stretch>
            <a:fillRect/>
          </a:stretch>
        </p:blipFill>
        <p:spPr>
          <a:xfrm>
            <a:off x="337472" y="3190540"/>
            <a:ext cx="1062000" cy="1062000"/>
          </a:xfrm>
          <a:prstGeom prst="rect">
            <a:avLst/>
          </a:prstGeom>
        </p:spPr>
      </p:pic>
    </p:spTree>
    <p:extLst>
      <p:ext uri="{BB962C8B-B14F-4D97-AF65-F5344CB8AC3E}">
        <p14:creationId xmlns:p14="http://schemas.microsoft.com/office/powerpoint/2010/main" val="346444406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A565C309-32A0-0E31-2269-D02F5E638E8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7E7B80-3D1A-EB33-52F8-FD2D69FC9803}"/>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DCD28906-EA4C-992F-50A0-570C5DC2126A}"/>
              </a:ext>
            </a:extLst>
          </p:cNvPr>
          <p:cNvSpPr txBox="1"/>
          <p:nvPr/>
        </p:nvSpPr>
        <p:spPr>
          <a:xfrm>
            <a:off x="223306" y="4984252"/>
            <a:ext cx="9838800" cy="4796562"/>
          </a:xfrm>
          <a:prstGeom prst="rect">
            <a:avLst/>
          </a:prstGeom>
          <a:noFill/>
        </p:spPr>
        <p:txBody>
          <a:bodyPr wrap="square" rtlCol="0">
            <a:noAutofit/>
          </a:bodyPr>
          <a:lstStyle/>
          <a:p>
            <a:pPr algn="ctr"/>
            <a:r>
              <a:rPr lang="en-DE" sz="4800" b="1" dirty="0">
                <a:ln w="22225">
                  <a:solidFill>
                    <a:schemeClr val="accent2"/>
                  </a:solidFill>
                  <a:prstDash val="solid"/>
                </a:ln>
                <a:solidFill>
                  <a:schemeClr val="accent2">
                    <a:lumMod val="40000"/>
                    <a:lumOff val="60000"/>
                  </a:schemeClr>
                </a:solidFill>
                <a:latin typeface="Patrick Hand" pitchFamily="2" charset="77"/>
              </a:rPr>
              <a:t>Generators</a:t>
            </a:r>
            <a:r>
              <a:rPr lang="en-DE" sz="4800" dirty="0">
                <a:ln w="0"/>
                <a:effectLst>
                  <a:outerShdw blurRad="38100" dist="19050" dir="2700000" algn="tl" rotWithShape="0">
                    <a:schemeClr val="dk1">
                      <a:alpha val="40000"/>
                    </a:schemeClr>
                  </a:outerShdw>
                </a:effectLst>
                <a:latin typeface="Patrick Hand" pitchFamily="2" charset="77"/>
              </a:rPr>
              <a:t> are special functions that can be paused during execution.They are highly memory-efficient that ideal for iterating over large datasets step-by-step. </a:t>
            </a:r>
          </a:p>
          <a:p>
            <a:pPr algn="ctr"/>
            <a:r>
              <a:rPr lang="en-DE" sz="4800" dirty="0">
                <a:ln w="0"/>
                <a:effectLst>
                  <a:outerShdw blurRad="38100" dist="19050" dir="2700000" algn="tl" rotWithShape="0">
                    <a:schemeClr val="dk1">
                      <a:alpha val="40000"/>
                    </a:schemeClr>
                  </a:outerShdw>
                </a:effectLst>
                <a:latin typeface="Patrick Hand" pitchFamily="2" charset="77"/>
              </a:rPr>
              <a:t>These powerful concept a core feature in </a:t>
            </a:r>
            <a:r>
              <a:rPr lang="en-DE" sz="4800" b="1" dirty="0">
                <a:ln w="22225">
                  <a:solidFill>
                    <a:schemeClr val="accent2"/>
                  </a:solidFill>
                  <a:prstDash val="solid"/>
                </a:ln>
                <a:solidFill>
                  <a:schemeClr val="accent2">
                    <a:lumMod val="40000"/>
                    <a:lumOff val="60000"/>
                  </a:schemeClr>
                </a:solidFill>
                <a:latin typeface="Patrick Hand" pitchFamily="2" charset="77"/>
              </a:rPr>
              <a:t>JavaScript</a:t>
            </a:r>
            <a:r>
              <a:rPr lang="en-DE" sz="4800" dirty="0">
                <a:ln w="0"/>
                <a:effectLst>
                  <a:outerShdw blurRad="38100" dist="19050" dir="2700000" algn="tl" rotWithShape="0">
                    <a:schemeClr val="dk1">
                      <a:alpha val="40000"/>
                    </a:schemeClr>
                  </a:outerShdw>
                </a:effectLst>
                <a:latin typeface="Patrick Hand" pitchFamily="2" charset="77"/>
              </a:rPr>
              <a:t>,</a:t>
            </a:r>
            <a:r>
              <a:rPr lang="en-DE" sz="4800" b="1" dirty="0">
                <a:ln w="22225">
                  <a:solidFill>
                    <a:schemeClr val="accent2"/>
                  </a:solidFill>
                  <a:prstDash val="solid"/>
                </a:ln>
                <a:solidFill>
                  <a:schemeClr val="accent2">
                    <a:lumMod val="40000"/>
                    <a:lumOff val="60000"/>
                  </a:schemeClr>
                </a:solidFill>
                <a:latin typeface="Patrick Hand" pitchFamily="2" charset="77"/>
              </a:rPr>
              <a:t> TypeScript</a:t>
            </a:r>
            <a:r>
              <a:rPr lang="en-DE" sz="4800" dirty="0">
                <a:ln w="0"/>
                <a:effectLst>
                  <a:outerShdw blurRad="38100" dist="19050" dir="2700000" algn="tl" rotWithShape="0">
                    <a:schemeClr val="dk1">
                      <a:alpha val="40000"/>
                    </a:schemeClr>
                  </a:outerShdw>
                </a:effectLst>
                <a:latin typeface="Patrick Hand" pitchFamily="2" charset="77"/>
              </a:rPr>
              <a:t> and </a:t>
            </a:r>
            <a:r>
              <a:rPr lang="en-DE" sz="4800" b="1" dirty="0">
                <a:ln w="22225">
                  <a:solidFill>
                    <a:schemeClr val="accent2"/>
                  </a:solidFill>
                  <a:prstDash val="solid"/>
                </a:ln>
                <a:solidFill>
                  <a:schemeClr val="accent2">
                    <a:lumMod val="40000"/>
                    <a:lumOff val="60000"/>
                  </a:schemeClr>
                </a:solidFill>
                <a:latin typeface="Patrick Hand" pitchFamily="2" charset="77"/>
              </a:rPr>
              <a:t>Python</a:t>
            </a:r>
            <a:r>
              <a:rPr lang="en-DE" sz="4800" dirty="0">
                <a:ln w="0"/>
                <a:effectLst>
                  <a:outerShdw blurRad="38100" dist="19050" dir="2700000" algn="tl" rotWithShape="0">
                    <a:schemeClr val="dk1">
                      <a:alpha val="40000"/>
                    </a:schemeClr>
                  </a:outerShdw>
                </a:effectLst>
                <a:latin typeface="Patrick Hand" pitchFamily="2" charset="77"/>
              </a:rPr>
              <a:t>.  </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11" name="Right Arrow 10">
            <a:extLst>
              <a:ext uri="{FF2B5EF4-FFF2-40B4-BE49-F238E27FC236}">
                <a16:creationId xmlns:a16="http://schemas.microsoft.com/office/drawing/2014/main" id="{68B99A18-3BAD-F9CD-62F6-3125BF8949DC}"/>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97101769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60D85A45-0F7C-787B-BFCD-F0096B94DC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ECD07C9-34D5-24FC-B68B-EEECB78BD5C8}"/>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8" name="Picture 7">
            <a:extLst>
              <a:ext uri="{FF2B5EF4-FFF2-40B4-BE49-F238E27FC236}">
                <a16:creationId xmlns:a16="http://schemas.microsoft.com/office/drawing/2014/main" id="{766894D7-DB7A-9C6A-DE0B-A0C1AF2A394D}"/>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10" name="Picture 9">
            <a:extLst>
              <a:ext uri="{FF2B5EF4-FFF2-40B4-BE49-F238E27FC236}">
                <a16:creationId xmlns:a16="http://schemas.microsoft.com/office/drawing/2014/main" id="{8BFBBF1E-3D73-E754-6FC2-EA9CCB8F00A0}"/>
              </a:ext>
            </a:extLst>
          </p:cNvPr>
          <p:cNvPicPr preferRelativeResize="0">
            <a:picLocks/>
          </p:cNvPicPr>
          <p:nvPr/>
        </p:nvPicPr>
        <p:blipFill rotWithShape="1">
          <a:blip r:embed="rId4"/>
          <a:srcRect l="17019" t="21904" r="11962" b="13799"/>
          <a:stretch>
            <a:fillRect/>
          </a:stretch>
        </p:blipFill>
        <p:spPr>
          <a:xfrm>
            <a:off x="223306" y="4427535"/>
            <a:ext cx="9838800" cy="6840000"/>
          </a:xfrm>
          <a:prstGeom prst="rect">
            <a:avLst/>
          </a:prstGeom>
        </p:spPr>
      </p:pic>
      <p:cxnSp>
        <p:nvCxnSpPr>
          <p:cNvPr id="11" name="Straight Connector 10">
            <a:extLst>
              <a:ext uri="{FF2B5EF4-FFF2-40B4-BE49-F238E27FC236}">
                <a16:creationId xmlns:a16="http://schemas.microsoft.com/office/drawing/2014/main" id="{F1F7EAD9-DE68-7D1B-ECE5-5E6BB4F2FBFB}"/>
              </a:ext>
            </a:extLst>
          </p:cNvPr>
          <p:cNvCxnSpPr/>
          <p:nvPr/>
        </p:nvCxnSpPr>
        <p:spPr>
          <a:xfrm>
            <a:off x="5715001" y="9666519"/>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BF35B89-0879-73F4-23E1-DA7AB0F99E27}"/>
              </a:ext>
            </a:extLst>
          </p:cNvPr>
          <p:cNvCxnSpPr/>
          <p:nvPr/>
        </p:nvCxnSpPr>
        <p:spPr>
          <a:xfrm>
            <a:off x="5720441" y="10619022"/>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EDE7E8C-2448-E14B-01F9-27D50EE3C018}"/>
              </a:ext>
            </a:extLst>
          </p:cNvPr>
          <p:cNvCxnSpPr>
            <a:cxnSpLocks/>
          </p:cNvCxnSpPr>
          <p:nvPr/>
        </p:nvCxnSpPr>
        <p:spPr>
          <a:xfrm>
            <a:off x="1964867" y="5083630"/>
            <a:ext cx="272147"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6FE3E9B-B743-546D-6325-4BF52E9C99B8}"/>
              </a:ext>
            </a:extLst>
          </p:cNvPr>
          <p:cNvCxnSpPr/>
          <p:nvPr/>
        </p:nvCxnSpPr>
        <p:spPr>
          <a:xfrm>
            <a:off x="1083124" y="6161313"/>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2AAE9F85-BEED-CF27-5A5B-F158ACBE082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88099558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5F59ECE-B256-2FE8-D8C8-38266B246E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BEB4140-EE73-C912-E001-9C4F79F0EAED}"/>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B1FB7E6-A199-33A3-48D0-BF7A5D0072EE}"/>
              </a:ext>
            </a:extLst>
          </p:cNvPr>
          <p:cNvSpPr txBox="1"/>
          <p:nvPr/>
        </p:nvSpPr>
        <p:spPr>
          <a:xfrm>
            <a:off x="403306" y="11357323"/>
            <a:ext cx="9478800" cy="1360958"/>
          </a:xfrm>
          <a:prstGeom prst="rect">
            <a:avLst/>
          </a:prstGeom>
          <a:noFill/>
        </p:spPr>
        <p:txBody>
          <a:bodyPr wrap="square" rtlCol="0">
            <a:noAutofit/>
            <a:scene3d>
              <a:camera prst="orthographicFront"/>
              <a:lightRig rig="harsh" dir="t"/>
            </a:scene3d>
            <a:sp3d extrusionH="57150" prstMaterial="matte">
              <a:bevelT w="63500" h="12700" prst="angle"/>
              <a:contourClr>
                <a:schemeClr val="bg1">
                  <a:lumMod val="65000"/>
                </a:schemeClr>
              </a:contourClr>
            </a:sp3d>
          </a:bodyPr>
          <a:lstStyle/>
          <a:p>
            <a:r>
              <a:rPr lang="en-GB" sz="3600" dirty="0"/>
              <a:t>Type-Safe generators</a:t>
            </a:r>
          </a:p>
          <a:p>
            <a:r>
              <a:rPr lang="en-GB" sz="3600" dirty="0"/>
              <a:t>Generator&lt;</a:t>
            </a:r>
            <a:r>
              <a:rPr lang="en-GB" sz="3600" dirty="0" err="1"/>
              <a:t>YieldType</a:t>
            </a:r>
            <a:r>
              <a:rPr lang="en-GB" sz="3600" dirty="0"/>
              <a:t>, </a:t>
            </a:r>
            <a:r>
              <a:rPr lang="en-GB" sz="3600" dirty="0" err="1"/>
              <a:t>ReturnType</a:t>
            </a:r>
            <a:r>
              <a:rPr lang="en-GB" sz="3600" dirty="0"/>
              <a:t>, </a:t>
            </a:r>
            <a:r>
              <a:rPr lang="en-GB" sz="3600" dirty="0" err="1"/>
              <a:t>NextType</a:t>
            </a:r>
            <a:r>
              <a:rPr lang="en-GB" sz="3600" dirty="0"/>
              <a:t>&gt;</a:t>
            </a:r>
          </a:p>
        </p:txBody>
      </p:sp>
      <p:pic>
        <p:nvPicPr>
          <p:cNvPr id="3" name="Picture 2">
            <a:extLst>
              <a:ext uri="{FF2B5EF4-FFF2-40B4-BE49-F238E27FC236}">
                <a16:creationId xmlns:a16="http://schemas.microsoft.com/office/drawing/2014/main" id="{FFA650F8-0231-4BAA-EC92-9024252D60A9}"/>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5" name="Picture 4">
            <a:extLst>
              <a:ext uri="{FF2B5EF4-FFF2-40B4-BE49-F238E27FC236}">
                <a16:creationId xmlns:a16="http://schemas.microsoft.com/office/drawing/2014/main" id="{F9289BFB-839B-BE29-36CE-5C0BCD4F8943}"/>
              </a:ext>
            </a:extLst>
          </p:cNvPr>
          <p:cNvPicPr preferRelativeResize="0">
            <a:picLocks/>
          </p:cNvPicPr>
          <p:nvPr/>
        </p:nvPicPr>
        <p:blipFill rotWithShape="1">
          <a:blip r:embed="rId4"/>
          <a:srcRect l="18598" t="20203" r="13539" b="12831"/>
          <a:stretch>
            <a:fillRect/>
          </a:stretch>
        </p:blipFill>
        <p:spPr>
          <a:xfrm>
            <a:off x="223306" y="4421840"/>
            <a:ext cx="9838800" cy="6840000"/>
          </a:xfrm>
          <a:prstGeom prst="rect">
            <a:avLst/>
          </a:prstGeom>
        </p:spPr>
      </p:pic>
      <p:cxnSp>
        <p:nvCxnSpPr>
          <p:cNvPr id="6" name="Straight Connector 5">
            <a:extLst>
              <a:ext uri="{FF2B5EF4-FFF2-40B4-BE49-F238E27FC236}">
                <a16:creationId xmlns:a16="http://schemas.microsoft.com/office/drawing/2014/main" id="{E75B7C4D-29B3-28DA-6A73-77621413877D}"/>
              </a:ext>
            </a:extLst>
          </p:cNvPr>
          <p:cNvCxnSpPr>
            <a:cxnSpLocks/>
          </p:cNvCxnSpPr>
          <p:nvPr/>
        </p:nvCxnSpPr>
        <p:spPr>
          <a:xfrm>
            <a:off x="1273624" y="5878281"/>
            <a:ext cx="7560133"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D925A2BA-B752-E73E-6B30-EC6A4F960D68}"/>
              </a:ext>
            </a:extLst>
          </p:cNvPr>
          <p:cNvCxnSpPr>
            <a:cxnSpLocks/>
          </p:cNvCxnSpPr>
          <p:nvPr/>
        </p:nvCxnSpPr>
        <p:spPr>
          <a:xfrm>
            <a:off x="2367642" y="5012871"/>
            <a:ext cx="359229"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7A3793E-1418-9919-AE2C-28BC32770CF6}"/>
              </a:ext>
            </a:extLst>
          </p:cNvPr>
          <p:cNvCxnSpPr/>
          <p:nvPr/>
        </p:nvCxnSpPr>
        <p:spPr>
          <a:xfrm>
            <a:off x="6939646" y="986246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C2413D38-71AC-3FD2-7A66-300417CA7170}"/>
              </a:ext>
            </a:extLst>
          </p:cNvPr>
          <p:cNvCxnSpPr/>
          <p:nvPr/>
        </p:nvCxnSpPr>
        <p:spPr>
          <a:xfrm>
            <a:off x="6961415" y="10716995"/>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E9785C3-8689-209C-1171-FE65DB1FEDDA}"/>
              </a:ext>
            </a:extLst>
          </p:cNvPr>
          <p:cNvCxnSpPr/>
          <p:nvPr/>
        </p:nvCxnSpPr>
        <p:spPr>
          <a:xfrm>
            <a:off x="1436908" y="680901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85E87FF2-2902-8B56-EE0F-B7F4A37B9A1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124895607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BEED48C-127C-90E2-4A9C-D26F05A982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1FEA09E-D4ED-E3C5-6AB6-17A08D2196E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2" name="Picture 1">
            <a:extLst>
              <a:ext uri="{FF2B5EF4-FFF2-40B4-BE49-F238E27FC236}">
                <a16:creationId xmlns:a16="http://schemas.microsoft.com/office/drawing/2014/main" id="{6D055881-2DCC-6FEC-B8D6-9BB0C567811E}"/>
              </a:ext>
            </a:extLst>
          </p:cNvPr>
          <p:cNvPicPr>
            <a:picLocks noChangeAspect="1"/>
          </p:cNvPicPr>
          <p:nvPr/>
        </p:nvPicPr>
        <p:blipFill>
          <a:blip r:embed="rId3"/>
          <a:stretch>
            <a:fillRect/>
          </a:stretch>
        </p:blipFill>
        <p:spPr>
          <a:xfrm>
            <a:off x="332639" y="3196286"/>
            <a:ext cx="1063167" cy="1063167"/>
          </a:xfrm>
          <a:prstGeom prst="rect">
            <a:avLst/>
          </a:prstGeom>
        </p:spPr>
      </p:pic>
      <p:pic>
        <p:nvPicPr>
          <p:cNvPr id="6" name="Picture 5">
            <a:extLst>
              <a:ext uri="{FF2B5EF4-FFF2-40B4-BE49-F238E27FC236}">
                <a16:creationId xmlns:a16="http://schemas.microsoft.com/office/drawing/2014/main" id="{6957176E-4864-64F9-A0CC-CEFBD018D580}"/>
              </a:ext>
            </a:extLst>
          </p:cNvPr>
          <p:cNvPicPr preferRelativeResize="0">
            <a:picLocks/>
          </p:cNvPicPr>
          <p:nvPr/>
        </p:nvPicPr>
        <p:blipFill rotWithShape="1">
          <a:blip r:embed="rId4"/>
          <a:srcRect l="16983" t="22968" r="10658" b="12896"/>
          <a:stretch>
            <a:fillRect/>
          </a:stretch>
        </p:blipFill>
        <p:spPr>
          <a:xfrm>
            <a:off x="223306" y="4433281"/>
            <a:ext cx="9838800" cy="6840000"/>
          </a:xfrm>
          <a:prstGeom prst="rect">
            <a:avLst/>
          </a:prstGeom>
        </p:spPr>
      </p:pic>
      <p:cxnSp>
        <p:nvCxnSpPr>
          <p:cNvPr id="8" name="Straight Connector 7">
            <a:extLst>
              <a:ext uri="{FF2B5EF4-FFF2-40B4-BE49-F238E27FC236}">
                <a16:creationId xmlns:a16="http://schemas.microsoft.com/office/drawing/2014/main" id="{C058DE66-FA09-5791-BAB0-B52FD2DF9883}"/>
              </a:ext>
            </a:extLst>
          </p:cNvPr>
          <p:cNvCxnSpPr/>
          <p:nvPr/>
        </p:nvCxnSpPr>
        <p:spPr>
          <a:xfrm>
            <a:off x="2269669" y="6515100"/>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C702BAC-E2A5-08B9-ED1F-4953B63C2BCC}"/>
              </a:ext>
            </a:extLst>
          </p:cNvPr>
          <p:cNvCxnSpPr>
            <a:cxnSpLocks/>
          </p:cNvCxnSpPr>
          <p:nvPr/>
        </p:nvCxnSpPr>
        <p:spPr>
          <a:xfrm>
            <a:off x="1899550" y="9263746"/>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8E75571-6E6D-47B0-E5E4-246B407D5399}"/>
              </a:ext>
            </a:extLst>
          </p:cNvPr>
          <p:cNvCxnSpPr>
            <a:cxnSpLocks/>
          </p:cNvCxnSpPr>
          <p:nvPr/>
        </p:nvCxnSpPr>
        <p:spPr>
          <a:xfrm>
            <a:off x="1904991" y="10330552"/>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2118A8A4-EEEE-0267-D5CA-F498309EF68D}"/>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42712885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3EF611F0-11B9-99B2-760D-98ABB8B5DE8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CE46E4E-FC71-62B0-F35F-6155C3480570}"/>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B59EE729-51A7-1A72-9EF0-FEA9C08E31AC}"/>
              </a:ext>
            </a:extLst>
          </p:cNvPr>
          <p:cNvSpPr txBox="1"/>
          <p:nvPr/>
        </p:nvSpPr>
        <p:spPr>
          <a:xfrm>
            <a:off x="223306" y="4984252"/>
            <a:ext cx="9838800" cy="3517198"/>
          </a:xfrm>
          <a:prstGeom prst="rect">
            <a:avLst/>
          </a:prstGeom>
          <a:noFill/>
        </p:spPr>
        <p:txBody>
          <a:bodyPr wrap="square" rtlCol="0">
            <a:noAutofit/>
          </a:bodyPr>
          <a:lstStyle/>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What‘s your opinion on this?</a:t>
            </a:r>
          </a:p>
          <a:p>
            <a:pPr algn="ctr"/>
            <a:endPar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Drop a comment below!</a:t>
            </a:r>
          </a:p>
          <a:p>
            <a:pPr marL="685800" indent="-685800" algn="ctr">
              <a:buFont typeface="Arial" panose="020B0604020202020204" pitchFamily="34" charset="0"/>
              <a:buChar char="•"/>
            </a:pPr>
            <a:endParaRPr lang="en-GB"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p:txBody>
      </p:sp>
    </p:spTree>
    <p:extLst>
      <p:ext uri="{BB962C8B-B14F-4D97-AF65-F5344CB8AC3E}">
        <p14:creationId xmlns:p14="http://schemas.microsoft.com/office/powerpoint/2010/main" val="130352299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C3FF269-B2FD-EA3C-8D04-8145409E4BF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BFB8917-71D4-7326-2880-8F509C7F00E2}"/>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8" name="Picture 7">
            <a:extLst>
              <a:ext uri="{FF2B5EF4-FFF2-40B4-BE49-F238E27FC236}">
                <a16:creationId xmlns:a16="http://schemas.microsoft.com/office/drawing/2014/main" id="{E25D4D74-3A4F-A430-9076-F20DF9143AEA}"/>
              </a:ext>
            </a:extLst>
          </p:cNvPr>
          <p:cNvPicPr preferRelativeResize="0">
            <a:picLocks/>
          </p:cNvPicPr>
          <p:nvPr/>
        </p:nvPicPr>
        <p:blipFill rotWithShape="1">
          <a:blip r:embed="rId3"/>
          <a:srcRect l="20704" t="43245" r="16568" b="27783"/>
          <a:stretch>
            <a:fillRect/>
          </a:stretch>
        </p:blipFill>
        <p:spPr>
          <a:xfrm>
            <a:off x="223306" y="4793099"/>
            <a:ext cx="4500000" cy="1440000"/>
          </a:xfrm>
          <a:prstGeom prst="rect">
            <a:avLst/>
          </a:prstGeom>
        </p:spPr>
      </p:pic>
      <p:pic>
        <p:nvPicPr>
          <p:cNvPr id="10" name="Picture 9">
            <a:extLst>
              <a:ext uri="{FF2B5EF4-FFF2-40B4-BE49-F238E27FC236}">
                <a16:creationId xmlns:a16="http://schemas.microsoft.com/office/drawing/2014/main" id="{FA6272AF-18DA-2A80-B9B2-1D38636B2FD9}"/>
              </a:ext>
            </a:extLst>
          </p:cNvPr>
          <p:cNvPicPr preferRelativeResize="0">
            <a:picLocks/>
          </p:cNvPicPr>
          <p:nvPr/>
        </p:nvPicPr>
        <p:blipFill rotWithShape="1">
          <a:blip r:embed="rId4"/>
          <a:srcRect l="27920" t="45875" r="17673" b="27215"/>
          <a:stretch>
            <a:fillRect/>
          </a:stretch>
        </p:blipFill>
        <p:spPr>
          <a:xfrm>
            <a:off x="5562107" y="4793099"/>
            <a:ext cx="4500000" cy="1440000"/>
          </a:xfrm>
          <a:prstGeom prst="rect">
            <a:avLst/>
          </a:prstGeom>
        </p:spPr>
      </p:pic>
      <p:pic>
        <p:nvPicPr>
          <p:cNvPr id="11" name="Picture 10">
            <a:extLst>
              <a:ext uri="{FF2B5EF4-FFF2-40B4-BE49-F238E27FC236}">
                <a16:creationId xmlns:a16="http://schemas.microsoft.com/office/drawing/2014/main" id="{CFFA9ABC-312B-001A-A1BF-9665A5DFBBFA}"/>
              </a:ext>
            </a:extLst>
          </p:cNvPr>
          <p:cNvPicPr>
            <a:picLocks noChangeAspect="1"/>
          </p:cNvPicPr>
          <p:nvPr/>
        </p:nvPicPr>
        <p:blipFill>
          <a:blip r:embed="rId5"/>
          <a:stretch>
            <a:fillRect/>
          </a:stretch>
        </p:blipFill>
        <p:spPr>
          <a:xfrm>
            <a:off x="304927" y="3265561"/>
            <a:ext cx="1063167" cy="1063167"/>
          </a:xfrm>
          <a:prstGeom prst="rect">
            <a:avLst/>
          </a:prstGeom>
        </p:spPr>
      </p:pic>
      <p:sp>
        <p:nvSpPr>
          <p:cNvPr id="12" name="TextBox 11">
            <a:extLst>
              <a:ext uri="{FF2B5EF4-FFF2-40B4-BE49-F238E27FC236}">
                <a16:creationId xmlns:a16="http://schemas.microsoft.com/office/drawing/2014/main" id="{05BEAF7F-283D-7125-159D-3EC25280C426}"/>
              </a:ext>
            </a:extLst>
          </p:cNvPr>
          <p:cNvSpPr txBox="1"/>
          <p:nvPr/>
        </p:nvSpPr>
        <p:spPr>
          <a:xfrm>
            <a:off x="223306" y="7228693"/>
            <a:ext cx="9838800" cy="217854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Do you know, what is difference between </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return</a:t>
            </a:r>
            <a:r>
              <a:rPr lang="en-DE" sz="5400" dirty="0">
                <a:ln w="0"/>
                <a:effectLst>
                  <a:outerShdw blurRad="38100" dist="19050" dir="2700000" algn="tl" rotWithShape="0">
                    <a:schemeClr val="dk1">
                      <a:alpha val="40000"/>
                    </a:schemeClr>
                  </a:outerShdw>
                </a:effectLst>
                <a:latin typeface="Patrick Hand" pitchFamily="2" charset="77"/>
              </a:rPr>
              <a:t> and </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yield </a:t>
            </a:r>
            <a:r>
              <a:rPr lang="en-DE" sz="5400" dirty="0">
                <a:ln w="0"/>
                <a:effectLst>
                  <a:outerShdw blurRad="38100" dist="19050" dir="2700000" algn="tl" rotWithShape="0">
                    <a:schemeClr val="dk1">
                      <a:alpha val="40000"/>
                    </a:schemeClr>
                  </a:outerShdw>
                </a:effectLst>
                <a:latin typeface="Patrick Hand" pitchFamily="2" charset="77"/>
              </a:rPr>
              <a:t>in python? </a:t>
            </a:r>
            <a:endParaRPr lang="en-GB" sz="5400" dirty="0">
              <a:ln w="0"/>
              <a:effectLst>
                <a:outerShdw blurRad="38100" dist="19050" dir="2700000" algn="tl" rotWithShape="0">
                  <a:schemeClr val="dk1">
                    <a:alpha val="40000"/>
                  </a:schemeClr>
                </a:outerShdw>
              </a:effectLst>
              <a:latin typeface="Patrick Hand" pitchFamily="2" charset="77"/>
            </a:endParaRPr>
          </a:p>
        </p:txBody>
      </p:sp>
      <p:sp>
        <p:nvSpPr>
          <p:cNvPr id="14" name="Equals 13">
            <a:extLst>
              <a:ext uri="{FF2B5EF4-FFF2-40B4-BE49-F238E27FC236}">
                <a16:creationId xmlns:a16="http://schemas.microsoft.com/office/drawing/2014/main" id="{9F824058-82D9-7D6C-9B1C-619335A5E980}"/>
              </a:ext>
            </a:extLst>
          </p:cNvPr>
          <p:cNvSpPr/>
          <p:nvPr/>
        </p:nvSpPr>
        <p:spPr>
          <a:xfrm>
            <a:off x="4678195" y="5388538"/>
            <a:ext cx="914400" cy="914400"/>
          </a:xfrm>
          <a:prstGeom prst="mathEqual">
            <a:avLst/>
          </a:prstGeom>
          <a:no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pic>
        <p:nvPicPr>
          <p:cNvPr id="18" name="Graphic 17" descr="Question Mark with solid fill">
            <a:extLst>
              <a:ext uri="{FF2B5EF4-FFF2-40B4-BE49-F238E27FC236}">
                <a16:creationId xmlns:a16="http://schemas.microsoft.com/office/drawing/2014/main" id="{913BFA38-BA5B-99F6-A0B3-4B8ED9F733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89272" y="4528679"/>
            <a:ext cx="914400" cy="914400"/>
          </a:xfrm>
          <a:prstGeom prst="rect">
            <a:avLst/>
          </a:prstGeom>
        </p:spPr>
      </p:pic>
    </p:spTree>
    <p:extLst>
      <p:ext uri="{BB962C8B-B14F-4D97-AF65-F5344CB8AC3E}">
        <p14:creationId xmlns:p14="http://schemas.microsoft.com/office/powerpoint/2010/main" val="184934533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7A6EB9B-F5EE-231D-01E4-0768CD6F226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31D6189-A108-7C65-7670-219139AB1F65}"/>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32453D2A-656C-3E8A-DE12-7671785A2803}"/>
              </a:ext>
            </a:extLst>
          </p:cNvPr>
          <p:cNvPicPr>
            <a:picLocks noChangeAspect="1"/>
          </p:cNvPicPr>
          <p:nvPr/>
        </p:nvPicPr>
        <p:blipFill>
          <a:blip r:embed="rId3"/>
          <a:stretch>
            <a:fillRect/>
          </a:stretch>
        </p:blipFill>
        <p:spPr>
          <a:xfrm>
            <a:off x="304927" y="3265561"/>
            <a:ext cx="1063167" cy="1063167"/>
          </a:xfrm>
          <a:prstGeom prst="rect">
            <a:avLst/>
          </a:prstGeom>
        </p:spPr>
      </p:pic>
      <p:pic>
        <p:nvPicPr>
          <p:cNvPr id="5" name="Picture 4">
            <a:extLst>
              <a:ext uri="{FF2B5EF4-FFF2-40B4-BE49-F238E27FC236}">
                <a16:creationId xmlns:a16="http://schemas.microsoft.com/office/drawing/2014/main" id="{35464D00-D1E0-76C8-EC5E-6A8461A75022}"/>
              </a:ext>
            </a:extLst>
          </p:cNvPr>
          <p:cNvPicPr>
            <a:picLocks noChangeAspect="1"/>
          </p:cNvPicPr>
          <p:nvPr/>
        </p:nvPicPr>
        <p:blipFill rotWithShape="1">
          <a:blip r:embed="rId4"/>
          <a:srcRect l="20145" t="29169" r="15163" b="22586"/>
          <a:stretch>
            <a:fillRect/>
          </a:stretch>
        </p:blipFill>
        <p:spPr>
          <a:xfrm>
            <a:off x="223306" y="4502557"/>
            <a:ext cx="9838800" cy="5265838"/>
          </a:xfrm>
          <a:prstGeom prst="rect">
            <a:avLst/>
          </a:prstGeom>
        </p:spPr>
      </p:pic>
      <p:cxnSp>
        <p:nvCxnSpPr>
          <p:cNvPr id="6" name="Straight Connector 5">
            <a:extLst>
              <a:ext uri="{FF2B5EF4-FFF2-40B4-BE49-F238E27FC236}">
                <a16:creationId xmlns:a16="http://schemas.microsoft.com/office/drawing/2014/main" id="{6A916F26-6612-DF05-F5E7-481DC2170CE2}"/>
              </a:ext>
            </a:extLst>
          </p:cNvPr>
          <p:cNvCxnSpPr>
            <a:cxnSpLocks/>
          </p:cNvCxnSpPr>
          <p:nvPr/>
        </p:nvCxnSpPr>
        <p:spPr>
          <a:xfrm>
            <a:off x="233306" y="6830762"/>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498B3E6-F0E7-7294-E12A-BF2AF8D09A9A}"/>
              </a:ext>
            </a:extLst>
          </p:cNvPr>
          <p:cNvSpPr txBox="1"/>
          <p:nvPr/>
        </p:nvSpPr>
        <p:spPr>
          <a:xfrm>
            <a:off x="223306" y="9989819"/>
            <a:ext cx="9838800" cy="2178546"/>
          </a:xfrm>
          <a:prstGeom prst="rect">
            <a:avLst/>
          </a:prstGeom>
          <a:noFill/>
        </p:spPr>
        <p:txBody>
          <a:bodyPr wrap="square" rtlCol="0">
            <a:no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Or l</a:t>
            </a:r>
            <a:r>
              <a:rPr lang="en-DE" sz="5400" dirty="0">
                <a:ln w="0"/>
                <a:effectLst>
                  <a:outerShdw blurRad="38100" dist="19050" dir="2700000" algn="tl" rotWithShape="0">
                    <a:schemeClr val="dk1">
                      <a:alpha val="40000"/>
                    </a:schemeClr>
                  </a:outerShdw>
                </a:effectLst>
                <a:latin typeface="Patrick Hand" pitchFamily="2" charset="77"/>
              </a:rPr>
              <a:t>et’s see another example</a:t>
            </a:r>
            <a:endParaRPr lang="en-GB" sz="54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3037024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DBA51D1-FD4B-0CE6-9C0F-C411D36FC0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999A80B-A18B-FDAF-8ACE-54BAA83306B3}"/>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E758396F-C507-E619-B9F6-E5F4344D4D62}"/>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9" name="TextBox 8">
            <a:extLst>
              <a:ext uri="{FF2B5EF4-FFF2-40B4-BE49-F238E27FC236}">
                <a16:creationId xmlns:a16="http://schemas.microsoft.com/office/drawing/2014/main" id="{0F21C4EE-3F9D-50FD-745F-4B1375A185CB}"/>
              </a:ext>
            </a:extLst>
          </p:cNvPr>
          <p:cNvSpPr txBox="1"/>
          <p:nvPr/>
        </p:nvSpPr>
        <p:spPr>
          <a:xfrm>
            <a:off x="223307" y="4593070"/>
            <a:ext cx="9838800" cy="5196392"/>
          </a:xfrm>
          <a:prstGeom prst="rect">
            <a:avLst/>
          </a:prstGeom>
          <a:noFill/>
        </p:spPr>
        <p:txBody>
          <a:bodyPr wrap="square" rtlCol="0">
            <a:no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return</a:t>
            </a:r>
            <a:r>
              <a:rPr lang="en-US" sz="5400" dirty="0">
                <a:ln w="0"/>
                <a:effectLst>
                  <a:outerShdw blurRad="38100" dist="19050" dir="2700000" algn="tl" rotWithShape="0">
                    <a:schemeClr val="dk1">
                      <a:alpha val="40000"/>
                    </a:schemeClr>
                  </a:outerShdw>
                </a:effectLst>
                <a:latin typeface="Patrick Hand" pitchFamily="2" charset="77"/>
              </a:rPr>
              <a:t> (Eager Evaluation) the function processes everything at once and allocates memory for the entire result. This can lead to </a:t>
            </a:r>
            <a:r>
              <a:rPr lang="en-US" sz="5400" b="1" dirty="0">
                <a:ln w="22225">
                  <a:solidFill>
                    <a:schemeClr val="accent2"/>
                  </a:solidFill>
                  <a:prstDash val="solid"/>
                </a:ln>
                <a:solidFill>
                  <a:srgbClr val="FF0000"/>
                </a:solidFill>
                <a:latin typeface="Patrick Hand" pitchFamily="2" charset="77"/>
              </a:rPr>
              <a:t>memory overflows </a:t>
            </a:r>
            <a:r>
              <a:rPr lang="en-US" sz="5400" dirty="0">
                <a:ln w="0"/>
                <a:effectLst>
                  <a:outerShdw blurRad="38100" dist="19050" dir="2700000" algn="tl" rotWithShape="0">
                    <a:schemeClr val="dk1">
                      <a:alpha val="40000"/>
                    </a:schemeClr>
                  </a:outerShdw>
                </a:effectLst>
                <a:latin typeface="Patrick Hand" pitchFamily="2" charset="77"/>
              </a:rPr>
              <a:t>when handling large datasets.</a:t>
            </a:r>
          </a:p>
        </p:txBody>
      </p:sp>
    </p:spTree>
    <p:extLst>
      <p:ext uri="{BB962C8B-B14F-4D97-AF65-F5344CB8AC3E}">
        <p14:creationId xmlns:p14="http://schemas.microsoft.com/office/powerpoint/2010/main" val="212217494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08C4B5B-CEE8-20BD-60C6-789B7603133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D9AE4C-E80C-DA62-2994-DC0408CEF769}"/>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62431459-1385-8FCA-BC52-F1AE4714E038}"/>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9" name="TextBox 8">
            <a:extLst>
              <a:ext uri="{FF2B5EF4-FFF2-40B4-BE49-F238E27FC236}">
                <a16:creationId xmlns:a16="http://schemas.microsoft.com/office/drawing/2014/main" id="{19D78945-8563-FAB0-47A8-6154BCE18BD3}"/>
              </a:ext>
            </a:extLst>
          </p:cNvPr>
          <p:cNvSpPr txBox="1"/>
          <p:nvPr/>
        </p:nvSpPr>
        <p:spPr>
          <a:xfrm>
            <a:off x="223306" y="4593070"/>
            <a:ext cx="9838800" cy="5895636"/>
          </a:xfrm>
          <a:prstGeom prst="rect">
            <a:avLst/>
          </a:prstGeom>
          <a:noFill/>
        </p:spPr>
        <p:txBody>
          <a:bodyPr wrap="square" rtlCol="0">
            <a:no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yield</a:t>
            </a:r>
            <a:r>
              <a:rPr lang="en-US" sz="5400" dirty="0">
                <a:ln w="0"/>
                <a:effectLst>
                  <a:outerShdw blurRad="38100" dist="19050" dir="2700000" algn="tl" rotWithShape="0">
                    <a:schemeClr val="dk1">
                      <a:alpha val="40000"/>
                    </a:schemeClr>
                  </a:outerShdw>
                </a:effectLst>
                <a:latin typeface="Patrick Hand" pitchFamily="2" charset="77"/>
              </a:rPr>
              <a:t> (Lazy Evaluation) the function produces values only on demand. It pauses execution after each </a:t>
            </a: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yield</a:t>
            </a:r>
            <a:r>
              <a:rPr lang="en-US" sz="5400" dirty="0">
                <a:ln w="0"/>
                <a:effectLst>
                  <a:outerShdw blurRad="38100" dist="19050" dir="2700000" algn="tl" rotWithShape="0">
                    <a:schemeClr val="dk1">
                      <a:alpha val="40000"/>
                    </a:schemeClr>
                  </a:outerShdw>
                </a:effectLst>
                <a:latin typeface="Patrick Hand" pitchFamily="2" charset="77"/>
              </a:rPr>
              <a:t> and resumes only when </a:t>
            </a: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next() </a:t>
            </a:r>
            <a:r>
              <a:rPr lang="en-US" sz="5400" dirty="0">
                <a:ln w="0"/>
                <a:effectLst>
                  <a:outerShdw blurRad="38100" dist="19050" dir="2700000" algn="tl" rotWithShape="0">
                    <a:schemeClr val="dk1">
                      <a:alpha val="40000"/>
                    </a:schemeClr>
                  </a:outerShdw>
                </a:effectLst>
                <a:latin typeface="Patrick Hand" pitchFamily="2" charset="77"/>
              </a:rPr>
              <a:t>is called, making it extremely memory-efficient for high-performance applications.</a:t>
            </a:r>
          </a:p>
          <a:p>
            <a:pPr algn="ctr"/>
            <a:endParaRPr lang="en-US" sz="54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70200593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E0FD8F5-D6CF-F2C8-3D3A-83F5212EC23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3344B3-4730-DCE9-3E99-5444A73635C4}"/>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123A0EE0-EF47-C343-4E55-7F45E79D1BFD}"/>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2" name="TextBox 1">
            <a:extLst>
              <a:ext uri="{FF2B5EF4-FFF2-40B4-BE49-F238E27FC236}">
                <a16:creationId xmlns:a16="http://schemas.microsoft.com/office/drawing/2014/main" id="{590AD911-2B01-44AB-E10E-BF0BA697B5AB}"/>
              </a:ext>
            </a:extLst>
          </p:cNvPr>
          <p:cNvSpPr txBox="1"/>
          <p:nvPr/>
        </p:nvSpPr>
        <p:spPr>
          <a:xfrm>
            <a:off x="223306" y="4984251"/>
            <a:ext cx="9838800" cy="6275420"/>
          </a:xfrm>
          <a:prstGeom prst="rect">
            <a:avLst/>
          </a:prstGeom>
          <a:noFill/>
        </p:spPr>
        <p:txBody>
          <a:bodyPr wrap="square" rtlCol="0">
            <a:noAutofit/>
          </a:bodyPr>
          <a:lstStyle/>
          <a:p>
            <a:pPr algn="ctr"/>
            <a:r>
              <a:rPr lang="en-GB" sz="6600" dirty="0">
                <a:ln w="0"/>
                <a:effectLst>
                  <a:outerShdw blurRad="38100" dist="19050" dir="2700000" algn="tl" rotWithShape="0">
                    <a:schemeClr val="dk1">
                      <a:alpha val="40000"/>
                    </a:schemeClr>
                  </a:outerShdw>
                </a:effectLst>
                <a:latin typeface="Patrick Hand" pitchFamily="2" charset="77"/>
              </a:rPr>
              <a:t>W</a:t>
            </a:r>
            <a:r>
              <a:rPr lang="en-DE" sz="6600" dirty="0">
                <a:ln w="0"/>
                <a:effectLst>
                  <a:outerShdw blurRad="38100" dist="19050" dir="2700000" algn="tl" rotWithShape="0">
                    <a:schemeClr val="dk1">
                      <a:alpha val="40000"/>
                    </a:schemeClr>
                  </a:outerShdw>
                </a:effectLst>
                <a:latin typeface="Patrick Hand" pitchFamily="2" charset="77"/>
              </a:rPr>
              <a:t>ould you like me to create a concrete example to compare the memory allocation between these two methods?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60525401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9A429AD0-911E-6EEF-9941-80CAF268C21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A59A474-5AEB-FB02-0DF2-A00D0F75AA7F}"/>
              </a:ext>
            </a:extLst>
          </p:cNvPr>
          <p:cNvSpPr txBox="1"/>
          <p:nvPr/>
        </p:nvSpPr>
        <p:spPr>
          <a:xfrm>
            <a:off x="223306" y="3159073"/>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t>Optional Params </a:t>
            </a:r>
            <a:r>
              <a:rPr lang="en-GB" sz="4400" b="1" dirty="0">
                <a:ln w="6600">
                  <a:solidFill>
                    <a:schemeClr val="accent2"/>
                  </a:solidFill>
                  <a:prstDash val="solid"/>
                </a:ln>
                <a:solidFill>
                  <a:srgbClr val="FFFFFF"/>
                </a:solidFill>
                <a:effectLst>
                  <a:outerShdw dist="38100" dir="2700000" algn="tl" rotWithShape="0">
                    <a:schemeClr val="accent2"/>
                  </a:outerShdw>
                </a:effectLst>
              </a:rPr>
              <a:t>vs</a:t>
            </a:r>
            <a:r>
              <a:rPr lang="en-GB" sz="4400" b="1" dirty="0"/>
              <a:t> Overloads</a:t>
            </a:r>
            <a:endParaRPr lang="en-GB" sz="11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1019409-E1EA-6469-6D0E-7A16A45BC581}"/>
                  </a:ext>
                </a:extLst>
              </p:cNvPr>
              <p:cNvSpPr txBox="1"/>
              <p:nvPr/>
            </p:nvSpPr>
            <p:spPr>
              <a:xfrm>
                <a:off x="223307" y="6395147"/>
                <a:ext cx="9838800" cy="707886"/>
              </a:xfrm>
              <a:prstGeom prst="rect">
                <a:avLst/>
              </a:prstGeom>
              <a:noFill/>
            </p:spPr>
            <p:txBody>
              <a:bodyPr wrap="square" rtlCol="0">
                <a:spAutoFit/>
              </a:bodyPr>
              <a:lstStyle/>
              <a:p>
                <a:pPr algn="ctr"/>
                <a:r>
                  <a:rPr lang="en-GB" sz="4000" i="1" dirty="0">
                    <a:latin typeface="Cambria Math" panose="02040503050406030204" pitchFamily="18" charset="0"/>
                  </a:rPr>
                  <a:t>f(</a:t>
                </a:r>
                <a:r>
                  <a:rPr lang="en-GB" sz="4000" i="1" dirty="0" err="1">
                    <a:latin typeface="Cambria Math" panose="02040503050406030204" pitchFamily="18" charset="0"/>
                  </a:rPr>
                  <a:t>a,b,c</a:t>
                </a:r>
                <a:r>
                  <a:rPr lang="en-GB" sz="4000" i="1" dirty="0">
                    <a:latin typeface="Cambria Math" panose="02040503050406030204" pitchFamily="18" charset="0"/>
                  </a:rPr>
                  <a:t>) = </a:t>
                </a:r>
                <a14:m>
                  <m:oMath xmlns:m="http://schemas.openxmlformats.org/officeDocument/2006/math">
                    <m:sSup>
                      <m:sSupPr>
                        <m:ctrlPr>
                          <a:rPr lang="en-GB" sz="4000" i="1" smtClean="0">
                            <a:latin typeface="Cambria Math" panose="02040503050406030204" pitchFamily="18" charset="0"/>
                          </a:rPr>
                        </m:ctrlPr>
                      </m:sSupPr>
                      <m:e>
                        <m:r>
                          <a:rPr lang="en-US" sz="4000" b="0" i="1" smtClean="0">
                            <a:latin typeface="Cambria Math" panose="02040503050406030204" pitchFamily="18" charset="0"/>
                          </a:rPr>
                          <m:t>𝑎</m:t>
                        </m:r>
                      </m:e>
                      <m:sup>
                        <m:r>
                          <a:rPr lang="en-GB" sz="4000" i="1" smtClean="0">
                            <a:latin typeface="Cambria Math" panose="02040503050406030204" pitchFamily="18" charset="0"/>
                          </a:rPr>
                          <m:t>2</m:t>
                        </m:r>
                      </m:sup>
                    </m:sSup>
                    <m:r>
                      <a:rPr lang="en-GB" sz="4000" i="1" smtClean="0">
                        <a:latin typeface="Cambria Math" panose="02040503050406030204" pitchFamily="18" charset="0"/>
                      </a:rPr>
                      <m:t>+</m:t>
                    </m:r>
                    <m:sSup>
                      <m:sSupPr>
                        <m:ctrlPr>
                          <a:rPr lang="en-GB" sz="4000" i="1" smtClean="0">
                            <a:latin typeface="Cambria Math" panose="02040503050406030204" pitchFamily="18" charset="0"/>
                          </a:rPr>
                        </m:ctrlPr>
                      </m:sSupPr>
                      <m:e>
                        <m:r>
                          <a:rPr lang="en-GB" sz="4000" i="1" smtClean="0">
                            <a:latin typeface="Cambria Math" panose="02040503050406030204" pitchFamily="18" charset="0"/>
                          </a:rPr>
                          <m:t>𝑏</m:t>
                        </m:r>
                      </m:e>
                      <m:sup>
                        <m:r>
                          <a:rPr lang="en-GB" sz="4000" i="1" smtClean="0">
                            <a:latin typeface="Cambria Math" panose="02040503050406030204" pitchFamily="18" charset="0"/>
                          </a:rPr>
                          <m:t>2</m:t>
                        </m:r>
                      </m:sup>
                    </m:sSup>
                    <m:r>
                      <a:rPr lang="en-US" sz="4000" b="0" i="1" smtClean="0">
                        <a:latin typeface="Cambria Math" panose="02040503050406030204" pitchFamily="18" charset="0"/>
                      </a:rPr>
                      <m:t>+</m:t>
                    </m:r>
                    <m:sSup>
                      <m:sSupPr>
                        <m:ctrlPr>
                          <a:rPr lang="en-GB" sz="4000" i="1" smtClean="0">
                            <a:latin typeface="Cambria Math" panose="02040503050406030204" pitchFamily="18" charset="0"/>
                          </a:rPr>
                        </m:ctrlPr>
                      </m:sSupPr>
                      <m:e>
                        <m:r>
                          <a:rPr lang="en-GB" sz="4000" i="1" smtClean="0">
                            <a:latin typeface="Cambria Math" panose="02040503050406030204" pitchFamily="18" charset="0"/>
                          </a:rPr>
                          <m:t>𝑐</m:t>
                        </m:r>
                      </m:e>
                      <m:sup>
                        <m:r>
                          <a:rPr lang="en-GB" sz="4000" i="1" smtClean="0">
                            <a:latin typeface="Cambria Math" panose="02040503050406030204" pitchFamily="18" charset="0"/>
                          </a:rPr>
                          <m:t>2</m:t>
                        </m:r>
                      </m:sup>
                    </m:sSup>
                  </m:oMath>
                </a14:m>
                <a:endParaRPr lang="en-DE" sz="4000" dirty="0"/>
              </a:p>
            </p:txBody>
          </p:sp>
        </mc:Choice>
        <mc:Fallback xmlns="">
          <p:sp>
            <p:nvSpPr>
              <p:cNvPr id="13" name="TextBox 12">
                <a:extLst>
                  <a:ext uri="{FF2B5EF4-FFF2-40B4-BE49-F238E27FC236}">
                    <a16:creationId xmlns:a16="http://schemas.microsoft.com/office/drawing/2014/main" id="{41019409-E1EA-6469-6D0E-7A16A45BC581}"/>
                  </a:ext>
                </a:extLst>
              </p:cNvPr>
              <p:cNvSpPr txBox="1">
                <a:spLocks noRot="1" noChangeAspect="1" noMove="1" noResize="1" noEditPoints="1" noAdjustHandles="1" noChangeArrowheads="1" noChangeShapeType="1" noTextEdit="1"/>
              </p:cNvSpPr>
              <p:nvPr/>
            </p:nvSpPr>
            <p:spPr>
              <a:xfrm>
                <a:off x="223307" y="6395147"/>
                <a:ext cx="9838800" cy="707886"/>
              </a:xfrm>
              <a:prstGeom prst="rect">
                <a:avLst/>
              </a:prstGeom>
              <a:blipFill>
                <a:blip r:embed="rId2"/>
                <a:stretch>
                  <a:fillRect t="-14035" b="-36842"/>
                </a:stretch>
              </a:blipFill>
            </p:spPr>
            <p:txBody>
              <a:bodyPr/>
              <a:lstStyle/>
              <a:p>
                <a:r>
                  <a:rPr lang="en-DE">
                    <a:noFill/>
                  </a:rPr>
                  <a:t> </a:t>
                </a:r>
              </a:p>
            </p:txBody>
          </p:sp>
        </mc:Fallback>
      </mc:AlternateContent>
      <p:pic>
        <p:nvPicPr>
          <p:cNvPr id="3" name="Picture 2">
            <a:extLst>
              <a:ext uri="{FF2B5EF4-FFF2-40B4-BE49-F238E27FC236}">
                <a16:creationId xmlns:a16="http://schemas.microsoft.com/office/drawing/2014/main" id="{D73AB14F-CD63-950B-6C0B-93DA6EA0542B}"/>
              </a:ext>
            </a:extLst>
          </p:cNvPr>
          <p:cNvPicPr>
            <a:picLocks noChangeAspect="1"/>
          </p:cNvPicPr>
          <p:nvPr/>
        </p:nvPicPr>
        <p:blipFill>
          <a:blip r:embed="rId3"/>
          <a:stretch>
            <a:fillRect/>
          </a:stretch>
        </p:blipFill>
        <p:spPr>
          <a:xfrm>
            <a:off x="321693" y="3184845"/>
            <a:ext cx="1062000" cy="1062000"/>
          </a:xfrm>
          <a:prstGeom prst="rect">
            <a:avLst/>
          </a:prstGeom>
        </p:spPr>
      </p:pic>
      <p:sp>
        <p:nvSpPr>
          <p:cNvPr id="7" name="TextBox 6">
            <a:extLst>
              <a:ext uri="{FF2B5EF4-FFF2-40B4-BE49-F238E27FC236}">
                <a16:creationId xmlns:a16="http://schemas.microsoft.com/office/drawing/2014/main" id="{E179F19C-C86C-170F-EAB2-53D6E5C9C6BC}"/>
              </a:ext>
            </a:extLst>
          </p:cNvPr>
          <p:cNvSpPr txBox="1"/>
          <p:nvPr/>
        </p:nvSpPr>
        <p:spPr>
          <a:xfrm>
            <a:off x="223307" y="4617719"/>
            <a:ext cx="9838800" cy="1617981"/>
          </a:xfrm>
          <a:prstGeom prst="rect">
            <a:avLst/>
          </a:prstGeom>
          <a:noFill/>
        </p:spPr>
        <p:txBody>
          <a:bodyPr wrap="square" rtlCol="0">
            <a:noAutofit/>
          </a:bodyPr>
          <a:lstStyle/>
          <a:p>
            <a:pPr algn="ctr"/>
            <a:r>
              <a:rPr lang="en-US" sz="4800" dirty="0">
                <a:ln w="0"/>
                <a:effectLst>
                  <a:outerShdw blurRad="38100" dist="19050" dir="2700000" algn="tl" rotWithShape="0">
                    <a:schemeClr val="dk1">
                      <a:alpha val="40000"/>
                    </a:schemeClr>
                  </a:outerShdw>
                </a:effectLst>
                <a:latin typeface="Patrick Hand" pitchFamily="2" charset="77"/>
              </a:rPr>
              <a:t>Suppose we want to write a function like the one below in Typescript</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B72CAF92-13D6-F6B8-A5A4-6F8C19ADF386}"/>
              </a:ext>
            </a:extLst>
          </p:cNvPr>
          <p:cNvSpPr txBox="1"/>
          <p:nvPr/>
        </p:nvSpPr>
        <p:spPr>
          <a:xfrm>
            <a:off x="223306" y="7780019"/>
            <a:ext cx="9838800" cy="1097069"/>
          </a:xfrm>
          <a:prstGeom prst="rect">
            <a:avLst/>
          </a:prstGeom>
          <a:noFill/>
        </p:spPr>
        <p:txBody>
          <a:bodyPr wrap="square" rtlCol="0">
            <a:noAutofit/>
          </a:bodyPr>
          <a:lstStyle/>
          <a:p>
            <a:pPr algn="ctr"/>
            <a:r>
              <a:rPr lang="en-US" sz="4800" dirty="0">
                <a:ln w="0"/>
                <a:effectLst>
                  <a:outerShdw blurRad="38100" dist="19050" dir="2700000" algn="tl" rotWithShape="0">
                    <a:schemeClr val="dk1">
                      <a:alpha val="40000"/>
                    </a:schemeClr>
                  </a:outerShdw>
                </a:effectLst>
                <a:latin typeface="Patrick Hand" pitchFamily="2" charset="77"/>
              </a:rPr>
              <a:t>I change it to the function below</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50894DE1-0A99-5721-CF9A-FB39946DC23B}"/>
              </a:ext>
            </a:extLst>
          </p:cNvPr>
          <p:cNvSpPr txBox="1"/>
          <p:nvPr/>
        </p:nvSpPr>
        <p:spPr>
          <a:xfrm>
            <a:off x="223306" y="9211042"/>
            <a:ext cx="9838800" cy="1097069"/>
          </a:xfrm>
          <a:prstGeom prst="rect">
            <a:avLst/>
          </a:prstGeom>
          <a:noFill/>
        </p:spPr>
        <p:txBody>
          <a:bodyPr wrap="square" rtlCol="0">
            <a:noAutofit/>
          </a:bodyPr>
          <a:lstStyle/>
          <a:p>
            <a:pPr algn="ctr"/>
            <a:r>
              <a:rPr lang="en-GB" sz="4000" dirty="0" err="1"/>
              <a:t>selfPowerSum</a:t>
            </a:r>
            <a:r>
              <a:rPr lang="en-GB" sz="4000" dirty="0"/>
              <a:t>(</a:t>
            </a:r>
            <a:r>
              <a:rPr lang="en-GB" sz="4000" dirty="0" err="1"/>
              <a:t>a,b,c</a:t>
            </a:r>
            <a:r>
              <a:rPr lang="en-GB" sz="4000" dirty="0"/>
              <a:t>) = a**a + b**b + c**c</a:t>
            </a:r>
          </a:p>
        </p:txBody>
      </p:sp>
      <p:sp>
        <p:nvSpPr>
          <p:cNvPr id="10" name="Right Arrow 9">
            <a:extLst>
              <a:ext uri="{FF2B5EF4-FFF2-40B4-BE49-F238E27FC236}">
                <a16:creationId xmlns:a16="http://schemas.microsoft.com/office/drawing/2014/main" id="{92DEF4FA-1C47-BEDE-5C41-8F12B43385C8}"/>
              </a:ext>
            </a:extLst>
          </p:cNvPr>
          <p:cNvSpPr/>
          <p:nvPr/>
        </p:nvSpPr>
        <p:spPr>
          <a:xfrm>
            <a:off x="4685506" y="12153900"/>
            <a:ext cx="914400" cy="622300"/>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5400" b="1" dirty="0">
              <a:solidFill>
                <a:schemeClr val="dk1"/>
              </a:solidFill>
            </a:endParaRPr>
          </a:p>
        </p:txBody>
      </p:sp>
    </p:spTree>
    <p:extLst>
      <p:ext uri="{BB962C8B-B14F-4D97-AF65-F5344CB8AC3E}">
        <p14:creationId xmlns:p14="http://schemas.microsoft.com/office/powerpoint/2010/main" val="7052649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287130D-A926-17D2-13DD-11F0FA37DC7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7F43537-B641-0F6E-DB36-2D984F3B8FDE}"/>
              </a:ext>
            </a:extLst>
          </p:cNvPr>
          <p:cNvSpPr txBox="1"/>
          <p:nvPr/>
        </p:nvSpPr>
        <p:spPr>
          <a:xfrm>
            <a:off x="223306" y="3159074"/>
            <a:ext cx="9838255" cy="1087772"/>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b="1" dirty="0"/>
              <a:t>Use Optional Params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24D0CE48-E586-0347-4968-DFB4CA5770A6}"/>
              </a:ext>
            </a:extLst>
          </p:cNvPr>
          <p:cNvPicPr>
            <a:picLocks noChangeAspect="1"/>
          </p:cNvPicPr>
          <p:nvPr/>
        </p:nvPicPr>
        <p:blipFill>
          <a:blip r:embed="rId2"/>
          <a:stretch>
            <a:fillRect/>
          </a:stretch>
        </p:blipFill>
        <p:spPr>
          <a:xfrm>
            <a:off x="321693" y="3172145"/>
            <a:ext cx="1062000" cy="1062000"/>
          </a:xfrm>
          <a:prstGeom prst="rect">
            <a:avLst/>
          </a:prstGeom>
        </p:spPr>
      </p:pic>
      <p:pic>
        <p:nvPicPr>
          <p:cNvPr id="9" name="Picture 8">
            <a:extLst>
              <a:ext uri="{FF2B5EF4-FFF2-40B4-BE49-F238E27FC236}">
                <a16:creationId xmlns:a16="http://schemas.microsoft.com/office/drawing/2014/main" id="{2741A5AA-4D93-1E75-A781-E5BC38C4CAB4}"/>
              </a:ext>
            </a:extLst>
          </p:cNvPr>
          <p:cNvPicPr>
            <a:picLocks noChangeAspect="1"/>
          </p:cNvPicPr>
          <p:nvPr/>
        </p:nvPicPr>
        <p:blipFill rotWithShape="1">
          <a:blip r:embed="rId3"/>
          <a:srcRect l="16061" t="19155" r="11134" b="12390"/>
          <a:stretch>
            <a:fillRect/>
          </a:stretch>
        </p:blipFill>
        <p:spPr>
          <a:xfrm>
            <a:off x="223307" y="4381500"/>
            <a:ext cx="9838800" cy="7658215"/>
          </a:xfrm>
          <a:prstGeom prst="rect">
            <a:avLst/>
          </a:prstGeom>
        </p:spPr>
      </p:pic>
      <p:cxnSp>
        <p:nvCxnSpPr>
          <p:cNvPr id="10" name="Straight Connector 9">
            <a:extLst>
              <a:ext uri="{FF2B5EF4-FFF2-40B4-BE49-F238E27FC236}">
                <a16:creationId xmlns:a16="http://schemas.microsoft.com/office/drawing/2014/main" id="{5B080012-685A-2FED-AAA4-E6FC35C53A57}"/>
              </a:ext>
            </a:extLst>
          </p:cNvPr>
          <p:cNvCxnSpPr>
            <a:cxnSpLocks/>
          </p:cNvCxnSpPr>
          <p:nvPr/>
        </p:nvCxnSpPr>
        <p:spPr>
          <a:xfrm>
            <a:off x="241328" y="82935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12BCEDC-079B-19F4-71F6-BD3AAAD03F8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43827" y="9903806"/>
            <a:ext cx="914400" cy="914400"/>
          </a:xfrm>
          <a:prstGeom prst="rect">
            <a:avLst/>
          </a:prstGeom>
        </p:spPr>
      </p:pic>
      <p:pic>
        <p:nvPicPr>
          <p:cNvPr id="12" name="Graphic 11" descr="Close with solid fill">
            <a:extLst>
              <a:ext uri="{FF2B5EF4-FFF2-40B4-BE49-F238E27FC236}">
                <a16:creationId xmlns:a16="http://schemas.microsoft.com/office/drawing/2014/main" id="{2B4834A2-C368-8E80-DEE5-B4583C7DBB4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43827" y="4492558"/>
            <a:ext cx="914400" cy="914400"/>
          </a:xfrm>
          <a:prstGeom prst="rect">
            <a:avLst/>
          </a:prstGeom>
        </p:spPr>
      </p:pic>
      <p:sp>
        <p:nvSpPr>
          <p:cNvPr id="14" name="Right Arrow 13">
            <a:extLst>
              <a:ext uri="{FF2B5EF4-FFF2-40B4-BE49-F238E27FC236}">
                <a16:creationId xmlns:a16="http://schemas.microsoft.com/office/drawing/2014/main" id="{D8079D12-7210-78D0-CC8B-B74732F010A7}"/>
              </a:ext>
            </a:extLst>
          </p:cNvPr>
          <p:cNvSpPr/>
          <p:nvPr/>
        </p:nvSpPr>
        <p:spPr>
          <a:xfrm>
            <a:off x="4685507" y="12153900"/>
            <a:ext cx="914400" cy="622300"/>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5400" b="1" dirty="0">
              <a:solidFill>
                <a:schemeClr val="dk1"/>
              </a:solidFill>
            </a:endParaRPr>
          </a:p>
        </p:txBody>
      </p:sp>
    </p:spTree>
    <p:extLst>
      <p:ext uri="{BB962C8B-B14F-4D97-AF65-F5344CB8AC3E}">
        <p14:creationId xmlns:p14="http://schemas.microsoft.com/office/powerpoint/2010/main" val="275980750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2238D967-192C-3F7A-D5E9-8A0BF53229A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A212AC8-8A62-9817-7EC6-FCEEDCB6D780}"/>
              </a:ext>
            </a:extLst>
          </p:cNvPr>
          <p:cNvSpPr txBox="1"/>
          <p:nvPr/>
        </p:nvSpPr>
        <p:spPr>
          <a:xfrm>
            <a:off x="223306" y="3159073"/>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b="1" dirty="0"/>
              <a:t>Any Points ?</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15352951-B231-E507-80AC-24A922D4BF0A}"/>
              </a:ext>
            </a:extLst>
          </p:cNvPr>
          <p:cNvPicPr>
            <a:picLocks noChangeAspect="1"/>
          </p:cNvPicPr>
          <p:nvPr/>
        </p:nvPicPr>
        <p:blipFill>
          <a:blip r:embed="rId2"/>
          <a:stretch>
            <a:fillRect/>
          </a:stretch>
        </p:blipFill>
        <p:spPr>
          <a:xfrm>
            <a:off x="321693" y="3184845"/>
            <a:ext cx="1062000" cy="1062000"/>
          </a:xfrm>
          <a:prstGeom prst="rect">
            <a:avLst/>
          </a:prstGeom>
        </p:spPr>
      </p:pic>
      <p:sp>
        <p:nvSpPr>
          <p:cNvPr id="2" name="TextBox 1">
            <a:extLst>
              <a:ext uri="{FF2B5EF4-FFF2-40B4-BE49-F238E27FC236}">
                <a16:creationId xmlns:a16="http://schemas.microsoft.com/office/drawing/2014/main" id="{88FFB917-E1C1-8EBE-106E-357D56B2A648}"/>
              </a:ext>
            </a:extLst>
          </p:cNvPr>
          <p:cNvSpPr txBox="1"/>
          <p:nvPr/>
        </p:nvSpPr>
        <p:spPr>
          <a:xfrm>
            <a:off x="223306"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43798591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5ED55789-4CEC-2ADB-DFE7-72C847BEBC0B}"/>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5D10DE69-3208-F81A-52B1-79FCD20F3CC8}"/>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6595AFBD-5011-F1A6-2229-14D74B388E60}"/>
              </a:ext>
            </a:extLst>
          </p:cNvPr>
          <p:cNvSpPr txBox="1"/>
          <p:nvPr/>
        </p:nvSpPr>
        <p:spPr>
          <a:xfrm>
            <a:off x="-8753367" y="2826600"/>
            <a:ext cx="613821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py_005_infinite_numbers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023CC8A3-0967-1AE5-953D-488271B5CAB4}"/>
              </a:ext>
            </a:extLst>
          </p:cNvPr>
          <p:cNvPicPr>
            <a:picLocks noChangeAspect="1"/>
          </p:cNvPicPr>
          <p:nvPr/>
        </p:nvPicPr>
        <p:blipFill>
          <a:blip r:embed="rId2"/>
          <a:stretch>
            <a:fillRect/>
          </a:stretch>
        </p:blipFill>
        <p:spPr>
          <a:xfrm>
            <a:off x="286071" y="3132277"/>
            <a:ext cx="1063167" cy="1063167"/>
          </a:xfrm>
          <a:prstGeom prst="rect">
            <a:avLst/>
          </a:prstGeom>
        </p:spPr>
      </p:pic>
      <p:pic>
        <p:nvPicPr>
          <p:cNvPr id="4" name="Picture 3">
            <a:extLst>
              <a:ext uri="{FF2B5EF4-FFF2-40B4-BE49-F238E27FC236}">
                <a16:creationId xmlns:a16="http://schemas.microsoft.com/office/drawing/2014/main" id="{6FA3D342-7331-9329-B8CE-1308063C1EEC}"/>
              </a:ext>
            </a:extLst>
          </p:cNvPr>
          <p:cNvPicPr preferRelativeResize="0">
            <a:picLocks/>
          </p:cNvPicPr>
          <p:nvPr/>
        </p:nvPicPr>
        <p:blipFill rotWithShape="1">
          <a:blip r:embed="rId3"/>
          <a:srcRect l="23784" t="24802" r="15187" b="20437"/>
          <a:stretch>
            <a:fillRect/>
          </a:stretch>
        </p:blipFill>
        <p:spPr>
          <a:xfrm>
            <a:off x="223307" y="4278372"/>
            <a:ext cx="9838800" cy="8280000"/>
          </a:xfrm>
          <a:prstGeom prst="rect">
            <a:avLst/>
          </a:prstGeom>
        </p:spPr>
      </p:pic>
      <p:sp>
        <p:nvSpPr>
          <p:cNvPr id="5" name="TextBox 4">
            <a:extLst>
              <a:ext uri="{FF2B5EF4-FFF2-40B4-BE49-F238E27FC236}">
                <a16:creationId xmlns:a16="http://schemas.microsoft.com/office/drawing/2014/main" id="{56B24BD9-D2EB-A936-4EB1-8F03E1B5D1AD}"/>
              </a:ext>
            </a:extLst>
          </p:cNvPr>
          <p:cNvSpPr txBox="1"/>
          <p:nvPr/>
        </p:nvSpPr>
        <p:spPr>
          <a:xfrm>
            <a:off x="223307"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23007046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FB48176E-9BCC-60CD-6B3F-23AE058F0D4F}"/>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9AAB35F8-DCAE-E348-4A46-202D8DBE823D}"/>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BF4CC50A-1E24-998F-0D8E-DD7F8E75EA86}"/>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9080AFF-C3F1-C119-B4BD-4FA4BA392AC2}"/>
              </a:ext>
            </a:extLst>
          </p:cNvPr>
          <p:cNvPicPr preferRelativeResize="0">
            <a:picLocks/>
          </p:cNvPicPr>
          <p:nvPr/>
        </p:nvPicPr>
        <p:blipFill rotWithShape="1">
          <a:blip r:embed="rId2"/>
          <a:srcRect l="21119" t="22450" r="13467" b="17996"/>
          <a:stretch>
            <a:fillRect/>
          </a:stretch>
        </p:blipFill>
        <p:spPr>
          <a:xfrm>
            <a:off x="223306" y="4278372"/>
            <a:ext cx="9838800" cy="8280000"/>
          </a:xfrm>
          <a:prstGeom prst="rect">
            <a:avLst/>
          </a:prstGeom>
        </p:spPr>
      </p:pic>
      <p:pic>
        <p:nvPicPr>
          <p:cNvPr id="6" name="Picture 5">
            <a:extLst>
              <a:ext uri="{FF2B5EF4-FFF2-40B4-BE49-F238E27FC236}">
                <a16:creationId xmlns:a16="http://schemas.microsoft.com/office/drawing/2014/main" id="{89C234C9-1FF6-E25E-7BA8-5BDFDBCD7FD8}"/>
              </a:ext>
            </a:extLst>
          </p:cNvPr>
          <p:cNvPicPr>
            <a:picLocks noChangeAspect="1"/>
          </p:cNvPicPr>
          <p:nvPr/>
        </p:nvPicPr>
        <p:blipFill>
          <a:blip r:embed="rId3"/>
          <a:stretch>
            <a:fillRect/>
          </a:stretch>
        </p:blipFill>
        <p:spPr>
          <a:xfrm>
            <a:off x="337472" y="3152440"/>
            <a:ext cx="1062000" cy="1062000"/>
          </a:xfrm>
          <a:prstGeom prst="rect">
            <a:avLst/>
          </a:prstGeom>
        </p:spPr>
      </p:pic>
      <p:sp>
        <p:nvSpPr>
          <p:cNvPr id="7" name="TextBox 6">
            <a:extLst>
              <a:ext uri="{FF2B5EF4-FFF2-40B4-BE49-F238E27FC236}">
                <a16:creationId xmlns:a16="http://schemas.microsoft.com/office/drawing/2014/main" id="{4E19034F-3485-A20B-8828-9BFF62065FC8}"/>
              </a:ext>
            </a:extLst>
          </p:cNvPr>
          <p:cNvSpPr txBox="1"/>
          <p:nvPr/>
        </p:nvSpPr>
        <p:spPr>
          <a:xfrm>
            <a:off x="223306"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198803220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6D85BD46-C766-91E0-4196-4B58DF75D8BA}"/>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4063A0C-A63F-0AA5-FE54-088568FF441C}"/>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505749FD-6198-5794-38F2-79D4B24845E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48916222-E1B0-7561-C659-57BA11EAE1CC}"/>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5" name="Picture 4">
            <a:extLst>
              <a:ext uri="{FF2B5EF4-FFF2-40B4-BE49-F238E27FC236}">
                <a16:creationId xmlns:a16="http://schemas.microsoft.com/office/drawing/2014/main" id="{E6E7AD87-D5FA-28E6-CA32-35C3229E00BA}"/>
              </a:ext>
            </a:extLst>
          </p:cNvPr>
          <p:cNvPicPr preferRelativeResize="0">
            <a:picLocks/>
          </p:cNvPicPr>
          <p:nvPr/>
        </p:nvPicPr>
        <p:blipFill rotWithShape="1">
          <a:blip r:embed="rId3"/>
          <a:srcRect l="20401" t="20211" r="13702" b="13574"/>
          <a:stretch>
            <a:fillRect/>
          </a:stretch>
        </p:blipFill>
        <p:spPr>
          <a:xfrm>
            <a:off x="223307" y="4279900"/>
            <a:ext cx="9838800" cy="8280000"/>
          </a:xfrm>
          <a:prstGeom prst="rect">
            <a:avLst/>
          </a:prstGeom>
        </p:spPr>
      </p:pic>
      <p:sp>
        <p:nvSpPr>
          <p:cNvPr id="6" name="TextBox 5">
            <a:extLst>
              <a:ext uri="{FF2B5EF4-FFF2-40B4-BE49-F238E27FC236}">
                <a16:creationId xmlns:a16="http://schemas.microsoft.com/office/drawing/2014/main" id="{25AD5A4B-B397-BDAB-BF0B-C85CBDE9DAA1}"/>
              </a:ext>
            </a:extLst>
          </p:cNvPr>
          <p:cNvSpPr txBox="1"/>
          <p:nvPr/>
        </p:nvSpPr>
        <p:spPr>
          <a:xfrm>
            <a:off x="223306"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367618616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E002470D-0366-469B-E08A-729D2BC43053}"/>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080C467-6CE6-CF10-B480-D97B9219CA06}"/>
              </a:ext>
            </a:extLst>
          </p:cNvPr>
          <p:cNvSpPr txBox="1"/>
          <p:nvPr/>
        </p:nvSpPr>
        <p:spPr>
          <a:xfrm>
            <a:off x="223306"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sp>
        <p:nvSpPr>
          <p:cNvPr id="22" name="TextBox 21">
            <a:extLst>
              <a:ext uri="{FF2B5EF4-FFF2-40B4-BE49-F238E27FC236}">
                <a16:creationId xmlns:a16="http://schemas.microsoft.com/office/drawing/2014/main" id="{AAB6FC94-3D51-5683-C85B-BC69BF176967}"/>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A4BD4248-AD20-88B1-31F4-C9BBF95BFB97}"/>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6" name="TextBox 5">
            <a:extLst>
              <a:ext uri="{FF2B5EF4-FFF2-40B4-BE49-F238E27FC236}">
                <a16:creationId xmlns:a16="http://schemas.microsoft.com/office/drawing/2014/main" id="{743F2310-9A40-153E-55DA-3CCAFC1D729C}"/>
              </a:ext>
            </a:extLst>
          </p:cNvPr>
          <p:cNvSpPr txBox="1"/>
          <p:nvPr/>
        </p:nvSpPr>
        <p:spPr>
          <a:xfrm>
            <a:off x="223307" y="4275105"/>
            <a:ext cx="9838800" cy="9861021"/>
          </a:xfrm>
          <a:prstGeom prst="rect">
            <a:avLst/>
          </a:prstGeom>
          <a:noFill/>
        </p:spPr>
        <p:txBody>
          <a:bodyPr wrap="square" rtlCol="0">
            <a:no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TypeORM</a:t>
            </a:r>
            <a:r>
              <a:rPr lang="en-DE" sz="6600" dirty="0">
                <a:ln w="0"/>
                <a:effectLst>
                  <a:outerShdw blurRad="38100" dist="19050" dir="2700000" algn="tl" rotWithShape="0">
                    <a:schemeClr val="dk1">
                      <a:alpha val="40000"/>
                    </a:schemeClr>
                  </a:outerShdw>
                </a:effectLst>
                <a:latin typeface="Patrick Hand" pitchFamily="2" charset="77"/>
              </a:rPr>
              <a:t> is an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ORM</a:t>
            </a:r>
            <a:r>
              <a:rPr lang="en-DE" sz="6600" dirty="0">
                <a:ln w="0"/>
                <a:effectLst>
                  <a:outerShdw blurRad="38100" dist="19050" dir="2700000" algn="tl" rotWithShape="0">
                    <a:schemeClr val="dk1">
                      <a:alpha val="40000"/>
                    </a:schemeClr>
                  </a:outerShdw>
                </a:effectLst>
                <a:latin typeface="Patrick Hand" pitchFamily="2" charset="77"/>
              </a:rPr>
              <a:t> (Object relational mapping) for the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typescript</a:t>
            </a:r>
            <a:r>
              <a:rPr lang="en-DE" sz="6600" dirty="0">
                <a:ln w="0"/>
                <a:effectLst>
                  <a:outerShdw blurRad="38100" dist="19050" dir="2700000" algn="tl" rotWithShape="0">
                    <a:schemeClr val="dk1">
                      <a:alpha val="40000"/>
                    </a:schemeClr>
                  </a:outerShdw>
                </a:effectLst>
                <a:latin typeface="Patrick Hand" pitchFamily="2" charset="77"/>
              </a:rPr>
              <a:t>,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javascript</a:t>
            </a:r>
            <a:r>
              <a:rPr lang="en-DE" sz="6600" dirty="0">
                <a:ln w="0"/>
                <a:effectLst>
                  <a:outerShdw blurRad="38100" dist="19050" dir="2700000" algn="tl" rotWithShape="0">
                    <a:schemeClr val="dk1">
                      <a:alpha val="40000"/>
                    </a:schemeClr>
                  </a:outerShdw>
                </a:effectLst>
                <a:latin typeface="Patrick Hand" pitchFamily="2" charset="77"/>
              </a:rPr>
              <a:t> world. It allows you to avoid complex SQL queries by acting as a bdridge between relational databases and Object-Oriented Programming(OOP).</a:t>
            </a:r>
          </a:p>
        </p:txBody>
      </p:sp>
      <p:pic>
        <p:nvPicPr>
          <p:cNvPr id="1026" name="Picture 2" descr="TypeORM Logo">
            <a:extLst>
              <a:ext uri="{FF2B5EF4-FFF2-40B4-BE49-F238E27FC236}">
                <a16:creationId xmlns:a16="http://schemas.microsoft.com/office/drawing/2014/main" id="{D0C31FEC-009E-00AD-186A-D0BBD2B0502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3" name="Right Arrow 2">
            <a:extLst>
              <a:ext uri="{FF2B5EF4-FFF2-40B4-BE49-F238E27FC236}">
                <a16:creationId xmlns:a16="http://schemas.microsoft.com/office/drawing/2014/main" id="{A50C6C6C-77DA-62D5-507C-030E9BF049E6}"/>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76642470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E1C2A68-4E6B-9939-A935-66BBD14071B7}"/>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2F59CDDA-F479-92C7-E072-C35AA1BDD0FF}"/>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0618A91E-DC57-04FE-AAC6-A68744C30EA8}"/>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6" name="TextBox 5">
            <a:extLst>
              <a:ext uri="{FF2B5EF4-FFF2-40B4-BE49-F238E27FC236}">
                <a16:creationId xmlns:a16="http://schemas.microsoft.com/office/drawing/2014/main" id="{54FA0747-66E6-B397-B315-E48F645887FE}"/>
              </a:ext>
            </a:extLst>
          </p:cNvPr>
          <p:cNvSpPr txBox="1"/>
          <p:nvPr/>
        </p:nvSpPr>
        <p:spPr>
          <a:xfrm>
            <a:off x="223306" y="4271469"/>
            <a:ext cx="9838800" cy="8184142"/>
          </a:xfrm>
          <a:prstGeom prst="rect">
            <a:avLst/>
          </a:prstGeom>
          <a:noFill/>
        </p:spPr>
        <p:txBody>
          <a:bodyPr wrap="square" rtlCol="0">
            <a:noAutofit/>
          </a:bodyPr>
          <a:lstStyle/>
          <a:p>
            <a:pPr algn="ctr"/>
            <a:r>
              <a:rPr lang="en-GB" sz="66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r>
              <a:rPr lang="en-GB" sz="6600" dirty="0">
                <a:ln w="0"/>
                <a:effectLst>
                  <a:outerShdw blurRad="38100" dist="19050" dir="2700000" algn="tl" rotWithShape="0">
                    <a:schemeClr val="dk1">
                      <a:alpha val="40000"/>
                    </a:schemeClr>
                  </a:outerShdw>
                </a:effectLst>
                <a:latin typeface="Patrick Hand" pitchFamily="2" charset="77"/>
              </a:rPr>
              <a:t> supports a wide range of databases, including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PostgreSQL</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MySQL</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MariaDB</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Oracle</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MS SQL Server</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SQLite</a:t>
            </a:r>
            <a:r>
              <a:rPr lang="en-GB" sz="6600" dirty="0">
                <a:ln w="0"/>
                <a:effectLst>
                  <a:outerShdw blurRad="38100" dist="19050" dir="2700000" algn="tl" rotWithShape="0">
                    <a:schemeClr val="dk1">
                      <a:alpha val="40000"/>
                    </a:schemeClr>
                  </a:outerShdw>
                </a:effectLst>
                <a:latin typeface="Patrick Hand" pitchFamily="2" charset="77"/>
              </a:rPr>
              <a:t>, and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MongoDB</a:t>
            </a:r>
            <a:r>
              <a:rPr lang="en-GB" sz="6600" dirty="0">
                <a:ln w="0"/>
                <a:effectLst>
                  <a:outerShdw blurRad="38100" dist="19050" dir="2700000" algn="tl" rotWithShape="0">
                    <a:schemeClr val="dk1">
                      <a:alpha val="40000"/>
                    </a:schemeClr>
                  </a:outerShdw>
                </a:effectLst>
                <a:latin typeface="Patrick Hand" pitchFamily="2" charset="77"/>
              </a:rPr>
              <a:t>. This flexibility allows you to switch between different database engines with minimal code changes.</a:t>
            </a: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3" name="Picture 2" descr="TypeORM Logo">
            <a:extLst>
              <a:ext uri="{FF2B5EF4-FFF2-40B4-BE49-F238E27FC236}">
                <a16:creationId xmlns:a16="http://schemas.microsoft.com/office/drawing/2014/main" id="{6F1F2298-DF48-1974-6E30-96DBA8C5189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grpSp>
        <p:nvGrpSpPr>
          <p:cNvPr id="16" name="Group 15">
            <a:extLst>
              <a:ext uri="{FF2B5EF4-FFF2-40B4-BE49-F238E27FC236}">
                <a16:creationId xmlns:a16="http://schemas.microsoft.com/office/drawing/2014/main" id="{D3A7B382-5FFE-1EB0-A9E2-5228930C8768}"/>
              </a:ext>
            </a:extLst>
          </p:cNvPr>
          <p:cNvGrpSpPr/>
          <p:nvPr/>
        </p:nvGrpSpPr>
        <p:grpSpPr>
          <a:xfrm>
            <a:off x="843250" y="12885104"/>
            <a:ext cx="8598913" cy="1800000"/>
            <a:chOff x="1422945" y="10389035"/>
            <a:chExt cx="8598913" cy="1800000"/>
          </a:xfrm>
        </p:grpSpPr>
        <p:pic>
          <p:nvPicPr>
            <p:cNvPr id="7" name="Graphic 6">
              <a:extLst>
                <a:ext uri="{FF2B5EF4-FFF2-40B4-BE49-F238E27FC236}">
                  <a16:creationId xmlns:a16="http://schemas.microsoft.com/office/drawing/2014/main" id="{32CD9CF0-323C-C246-109F-BD29AFCF6F8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55553" y="10389035"/>
              <a:ext cx="1800000" cy="1800000"/>
            </a:xfrm>
            <a:prstGeom prst="rect">
              <a:avLst/>
            </a:prstGeom>
          </p:spPr>
        </p:pic>
        <p:pic>
          <p:nvPicPr>
            <p:cNvPr id="11" name="Graphic 10">
              <a:extLst>
                <a:ext uri="{FF2B5EF4-FFF2-40B4-BE49-F238E27FC236}">
                  <a16:creationId xmlns:a16="http://schemas.microsoft.com/office/drawing/2014/main" id="{FFFEF2D0-488A-F0EB-7EC4-BAAE34EECE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89249" y="10389035"/>
              <a:ext cx="1800000" cy="1800000"/>
            </a:xfrm>
            <a:prstGeom prst="rect">
              <a:avLst/>
            </a:prstGeom>
          </p:spPr>
        </p:pic>
        <p:pic>
          <p:nvPicPr>
            <p:cNvPr id="13" name="Graphic 12">
              <a:extLst>
                <a:ext uri="{FF2B5EF4-FFF2-40B4-BE49-F238E27FC236}">
                  <a16:creationId xmlns:a16="http://schemas.microsoft.com/office/drawing/2014/main" id="{50DA19DD-695D-477B-1155-225D7583FC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22945" y="10389035"/>
              <a:ext cx="1800000" cy="1800000"/>
            </a:xfrm>
            <a:prstGeom prst="rect">
              <a:avLst/>
            </a:prstGeom>
          </p:spPr>
        </p:pic>
        <p:pic>
          <p:nvPicPr>
            <p:cNvPr id="15" name="Graphic 14">
              <a:extLst>
                <a:ext uri="{FF2B5EF4-FFF2-40B4-BE49-F238E27FC236}">
                  <a16:creationId xmlns:a16="http://schemas.microsoft.com/office/drawing/2014/main" id="{D426DE27-C71B-04BC-50C7-691D5391EB6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221858" y="10389035"/>
              <a:ext cx="1800000" cy="1800000"/>
            </a:xfrm>
            <a:prstGeom prst="rect">
              <a:avLst/>
            </a:prstGeom>
          </p:spPr>
        </p:pic>
      </p:grpSp>
      <p:sp>
        <p:nvSpPr>
          <p:cNvPr id="17" name="Right Arrow 16">
            <a:extLst>
              <a:ext uri="{FF2B5EF4-FFF2-40B4-BE49-F238E27FC236}">
                <a16:creationId xmlns:a16="http://schemas.microsoft.com/office/drawing/2014/main" id="{9F6D0B33-A21C-CEF9-60A2-2B14169D3015}"/>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8" name="TextBox 17">
            <a:extLst>
              <a:ext uri="{FF2B5EF4-FFF2-40B4-BE49-F238E27FC236}">
                <a16:creationId xmlns:a16="http://schemas.microsoft.com/office/drawing/2014/main" id="{EA687CA0-2FBB-DAC5-FEB4-13CEF7D8C37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49602403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D7517B8-0A3B-8B33-B737-511C982123E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ADB87F16-FA3C-9AC7-1E7F-B0E5758B03BA}"/>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1EDAB38E-4492-C685-E030-49C65F66933B}"/>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5ECED8DC-BD42-2C87-E2D0-99B03614FD4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252D44B4-D1A4-6634-ABA4-574641FB9509}"/>
              </a:ext>
            </a:extLst>
          </p:cNvPr>
          <p:cNvPicPr>
            <a:picLocks noChangeAspect="1"/>
          </p:cNvPicPr>
          <p:nvPr/>
        </p:nvPicPr>
        <p:blipFill rotWithShape="1">
          <a:blip r:embed="rId5"/>
          <a:srcRect l="22791" t="19828" r="13571" b="13560"/>
          <a:stretch>
            <a:fillRect/>
          </a:stretch>
        </p:blipFill>
        <p:spPr>
          <a:xfrm>
            <a:off x="223307" y="4275434"/>
            <a:ext cx="9838800" cy="10845920"/>
          </a:xfrm>
          <a:prstGeom prst="rect">
            <a:avLst/>
          </a:prstGeom>
        </p:spPr>
      </p:pic>
      <p:sp>
        <p:nvSpPr>
          <p:cNvPr id="7" name="Right Arrow 6">
            <a:extLst>
              <a:ext uri="{FF2B5EF4-FFF2-40B4-BE49-F238E27FC236}">
                <a16:creationId xmlns:a16="http://schemas.microsoft.com/office/drawing/2014/main" id="{07DAC0D8-418F-B62B-D006-83BF620948E0}"/>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8" name="TextBox 7">
            <a:extLst>
              <a:ext uri="{FF2B5EF4-FFF2-40B4-BE49-F238E27FC236}">
                <a16:creationId xmlns:a16="http://schemas.microsoft.com/office/drawing/2014/main" id="{5A510DF5-AF04-09B6-435B-BDDB016B8A9F}"/>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4221756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C50F78A-1986-C0DF-A790-8F33D99A351C}"/>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E4A20D31-7934-DE73-595D-281CA6D4DF2F}"/>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81334F0C-6A43-2A20-9D12-3A8524DE01EB}"/>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8C59B2E4-715F-B40C-1AF2-6153ABA5418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49BFF542-CD32-9801-4692-AFA29A74FAF4}"/>
              </a:ext>
            </a:extLst>
          </p:cNvPr>
          <p:cNvSpPr txBox="1"/>
          <p:nvPr/>
        </p:nvSpPr>
        <p:spPr>
          <a:xfrm>
            <a:off x="223306" y="12065509"/>
            <a:ext cx="9838800" cy="2268325"/>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Each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entity</a:t>
            </a:r>
            <a:r>
              <a:rPr lang="en-DE" sz="6600" dirty="0">
                <a:ln w="0"/>
                <a:effectLst>
                  <a:outerShdw blurRad="38100" dist="19050" dir="2700000" algn="tl" rotWithShape="0">
                    <a:schemeClr val="dk1">
                      <a:alpha val="40000"/>
                    </a:schemeClr>
                  </a:outerShdw>
                </a:effectLst>
                <a:latin typeface="Patrick Hand" pitchFamily="2" charset="77"/>
              </a:rPr>
              <a:t> must be registered in your Data Source option.</a:t>
            </a:r>
          </a:p>
        </p:txBody>
      </p:sp>
      <p:sp>
        <p:nvSpPr>
          <p:cNvPr id="10" name="Right Arrow 9">
            <a:extLst>
              <a:ext uri="{FF2B5EF4-FFF2-40B4-BE49-F238E27FC236}">
                <a16:creationId xmlns:a16="http://schemas.microsoft.com/office/drawing/2014/main" id="{A0FCCDE8-859B-B05E-85F8-1D9F687C3764}"/>
              </a:ext>
            </a:extLst>
          </p:cNvPr>
          <p:cNvSpPr/>
          <p:nvPr/>
        </p:nvSpPr>
        <p:spPr>
          <a:xfrm>
            <a:off x="4597861"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12" name="Picture 11">
            <a:extLst>
              <a:ext uri="{FF2B5EF4-FFF2-40B4-BE49-F238E27FC236}">
                <a16:creationId xmlns:a16="http://schemas.microsoft.com/office/drawing/2014/main" id="{66F0C03C-505B-1BC4-BA57-190194E4C76D}"/>
              </a:ext>
            </a:extLst>
          </p:cNvPr>
          <p:cNvPicPr>
            <a:picLocks noChangeAspect="1"/>
          </p:cNvPicPr>
          <p:nvPr/>
        </p:nvPicPr>
        <p:blipFill rotWithShape="1">
          <a:blip r:embed="rId5"/>
          <a:srcRect l="20372" t="23465" r="14026" b="15597"/>
          <a:stretch>
            <a:fillRect/>
          </a:stretch>
        </p:blipFill>
        <p:spPr>
          <a:xfrm>
            <a:off x="223307" y="4265909"/>
            <a:ext cx="9838800" cy="7676093"/>
          </a:xfrm>
          <a:prstGeom prst="rect">
            <a:avLst/>
          </a:prstGeom>
        </p:spPr>
      </p:pic>
      <p:sp>
        <p:nvSpPr>
          <p:cNvPr id="13" name="TextBox 12">
            <a:extLst>
              <a:ext uri="{FF2B5EF4-FFF2-40B4-BE49-F238E27FC236}">
                <a16:creationId xmlns:a16="http://schemas.microsoft.com/office/drawing/2014/main" id="{910AD74D-6658-A75C-5B4D-0F58EB198977}"/>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59714506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8108F73-C82D-F26B-F8A6-9CFCD8B5B255}"/>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94B14C2-CB32-F942-75E9-73B33F1CBEC8}"/>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F2E5CE70-9D19-DDAA-B0F0-AF0567CA7030}"/>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CF8B4006-4FDC-A311-D280-765329A9B8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D4FBACDC-A450-873E-E19F-139B9E40CEC8}"/>
              </a:ext>
            </a:extLst>
          </p:cNvPr>
          <p:cNvSpPr txBox="1"/>
          <p:nvPr/>
        </p:nvSpPr>
        <p:spPr>
          <a:xfrm>
            <a:off x="223307" y="10027799"/>
            <a:ext cx="9838800" cy="4231898"/>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To manage your data, use the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save</a:t>
            </a:r>
            <a:r>
              <a:rPr lang="en-DE" sz="5400" dirty="0">
                <a:ln w="0"/>
                <a:effectLst>
                  <a:outerShdw blurRad="38100" dist="19050" dir="2700000" algn="tl" rotWithShape="0">
                    <a:schemeClr val="dk1">
                      <a:alpha val="40000"/>
                    </a:schemeClr>
                  </a:outerShdw>
                </a:effectLst>
                <a:latin typeface="Patrick Hand" pitchFamily="2" charset="77"/>
              </a:rPr>
              <a:t> method from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AppDataSource.manager </a:t>
            </a:r>
            <a:r>
              <a:rPr lang="en-DE" sz="5400" dirty="0">
                <a:ln w="0"/>
                <a:effectLst>
                  <a:outerShdw blurRad="38100" dist="19050" dir="2700000" algn="tl" rotWithShape="0">
                    <a:schemeClr val="dk1">
                      <a:alpha val="40000"/>
                    </a:schemeClr>
                  </a:outerShdw>
                </a:effectLst>
                <a:latin typeface="Patrick Hand" pitchFamily="2" charset="77"/>
              </a:rPr>
              <a:t>to persist new records, and the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find</a:t>
            </a:r>
            <a:r>
              <a:rPr lang="en-DE" sz="5400" dirty="0">
                <a:ln w="0"/>
                <a:effectLst>
                  <a:outerShdw blurRad="38100" dist="19050" dir="2700000" algn="tl" rotWithShape="0">
                    <a:schemeClr val="dk1">
                      <a:alpha val="40000"/>
                    </a:schemeClr>
                  </a:outerShdw>
                </a:effectLst>
                <a:latin typeface="Patrick Hand" pitchFamily="2" charset="77"/>
              </a:rPr>
              <a:t> method to retrieve your previously saved data efficiently .</a:t>
            </a:r>
          </a:p>
        </p:txBody>
      </p:sp>
      <p:sp>
        <p:nvSpPr>
          <p:cNvPr id="10" name="Right Arrow 9">
            <a:extLst>
              <a:ext uri="{FF2B5EF4-FFF2-40B4-BE49-F238E27FC236}">
                <a16:creationId xmlns:a16="http://schemas.microsoft.com/office/drawing/2014/main" id="{FE9AAD56-EDE3-154E-4D32-EFE3B238A749}"/>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12" name="Picture 11">
            <a:extLst>
              <a:ext uri="{FF2B5EF4-FFF2-40B4-BE49-F238E27FC236}">
                <a16:creationId xmlns:a16="http://schemas.microsoft.com/office/drawing/2014/main" id="{BAA97540-019B-787E-F7B6-734FF99AB767}"/>
              </a:ext>
            </a:extLst>
          </p:cNvPr>
          <p:cNvPicPr>
            <a:picLocks noChangeAspect="1"/>
          </p:cNvPicPr>
          <p:nvPr/>
        </p:nvPicPr>
        <p:blipFill rotWithShape="1">
          <a:blip r:embed="rId5"/>
          <a:srcRect l="23740" t="29056" r="12930" b="23569"/>
          <a:stretch>
            <a:fillRect/>
          </a:stretch>
        </p:blipFill>
        <p:spPr>
          <a:xfrm>
            <a:off x="223306" y="4288939"/>
            <a:ext cx="9838800" cy="5705265"/>
          </a:xfrm>
          <a:prstGeom prst="rect">
            <a:avLst/>
          </a:prstGeom>
        </p:spPr>
      </p:pic>
      <p:sp>
        <p:nvSpPr>
          <p:cNvPr id="13" name="TextBox 12">
            <a:extLst>
              <a:ext uri="{FF2B5EF4-FFF2-40B4-BE49-F238E27FC236}">
                <a16:creationId xmlns:a16="http://schemas.microsoft.com/office/drawing/2014/main" id="{B8E573FC-B937-F172-5723-C820720C891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77999907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67CD703-2F32-F143-928D-80C3AA200A8F}"/>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43E3BC4E-C10C-84C6-259D-BED4555F7C82}"/>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6F01B537-4D97-8BEC-C2F3-2672AAD5C314}"/>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C662F1CB-0492-2C3A-D7A8-3EFD1E307467}"/>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4" name="Picture 2" descr="TypeORM Logo">
            <a:extLst>
              <a:ext uri="{FF2B5EF4-FFF2-40B4-BE49-F238E27FC236}">
                <a16:creationId xmlns:a16="http://schemas.microsoft.com/office/drawing/2014/main" id="{66E707AB-1C5B-73C5-DAEE-BF0C1CD06C3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C0B98A85-981F-4862-7ED4-351A333E9A83}"/>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99669867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1C498022-1CF0-2831-6C26-DA5D109733B4}"/>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06066B85-1DF1-5253-B1EB-73610B946908}"/>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FB422B08-C9E4-BBEC-807F-1C8299693CD9}"/>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BAA0C9A-1AD0-00EE-0C06-512851A1459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002543D-04BC-1C96-EE37-1433E8289FE1}"/>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7" name="TextBox 6">
            <a:extLst>
              <a:ext uri="{FF2B5EF4-FFF2-40B4-BE49-F238E27FC236}">
                <a16:creationId xmlns:a16="http://schemas.microsoft.com/office/drawing/2014/main" id="{4087D85B-534E-D930-3E8A-600FA80F3698}"/>
              </a:ext>
            </a:extLst>
          </p:cNvPr>
          <p:cNvSpPr txBox="1"/>
          <p:nvPr/>
        </p:nvSpPr>
        <p:spPr>
          <a:xfrm>
            <a:off x="223306" y="4240331"/>
            <a:ext cx="9838800" cy="2533870"/>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Suppose we have a user table like the one in the table below</a:t>
            </a:r>
          </a:p>
          <a:p>
            <a:pPr algn="ctr"/>
            <a:endParaRPr lang="en-DE" sz="6600" dirty="0">
              <a:ln w="0"/>
              <a:effectLst>
                <a:outerShdw blurRad="38100" dist="19050" dir="2700000" algn="tl" rotWithShape="0">
                  <a:schemeClr val="dk1">
                    <a:alpha val="40000"/>
                  </a:schemeClr>
                </a:outerShdw>
              </a:effectLst>
              <a:latin typeface="Patrick Hand" pitchFamily="2" charset="77"/>
            </a:endParaRPr>
          </a:p>
        </p:txBody>
      </p:sp>
      <p:grpSp>
        <p:nvGrpSpPr>
          <p:cNvPr id="13" name="Group 12">
            <a:extLst>
              <a:ext uri="{FF2B5EF4-FFF2-40B4-BE49-F238E27FC236}">
                <a16:creationId xmlns:a16="http://schemas.microsoft.com/office/drawing/2014/main" id="{A6416866-2671-24BD-DE3D-A3B3F7C355DF}"/>
              </a:ext>
            </a:extLst>
          </p:cNvPr>
          <p:cNvGrpSpPr/>
          <p:nvPr/>
        </p:nvGrpSpPr>
        <p:grpSpPr>
          <a:xfrm>
            <a:off x="2897341" y="7120237"/>
            <a:ext cx="4490731" cy="3536952"/>
            <a:chOff x="1591038" y="6223765"/>
            <a:chExt cx="4490731" cy="3536952"/>
          </a:xfrm>
        </p:grpSpPr>
        <p:sp>
          <p:nvSpPr>
            <p:cNvPr id="6" name="Rectangle 5">
              <a:extLst>
                <a:ext uri="{FF2B5EF4-FFF2-40B4-BE49-F238E27FC236}">
                  <a16:creationId xmlns:a16="http://schemas.microsoft.com/office/drawing/2014/main" id="{3E941D55-00F5-507F-51B8-516460DB0457}"/>
                </a:ext>
              </a:extLst>
            </p:cNvPr>
            <p:cNvSpPr/>
            <p:nvPr/>
          </p:nvSpPr>
          <p:spPr>
            <a:xfrm>
              <a:off x="1596203" y="6228775"/>
              <a:ext cx="4479010" cy="3531942"/>
            </a:xfrm>
            <a:prstGeom prst="rect">
              <a:avLst/>
            </a:prstGeom>
            <a:no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8" name="Rectangle 7">
              <a:extLst>
                <a:ext uri="{FF2B5EF4-FFF2-40B4-BE49-F238E27FC236}">
                  <a16:creationId xmlns:a16="http://schemas.microsoft.com/office/drawing/2014/main" id="{A0671A8C-F260-B92B-4984-D7EA67A3A035}"/>
                </a:ext>
              </a:extLst>
            </p:cNvPr>
            <p:cNvSpPr/>
            <p:nvPr/>
          </p:nvSpPr>
          <p:spPr>
            <a:xfrm>
              <a:off x="1596203" y="6223765"/>
              <a:ext cx="4479010" cy="8720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User</a:t>
              </a:r>
              <a:endParaRPr lang="en-DE" dirty="0">
                <a:latin typeface="+mj-lt"/>
              </a:endParaRPr>
            </a:p>
          </p:txBody>
        </p:sp>
        <p:sp>
          <p:nvSpPr>
            <p:cNvPr id="9" name="Rectangle 8">
              <a:extLst>
                <a:ext uri="{FF2B5EF4-FFF2-40B4-BE49-F238E27FC236}">
                  <a16:creationId xmlns:a16="http://schemas.microsoft.com/office/drawing/2014/main" id="{7F787E08-503F-20D8-A013-1B96CF92D985}"/>
                </a:ext>
              </a:extLst>
            </p:cNvPr>
            <p:cNvSpPr/>
            <p:nvPr/>
          </p:nvSpPr>
          <p:spPr>
            <a:xfrm>
              <a:off x="1593620" y="7104587"/>
              <a:ext cx="4479010" cy="872030"/>
            </a:xfrm>
            <a:prstGeom prst="rect">
              <a:avLst/>
            </a:prstGeom>
            <a:noFill/>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id</a:t>
              </a:r>
              <a:endParaRPr lang="en-DE" dirty="0">
                <a:latin typeface="+mj-lt"/>
              </a:endParaRPr>
            </a:p>
          </p:txBody>
        </p:sp>
        <p:sp>
          <p:nvSpPr>
            <p:cNvPr id="10" name="Rectangle 9">
              <a:extLst>
                <a:ext uri="{FF2B5EF4-FFF2-40B4-BE49-F238E27FC236}">
                  <a16:creationId xmlns:a16="http://schemas.microsoft.com/office/drawing/2014/main" id="{2520F808-D413-97C4-35FA-772BBA480BCD}"/>
                </a:ext>
              </a:extLst>
            </p:cNvPr>
            <p:cNvSpPr/>
            <p:nvPr/>
          </p:nvSpPr>
          <p:spPr>
            <a:xfrm>
              <a:off x="1591038" y="7986840"/>
              <a:ext cx="4479010" cy="872030"/>
            </a:xfrm>
            <a:prstGeom prst="rect">
              <a:avLst/>
            </a:prstGeom>
            <a:noFill/>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firstName</a:t>
              </a:r>
              <a:endParaRPr lang="en-DE" dirty="0">
                <a:latin typeface="+mj-lt"/>
              </a:endParaRPr>
            </a:p>
          </p:txBody>
        </p:sp>
        <p:sp>
          <p:nvSpPr>
            <p:cNvPr id="11" name="Rectangle 10">
              <a:extLst>
                <a:ext uri="{FF2B5EF4-FFF2-40B4-BE49-F238E27FC236}">
                  <a16:creationId xmlns:a16="http://schemas.microsoft.com/office/drawing/2014/main" id="{7D91F21C-83E9-9D86-6ED1-AD5E87AB575A}"/>
                </a:ext>
              </a:extLst>
            </p:cNvPr>
            <p:cNvSpPr/>
            <p:nvPr/>
          </p:nvSpPr>
          <p:spPr>
            <a:xfrm>
              <a:off x="1602759" y="8870759"/>
              <a:ext cx="4479010" cy="872030"/>
            </a:xfrm>
            <a:prstGeom prst="rect">
              <a:avLst/>
            </a:prstGeom>
            <a:noFill/>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role</a:t>
              </a:r>
              <a:endParaRPr lang="en-DE" dirty="0">
                <a:latin typeface="+mj-lt"/>
              </a:endParaRPr>
            </a:p>
          </p:txBody>
        </p:sp>
      </p:grpSp>
      <p:sp>
        <p:nvSpPr>
          <p:cNvPr id="14" name="Right Arrow 13">
            <a:extLst>
              <a:ext uri="{FF2B5EF4-FFF2-40B4-BE49-F238E27FC236}">
                <a16:creationId xmlns:a16="http://schemas.microsoft.com/office/drawing/2014/main" id="{246B48DE-2478-3942-8B1D-B69E1C7C751A}"/>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95058275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EE5CCBBA-02F5-513D-15C0-E5EBFC8FB94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ED10E63-5F71-05B0-1F93-4B401F31A23A}"/>
              </a:ext>
            </a:extLst>
          </p:cNvPr>
          <p:cNvSpPr txBox="1"/>
          <p:nvPr/>
        </p:nvSpPr>
        <p:spPr>
          <a:xfrm>
            <a:off x="223307" y="3117521"/>
            <a:ext cx="9838800" cy="2123658"/>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a:p>
            <a:pPr marL="0" algn="ctr"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5218906-2BE5-4CAB-BD9A-29E2F73E60D6}"/>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CFEF425F-527C-7624-758F-6C9FF071CF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BC9DD8-E707-3F9B-E419-C3D0070E2B2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16D901D1-A7D0-BF41-2DC5-0C424E9BC8D7}"/>
              </a:ext>
            </a:extLst>
          </p:cNvPr>
          <p:cNvPicPr>
            <a:picLocks noChangeAspect="1"/>
          </p:cNvPicPr>
          <p:nvPr/>
        </p:nvPicPr>
        <p:blipFill rotWithShape="1">
          <a:blip r:embed="rId4"/>
          <a:srcRect l="21307" t="21145" r="16892" b="14227"/>
          <a:stretch>
            <a:fillRect/>
          </a:stretch>
        </p:blipFill>
        <p:spPr>
          <a:xfrm>
            <a:off x="223306" y="4285073"/>
            <a:ext cx="9838800" cy="10647447"/>
          </a:xfrm>
          <a:prstGeom prst="rect">
            <a:avLst/>
          </a:prstGeom>
        </p:spPr>
      </p:pic>
      <p:sp>
        <p:nvSpPr>
          <p:cNvPr id="9" name="Right Arrow 8">
            <a:extLst>
              <a:ext uri="{FF2B5EF4-FFF2-40B4-BE49-F238E27FC236}">
                <a16:creationId xmlns:a16="http://schemas.microsoft.com/office/drawing/2014/main" id="{C26CD10E-6175-3728-574F-A8CB3571D9F0}"/>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5962562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1EB7CBF6-BE87-C9AA-0F1F-A42951DBAF72}"/>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2A57ECE7-DFFC-2EDA-4D9F-5939E56702C9}"/>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AD0D433E-03C6-5E3E-0720-E5808EB6D067}"/>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CD8402EF-7997-4D51-EDE4-E89381943F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1FC0F5F0-ECEB-48F5-1EB7-C2BE76E02F0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5458DE4C-DA3E-6F71-013D-A61737AC2538}"/>
              </a:ext>
            </a:extLst>
          </p:cNvPr>
          <p:cNvPicPr>
            <a:picLocks noChangeAspect="1"/>
          </p:cNvPicPr>
          <p:nvPr/>
        </p:nvPicPr>
        <p:blipFill rotWithShape="1">
          <a:blip r:embed="rId4"/>
          <a:srcRect l="21855" t="23980" r="10250" b="19849"/>
          <a:stretch>
            <a:fillRect/>
          </a:stretch>
        </p:blipFill>
        <p:spPr>
          <a:xfrm>
            <a:off x="223306" y="4297007"/>
            <a:ext cx="9838800" cy="6201709"/>
          </a:xfrm>
          <a:prstGeom prst="rect">
            <a:avLst/>
          </a:prstGeom>
        </p:spPr>
      </p:pic>
      <p:sp>
        <p:nvSpPr>
          <p:cNvPr id="3" name="TextBox 2">
            <a:extLst>
              <a:ext uri="{FF2B5EF4-FFF2-40B4-BE49-F238E27FC236}">
                <a16:creationId xmlns:a16="http://schemas.microsoft.com/office/drawing/2014/main" id="{0088E211-A0CC-E12B-7D51-41ABDFB02A2C}"/>
              </a:ext>
            </a:extLst>
          </p:cNvPr>
          <p:cNvSpPr txBox="1"/>
          <p:nvPr/>
        </p:nvSpPr>
        <p:spPr>
          <a:xfrm>
            <a:off x="223307" y="10500668"/>
            <a:ext cx="9838800" cy="2093114"/>
          </a:xfrm>
          <a:prstGeom prst="rect">
            <a:avLst/>
          </a:prstGeom>
          <a:noFill/>
        </p:spPr>
        <p:txBody>
          <a:bodyPr wrap="square" rtlCol="0">
            <a:no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T</a:t>
            </a:r>
            <a:r>
              <a:rPr lang="en-DE" sz="6000" dirty="0">
                <a:ln w="0"/>
                <a:effectLst>
                  <a:outerShdw blurRad="38100" dist="19050" dir="2700000" algn="tl" rotWithShape="0">
                    <a:schemeClr val="dk1">
                      <a:alpha val="40000"/>
                    </a:schemeClr>
                  </a:outerShdw>
                </a:effectLst>
                <a:latin typeface="Patrick Hand" pitchFamily="2" charset="77"/>
              </a:rPr>
              <a:t>wo ways to find specific columns</a:t>
            </a:r>
          </a:p>
        </p:txBody>
      </p:sp>
      <p:sp>
        <p:nvSpPr>
          <p:cNvPr id="7" name="Right Arrow 6">
            <a:extLst>
              <a:ext uri="{FF2B5EF4-FFF2-40B4-BE49-F238E27FC236}">
                <a16:creationId xmlns:a16="http://schemas.microsoft.com/office/drawing/2014/main" id="{E7B7B07D-7FCB-9F69-25B9-B04D89C95745}"/>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61028446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403F7197-0A72-E3A2-9882-7B20E03F645A}"/>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3C343B0D-17B5-59D8-4846-ADF6AF71D350}"/>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7BB278B2-46A1-04E2-3065-7F83E2CC8092}"/>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B6C2498-5EF0-7E9C-4662-826DB16B1B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E5E75AC0-432A-3CC4-AFAB-F50304EF6581}"/>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5B5BA947-857C-C567-5F0C-F20DD92DA6AC}"/>
              </a:ext>
            </a:extLst>
          </p:cNvPr>
          <p:cNvPicPr>
            <a:picLocks noChangeAspect="1"/>
          </p:cNvPicPr>
          <p:nvPr/>
        </p:nvPicPr>
        <p:blipFill rotWithShape="1">
          <a:blip r:embed="rId4"/>
          <a:srcRect l="16219" t="27740" r="12460" b="19522"/>
          <a:stretch>
            <a:fillRect/>
          </a:stretch>
        </p:blipFill>
        <p:spPr>
          <a:xfrm>
            <a:off x="223306" y="4299983"/>
            <a:ext cx="9838800" cy="4386262"/>
          </a:xfrm>
          <a:prstGeom prst="rect">
            <a:avLst/>
          </a:prstGeom>
        </p:spPr>
      </p:pic>
      <p:sp>
        <p:nvSpPr>
          <p:cNvPr id="9" name="TextBox 8">
            <a:extLst>
              <a:ext uri="{FF2B5EF4-FFF2-40B4-BE49-F238E27FC236}">
                <a16:creationId xmlns:a16="http://schemas.microsoft.com/office/drawing/2014/main" id="{B30A569A-BC82-1EEE-5B66-ECE906BA0D4E}"/>
              </a:ext>
            </a:extLst>
          </p:cNvPr>
          <p:cNvSpPr txBox="1"/>
          <p:nvPr/>
        </p:nvSpPr>
        <p:spPr>
          <a:xfrm>
            <a:off x="223307" y="8710024"/>
            <a:ext cx="9838800" cy="2093114"/>
          </a:xfrm>
          <a:prstGeom prst="rect">
            <a:avLst/>
          </a:prstGeom>
          <a:noFill/>
        </p:spPr>
        <p:txBody>
          <a:bodyPr wrap="square" rtlCol="0">
            <a:noAutofit/>
          </a:bodyPr>
          <a:lstStyle/>
          <a:p>
            <a:pPr algn="ctr"/>
            <a:r>
              <a:rPr lang="en-US" sz="6000" dirty="0">
                <a:ln w="0"/>
                <a:effectLst>
                  <a:outerShdw blurRad="38100" dist="19050" dir="2700000" algn="tl" rotWithShape="0">
                    <a:schemeClr val="dk1">
                      <a:alpha val="40000"/>
                    </a:schemeClr>
                  </a:outerShdw>
                </a:effectLst>
                <a:latin typeface="Patrick Hand" pitchFamily="2" charset="77"/>
              </a:rPr>
              <a:t>How do the SQL queries look like?</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10" name="Right Arrow 9">
            <a:extLst>
              <a:ext uri="{FF2B5EF4-FFF2-40B4-BE49-F238E27FC236}">
                <a16:creationId xmlns:a16="http://schemas.microsoft.com/office/drawing/2014/main" id="{B91D564F-644B-0D16-4A0F-051D3EA31C2A}"/>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32262841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71B411C5-77AF-AC4E-78DB-458451986A4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57CC5DE2-DDAA-1700-D071-7040B1C2ADF3}"/>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CE849187-BDDC-6EF0-C1A0-E4E684D74484}"/>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B964C9DA-BE9B-8614-A673-B24E801908C7}"/>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4" name="Picture 2" descr="TypeORM Logo">
            <a:extLst>
              <a:ext uri="{FF2B5EF4-FFF2-40B4-BE49-F238E27FC236}">
                <a16:creationId xmlns:a16="http://schemas.microsoft.com/office/drawing/2014/main" id="{48934E24-3591-7241-032A-0AA1F31E7B2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99EAA44-27DB-AC62-3378-3103F19C3196}"/>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30453414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1A77F216-E418-00C9-1049-F50574E39566}"/>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C6E074C3-0CAA-A324-B81C-37036A864D1D}"/>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E4D2B8DC-09E8-1AE2-705D-1A5A27BD3B36}"/>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06B918B-EE17-32DE-B1CB-5442C67D1D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C3D0571F-8EE4-1EBD-730E-A111FCABBE3F}"/>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6" name="TextBox 5">
            <a:extLst>
              <a:ext uri="{FF2B5EF4-FFF2-40B4-BE49-F238E27FC236}">
                <a16:creationId xmlns:a16="http://schemas.microsoft.com/office/drawing/2014/main" id="{974D622B-F709-2C65-8E32-13ACB2BFBEBE}"/>
              </a:ext>
            </a:extLst>
          </p:cNvPr>
          <p:cNvSpPr txBox="1"/>
          <p:nvPr/>
        </p:nvSpPr>
        <p:spPr>
          <a:xfrm>
            <a:off x="223307" y="4240331"/>
            <a:ext cx="9838800" cy="907866"/>
          </a:xfrm>
          <a:prstGeom prst="rect">
            <a:avLst/>
          </a:prstGeom>
          <a:noFill/>
        </p:spPr>
        <p:txBody>
          <a:bodyPr wrap="square" rtlCol="0">
            <a:noAutofit/>
          </a:bodyPr>
          <a:lstStyle/>
          <a:p>
            <a:pPr algn="ctr"/>
            <a:r>
              <a:rPr lang="en-DE" sz="4800" dirty="0">
                <a:ln w="0"/>
                <a:effectLst>
                  <a:outerShdw blurRad="38100" dist="19050" dir="2700000" algn="tl" rotWithShape="0">
                    <a:schemeClr val="dk1">
                      <a:alpha val="40000"/>
                    </a:schemeClr>
                  </a:outerShdw>
                </a:effectLst>
                <a:latin typeface="Patrick Hand" pitchFamily="2" charset="77"/>
              </a:rPr>
              <a:t>Suppose we have tables like those below</a:t>
            </a:r>
          </a:p>
          <a:p>
            <a:pPr algn="ct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CC7B958-223E-6D38-B69C-8FC5D3E32BC1}"/>
              </a:ext>
            </a:extLst>
          </p:cNvPr>
          <p:cNvPicPr>
            <a:picLocks noChangeAspect="1"/>
          </p:cNvPicPr>
          <p:nvPr/>
        </p:nvPicPr>
        <p:blipFill>
          <a:blip r:embed="rId4"/>
          <a:stretch>
            <a:fillRect/>
          </a:stretch>
        </p:blipFill>
        <p:spPr>
          <a:xfrm>
            <a:off x="3564900" y="5163011"/>
            <a:ext cx="3155613" cy="6650661"/>
          </a:xfrm>
          <a:prstGeom prst="rect">
            <a:avLst/>
          </a:prstGeom>
        </p:spPr>
      </p:pic>
    </p:spTree>
    <p:extLst>
      <p:ext uri="{BB962C8B-B14F-4D97-AF65-F5344CB8AC3E}">
        <p14:creationId xmlns:p14="http://schemas.microsoft.com/office/powerpoint/2010/main" val="92933119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586F522A-0602-2906-B7B3-16179D891D93}"/>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0334AC12-1C42-38E2-2851-D9DF3382B2F5}"/>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3FAEBD5C-4607-278E-D4EB-34CA55E2D02C}"/>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8FB5C3F3-86A4-7513-4524-38B684BC7C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0E8145E-9860-3AC4-534C-82A753D268FD}"/>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FD57C18A-FEF4-34C6-6D39-7AFBCEAE9E1A}"/>
              </a:ext>
            </a:extLst>
          </p:cNvPr>
          <p:cNvPicPr preferRelativeResize="0">
            <a:picLocks/>
          </p:cNvPicPr>
          <p:nvPr/>
        </p:nvPicPr>
        <p:blipFill rotWithShape="1">
          <a:blip r:embed="rId4"/>
          <a:srcRect l="20848" t="21625" r="14176" b="17941"/>
          <a:stretch>
            <a:fillRect/>
          </a:stretch>
        </p:blipFill>
        <p:spPr>
          <a:xfrm>
            <a:off x="223307" y="4267093"/>
            <a:ext cx="9838800" cy="7200000"/>
          </a:xfrm>
          <a:prstGeom prst="rect">
            <a:avLst/>
          </a:prstGeom>
        </p:spPr>
      </p:pic>
    </p:spTree>
    <p:extLst>
      <p:ext uri="{BB962C8B-B14F-4D97-AF65-F5344CB8AC3E}">
        <p14:creationId xmlns:p14="http://schemas.microsoft.com/office/powerpoint/2010/main" val="255712550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E2D970CC-B676-9454-A473-FBB44BB53453}"/>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3698ADD4-88BC-A441-F2E9-698DC1B7B222}"/>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8123B542-9945-14E2-DBA1-8A167F356359}"/>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4871B75-3E51-F348-F46D-509306BFD2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F2A657B-387D-719D-E19B-B442E6585786}"/>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F1C90A2A-5A33-A120-090F-9BAFF7EE783C}"/>
              </a:ext>
            </a:extLst>
          </p:cNvPr>
          <p:cNvPicPr preferRelativeResize="0">
            <a:picLocks/>
          </p:cNvPicPr>
          <p:nvPr/>
        </p:nvPicPr>
        <p:blipFill rotWithShape="1">
          <a:blip r:embed="rId4"/>
          <a:srcRect l="19087" t="20868" r="13274" b="13187"/>
          <a:stretch>
            <a:fillRect/>
          </a:stretch>
        </p:blipFill>
        <p:spPr>
          <a:xfrm>
            <a:off x="223306" y="4267093"/>
            <a:ext cx="9838800" cy="7200000"/>
          </a:xfrm>
          <a:prstGeom prst="rect">
            <a:avLst/>
          </a:prstGeom>
        </p:spPr>
      </p:pic>
    </p:spTree>
    <p:extLst>
      <p:ext uri="{BB962C8B-B14F-4D97-AF65-F5344CB8AC3E}">
        <p14:creationId xmlns:p14="http://schemas.microsoft.com/office/powerpoint/2010/main" val="30955877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DB73D324-B0DF-5D16-5FC6-9A3B172F926D}"/>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B9A19712-FF23-D81E-CEE1-3A700BEBB088}"/>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8489986B-77EB-F8AD-993D-5EE8BFAC703B}"/>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66702D84-56B8-4E77-029C-4E8EB4FDF10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1746F5D-CAD8-0012-2AEB-FE451F484C24}"/>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12EF576-0886-C53C-D075-F6B84AD1B68E}"/>
              </a:ext>
            </a:extLst>
          </p:cNvPr>
          <p:cNvPicPr preferRelativeResize="0">
            <a:picLocks/>
          </p:cNvPicPr>
          <p:nvPr/>
        </p:nvPicPr>
        <p:blipFill rotWithShape="1">
          <a:blip r:embed="rId4"/>
          <a:srcRect l="16924" t="20672" r="11645" b="13017"/>
          <a:stretch>
            <a:fillRect/>
          </a:stretch>
        </p:blipFill>
        <p:spPr>
          <a:xfrm>
            <a:off x="223306" y="4267093"/>
            <a:ext cx="9838800" cy="7200000"/>
          </a:xfrm>
          <a:prstGeom prst="rect">
            <a:avLst/>
          </a:prstGeom>
        </p:spPr>
      </p:pic>
      <p:cxnSp>
        <p:nvCxnSpPr>
          <p:cNvPr id="8" name="Straight Connector 7">
            <a:extLst>
              <a:ext uri="{FF2B5EF4-FFF2-40B4-BE49-F238E27FC236}">
                <a16:creationId xmlns:a16="http://schemas.microsoft.com/office/drawing/2014/main" id="{243B303D-9B0A-61B2-A9B1-A580F8EB1153}"/>
              </a:ext>
            </a:extLst>
          </p:cNvPr>
          <p:cNvCxnSpPr>
            <a:cxnSpLocks/>
          </p:cNvCxnSpPr>
          <p:nvPr/>
        </p:nvCxnSpPr>
        <p:spPr>
          <a:xfrm>
            <a:off x="241328" y="6702763"/>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8201836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AF41DB3E-00E3-61C9-3D1E-3C8BC04AC56A}"/>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2A95DB8D-ED65-3039-D5CE-2F64B9E1FA50}"/>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21D3F987-D2E0-B04C-02BF-A618AD5F2839}"/>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4DB87CEE-C41B-A19F-4BCB-1A342CDFB193}"/>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4" name="Picture 2" descr="TypeORM Logo">
            <a:extLst>
              <a:ext uri="{FF2B5EF4-FFF2-40B4-BE49-F238E27FC236}">
                <a16:creationId xmlns:a16="http://schemas.microsoft.com/office/drawing/2014/main" id="{0D78EC8D-3E5B-E13A-6260-F777FAAD47D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EC12E81E-7D8C-4A66-284D-6F5B12A4A16A}"/>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03633924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5D143B38-B045-6F60-B635-5E79B2E1A248}"/>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1DBA93F0-C501-949C-5D77-1F8F64DE7FA1}"/>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C97B13EF-31CE-C934-B0E0-0D286FA9B713}"/>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27845FB6-9D60-D7A5-B4EB-CE92EE9CC3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14170394-402A-5F18-BF87-37446A4E9E0D}"/>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40B25F80-745F-3A58-6E4B-CFA952BA7B35}"/>
              </a:ext>
            </a:extLst>
          </p:cNvPr>
          <p:cNvSpPr txBox="1"/>
          <p:nvPr/>
        </p:nvSpPr>
        <p:spPr>
          <a:xfrm>
            <a:off x="223307" y="4348767"/>
            <a:ext cx="9838800" cy="5669876"/>
          </a:xfrm>
          <a:prstGeom prst="rect">
            <a:avLst/>
          </a:prstGeom>
          <a:noFill/>
        </p:spPr>
        <p:txBody>
          <a:bodyPr wrap="square" rtlCol="0">
            <a:noAutofit/>
          </a:bodyPr>
          <a:lstStyle/>
          <a:p>
            <a:pPr algn="ct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PrimaryColumn</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p>
          <a:p>
            <a:pPr algn="ctr"/>
            <a:r>
              <a:rPr lang="en-GB" sz="6000" dirty="0">
                <a:ln w="0"/>
                <a:effectLst>
                  <a:outerShdw blurRad="38100" dist="19050" dir="2700000" algn="tl" rotWithShape="0">
                    <a:schemeClr val="dk1">
                      <a:alpha val="40000"/>
                    </a:schemeClr>
                  </a:outerShdw>
                </a:effectLst>
                <a:latin typeface="Patrick Hand" pitchFamily="2" charset="77"/>
              </a:rPr>
              <a:t>Use this decorator to declare the column as a primary key. In this case, </a:t>
            </a:r>
          </a:p>
          <a:p>
            <a:pPr algn="ctr"/>
            <a:r>
              <a:rPr lang="en-GB" sz="6000" dirty="0">
                <a:ln w="0"/>
                <a:effectLst>
                  <a:outerShdw blurRad="38100" dist="19050" dir="2700000" algn="tl" rotWithShape="0">
                    <a:schemeClr val="dk1">
                      <a:alpha val="40000"/>
                    </a:schemeClr>
                  </a:outerShdw>
                </a:effectLst>
                <a:latin typeface="Patrick Hand" pitchFamily="2" charset="77"/>
              </a:rPr>
              <a:t>you must handle IDs yourself.</a:t>
            </a:r>
          </a:p>
          <a:p>
            <a:pPr algn="ctr"/>
            <a:endParaRPr lang="en-GB" sz="6000" dirty="0">
              <a:ln w="0"/>
              <a:effectLst>
                <a:outerShdw blurRad="38100" dist="19050" dir="2700000" algn="tl" rotWithShape="0">
                  <a:schemeClr val="dk1">
                    <a:alpha val="40000"/>
                  </a:schemeClr>
                </a:outerShdw>
              </a:effectLst>
              <a:latin typeface="Patrick Hand" pitchFamily="2" charset="77"/>
            </a:endParaRPr>
          </a:p>
          <a:p>
            <a:pPr algn="ctr"/>
            <a:endParaRPr lang="en-GB" sz="6000" dirty="0">
              <a:ln w="0"/>
              <a:effectLst>
                <a:outerShdw blurRad="38100" dist="19050" dir="2700000" algn="tl" rotWithShape="0">
                  <a:schemeClr val="dk1">
                    <a:alpha val="40000"/>
                  </a:schemeClr>
                </a:outerShdw>
              </a:effectLst>
              <a:latin typeface="Patrick Hand" pitchFamily="2" charset="77"/>
            </a:endParaRPr>
          </a:p>
        </p:txBody>
      </p:sp>
      <p:sp>
        <p:nvSpPr>
          <p:cNvPr id="9" name="Right Arrow 8">
            <a:extLst>
              <a:ext uri="{FF2B5EF4-FFF2-40B4-BE49-F238E27FC236}">
                <a16:creationId xmlns:a16="http://schemas.microsoft.com/office/drawing/2014/main" id="{ACDAE40F-7130-9FAC-BC07-EF8D981B6140}"/>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46002193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8E9EA150-3EFD-13EA-7493-77672DDF7D1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63113D33-51D7-0193-90A9-0488B2371DDC}"/>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C8580038-C0B5-ADA8-9356-9128DBCC4E4F}"/>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71A6C284-3AEE-6985-A9C0-04C8A369CD8B}"/>
              </a:ext>
            </a:extLst>
          </p:cNvPr>
          <p:cNvSpPr txBox="1"/>
          <p:nvPr/>
        </p:nvSpPr>
        <p:spPr>
          <a:xfrm>
            <a:off x="223306" y="7909999"/>
            <a:ext cx="8015528" cy="2308324"/>
          </a:xfrm>
          <a:prstGeom prst="rect">
            <a:avLst/>
          </a:prstGeom>
          <a:noFill/>
        </p:spPr>
        <p:txBody>
          <a:bodyPr wrap="none" rtlCol="0">
            <a:spAutoFit/>
          </a:bodyPr>
          <a:lstStyle/>
          <a:p>
            <a:r>
              <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Return:</a:t>
            </a:r>
          </a:p>
          <a:p>
            <a:r>
              <a:rPr lang="en-GB" sz="4800" dirty="0"/>
              <a:t>User </a:t>
            </a:r>
          </a:p>
          <a:p>
            <a:r>
              <a:rPr lang="en-GB" sz="4800" dirty="0"/>
              <a:t>{ username: '</a:t>
            </a:r>
            <a:r>
              <a:rPr lang="en-GB" sz="4800" dirty="0" err="1"/>
              <a:t>ebrahim</a:t>
            </a:r>
            <a:r>
              <a:rPr lang="en-GB" sz="4800" dirty="0"/>
              <a:t>', id: 100 }</a:t>
            </a:r>
            <a:endParaRPr lang="en-DE" sz="4800" dirty="0"/>
          </a:p>
        </p:txBody>
      </p:sp>
      <p:pic>
        <p:nvPicPr>
          <p:cNvPr id="8" name="Picture 2" descr="TypeORM Logo">
            <a:extLst>
              <a:ext uri="{FF2B5EF4-FFF2-40B4-BE49-F238E27FC236}">
                <a16:creationId xmlns:a16="http://schemas.microsoft.com/office/drawing/2014/main" id="{7D554DB2-67D8-93CC-8974-0D17E62137C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Right Arrow 8">
            <a:extLst>
              <a:ext uri="{FF2B5EF4-FFF2-40B4-BE49-F238E27FC236}">
                <a16:creationId xmlns:a16="http://schemas.microsoft.com/office/drawing/2014/main" id="{C904D608-AF7F-A837-E53E-2B276AA039D3}"/>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3" name="Picture 12">
            <a:extLst>
              <a:ext uri="{FF2B5EF4-FFF2-40B4-BE49-F238E27FC236}">
                <a16:creationId xmlns:a16="http://schemas.microsoft.com/office/drawing/2014/main" id="{E27B72A9-A6D3-402B-3ABF-957D49F20578}"/>
              </a:ext>
            </a:extLst>
          </p:cNvPr>
          <p:cNvPicPr preferRelativeResize="0">
            <a:picLocks/>
          </p:cNvPicPr>
          <p:nvPr/>
        </p:nvPicPr>
        <p:blipFill rotWithShape="1">
          <a:blip r:embed="rId4"/>
          <a:srcRect l="20575" t="30963" r="15943" b="20711"/>
          <a:stretch>
            <a:fillRect/>
          </a:stretch>
        </p:blipFill>
        <p:spPr>
          <a:xfrm>
            <a:off x="223307" y="4338348"/>
            <a:ext cx="9838800" cy="3600000"/>
          </a:xfrm>
          <a:prstGeom prst="rect">
            <a:avLst/>
          </a:prstGeom>
        </p:spPr>
      </p:pic>
      <p:sp>
        <p:nvSpPr>
          <p:cNvPr id="14" name="TextBox 13">
            <a:extLst>
              <a:ext uri="{FF2B5EF4-FFF2-40B4-BE49-F238E27FC236}">
                <a16:creationId xmlns:a16="http://schemas.microsoft.com/office/drawing/2014/main" id="{08628A14-3577-6D24-D5F1-DA081CE9A11B}"/>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064701516"/>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136FD7F5-8C85-ABC2-0850-90FC12DE658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6EBD9695-F098-531C-A737-A4883EA8A3FE}"/>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AEFFD053-4B66-D217-E3F4-1B1C618F8539}"/>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C87D3F73-D2A0-74B1-19FD-6034327F11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26BEAC00-8B60-AE2E-EC92-381263D32A7B}"/>
              </a:ext>
            </a:extLst>
          </p:cNvPr>
          <p:cNvSpPr txBox="1"/>
          <p:nvPr/>
        </p:nvSpPr>
        <p:spPr>
          <a:xfrm>
            <a:off x="223307" y="4348767"/>
            <a:ext cx="9838800" cy="5669876"/>
          </a:xfrm>
          <a:prstGeom prst="rect">
            <a:avLst/>
          </a:prstGeom>
          <a:noFill/>
        </p:spPr>
        <p:txBody>
          <a:bodyPr wrap="square" rtlCol="0">
            <a:noAutofit/>
          </a:bodyPr>
          <a:lstStyle/>
          <a:p>
            <a:pPr algn="ct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PrimaryGeneratedColumn</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p>
          <a:p>
            <a:pPr algn="ctr"/>
            <a:r>
              <a:rPr lang="en-GB" sz="6000" dirty="0">
                <a:ln w="0"/>
                <a:effectLst>
                  <a:outerShdw blurRad="38100" dist="19050" dir="2700000" algn="tl" rotWithShape="0">
                    <a:schemeClr val="dk1">
                      <a:alpha val="40000"/>
                    </a:schemeClr>
                  </a:outerShdw>
                </a:effectLst>
                <a:latin typeface="Patrick Hand" pitchFamily="2" charset="77"/>
              </a:rPr>
              <a:t>Use this decorator to let the </a:t>
            </a:r>
            <a:r>
              <a:rPr lang="en-GB" sz="6000" dirty="0" err="1">
                <a:ln w="0"/>
                <a:effectLst>
                  <a:outerShdw blurRad="38100" dist="19050" dir="2700000" algn="tl" rotWithShape="0">
                    <a:schemeClr val="dk1">
                      <a:alpha val="40000"/>
                    </a:schemeClr>
                  </a:outerShdw>
                </a:effectLst>
                <a:latin typeface="Patrick Hand" pitchFamily="2" charset="77"/>
              </a:rPr>
              <a:t>TypeORM</a:t>
            </a:r>
            <a:r>
              <a:rPr lang="en-GB" sz="6000" dirty="0">
                <a:ln w="0"/>
                <a:effectLst>
                  <a:outerShdw blurRad="38100" dist="19050" dir="2700000" algn="tl" rotWithShape="0">
                    <a:schemeClr val="dk1">
                      <a:alpha val="40000"/>
                    </a:schemeClr>
                  </a:outerShdw>
                </a:effectLst>
                <a:latin typeface="Patrick Hand" pitchFamily="2" charset="77"/>
              </a:rPr>
              <a:t> handle the IDs automatically.</a:t>
            </a:r>
          </a:p>
          <a:p>
            <a:pPr algn="ctr"/>
            <a:r>
              <a:rPr lang="en-GB" sz="6000" dirty="0">
                <a:ln w="0"/>
                <a:effectLst>
                  <a:outerShdw blurRad="38100" dist="19050" dir="2700000" algn="tl" rotWithShape="0">
                    <a:schemeClr val="dk1">
                      <a:alpha val="40000"/>
                    </a:schemeClr>
                  </a:outerShdw>
                </a:effectLst>
                <a:latin typeface="Patrick Hand" pitchFamily="2" charset="77"/>
              </a:rPr>
              <a:t>Generated IDs will be 1,2,3,…</a:t>
            </a:r>
          </a:p>
          <a:p>
            <a:pPr algn="ctr"/>
            <a:endParaRPr lang="en-GB" sz="6000" dirty="0">
              <a:ln w="0"/>
              <a:effectLst>
                <a:outerShdw blurRad="38100" dist="19050" dir="2700000" algn="tl" rotWithShape="0">
                  <a:schemeClr val="dk1">
                    <a:alpha val="40000"/>
                  </a:schemeClr>
                </a:outerShdw>
              </a:effectLst>
              <a:latin typeface="Patrick Hand" pitchFamily="2" charset="77"/>
            </a:endParaRPr>
          </a:p>
          <a:p>
            <a:pPr algn="ctr"/>
            <a:endParaRPr lang="en-GB" sz="6000" dirty="0">
              <a:ln w="0"/>
              <a:effectLst>
                <a:outerShdw blurRad="38100" dist="19050" dir="2700000" algn="tl" rotWithShape="0">
                  <a:schemeClr val="dk1">
                    <a:alpha val="40000"/>
                  </a:schemeClr>
                </a:outerShdw>
              </a:effectLst>
              <a:latin typeface="Patrick Hand" pitchFamily="2" charset="77"/>
            </a:endParaRPr>
          </a:p>
        </p:txBody>
      </p:sp>
      <p:sp>
        <p:nvSpPr>
          <p:cNvPr id="9" name="Right Arrow 8">
            <a:extLst>
              <a:ext uri="{FF2B5EF4-FFF2-40B4-BE49-F238E27FC236}">
                <a16:creationId xmlns:a16="http://schemas.microsoft.com/office/drawing/2014/main" id="{BDCE7B94-7BF7-2313-8E78-733CBD54FEDC}"/>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3" name="TextBox 2">
            <a:extLst>
              <a:ext uri="{FF2B5EF4-FFF2-40B4-BE49-F238E27FC236}">
                <a16:creationId xmlns:a16="http://schemas.microsoft.com/office/drawing/2014/main" id="{F01E49CD-FA71-B4C5-72ED-3E825F21E37A}"/>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19909104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81025F92-4B24-A9AA-F61F-17661046CCD7}"/>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AF4D8309-3C40-D5F9-E772-BFC5E3B3CC43}"/>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80854EA5-788C-7F04-58C8-64D128396DBD}"/>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BB483F32-118D-6A22-C0D5-5214F3A7357C}"/>
              </a:ext>
            </a:extLst>
          </p:cNvPr>
          <p:cNvSpPr txBox="1"/>
          <p:nvPr/>
        </p:nvSpPr>
        <p:spPr>
          <a:xfrm>
            <a:off x="223306" y="7909999"/>
            <a:ext cx="7390356" cy="2308324"/>
          </a:xfrm>
          <a:prstGeom prst="rect">
            <a:avLst/>
          </a:prstGeom>
          <a:noFill/>
        </p:spPr>
        <p:txBody>
          <a:bodyPr wrap="none" rtlCol="0">
            <a:spAutoFit/>
          </a:bodyPr>
          <a:lstStyle/>
          <a:p>
            <a:r>
              <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Return:</a:t>
            </a:r>
          </a:p>
          <a:p>
            <a:r>
              <a:rPr lang="en-GB" sz="4800" dirty="0"/>
              <a:t>User </a:t>
            </a:r>
          </a:p>
          <a:p>
            <a:r>
              <a:rPr lang="en-GB" sz="4800" dirty="0"/>
              <a:t>{ username: '</a:t>
            </a:r>
            <a:r>
              <a:rPr lang="en-GB" sz="4800" dirty="0" err="1"/>
              <a:t>ebrahim</a:t>
            </a:r>
            <a:r>
              <a:rPr lang="en-GB" sz="4800" dirty="0"/>
              <a:t>', id: 1 }</a:t>
            </a:r>
            <a:endParaRPr lang="en-DE" sz="4800" dirty="0"/>
          </a:p>
        </p:txBody>
      </p:sp>
      <p:pic>
        <p:nvPicPr>
          <p:cNvPr id="7" name="Picture 6">
            <a:extLst>
              <a:ext uri="{FF2B5EF4-FFF2-40B4-BE49-F238E27FC236}">
                <a16:creationId xmlns:a16="http://schemas.microsoft.com/office/drawing/2014/main" id="{8DD87DB2-1D9D-9F61-083A-7802C22ABD14}"/>
              </a:ext>
            </a:extLst>
          </p:cNvPr>
          <p:cNvPicPr preferRelativeResize="0">
            <a:picLocks/>
          </p:cNvPicPr>
          <p:nvPr/>
        </p:nvPicPr>
        <p:blipFill rotWithShape="1">
          <a:blip r:embed="rId3"/>
          <a:srcRect l="23314" t="30266" r="17241" b="25977"/>
          <a:stretch>
            <a:fillRect/>
          </a:stretch>
        </p:blipFill>
        <p:spPr>
          <a:xfrm>
            <a:off x="223306" y="4318001"/>
            <a:ext cx="9838800" cy="3600000"/>
          </a:xfrm>
          <a:prstGeom prst="rect">
            <a:avLst/>
          </a:prstGeom>
        </p:spPr>
      </p:pic>
      <p:pic>
        <p:nvPicPr>
          <p:cNvPr id="8" name="Picture 2" descr="TypeORM Logo">
            <a:extLst>
              <a:ext uri="{FF2B5EF4-FFF2-40B4-BE49-F238E27FC236}">
                <a16:creationId xmlns:a16="http://schemas.microsoft.com/office/drawing/2014/main" id="{66E3172C-DDCB-CED3-533A-D7CE5F9DC95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Right Arrow 8">
            <a:extLst>
              <a:ext uri="{FF2B5EF4-FFF2-40B4-BE49-F238E27FC236}">
                <a16:creationId xmlns:a16="http://schemas.microsoft.com/office/drawing/2014/main" id="{08BAED20-AD48-E6BF-77A0-5B32808BEABA}"/>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4" name="TextBox 3">
            <a:extLst>
              <a:ext uri="{FF2B5EF4-FFF2-40B4-BE49-F238E27FC236}">
                <a16:creationId xmlns:a16="http://schemas.microsoft.com/office/drawing/2014/main" id="{E587F6C4-E69B-A599-9956-C7078E3D727F}"/>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20736917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AF106E38-F375-1A20-BD22-679297B64814}"/>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E6404838-69AB-03CC-F89E-2D5E86685FE4}"/>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9A2E1807-CF46-F913-3973-5773D655362F}"/>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CCEDC324-946A-2179-08C7-B6CFB341AA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3A7208C-E8B1-4A04-C20C-44CB84E6A816}"/>
              </a:ext>
            </a:extLst>
          </p:cNvPr>
          <p:cNvSpPr txBox="1"/>
          <p:nvPr/>
        </p:nvSpPr>
        <p:spPr>
          <a:xfrm>
            <a:off x="223307" y="4348767"/>
            <a:ext cx="9838800" cy="6663790"/>
          </a:xfrm>
          <a:prstGeom prst="rect">
            <a:avLst/>
          </a:prstGeom>
          <a:noFill/>
        </p:spPr>
        <p:txBody>
          <a:bodyPr wrap="square" rtlCol="0">
            <a:noAutofit/>
          </a:bodyPr>
          <a:lstStyle/>
          <a:p>
            <a:pPr algn="ct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PrimaryGeneratedColumn</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uuid</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p>
          <a:p>
            <a:pPr algn="ctr"/>
            <a:r>
              <a:rPr lang="en-GB" sz="6000" dirty="0">
                <a:ln w="0"/>
                <a:effectLst>
                  <a:outerShdw blurRad="38100" dist="19050" dir="2700000" algn="tl" rotWithShape="0">
                    <a:schemeClr val="dk1">
                      <a:alpha val="40000"/>
                    </a:schemeClr>
                  </a:outerShdw>
                </a:effectLst>
                <a:latin typeface="Patrick Hand" pitchFamily="2" charset="77"/>
              </a:rPr>
              <a:t>Use</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6000" dirty="0">
                <a:ln w="0"/>
                <a:effectLst>
                  <a:outerShdw blurRad="38100" dist="19050" dir="2700000" algn="tl" rotWithShape="0">
                    <a:schemeClr val="dk1">
                      <a:alpha val="40000"/>
                    </a:schemeClr>
                  </a:outerShdw>
                </a:effectLst>
                <a:latin typeface="Patrick Hand" pitchFamily="2" charset="77"/>
              </a:rPr>
              <a:t>this decorator to let the </a:t>
            </a:r>
            <a:r>
              <a:rPr lang="en-GB" sz="6000" dirty="0" err="1">
                <a:ln w="0"/>
                <a:effectLst>
                  <a:outerShdw blurRad="38100" dist="19050" dir="2700000" algn="tl" rotWithShape="0">
                    <a:schemeClr val="dk1">
                      <a:alpha val="40000"/>
                    </a:schemeClr>
                  </a:outerShdw>
                </a:effectLst>
                <a:latin typeface="Patrick Hand" pitchFamily="2" charset="77"/>
              </a:rPr>
              <a:t>TypeORM</a:t>
            </a:r>
            <a:r>
              <a:rPr lang="en-GB" sz="6000" dirty="0">
                <a:ln w="0"/>
                <a:effectLst>
                  <a:outerShdw blurRad="38100" dist="19050" dir="2700000" algn="tl" rotWithShape="0">
                    <a:schemeClr val="dk1">
                      <a:alpha val="40000"/>
                    </a:schemeClr>
                  </a:outerShdw>
                </a:effectLst>
                <a:latin typeface="Patrick Hand" pitchFamily="2" charset="77"/>
              </a:rPr>
              <a:t> handle UUIDs automatically.</a:t>
            </a:r>
          </a:p>
          <a:p>
            <a:pPr algn="ct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3" name="Right Arrow 2">
            <a:extLst>
              <a:ext uri="{FF2B5EF4-FFF2-40B4-BE49-F238E27FC236}">
                <a16:creationId xmlns:a16="http://schemas.microsoft.com/office/drawing/2014/main" id="{649EA0F4-C162-1CF2-01D9-93379810675E}"/>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6" name="TextBox 5">
            <a:extLst>
              <a:ext uri="{FF2B5EF4-FFF2-40B4-BE49-F238E27FC236}">
                <a16:creationId xmlns:a16="http://schemas.microsoft.com/office/drawing/2014/main" id="{DF5AC384-A632-6DBD-FD91-6B5AF4930587}"/>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92906740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D2DD0C7A-F266-CA91-BA01-AB3C2A40241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E5A15CC9-9DED-ECA5-9921-AF2898BA1FEA}"/>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416976C1-6AAD-AD05-2B23-158BCF90BF6B}"/>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4E3F4450-C86A-72AE-69B3-9AF9A40F300B}"/>
              </a:ext>
            </a:extLst>
          </p:cNvPr>
          <p:cNvSpPr txBox="1"/>
          <p:nvPr/>
        </p:nvSpPr>
        <p:spPr>
          <a:xfrm>
            <a:off x="223307" y="7919600"/>
            <a:ext cx="9838800" cy="4705970"/>
          </a:xfrm>
          <a:prstGeom prst="rect">
            <a:avLst/>
          </a:prstGeom>
          <a:noFill/>
        </p:spPr>
        <p:txBody>
          <a:bodyPr wrap="square" rtlCol="0">
            <a:noAutofit/>
          </a:bodyPr>
          <a:lstStyle/>
          <a:p>
            <a:r>
              <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Return: </a:t>
            </a:r>
          </a:p>
          <a:p>
            <a:r>
              <a:rPr lang="en-GB" sz="4800" dirty="0">
                <a:ln w="0"/>
                <a:effectLst>
                  <a:outerShdw blurRad="38100" dist="19050" dir="2700000" algn="tl" rotWithShape="0">
                    <a:schemeClr val="dk1">
                      <a:alpha val="40000"/>
                    </a:schemeClr>
                  </a:outerShdw>
                </a:effectLst>
              </a:rPr>
              <a:t>User {</a:t>
            </a:r>
          </a:p>
          <a:p>
            <a:r>
              <a:rPr lang="en-GB" sz="4800" dirty="0">
                <a:ln w="0"/>
                <a:effectLst>
                  <a:outerShdw blurRad="38100" dist="19050" dir="2700000" algn="tl" rotWithShape="0">
                    <a:schemeClr val="dk1">
                      <a:alpha val="40000"/>
                    </a:schemeClr>
                  </a:outerShdw>
                </a:effectLst>
              </a:rPr>
              <a:t>  username: '</a:t>
            </a:r>
            <a:r>
              <a:rPr lang="en-GB" sz="4800" dirty="0" err="1">
                <a:ln w="0"/>
                <a:effectLst>
                  <a:outerShdw blurRad="38100" dist="19050" dir="2700000" algn="tl" rotWithShape="0">
                    <a:schemeClr val="dk1">
                      <a:alpha val="40000"/>
                    </a:schemeClr>
                  </a:outerShdw>
                </a:effectLst>
              </a:rPr>
              <a:t>ebrahim</a:t>
            </a:r>
            <a:r>
              <a:rPr lang="en-GB" sz="4800" dirty="0">
                <a:ln w="0"/>
                <a:effectLst>
                  <a:outerShdw blurRad="38100" dist="19050" dir="2700000" algn="tl" rotWithShape="0">
                    <a:schemeClr val="dk1">
                      <a:alpha val="40000"/>
                    </a:schemeClr>
                  </a:outerShdw>
                </a:effectLst>
              </a:rPr>
              <a:t>',</a:t>
            </a:r>
          </a:p>
          <a:p>
            <a:r>
              <a:rPr lang="en-GB" sz="4800" dirty="0">
                <a:ln w="0"/>
                <a:effectLst>
                  <a:outerShdw blurRad="38100" dist="19050" dir="2700000" algn="tl" rotWithShape="0">
                    <a:schemeClr val="dk1">
                      <a:alpha val="40000"/>
                    </a:schemeClr>
                  </a:outerShdw>
                </a:effectLst>
              </a:rPr>
              <a:t>  id: '33e47825-8a2a-4c45-8199-984adb199f12'</a:t>
            </a:r>
          </a:p>
          <a:p>
            <a:r>
              <a:rPr lang="en-GB" sz="4800" dirty="0">
                <a:ln w="0"/>
                <a:effectLst>
                  <a:outerShdw blurRad="38100" dist="19050" dir="2700000" algn="tl" rotWithShape="0">
                    <a:schemeClr val="dk1">
                      <a:alpha val="40000"/>
                    </a:schemeClr>
                  </a:outerShdw>
                </a:effectLst>
              </a:rPr>
              <a:t>}</a:t>
            </a:r>
          </a:p>
        </p:txBody>
      </p:sp>
      <p:pic>
        <p:nvPicPr>
          <p:cNvPr id="7" name="Picture 6">
            <a:extLst>
              <a:ext uri="{FF2B5EF4-FFF2-40B4-BE49-F238E27FC236}">
                <a16:creationId xmlns:a16="http://schemas.microsoft.com/office/drawing/2014/main" id="{11D9A8D3-7F33-E585-44B1-E30A713182D8}"/>
              </a:ext>
            </a:extLst>
          </p:cNvPr>
          <p:cNvPicPr>
            <a:picLocks/>
          </p:cNvPicPr>
          <p:nvPr/>
        </p:nvPicPr>
        <p:blipFill>
          <a:blip r:embed="rId3"/>
          <a:srcRect l="19449" t="32735" r="15887" b="20962"/>
          <a:stretch>
            <a:fillRect/>
          </a:stretch>
        </p:blipFill>
        <p:spPr>
          <a:xfrm>
            <a:off x="223307" y="4309774"/>
            <a:ext cx="9838800" cy="3600000"/>
          </a:xfrm>
          <a:prstGeom prst="rect">
            <a:avLst/>
          </a:prstGeom>
        </p:spPr>
      </p:pic>
      <p:pic>
        <p:nvPicPr>
          <p:cNvPr id="8" name="Picture 2" descr="TypeORM Logo">
            <a:extLst>
              <a:ext uri="{FF2B5EF4-FFF2-40B4-BE49-F238E27FC236}">
                <a16:creationId xmlns:a16="http://schemas.microsoft.com/office/drawing/2014/main" id="{8F995695-E53B-1A5C-A014-735AB0C03AA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Right Arrow 8">
            <a:extLst>
              <a:ext uri="{FF2B5EF4-FFF2-40B4-BE49-F238E27FC236}">
                <a16:creationId xmlns:a16="http://schemas.microsoft.com/office/drawing/2014/main" id="{AD3E362D-6122-0DB5-75C1-56F46D847C1C}"/>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0" name="TextBox 9">
            <a:extLst>
              <a:ext uri="{FF2B5EF4-FFF2-40B4-BE49-F238E27FC236}">
                <a16:creationId xmlns:a16="http://schemas.microsoft.com/office/drawing/2014/main" id="{F9E05CDE-8574-E2AA-38E6-C12F4A11FE2A}"/>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64502895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shape">
            <a:fillToRect l="50000" t="50000" r="50000" b="50000"/>
          </a:path>
          <a:tileRect/>
        </a:gradFill>
        <a:effectLst/>
      </p:bgPr>
    </p:bg>
    <p:spTree>
      <p:nvGrpSpPr>
        <p:cNvPr id="1" name="">
          <a:extLst>
            <a:ext uri="{FF2B5EF4-FFF2-40B4-BE49-F238E27FC236}">
              <a16:creationId xmlns:a16="http://schemas.microsoft.com/office/drawing/2014/main" id="{E786D623-92F5-2541-992D-19EFA1EA7AEB}"/>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2260D41-138B-1F78-0C59-948840D9D646}"/>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F355EB5B-8C35-F9BC-CDC1-C12CDD03FF6A}"/>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1D324EFE-3C70-4985-2265-80E8B7761939}"/>
              </a:ext>
            </a:extLst>
          </p:cNvPr>
          <p:cNvSpPr txBox="1"/>
          <p:nvPr/>
        </p:nvSpPr>
        <p:spPr>
          <a:xfrm>
            <a:off x="223307" y="717881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6" name="Picture 2" descr="TypeORM Logo">
            <a:extLst>
              <a:ext uri="{FF2B5EF4-FFF2-40B4-BE49-F238E27FC236}">
                <a16:creationId xmlns:a16="http://schemas.microsoft.com/office/drawing/2014/main" id="{D4680794-1596-CA35-55FA-64A91790A9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CFA82A-630F-9CF2-0108-611C193DD8A0}"/>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8725909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shape">
            <a:fillToRect l="50000" t="50000" r="50000" b="50000"/>
          </a:path>
          <a:tileRect/>
        </a:gradFill>
        <a:effectLst/>
      </p:bgPr>
    </p:bg>
    <p:spTree>
      <p:nvGrpSpPr>
        <p:cNvPr id="1" name="">
          <a:extLst>
            <a:ext uri="{FF2B5EF4-FFF2-40B4-BE49-F238E27FC236}">
              <a16:creationId xmlns:a16="http://schemas.microsoft.com/office/drawing/2014/main" id="{C5DC4634-740A-DEF7-A312-070EC4A940E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BCB5153A-1CA2-5FAD-B3C5-AF8582611DE7}"/>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FD5DB766-F3E5-C6C8-0861-5B7F3D9EE9B5}"/>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9E340DC7-2BC8-6329-FB90-3F241C077102}"/>
              </a:ext>
            </a:extLst>
          </p:cNvPr>
          <p:cNvSpPr txBox="1"/>
          <p:nvPr/>
        </p:nvSpPr>
        <p:spPr>
          <a:xfrm>
            <a:off x="223306" y="6693021"/>
            <a:ext cx="9838800" cy="4901958"/>
          </a:xfrm>
          <a:prstGeom prst="rect">
            <a:avLst/>
          </a:prstGeom>
          <a:noFill/>
        </p:spPr>
        <p:txBody>
          <a:bodyPr wrap="square" rtlCol="0">
            <a:no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PrimaryGeneratedColumn</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uuid</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6000" dirty="0">
                <a:ln w="0"/>
                <a:effectLst>
                  <a:outerShdw blurRad="38100" dist="19050" dir="2700000" algn="tl" rotWithShape="0">
                    <a:schemeClr val="dk1">
                      <a:alpha val="40000"/>
                    </a:schemeClr>
                  </a:outerShdw>
                </a:effectLst>
                <a:latin typeface="Patrick Hand" pitchFamily="2" charset="77"/>
              </a:rPr>
              <a:t>if you want to keep your data secure and scalable.</a:t>
            </a:r>
          </a:p>
        </p:txBody>
      </p:sp>
      <p:pic>
        <p:nvPicPr>
          <p:cNvPr id="6" name="Picture 2" descr="TypeORM Logo">
            <a:extLst>
              <a:ext uri="{FF2B5EF4-FFF2-40B4-BE49-F238E27FC236}">
                <a16:creationId xmlns:a16="http://schemas.microsoft.com/office/drawing/2014/main" id="{3EF45B22-494A-B916-B060-10B0795C708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7" name="Right Arrow 6">
            <a:extLst>
              <a:ext uri="{FF2B5EF4-FFF2-40B4-BE49-F238E27FC236}">
                <a16:creationId xmlns:a16="http://schemas.microsoft.com/office/drawing/2014/main" id="{1708CAFC-5D12-3159-B21D-D43EE345DA84}"/>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6506279D-1E74-9E20-60C8-79F3E3A9D017}"/>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13651780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pattFill prst="lgConfetti">
          <a:fgClr>
            <a:schemeClr val="accent5">
              <a:lumMod val="20000"/>
              <a:lumOff val="80000"/>
            </a:schemeClr>
          </a:fgClr>
          <a:bgClr>
            <a:schemeClr val="bg1"/>
          </a:bgClr>
        </a:pattFill>
        <a:effectLst/>
      </p:bgPr>
    </p:bg>
    <p:spTree>
      <p:nvGrpSpPr>
        <p:cNvPr id="1" name="">
          <a:extLst>
            <a:ext uri="{FF2B5EF4-FFF2-40B4-BE49-F238E27FC236}">
              <a16:creationId xmlns:a16="http://schemas.microsoft.com/office/drawing/2014/main" id="{458D50A1-39F9-D244-F57F-58C7C03E7FE4}"/>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FED74F8-5A56-FFCD-BF99-76C8ED437481}"/>
              </a:ext>
            </a:extLst>
          </p:cNvPr>
          <p:cNvSpPr txBox="1"/>
          <p:nvPr/>
        </p:nvSpPr>
        <p:spPr>
          <a:xfrm>
            <a:off x="223307" y="3117521"/>
            <a:ext cx="9838800" cy="1107996"/>
          </a:xfrm>
          <a:prstGeom prst="rect">
            <a:avLst/>
          </a:prstGeom>
          <a:ln/>
        </p:spPr>
        <p:style>
          <a:lnRef idx="1">
            <a:schemeClr val="accent1"/>
          </a:lnRef>
          <a:fillRef idx="2">
            <a:schemeClr val="accent1"/>
          </a:fillRef>
          <a:effectRef idx="1">
            <a:schemeClr val="accent1"/>
          </a:effectRef>
          <a:fontRef idx="minor">
            <a:schemeClr val="dk1"/>
          </a:fontRef>
        </p:style>
        <p:txBody>
          <a:bodyPr wrap="square" rtlCol="0">
            <a:spAutoFit/>
          </a:bodyPr>
          <a:lstStyle/>
          <a:p>
            <a:pPr marL="0" algn="ct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Promise.resolve</a:t>
            </a:r>
          </a:p>
        </p:txBody>
      </p:sp>
      <p:pic>
        <p:nvPicPr>
          <p:cNvPr id="2" name="Picture 1">
            <a:extLst>
              <a:ext uri="{FF2B5EF4-FFF2-40B4-BE49-F238E27FC236}">
                <a16:creationId xmlns:a16="http://schemas.microsoft.com/office/drawing/2014/main" id="{EFC91E70-DAD4-7DE7-D410-51B5A6006CF8}"/>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5" name="TextBox 4">
            <a:extLst>
              <a:ext uri="{FF2B5EF4-FFF2-40B4-BE49-F238E27FC236}">
                <a16:creationId xmlns:a16="http://schemas.microsoft.com/office/drawing/2014/main" id="{7002EC5E-DED4-DC9F-7BD6-33BB1BF15F2C}"/>
              </a:ext>
            </a:extLst>
          </p:cNvPr>
          <p:cNvSpPr txBox="1"/>
          <p:nvPr/>
        </p:nvSpPr>
        <p:spPr>
          <a:xfrm>
            <a:off x="-6382127" y="1558103"/>
            <a:ext cx="618951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ts_022_function_promise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173EC4D3-0B6A-1BA7-C325-F1340C99DCED}"/>
              </a:ext>
            </a:extLst>
          </p:cNvPr>
          <p:cNvPicPr preferRelativeResize="0">
            <a:picLocks/>
          </p:cNvPicPr>
          <p:nvPr/>
        </p:nvPicPr>
        <p:blipFill rotWithShape="1">
          <a:blip r:embed="rId3"/>
          <a:srcRect l="18125" t="21891" r="12688" b="14972"/>
          <a:stretch>
            <a:fillRect/>
          </a:stretch>
        </p:blipFill>
        <p:spPr>
          <a:xfrm>
            <a:off x="223306" y="4317998"/>
            <a:ext cx="9838800" cy="7200000"/>
          </a:xfrm>
          <a:prstGeom prst="rect">
            <a:avLst/>
          </a:prstGeom>
        </p:spPr>
      </p:pic>
      <p:cxnSp>
        <p:nvCxnSpPr>
          <p:cNvPr id="10" name="Straight Connector 9">
            <a:extLst>
              <a:ext uri="{FF2B5EF4-FFF2-40B4-BE49-F238E27FC236}">
                <a16:creationId xmlns:a16="http://schemas.microsoft.com/office/drawing/2014/main" id="{4E3EE47E-370B-893D-F306-BB3B0E5063B2}"/>
              </a:ext>
            </a:extLst>
          </p:cNvPr>
          <p:cNvCxnSpPr>
            <a:cxnSpLocks/>
          </p:cNvCxnSpPr>
          <p:nvPr/>
        </p:nvCxnSpPr>
        <p:spPr>
          <a:xfrm>
            <a:off x="223306" y="8801565"/>
            <a:ext cx="9838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031D63AB-B867-DCB1-5FB8-76587FABC13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43827" y="10462606"/>
            <a:ext cx="914400" cy="914400"/>
          </a:xfrm>
          <a:prstGeom prst="rect">
            <a:avLst/>
          </a:prstGeom>
        </p:spPr>
      </p:pic>
      <p:pic>
        <p:nvPicPr>
          <p:cNvPr id="12" name="Graphic 11" descr="Close with solid fill">
            <a:extLst>
              <a:ext uri="{FF2B5EF4-FFF2-40B4-BE49-F238E27FC236}">
                <a16:creationId xmlns:a16="http://schemas.microsoft.com/office/drawing/2014/main" id="{4670BA5A-6BE0-695E-E494-FC8CE02A991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43827" y="7769158"/>
            <a:ext cx="914400" cy="914400"/>
          </a:xfrm>
          <a:prstGeom prst="rect">
            <a:avLst/>
          </a:prstGeom>
        </p:spPr>
      </p:pic>
      <p:sp>
        <p:nvSpPr>
          <p:cNvPr id="13" name="Right Arrow 12">
            <a:extLst>
              <a:ext uri="{FF2B5EF4-FFF2-40B4-BE49-F238E27FC236}">
                <a16:creationId xmlns:a16="http://schemas.microsoft.com/office/drawing/2014/main" id="{41355DCA-F782-1503-36A7-CED1E0843065}"/>
              </a:ext>
            </a:extLst>
          </p:cNvPr>
          <p:cNvSpPr/>
          <p:nvPr/>
        </p:nvSpPr>
        <p:spPr>
          <a:xfrm>
            <a:off x="4650820" y="12153900"/>
            <a:ext cx="983773" cy="689903"/>
          </a:xfrm>
          <a:prstGeom prst="rightArrow">
            <a:avLst/>
          </a:prstGeom>
          <a:ln>
            <a:solidFill>
              <a:schemeClr val="tx1"/>
            </a:solidFill>
          </a:ln>
        </p:spPr>
        <p:style>
          <a:lnRef idx="1">
            <a:schemeClr val="accent1"/>
          </a:lnRef>
          <a:fillRef idx="2">
            <a:schemeClr val="accent1"/>
          </a:fillRef>
          <a:effectRef idx="1">
            <a:schemeClr val="accent1"/>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cxnSp>
        <p:nvCxnSpPr>
          <p:cNvPr id="14" name="Straight Connector 13">
            <a:extLst>
              <a:ext uri="{FF2B5EF4-FFF2-40B4-BE49-F238E27FC236}">
                <a16:creationId xmlns:a16="http://schemas.microsoft.com/office/drawing/2014/main" id="{18A61D01-0572-159B-CBAD-722734383941}"/>
              </a:ext>
            </a:extLst>
          </p:cNvPr>
          <p:cNvCxnSpPr>
            <a:cxnSpLocks/>
          </p:cNvCxnSpPr>
          <p:nvPr/>
        </p:nvCxnSpPr>
        <p:spPr>
          <a:xfrm>
            <a:off x="223307" y="6083765"/>
            <a:ext cx="9838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524515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pattFill prst="lgConfetti">
          <a:fgClr>
            <a:schemeClr val="accent5">
              <a:lumMod val="20000"/>
              <a:lumOff val="80000"/>
            </a:schemeClr>
          </a:fgClr>
          <a:bgClr>
            <a:schemeClr val="bg1"/>
          </a:bgClr>
        </a:pattFill>
        <a:effectLst/>
      </p:bgPr>
    </p:bg>
    <p:spTree>
      <p:nvGrpSpPr>
        <p:cNvPr id="1" name="">
          <a:extLst>
            <a:ext uri="{FF2B5EF4-FFF2-40B4-BE49-F238E27FC236}">
              <a16:creationId xmlns:a16="http://schemas.microsoft.com/office/drawing/2014/main" id="{DD5F704C-D60B-B5E4-0F58-4D4DE76F9A0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C57BC040-AF29-F459-6AD1-99E5E431F4C3}"/>
              </a:ext>
            </a:extLst>
          </p:cNvPr>
          <p:cNvSpPr txBox="1"/>
          <p:nvPr/>
        </p:nvSpPr>
        <p:spPr>
          <a:xfrm>
            <a:off x="223307" y="3117521"/>
            <a:ext cx="9838800" cy="1107996"/>
          </a:xfrm>
          <a:prstGeom prst="rect">
            <a:avLst/>
          </a:prstGeom>
          <a:ln/>
        </p:spPr>
        <p:style>
          <a:lnRef idx="1">
            <a:schemeClr val="accent1"/>
          </a:lnRef>
          <a:fillRef idx="2">
            <a:schemeClr val="accent1"/>
          </a:fillRef>
          <a:effectRef idx="1">
            <a:schemeClr val="accent1"/>
          </a:effectRef>
          <a:fontRef idx="minor">
            <a:schemeClr val="dk1"/>
          </a:fontRef>
        </p:style>
        <p:txBody>
          <a:bodyPr wrap="square" rtlCol="0">
            <a:spAutoFit/>
          </a:bodyPr>
          <a:lstStyle/>
          <a:p>
            <a:pPr marL="0" algn="ct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Promise.resolve</a:t>
            </a:r>
          </a:p>
        </p:txBody>
      </p:sp>
      <p:pic>
        <p:nvPicPr>
          <p:cNvPr id="2" name="Picture 1">
            <a:extLst>
              <a:ext uri="{FF2B5EF4-FFF2-40B4-BE49-F238E27FC236}">
                <a16:creationId xmlns:a16="http://schemas.microsoft.com/office/drawing/2014/main" id="{ECD4E245-1B47-BA5D-4D0D-491444F50CA5}"/>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3BCF8B6E-CBFC-2A2F-908A-B301E11419B7}"/>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know why?</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7AAA40DB-6116-7915-A0FB-2F4303BF466C}"/>
              </a:ext>
            </a:extLst>
          </p:cNvPr>
          <p:cNvSpPr txBox="1"/>
          <p:nvPr/>
        </p:nvSpPr>
        <p:spPr>
          <a:xfrm>
            <a:off x="-6382127" y="1558103"/>
            <a:ext cx="618951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ts_022_function_promise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152794728"/>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pattFill prst="dotGrid">
          <a:fgClr>
            <a:srgbClr val="0070C0"/>
          </a:fgClr>
          <a:bgClr>
            <a:schemeClr val="bg1"/>
          </a:bgClr>
        </a:pattFill>
        <a:effectLst/>
      </p:bgPr>
    </p:bg>
    <p:spTree>
      <p:nvGrpSpPr>
        <p:cNvPr id="1" name="">
          <a:extLst>
            <a:ext uri="{FF2B5EF4-FFF2-40B4-BE49-F238E27FC236}">
              <a16:creationId xmlns:a16="http://schemas.microsoft.com/office/drawing/2014/main" id="{AD862727-6134-9400-743F-99F7BBE9FFD5}"/>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760FD555-3FC9-35C7-67AB-705B6F17931F}"/>
              </a:ext>
            </a:extLst>
          </p:cNvPr>
          <p:cNvSpPr txBox="1"/>
          <p:nvPr/>
        </p:nvSpPr>
        <p:spPr>
          <a:xfrm>
            <a:off x="223307" y="3117521"/>
            <a:ext cx="9838800" cy="1107996"/>
          </a:xfrm>
          <a:prstGeom prst="rect">
            <a:avLst/>
          </a:prstGeom>
          <a:ln/>
        </p:spPr>
        <p:style>
          <a:lnRef idx="1">
            <a:schemeClr val="accent1"/>
          </a:lnRef>
          <a:fillRef idx="2">
            <a:schemeClr val="accent1"/>
          </a:fillRef>
          <a:effectRef idx="1">
            <a:schemeClr val="accent1"/>
          </a:effectRef>
          <a:fontRef idx="minor">
            <a:schemeClr val="dk1"/>
          </a:fontRef>
        </p:style>
        <p:txBody>
          <a:bodyPr wrap="square" rtlCol="0">
            <a:sp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Use Self-Closing Tags</a:t>
            </a: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6073EC61-F7A5-9D97-115A-E405F4F66F3A}"/>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55BD8A4F-9338-7AF6-5FE8-318D0D38863E}"/>
              </a:ext>
            </a:extLst>
          </p:cNvPr>
          <p:cNvPicPr>
            <a:picLocks noChangeAspect="1"/>
          </p:cNvPicPr>
          <p:nvPr/>
        </p:nvPicPr>
        <p:blipFill>
          <a:blip r:embed="rId2"/>
          <a:stretch>
            <a:fillRect/>
          </a:stretch>
        </p:blipFill>
        <p:spPr>
          <a:xfrm>
            <a:off x="284266" y="3140519"/>
            <a:ext cx="1062000" cy="1062000"/>
          </a:xfrm>
          <a:prstGeom prst="rect">
            <a:avLst/>
          </a:prstGeom>
        </p:spPr>
      </p:pic>
      <p:sp>
        <p:nvSpPr>
          <p:cNvPr id="8" name="Right Arrow 7">
            <a:extLst>
              <a:ext uri="{FF2B5EF4-FFF2-40B4-BE49-F238E27FC236}">
                <a16:creationId xmlns:a16="http://schemas.microsoft.com/office/drawing/2014/main" id="{71895382-E64E-C6E7-7F72-2923E8098672}"/>
              </a:ext>
            </a:extLst>
          </p:cNvPr>
          <p:cNvSpPr/>
          <p:nvPr/>
        </p:nvSpPr>
        <p:spPr>
          <a:xfrm>
            <a:off x="4469544" y="11262541"/>
            <a:ext cx="1346325" cy="1120282"/>
          </a:xfrm>
          <a:prstGeom prst="rightArrow">
            <a:avLst/>
          </a:prstGeom>
          <a:ln/>
        </p:spPr>
        <p:style>
          <a:lnRef idx="1">
            <a:schemeClr val="accent1"/>
          </a:lnRef>
          <a:fillRef idx="2">
            <a:schemeClr val="accent1"/>
          </a:fillRef>
          <a:effectRef idx="1">
            <a:schemeClr val="accent1"/>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12E59C43-C14C-9198-313D-44EF1A8B5FC0}"/>
              </a:ext>
            </a:extLst>
          </p:cNvPr>
          <p:cNvPicPr>
            <a:picLocks noChangeAspect="1"/>
          </p:cNvPicPr>
          <p:nvPr/>
        </p:nvPicPr>
        <p:blipFill rotWithShape="1">
          <a:blip r:embed="rId3"/>
          <a:srcRect l="18628" t="27230" r="14131" b="23634"/>
          <a:stretch>
            <a:fillRect/>
          </a:stretch>
        </p:blipFill>
        <p:spPr>
          <a:xfrm>
            <a:off x="223306" y="4345323"/>
            <a:ext cx="9838800" cy="5323119"/>
          </a:xfrm>
          <a:prstGeom prst="rect">
            <a:avLst/>
          </a:prstGeom>
        </p:spPr>
      </p:pic>
      <p:cxnSp>
        <p:nvCxnSpPr>
          <p:cNvPr id="11" name="Straight Connector 10">
            <a:extLst>
              <a:ext uri="{FF2B5EF4-FFF2-40B4-BE49-F238E27FC236}">
                <a16:creationId xmlns:a16="http://schemas.microsoft.com/office/drawing/2014/main" id="{2D9F7EC9-D232-A77F-9124-0A5A45AE02B4}"/>
              </a:ext>
            </a:extLst>
          </p:cNvPr>
          <p:cNvCxnSpPr>
            <a:cxnSpLocks/>
          </p:cNvCxnSpPr>
          <p:nvPr/>
        </p:nvCxnSpPr>
        <p:spPr>
          <a:xfrm>
            <a:off x="223307" y="7069878"/>
            <a:ext cx="9838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6829028"/>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pattFill prst="dotGrid">
          <a:fgClr>
            <a:srgbClr val="0070C0"/>
          </a:fgClr>
          <a:bgClr>
            <a:schemeClr val="bg1"/>
          </a:bgClr>
        </a:pattFill>
        <a:effectLst/>
      </p:bgPr>
    </p:bg>
    <p:spTree>
      <p:nvGrpSpPr>
        <p:cNvPr id="1" name="">
          <a:extLst>
            <a:ext uri="{FF2B5EF4-FFF2-40B4-BE49-F238E27FC236}">
              <a16:creationId xmlns:a16="http://schemas.microsoft.com/office/drawing/2014/main" id="{EBBB550D-47FA-A35D-4230-6C707171856E}"/>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A6B469B3-0DF1-60D6-EC27-1538AC412687}"/>
              </a:ext>
            </a:extLst>
          </p:cNvPr>
          <p:cNvSpPr txBox="1"/>
          <p:nvPr/>
        </p:nvSpPr>
        <p:spPr>
          <a:xfrm>
            <a:off x="223307" y="3117521"/>
            <a:ext cx="9838800" cy="1107996"/>
          </a:xfrm>
          <a:prstGeom prst="rect">
            <a:avLst/>
          </a:prstGeom>
          <a:ln/>
        </p:spPr>
        <p:style>
          <a:lnRef idx="1">
            <a:schemeClr val="accent1"/>
          </a:lnRef>
          <a:fillRef idx="2">
            <a:schemeClr val="accent1"/>
          </a:fillRef>
          <a:effectRef idx="1">
            <a:schemeClr val="accent1"/>
          </a:effectRef>
          <a:fontRef idx="minor">
            <a:schemeClr val="dk1"/>
          </a:fontRef>
        </p:style>
        <p:txBody>
          <a:bodyPr wrap="square" rtlCol="0">
            <a:sp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Use Self-Closing Tags</a:t>
            </a: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3" name="TextBox 2">
            <a:extLst>
              <a:ext uri="{FF2B5EF4-FFF2-40B4-BE49-F238E27FC236}">
                <a16:creationId xmlns:a16="http://schemas.microsoft.com/office/drawing/2014/main" id="{AF4A4861-52F7-8C3F-B064-21B61330B0DD}"/>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3981A18-5250-04B1-2C7A-5C105FE4FE1F}"/>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E311B6D2-E3AE-70BB-A345-F45BBE2CDE32}"/>
              </a:ext>
            </a:extLst>
          </p:cNvPr>
          <p:cNvPicPr>
            <a:picLocks noChangeAspect="1"/>
          </p:cNvPicPr>
          <p:nvPr/>
        </p:nvPicPr>
        <p:blipFill>
          <a:blip r:embed="rId2"/>
          <a:stretch>
            <a:fillRect/>
          </a:stretch>
        </p:blipFill>
        <p:spPr>
          <a:xfrm>
            <a:off x="284266" y="3140519"/>
            <a:ext cx="1062000" cy="1062000"/>
          </a:xfrm>
          <a:prstGeom prst="rect">
            <a:avLst/>
          </a:prstGeom>
        </p:spPr>
      </p:pic>
    </p:spTree>
    <p:extLst>
      <p:ext uri="{BB962C8B-B14F-4D97-AF65-F5344CB8AC3E}">
        <p14:creationId xmlns:p14="http://schemas.microsoft.com/office/powerpoint/2010/main" val="3576294999"/>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123907</TotalTime>
  <Words>2345</Words>
  <Application>Microsoft Macintosh PowerPoint</Application>
  <PresentationFormat>Custom</PresentationFormat>
  <Paragraphs>437</Paragraphs>
  <Slides>124</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124</vt:i4>
      </vt:variant>
    </vt:vector>
  </HeadingPairs>
  <TitlesOfParts>
    <vt:vector size="133" baseType="lpstr">
      <vt:lpstr>Aptos</vt:lpstr>
      <vt:lpstr>Arial</vt:lpstr>
      <vt:lpstr>Arial Narrow</vt:lpstr>
      <vt:lpstr>Calibri</vt:lpstr>
      <vt:lpstr>Calibri Light</vt:lpstr>
      <vt:lpstr>Cambria Math</vt:lpstr>
      <vt:lpstr>Monaco</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1033</cp:revision>
  <cp:lastPrinted>2025-12-17T08:49:37Z</cp:lastPrinted>
  <dcterms:created xsi:type="dcterms:W3CDTF">2025-12-17T08:13:25Z</dcterms:created>
  <dcterms:modified xsi:type="dcterms:W3CDTF">2026-05-19T15:42:41Z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