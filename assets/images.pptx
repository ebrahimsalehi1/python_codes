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114"/>
  </p:notesMasterIdLst>
  <p:handoutMasterIdLst>
    <p:handoutMasterId r:id="rId115"/>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 id="361" r:id="rId78"/>
    <p:sldId id="362" r:id="rId79"/>
    <p:sldId id="364" r:id="rId80"/>
    <p:sldId id="365" r:id="rId81"/>
    <p:sldId id="367" r:id="rId82"/>
    <p:sldId id="366" r:id="rId83"/>
    <p:sldId id="368" r:id="rId84"/>
    <p:sldId id="369" r:id="rId85"/>
    <p:sldId id="370" r:id="rId86"/>
    <p:sldId id="371" r:id="rId87"/>
    <p:sldId id="372" r:id="rId88"/>
    <p:sldId id="375" r:id="rId89"/>
    <p:sldId id="376" r:id="rId90"/>
    <p:sldId id="373" r:id="rId91"/>
    <p:sldId id="377" r:id="rId92"/>
    <p:sldId id="378" r:id="rId93"/>
    <p:sldId id="379" r:id="rId94"/>
    <p:sldId id="380" r:id="rId95"/>
    <p:sldId id="381" r:id="rId96"/>
    <p:sldId id="382" r:id="rId97"/>
    <p:sldId id="383" r:id="rId98"/>
    <p:sldId id="384" r:id="rId99"/>
    <p:sldId id="386" r:id="rId100"/>
    <p:sldId id="387" r:id="rId101"/>
    <p:sldId id="388" r:id="rId102"/>
    <p:sldId id="385" r:id="rId103"/>
    <p:sldId id="389" r:id="rId104"/>
    <p:sldId id="391" r:id="rId105"/>
    <p:sldId id="393" r:id="rId106"/>
    <p:sldId id="392" r:id="rId107"/>
    <p:sldId id="390" r:id="rId108"/>
    <p:sldId id="394" r:id="rId109"/>
    <p:sldId id="397" r:id="rId110"/>
    <p:sldId id="398" r:id="rId111"/>
    <p:sldId id="396" r:id="rId112"/>
    <p:sldId id="395" r:id="rId113"/>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989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019"/>
    <p:restoredTop sz="96069"/>
  </p:normalViewPr>
  <p:slideViewPr>
    <p:cSldViewPr snapToGrid="0">
      <p:cViewPr>
        <p:scale>
          <a:sx n="102" d="100"/>
          <a:sy n="102" d="100"/>
        </p:scale>
        <p:origin x="2184" y="-3144"/>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viewProps" Target="viewProp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19"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microsoft.com/office/2018/10/relationships/authors" Target="author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27.04.26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27.04.26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4/27/26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4/27/26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4/27/26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4/27/26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4/27/26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4/27/26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4/27/26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4/27/26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4/27/26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4/27/26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4/27/26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4/27/26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8.png"/></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8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5.svg"/><Relationship Id="rId5" Type="http://schemas.openxmlformats.org/officeDocument/2006/relationships/image" Target="../media/image3.png"/><Relationship Id="rId4" Type="http://schemas.openxmlformats.org/officeDocument/2006/relationships/image" Target="../media/image94.png"/></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9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98.xml.rels><?xml version="1.0" encoding="UTF-8" standalone="yes"?>
<Relationships xmlns="http://schemas.openxmlformats.org/package/2006/relationships"><Relationship Id="rId8" Type="http://schemas.openxmlformats.org/officeDocument/2006/relationships/image" Target="../media/image106.svg"/><Relationship Id="rId3" Type="http://schemas.openxmlformats.org/officeDocument/2006/relationships/image" Target="../media/image11.png"/><Relationship Id="rId7" Type="http://schemas.openxmlformats.org/officeDocument/2006/relationships/image" Target="../media/image105.sv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104.svg"/><Relationship Id="rId5" Type="http://schemas.openxmlformats.org/officeDocument/2006/relationships/image" Target="../media/image103.svg"/><Relationship Id="rId4" Type="http://schemas.openxmlformats.org/officeDocument/2006/relationships/image" Target="../media/image102.png"/></Relationships>
</file>

<file path=ppt/slides/_rels/slide9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7.png"/><Relationship Id="rId4" Type="http://schemas.openxmlformats.org/officeDocument/2006/relationships/image" Target="../media/image102.png"/></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8.png"/><Relationship Id="rId4" Type="http://schemas.openxmlformats.org/officeDocument/2006/relationships/image" Target="../media/image102.png"/></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9.png"/><Relationship Id="rId4" Type="http://schemas.openxmlformats.org/officeDocument/2006/relationships/image" Target="../media/image102.png"/></Relationships>
</file>

<file path=ppt/slides/_rels/slide10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0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10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1.png"/></Relationships>
</file>

<file path=ppt/slides/_rels/slide10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2.png"/></Relationships>
</file>

<file path=ppt/slides/_rels/slide10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3.png"/></Relationships>
</file>

<file path=ppt/slides/_rels/slide10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4.png"/></Relationships>
</file>

<file path=ppt/slides/_rels/slide11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5.png"/></Relationships>
</file>

<file path=ppt/slides/_rels/slide11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6.png"/></Relationships>
</file>

<file path=ppt/slides/_rels/slide11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EEEF63F-05E6-DA35-C379-11D3F25F8C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1F7EF2-9234-089A-91E3-BF5B46ED308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968BC9ED-1ECF-B702-5C76-31C24693B46D}"/>
              </a:ext>
            </a:extLst>
          </p:cNvPr>
          <p:cNvSpPr txBox="1"/>
          <p:nvPr/>
        </p:nvSpPr>
        <p:spPr>
          <a:xfrm>
            <a:off x="-7873383" y="3167085"/>
            <a:ext cx="7213726"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js_005_no_array_constructor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8CF51-B431-EC78-9DD7-E4639D082A92}"/>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6" name="Picture 5">
            <a:extLst>
              <a:ext uri="{FF2B5EF4-FFF2-40B4-BE49-F238E27FC236}">
                <a16:creationId xmlns:a16="http://schemas.microsoft.com/office/drawing/2014/main" id="{9CF2BB6E-30BB-3E21-3772-46C6D64098C1}"/>
              </a:ext>
            </a:extLst>
          </p:cNvPr>
          <p:cNvPicPr>
            <a:picLocks noChangeAspect="1"/>
          </p:cNvPicPr>
          <p:nvPr/>
        </p:nvPicPr>
        <p:blipFill rotWithShape="1">
          <a:blip r:embed="rId4"/>
          <a:srcRect l="20337" t="28776" r="15360" b="25613"/>
          <a:stretch>
            <a:fillRect/>
          </a:stretch>
        </p:blipFill>
        <p:spPr>
          <a:xfrm>
            <a:off x="223306" y="4427536"/>
            <a:ext cx="9838800" cy="5534325"/>
          </a:xfrm>
          <a:prstGeom prst="rect">
            <a:avLst/>
          </a:prstGeom>
        </p:spPr>
      </p:pic>
      <p:cxnSp>
        <p:nvCxnSpPr>
          <p:cNvPr id="7" name="Straight Connector 6">
            <a:extLst>
              <a:ext uri="{FF2B5EF4-FFF2-40B4-BE49-F238E27FC236}">
                <a16:creationId xmlns:a16="http://schemas.microsoft.com/office/drawing/2014/main" id="{28235F81-CBFD-9CF3-8A8E-9364918B8C5B}"/>
              </a:ext>
            </a:extLst>
          </p:cNvPr>
          <p:cNvCxnSpPr>
            <a:cxnSpLocks/>
          </p:cNvCxnSpPr>
          <p:nvPr/>
        </p:nvCxnSpPr>
        <p:spPr>
          <a:xfrm>
            <a:off x="233306" y="695382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73389461-30C0-E0F2-7F7E-A6E5490DC8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7337712"/>
            <a:ext cx="914400" cy="914400"/>
          </a:xfrm>
          <a:prstGeom prst="rect">
            <a:avLst/>
          </a:prstGeom>
        </p:spPr>
      </p:pic>
      <p:pic>
        <p:nvPicPr>
          <p:cNvPr id="9" name="Graphic 8" descr="Close with solid fill">
            <a:extLst>
              <a:ext uri="{FF2B5EF4-FFF2-40B4-BE49-F238E27FC236}">
                <a16:creationId xmlns:a16="http://schemas.microsoft.com/office/drawing/2014/main" id="{F7017F99-371A-8860-96AA-8DCE2B2FEC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852619"/>
            <a:ext cx="914400" cy="914400"/>
          </a:xfrm>
          <a:prstGeom prst="rect">
            <a:avLst/>
          </a:prstGeom>
        </p:spPr>
      </p:pic>
      <p:sp>
        <p:nvSpPr>
          <p:cNvPr id="10" name="Right Arrow 9">
            <a:extLst>
              <a:ext uri="{FF2B5EF4-FFF2-40B4-BE49-F238E27FC236}">
                <a16:creationId xmlns:a16="http://schemas.microsoft.com/office/drawing/2014/main" id="{F2D6D2E1-4ED0-DCDC-18D7-77E940B4F2D1}"/>
              </a:ext>
            </a:extLst>
          </p:cNvPr>
          <p:cNvSpPr/>
          <p:nvPr/>
        </p:nvSpPr>
        <p:spPr>
          <a:xfrm>
            <a:off x="4676714" y="10181489"/>
            <a:ext cx="931985" cy="685824"/>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marL="0" algn="l" defTabSz="457200" rtl="0" eaLnBrk="1" latinLnBrk="0" hangingPunct="1"/>
            <a:endParaRPr lang="en-DE" sz="7200" dirty="0">
              <a:ln/>
              <a:solidFill>
                <a:schemeClr val="accent4"/>
              </a:solidFill>
            </a:endParaRPr>
          </a:p>
        </p:txBody>
      </p:sp>
    </p:spTree>
    <p:extLst>
      <p:ext uri="{BB962C8B-B14F-4D97-AF65-F5344CB8AC3E}">
        <p14:creationId xmlns:p14="http://schemas.microsoft.com/office/powerpoint/2010/main" val="3684713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9714E5A-07D2-D682-6533-06E93CFF3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1C5440-3B7A-E64D-FCFD-928BA7469A9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792BF6A5-06E4-A0E1-6813-31071F20A33A}"/>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9054432-C733-7733-BDE4-A1E88E4C2CF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1771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B6D604BC-A08E-87CF-CAEE-01301A8EADC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84C8B7-A30A-0E55-5A93-564B24E9BD03}"/>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DCC6012A-A9AD-7F0E-2D66-6D022C0629F5}"/>
              </a:ext>
            </a:extLst>
          </p:cNvPr>
          <p:cNvPicPr>
            <a:picLocks noChangeAspect="1"/>
          </p:cNvPicPr>
          <p:nvPr/>
        </p:nvPicPr>
        <p:blipFill>
          <a:blip r:embed="rId2"/>
          <a:stretch>
            <a:fillRect/>
          </a:stretch>
        </p:blipFill>
        <p:spPr>
          <a:xfrm>
            <a:off x="1511021" y="3190540"/>
            <a:ext cx="1062000" cy="1062000"/>
          </a:xfrm>
          <a:prstGeom prst="rect">
            <a:avLst/>
          </a:prstGeom>
        </p:spPr>
      </p:pic>
      <p:pic>
        <p:nvPicPr>
          <p:cNvPr id="5" name="Picture 4">
            <a:extLst>
              <a:ext uri="{FF2B5EF4-FFF2-40B4-BE49-F238E27FC236}">
                <a16:creationId xmlns:a16="http://schemas.microsoft.com/office/drawing/2014/main" id="{6BEBEBBD-750A-70AD-994A-4BF57A73F192}"/>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8" name="Picture 7">
            <a:extLst>
              <a:ext uri="{FF2B5EF4-FFF2-40B4-BE49-F238E27FC236}">
                <a16:creationId xmlns:a16="http://schemas.microsoft.com/office/drawing/2014/main" id="{9FCD4E01-56B7-E263-1B8F-0ED2B463E5B3}"/>
              </a:ext>
            </a:extLst>
          </p:cNvPr>
          <p:cNvPicPr>
            <a:picLocks noChangeAspect="1"/>
          </p:cNvPicPr>
          <p:nvPr/>
        </p:nvPicPr>
        <p:blipFill rotWithShape="1">
          <a:blip r:embed="rId4"/>
          <a:srcRect l="21844" t="22152" r="13351" b="16455"/>
          <a:stretch>
            <a:fillRect/>
          </a:stretch>
        </p:blipFill>
        <p:spPr>
          <a:xfrm>
            <a:off x="223306" y="4427535"/>
            <a:ext cx="9838800" cy="9495586"/>
          </a:xfrm>
          <a:prstGeom prst="rect">
            <a:avLst/>
          </a:prstGeom>
        </p:spPr>
      </p:pic>
      <p:cxnSp>
        <p:nvCxnSpPr>
          <p:cNvPr id="11" name="Straight Connector 10">
            <a:extLst>
              <a:ext uri="{FF2B5EF4-FFF2-40B4-BE49-F238E27FC236}">
                <a16:creationId xmlns:a16="http://schemas.microsoft.com/office/drawing/2014/main" id="{D9E0CFC0-3D2C-0637-413F-A15D4398C9F5}"/>
              </a:ext>
            </a:extLst>
          </p:cNvPr>
          <p:cNvCxnSpPr>
            <a:cxnSpLocks/>
          </p:cNvCxnSpPr>
          <p:nvPr/>
        </p:nvCxnSpPr>
        <p:spPr>
          <a:xfrm>
            <a:off x="233306" y="1159997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2" name="Graphic 11" descr="Shield Tick with solid fill">
            <a:extLst>
              <a:ext uri="{FF2B5EF4-FFF2-40B4-BE49-F238E27FC236}">
                <a16:creationId xmlns:a16="http://schemas.microsoft.com/office/drawing/2014/main" id="{943677B2-5396-31EB-19A3-7B8C877323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11885006"/>
            <a:ext cx="914400" cy="914400"/>
          </a:xfrm>
          <a:prstGeom prst="rect">
            <a:avLst/>
          </a:prstGeom>
        </p:spPr>
      </p:pic>
      <p:pic>
        <p:nvPicPr>
          <p:cNvPr id="14" name="Graphic 13" descr="Close with solid fill">
            <a:extLst>
              <a:ext uri="{FF2B5EF4-FFF2-40B4-BE49-F238E27FC236}">
                <a16:creationId xmlns:a16="http://schemas.microsoft.com/office/drawing/2014/main" id="{7B804695-1C4A-0415-4591-E5E4BDBDD72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556058"/>
            <a:ext cx="914400" cy="914400"/>
          </a:xfrm>
          <a:prstGeom prst="rect">
            <a:avLst/>
          </a:prstGeom>
        </p:spPr>
      </p:pic>
      <p:sp>
        <p:nvSpPr>
          <p:cNvPr id="15" name="Right Arrow 14">
            <a:extLst>
              <a:ext uri="{FF2B5EF4-FFF2-40B4-BE49-F238E27FC236}">
                <a16:creationId xmlns:a16="http://schemas.microsoft.com/office/drawing/2014/main" id="{D78D3400-A301-138C-44AF-A86AC5967091}"/>
              </a:ext>
            </a:extLst>
          </p:cNvPr>
          <p:cNvSpPr/>
          <p:nvPr/>
        </p:nvSpPr>
        <p:spPr>
          <a:xfrm>
            <a:off x="4676714" y="14308656"/>
            <a:ext cx="931985" cy="685824"/>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l" defTabSz="457200" rtl="0"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9853140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9288621C-2B23-2DCB-E11B-ABB3BA05D8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515B6B-811A-F95F-23D4-4E147BBF748C}"/>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EFDB36EA-81CC-57D2-7234-6C196E886204}"/>
              </a:ext>
            </a:extLst>
          </p:cNvPr>
          <p:cNvPicPr>
            <a:picLocks noChangeAspect="1"/>
          </p:cNvPicPr>
          <p:nvPr/>
        </p:nvPicPr>
        <p:blipFill>
          <a:blip r:embed="rId2"/>
          <a:stretch>
            <a:fillRect/>
          </a:stretch>
        </p:blipFill>
        <p:spPr>
          <a:xfrm>
            <a:off x="1511021" y="3190540"/>
            <a:ext cx="1062000" cy="1062000"/>
          </a:xfrm>
          <a:prstGeom prst="rect">
            <a:avLst/>
          </a:prstGeom>
        </p:spPr>
      </p:pic>
      <p:sp>
        <p:nvSpPr>
          <p:cNvPr id="2" name="TextBox 1">
            <a:extLst>
              <a:ext uri="{FF2B5EF4-FFF2-40B4-BE49-F238E27FC236}">
                <a16:creationId xmlns:a16="http://schemas.microsoft.com/office/drawing/2014/main" id="{982642FB-F511-9038-59EC-B0E0309344B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42F009E5-CBB0-1DF3-8E60-C19CEB38283A}"/>
              </a:ext>
            </a:extLst>
          </p:cNvPr>
          <p:cNvPicPr>
            <a:picLocks noChangeAspect="1"/>
          </p:cNvPicPr>
          <p:nvPr/>
        </p:nvPicPr>
        <p:blipFill>
          <a:blip r:embed="rId3"/>
          <a:stretch>
            <a:fillRect/>
          </a:stretch>
        </p:blipFill>
        <p:spPr>
          <a:xfrm>
            <a:off x="337472" y="3190540"/>
            <a:ext cx="1062000" cy="1062000"/>
          </a:xfrm>
          <a:prstGeom prst="rect">
            <a:avLst/>
          </a:prstGeom>
        </p:spPr>
      </p:pic>
    </p:spTree>
    <p:extLst>
      <p:ext uri="{BB962C8B-B14F-4D97-AF65-F5344CB8AC3E}">
        <p14:creationId xmlns:p14="http://schemas.microsoft.com/office/powerpoint/2010/main" val="3464444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A565C309-32A0-0E31-2269-D02F5E638E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7E7B80-3D1A-EB33-52F8-FD2D69FC9803}"/>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DCD28906-EA4C-992F-50A0-570C5DC2126A}"/>
              </a:ext>
            </a:extLst>
          </p:cNvPr>
          <p:cNvSpPr txBox="1"/>
          <p:nvPr/>
        </p:nvSpPr>
        <p:spPr>
          <a:xfrm>
            <a:off x="223306" y="4984252"/>
            <a:ext cx="9838800" cy="4796562"/>
          </a:xfrm>
          <a:prstGeom prst="rect">
            <a:avLst/>
          </a:prstGeom>
          <a:noFill/>
        </p:spPr>
        <p:txBody>
          <a:bodyPr wrap="square" rtlCol="0">
            <a:noAutofit/>
          </a:bodyPr>
          <a:lstStyle/>
          <a:p>
            <a:pPr algn="ctr"/>
            <a:r>
              <a:rPr lang="en-DE" sz="4800" b="1" dirty="0">
                <a:ln w="22225">
                  <a:solidFill>
                    <a:schemeClr val="accent2"/>
                  </a:solidFill>
                  <a:prstDash val="solid"/>
                </a:ln>
                <a:solidFill>
                  <a:schemeClr val="accent2">
                    <a:lumMod val="40000"/>
                    <a:lumOff val="60000"/>
                  </a:schemeClr>
                </a:solidFill>
                <a:latin typeface="Patrick Hand" pitchFamily="2" charset="77"/>
              </a:rPr>
              <a:t>Generators</a:t>
            </a:r>
            <a:r>
              <a:rPr lang="en-DE" sz="4800" dirty="0">
                <a:ln w="0"/>
                <a:effectLst>
                  <a:outerShdw blurRad="38100" dist="19050" dir="2700000" algn="tl" rotWithShape="0">
                    <a:schemeClr val="dk1">
                      <a:alpha val="40000"/>
                    </a:schemeClr>
                  </a:outerShdw>
                </a:effectLst>
                <a:latin typeface="Patrick Hand" pitchFamily="2" charset="77"/>
              </a:rPr>
              <a:t> are special functions that can be paused during execution.They are highly memory-efficient that ideal for iterating over large datasets step-by-step. </a:t>
            </a:r>
          </a:p>
          <a:p>
            <a:pPr algn="ctr"/>
            <a:r>
              <a:rPr lang="en-DE" sz="4800" dirty="0">
                <a:ln w="0"/>
                <a:effectLst>
                  <a:outerShdw blurRad="38100" dist="19050" dir="2700000" algn="tl" rotWithShape="0">
                    <a:schemeClr val="dk1">
                      <a:alpha val="40000"/>
                    </a:schemeClr>
                  </a:outerShdw>
                </a:effectLst>
                <a:latin typeface="Patrick Hand" pitchFamily="2" charset="77"/>
              </a:rPr>
              <a:t>These powerful concept a core feature in </a:t>
            </a:r>
            <a:r>
              <a:rPr lang="en-DE" sz="4800" b="1" dirty="0">
                <a:ln w="22225">
                  <a:solidFill>
                    <a:schemeClr val="accent2"/>
                  </a:solidFill>
                  <a:prstDash val="solid"/>
                </a:ln>
                <a:solidFill>
                  <a:schemeClr val="accent2">
                    <a:lumMod val="40000"/>
                    <a:lumOff val="60000"/>
                  </a:schemeClr>
                </a:solidFill>
                <a:latin typeface="Patrick Hand" pitchFamily="2" charset="77"/>
              </a:rPr>
              <a:t>JavaScript</a:t>
            </a:r>
            <a:r>
              <a:rPr lang="en-DE" sz="4800" dirty="0">
                <a:ln w="0"/>
                <a:effectLst>
                  <a:outerShdw blurRad="38100" dist="19050" dir="2700000" algn="tl" rotWithShape="0">
                    <a:schemeClr val="dk1">
                      <a:alpha val="40000"/>
                    </a:schemeClr>
                  </a:outerShdw>
                </a:effectLst>
                <a:latin typeface="Patrick Hand" pitchFamily="2" charset="77"/>
              </a:rPr>
              <a:t>,</a:t>
            </a:r>
            <a:r>
              <a:rPr lang="en-DE" sz="4800" b="1" dirty="0">
                <a:ln w="22225">
                  <a:solidFill>
                    <a:schemeClr val="accent2"/>
                  </a:solidFill>
                  <a:prstDash val="solid"/>
                </a:ln>
                <a:solidFill>
                  <a:schemeClr val="accent2">
                    <a:lumMod val="40000"/>
                    <a:lumOff val="60000"/>
                  </a:schemeClr>
                </a:solidFill>
                <a:latin typeface="Patrick Hand" pitchFamily="2" charset="77"/>
              </a:rPr>
              <a:t> TypeScript</a:t>
            </a:r>
            <a:r>
              <a:rPr lang="en-DE" sz="4800" dirty="0">
                <a:ln w="0"/>
                <a:effectLst>
                  <a:outerShdw blurRad="38100" dist="19050" dir="2700000" algn="tl" rotWithShape="0">
                    <a:schemeClr val="dk1">
                      <a:alpha val="40000"/>
                    </a:schemeClr>
                  </a:outerShdw>
                </a:effectLst>
                <a:latin typeface="Patrick Hand" pitchFamily="2" charset="77"/>
              </a:rPr>
              <a:t> and </a:t>
            </a:r>
            <a:r>
              <a:rPr lang="en-DE" sz="4800" b="1" dirty="0">
                <a:ln w="22225">
                  <a:solidFill>
                    <a:schemeClr val="accent2"/>
                  </a:solidFill>
                  <a:prstDash val="solid"/>
                </a:ln>
                <a:solidFill>
                  <a:schemeClr val="accent2">
                    <a:lumMod val="40000"/>
                    <a:lumOff val="60000"/>
                  </a:schemeClr>
                </a:solidFill>
                <a:latin typeface="Patrick Hand" pitchFamily="2" charset="77"/>
              </a:rPr>
              <a:t>Python</a:t>
            </a:r>
            <a:r>
              <a:rPr lang="en-DE" sz="4800" dirty="0">
                <a:ln w="0"/>
                <a:effectLst>
                  <a:outerShdw blurRad="38100" dist="19050" dir="2700000" algn="tl" rotWithShape="0">
                    <a:schemeClr val="dk1">
                      <a:alpha val="40000"/>
                    </a:schemeClr>
                  </a:outerShdw>
                </a:effectLst>
                <a:latin typeface="Patrick Hand" pitchFamily="2" charset="77"/>
              </a:rPr>
              <a:t>.  </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11" name="Right Arrow 10">
            <a:extLst>
              <a:ext uri="{FF2B5EF4-FFF2-40B4-BE49-F238E27FC236}">
                <a16:creationId xmlns:a16="http://schemas.microsoft.com/office/drawing/2014/main" id="{68B99A18-3BAD-F9CD-62F6-3125BF8949DC}"/>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971017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60D85A45-0F7C-787B-BFCD-F0096B94D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CD07C9-34D5-24FC-B68B-EEECB78BD5C8}"/>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8" name="Picture 7">
            <a:extLst>
              <a:ext uri="{FF2B5EF4-FFF2-40B4-BE49-F238E27FC236}">
                <a16:creationId xmlns:a16="http://schemas.microsoft.com/office/drawing/2014/main" id="{766894D7-DB7A-9C6A-DE0B-A0C1AF2A394D}"/>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10" name="Picture 9">
            <a:extLst>
              <a:ext uri="{FF2B5EF4-FFF2-40B4-BE49-F238E27FC236}">
                <a16:creationId xmlns:a16="http://schemas.microsoft.com/office/drawing/2014/main" id="{8BFBBF1E-3D73-E754-6FC2-EA9CCB8F00A0}"/>
              </a:ext>
            </a:extLst>
          </p:cNvPr>
          <p:cNvPicPr preferRelativeResize="0">
            <a:picLocks/>
          </p:cNvPicPr>
          <p:nvPr/>
        </p:nvPicPr>
        <p:blipFill rotWithShape="1">
          <a:blip r:embed="rId4"/>
          <a:srcRect l="17019" t="21904" r="11962" b="13799"/>
          <a:stretch>
            <a:fillRect/>
          </a:stretch>
        </p:blipFill>
        <p:spPr>
          <a:xfrm>
            <a:off x="223306" y="4427535"/>
            <a:ext cx="9838800" cy="6840000"/>
          </a:xfrm>
          <a:prstGeom prst="rect">
            <a:avLst/>
          </a:prstGeom>
        </p:spPr>
      </p:pic>
      <p:cxnSp>
        <p:nvCxnSpPr>
          <p:cNvPr id="11" name="Straight Connector 10">
            <a:extLst>
              <a:ext uri="{FF2B5EF4-FFF2-40B4-BE49-F238E27FC236}">
                <a16:creationId xmlns:a16="http://schemas.microsoft.com/office/drawing/2014/main" id="{F1F7EAD9-DE68-7D1B-ECE5-5E6BB4F2FBFB}"/>
              </a:ext>
            </a:extLst>
          </p:cNvPr>
          <p:cNvCxnSpPr/>
          <p:nvPr/>
        </p:nvCxnSpPr>
        <p:spPr>
          <a:xfrm>
            <a:off x="5715001" y="9666519"/>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BF35B89-0879-73F4-23E1-DA7AB0F99E27}"/>
              </a:ext>
            </a:extLst>
          </p:cNvPr>
          <p:cNvCxnSpPr/>
          <p:nvPr/>
        </p:nvCxnSpPr>
        <p:spPr>
          <a:xfrm>
            <a:off x="5720441" y="10619022"/>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DE7E8C-2448-E14B-01F9-27D50EE3C018}"/>
              </a:ext>
            </a:extLst>
          </p:cNvPr>
          <p:cNvCxnSpPr>
            <a:cxnSpLocks/>
          </p:cNvCxnSpPr>
          <p:nvPr/>
        </p:nvCxnSpPr>
        <p:spPr>
          <a:xfrm>
            <a:off x="1964867" y="5083630"/>
            <a:ext cx="272147"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6FE3E9B-B743-546D-6325-4BF52E9C99B8}"/>
              </a:ext>
            </a:extLst>
          </p:cNvPr>
          <p:cNvCxnSpPr/>
          <p:nvPr/>
        </p:nvCxnSpPr>
        <p:spPr>
          <a:xfrm>
            <a:off x="1083124" y="6161313"/>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2AAE9F85-BEED-CF27-5A5B-F158ACBE082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880995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5F59ECE-B256-2FE8-D8C8-38266B246E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B4140-EE73-C912-E001-9C4F79F0EAED}"/>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B1FB7E6-A199-33A3-48D0-BF7A5D0072EE}"/>
              </a:ext>
            </a:extLst>
          </p:cNvPr>
          <p:cNvSpPr txBox="1"/>
          <p:nvPr/>
        </p:nvSpPr>
        <p:spPr>
          <a:xfrm>
            <a:off x="403306" y="11357323"/>
            <a:ext cx="9478800" cy="1360958"/>
          </a:xfrm>
          <a:prstGeom prst="rect">
            <a:avLst/>
          </a:prstGeom>
          <a:noFill/>
        </p:spPr>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r>
              <a:rPr lang="en-GB" sz="3600" dirty="0"/>
              <a:t>Type-Safe generators</a:t>
            </a:r>
          </a:p>
          <a:p>
            <a:r>
              <a:rPr lang="en-GB" sz="3600" dirty="0"/>
              <a:t>Generator&lt;</a:t>
            </a:r>
            <a:r>
              <a:rPr lang="en-GB" sz="3600" dirty="0" err="1"/>
              <a:t>YieldType</a:t>
            </a:r>
            <a:r>
              <a:rPr lang="en-GB" sz="3600" dirty="0"/>
              <a:t>, </a:t>
            </a:r>
            <a:r>
              <a:rPr lang="en-GB" sz="3600" dirty="0" err="1"/>
              <a:t>ReturnType</a:t>
            </a:r>
            <a:r>
              <a:rPr lang="en-GB" sz="3600" dirty="0"/>
              <a:t>, </a:t>
            </a:r>
            <a:r>
              <a:rPr lang="en-GB" sz="3600" dirty="0" err="1"/>
              <a:t>NextType</a:t>
            </a:r>
            <a:r>
              <a:rPr lang="en-GB" sz="3600" dirty="0"/>
              <a:t>&gt;</a:t>
            </a:r>
          </a:p>
        </p:txBody>
      </p:sp>
      <p:pic>
        <p:nvPicPr>
          <p:cNvPr id="3" name="Picture 2">
            <a:extLst>
              <a:ext uri="{FF2B5EF4-FFF2-40B4-BE49-F238E27FC236}">
                <a16:creationId xmlns:a16="http://schemas.microsoft.com/office/drawing/2014/main" id="{FFA650F8-0231-4BAA-EC92-9024252D60A9}"/>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5" name="Picture 4">
            <a:extLst>
              <a:ext uri="{FF2B5EF4-FFF2-40B4-BE49-F238E27FC236}">
                <a16:creationId xmlns:a16="http://schemas.microsoft.com/office/drawing/2014/main" id="{F9289BFB-839B-BE29-36CE-5C0BCD4F8943}"/>
              </a:ext>
            </a:extLst>
          </p:cNvPr>
          <p:cNvPicPr preferRelativeResize="0">
            <a:picLocks/>
          </p:cNvPicPr>
          <p:nvPr/>
        </p:nvPicPr>
        <p:blipFill rotWithShape="1">
          <a:blip r:embed="rId4"/>
          <a:srcRect l="18598" t="20203" r="13539" b="12831"/>
          <a:stretch>
            <a:fillRect/>
          </a:stretch>
        </p:blipFill>
        <p:spPr>
          <a:xfrm>
            <a:off x="223306" y="4421840"/>
            <a:ext cx="9838800" cy="6840000"/>
          </a:xfrm>
          <a:prstGeom prst="rect">
            <a:avLst/>
          </a:prstGeom>
        </p:spPr>
      </p:pic>
      <p:cxnSp>
        <p:nvCxnSpPr>
          <p:cNvPr id="6" name="Straight Connector 5">
            <a:extLst>
              <a:ext uri="{FF2B5EF4-FFF2-40B4-BE49-F238E27FC236}">
                <a16:creationId xmlns:a16="http://schemas.microsoft.com/office/drawing/2014/main" id="{E75B7C4D-29B3-28DA-6A73-77621413877D}"/>
              </a:ext>
            </a:extLst>
          </p:cNvPr>
          <p:cNvCxnSpPr>
            <a:cxnSpLocks/>
          </p:cNvCxnSpPr>
          <p:nvPr/>
        </p:nvCxnSpPr>
        <p:spPr>
          <a:xfrm>
            <a:off x="1273624" y="5878281"/>
            <a:ext cx="7560133"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925A2BA-B752-E73E-6B30-EC6A4F960D68}"/>
              </a:ext>
            </a:extLst>
          </p:cNvPr>
          <p:cNvCxnSpPr>
            <a:cxnSpLocks/>
          </p:cNvCxnSpPr>
          <p:nvPr/>
        </p:nvCxnSpPr>
        <p:spPr>
          <a:xfrm>
            <a:off x="2367642" y="5012871"/>
            <a:ext cx="359229"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A3793E-1418-9919-AE2C-28BC32770CF6}"/>
              </a:ext>
            </a:extLst>
          </p:cNvPr>
          <p:cNvCxnSpPr/>
          <p:nvPr/>
        </p:nvCxnSpPr>
        <p:spPr>
          <a:xfrm>
            <a:off x="6939646" y="986246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413D38-71AC-3FD2-7A66-300417CA7170}"/>
              </a:ext>
            </a:extLst>
          </p:cNvPr>
          <p:cNvCxnSpPr/>
          <p:nvPr/>
        </p:nvCxnSpPr>
        <p:spPr>
          <a:xfrm>
            <a:off x="6961415" y="10716995"/>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9785C3-8689-209C-1171-FE65DB1FEDDA}"/>
              </a:ext>
            </a:extLst>
          </p:cNvPr>
          <p:cNvCxnSpPr/>
          <p:nvPr/>
        </p:nvCxnSpPr>
        <p:spPr>
          <a:xfrm>
            <a:off x="1436908" y="680901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85E87FF2-2902-8B56-EE0F-B7F4A37B9A1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12489560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BEED48C-127C-90E2-4A9C-D26F05A98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1FEA09E-D4ED-E3C5-6AB6-17A08D2196E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2" name="Picture 1">
            <a:extLst>
              <a:ext uri="{FF2B5EF4-FFF2-40B4-BE49-F238E27FC236}">
                <a16:creationId xmlns:a16="http://schemas.microsoft.com/office/drawing/2014/main" id="{6D055881-2DCC-6FEC-B8D6-9BB0C567811E}"/>
              </a:ext>
            </a:extLst>
          </p:cNvPr>
          <p:cNvPicPr>
            <a:picLocks noChangeAspect="1"/>
          </p:cNvPicPr>
          <p:nvPr/>
        </p:nvPicPr>
        <p:blipFill>
          <a:blip r:embed="rId3"/>
          <a:stretch>
            <a:fillRect/>
          </a:stretch>
        </p:blipFill>
        <p:spPr>
          <a:xfrm>
            <a:off x="332639" y="3196286"/>
            <a:ext cx="1063167" cy="1063167"/>
          </a:xfrm>
          <a:prstGeom prst="rect">
            <a:avLst/>
          </a:prstGeom>
        </p:spPr>
      </p:pic>
      <p:pic>
        <p:nvPicPr>
          <p:cNvPr id="6" name="Picture 5">
            <a:extLst>
              <a:ext uri="{FF2B5EF4-FFF2-40B4-BE49-F238E27FC236}">
                <a16:creationId xmlns:a16="http://schemas.microsoft.com/office/drawing/2014/main" id="{6957176E-4864-64F9-A0CC-CEFBD018D580}"/>
              </a:ext>
            </a:extLst>
          </p:cNvPr>
          <p:cNvPicPr preferRelativeResize="0">
            <a:picLocks/>
          </p:cNvPicPr>
          <p:nvPr/>
        </p:nvPicPr>
        <p:blipFill rotWithShape="1">
          <a:blip r:embed="rId4"/>
          <a:srcRect l="16983" t="22968" r="10658" b="12896"/>
          <a:stretch>
            <a:fillRect/>
          </a:stretch>
        </p:blipFill>
        <p:spPr>
          <a:xfrm>
            <a:off x="223306" y="4433281"/>
            <a:ext cx="9838800" cy="6840000"/>
          </a:xfrm>
          <a:prstGeom prst="rect">
            <a:avLst/>
          </a:prstGeom>
        </p:spPr>
      </p:pic>
      <p:cxnSp>
        <p:nvCxnSpPr>
          <p:cNvPr id="8" name="Straight Connector 7">
            <a:extLst>
              <a:ext uri="{FF2B5EF4-FFF2-40B4-BE49-F238E27FC236}">
                <a16:creationId xmlns:a16="http://schemas.microsoft.com/office/drawing/2014/main" id="{C058DE66-FA09-5791-BAB0-B52FD2DF9883}"/>
              </a:ext>
            </a:extLst>
          </p:cNvPr>
          <p:cNvCxnSpPr/>
          <p:nvPr/>
        </p:nvCxnSpPr>
        <p:spPr>
          <a:xfrm>
            <a:off x="2269669" y="6515100"/>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702BAC-E2A5-08B9-ED1F-4953B63C2BCC}"/>
              </a:ext>
            </a:extLst>
          </p:cNvPr>
          <p:cNvCxnSpPr>
            <a:cxnSpLocks/>
          </p:cNvCxnSpPr>
          <p:nvPr/>
        </p:nvCxnSpPr>
        <p:spPr>
          <a:xfrm>
            <a:off x="1899550" y="9263746"/>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E75571-6E6D-47B0-E5E4-246B407D5399}"/>
              </a:ext>
            </a:extLst>
          </p:cNvPr>
          <p:cNvCxnSpPr>
            <a:cxnSpLocks/>
          </p:cNvCxnSpPr>
          <p:nvPr/>
        </p:nvCxnSpPr>
        <p:spPr>
          <a:xfrm>
            <a:off x="1904991" y="10330552"/>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2118A8A4-EEEE-0267-D5CA-F498309EF68D}"/>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4271288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3EF611F0-11B9-99B2-760D-98ABB8B5DE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CE46E4E-FC71-62B0-F35F-6155C3480570}"/>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B59EE729-51A7-1A72-9EF0-FEA9C08E31AC}"/>
              </a:ext>
            </a:extLst>
          </p:cNvPr>
          <p:cNvSpPr txBox="1"/>
          <p:nvPr/>
        </p:nvSpPr>
        <p:spPr>
          <a:xfrm>
            <a:off x="223306" y="4984252"/>
            <a:ext cx="9838800" cy="3517198"/>
          </a:xfrm>
          <a:prstGeom prst="rect">
            <a:avLst/>
          </a:prstGeom>
          <a:noFill/>
        </p:spPr>
        <p:txBody>
          <a:bodyPr wrap="square" rtlCol="0">
            <a:noAutofit/>
          </a:bodyPr>
          <a:lstStyle/>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What‘s your opinion on this?</a:t>
            </a:r>
          </a:p>
          <a:p>
            <a:pPr algn="ctr"/>
            <a:endPar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Drop a comment below!</a:t>
            </a:r>
          </a:p>
          <a:p>
            <a:pPr marL="685800" indent="-685800" algn="ctr">
              <a:buFont typeface="Arial" panose="020B0604020202020204" pitchFamily="34" charset="0"/>
              <a:buChar char="•"/>
            </a:pPr>
            <a:endParaRPr lang="en-GB"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Tree>
    <p:extLst>
      <p:ext uri="{BB962C8B-B14F-4D97-AF65-F5344CB8AC3E}">
        <p14:creationId xmlns:p14="http://schemas.microsoft.com/office/powerpoint/2010/main" val="130352299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FF269-B2FD-EA3C-8D04-8145409E4B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FB8917-71D4-7326-2880-8F509C7F00E2}"/>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8" name="Picture 7">
            <a:extLst>
              <a:ext uri="{FF2B5EF4-FFF2-40B4-BE49-F238E27FC236}">
                <a16:creationId xmlns:a16="http://schemas.microsoft.com/office/drawing/2014/main" id="{E25D4D74-3A4F-A430-9076-F20DF9143AEA}"/>
              </a:ext>
            </a:extLst>
          </p:cNvPr>
          <p:cNvPicPr preferRelativeResize="0">
            <a:picLocks/>
          </p:cNvPicPr>
          <p:nvPr/>
        </p:nvPicPr>
        <p:blipFill rotWithShape="1">
          <a:blip r:embed="rId3"/>
          <a:srcRect l="20704" t="43245" r="16568" b="27783"/>
          <a:stretch>
            <a:fillRect/>
          </a:stretch>
        </p:blipFill>
        <p:spPr>
          <a:xfrm>
            <a:off x="223306" y="4793099"/>
            <a:ext cx="4500000" cy="1440000"/>
          </a:xfrm>
          <a:prstGeom prst="rect">
            <a:avLst/>
          </a:prstGeom>
        </p:spPr>
      </p:pic>
      <p:pic>
        <p:nvPicPr>
          <p:cNvPr id="10" name="Picture 9">
            <a:extLst>
              <a:ext uri="{FF2B5EF4-FFF2-40B4-BE49-F238E27FC236}">
                <a16:creationId xmlns:a16="http://schemas.microsoft.com/office/drawing/2014/main" id="{FA6272AF-18DA-2A80-B9B2-1D38636B2FD9}"/>
              </a:ext>
            </a:extLst>
          </p:cNvPr>
          <p:cNvPicPr preferRelativeResize="0">
            <a:picLocks/>
          </p:cNvPicPr>
          <p:nvPr/>
        </p:nvPicPr>
        <p:blipFill rotWithShape="1">
          <a:blip r:embed="rId4"/>
          <a:srcRect l="27920" t="45875" r="17673" b="27215"/>
          <a:stretch>
            <a:fillRect/>
          </a:stretch>
        </p:blipFill>
        <p:spPr>
          <a:xfrm>
            <a:off x="5562107" y="4793099"/>
            <a:ext cx="4500000" cy="1440000"/>
          </a:xfrm>
          <a:prstGeom prst="rect">
            <a:avLst/>
          </a:prstGeom>
        </p:spPr>
      </p:pic>
      <p:pic>
        <p:nvPicPr>
          <p:cNvPr id="11" name="Picture 10">
            <a:extLst>
              <a:ext uri="{FF2B5EF4-FFF2-40B4-BE49-F238E27FC236}">
                <a16:creationId xmlns:a16="http://schemas.microsoft.com/office/drawing/2014/main" id="{CFFA9ABC-312B-001A-A1BF-9665A5DFBBFA}"/>
              </a:ext>
            </a:extLst>
          </p:cNvPr>
          <p:cNvPicPr>
            <a:picLocks noChangeAspect="1"/>
          </p:cNvPicPr>
          <p:nvPr/>
        </p:nvPicPr>
        <p:blipFill>
          <a:blip r:embed="rId5"/>
          <a:stretch>
            <a:fillRect/>
          </a:stretch>
        </p:blipFill>
        <p:spPr>
          <a:xfrm>
            <a:off x="304927" y="3265561"/>
            <a:ext cx="1063167" cy="1063167"/>
          </a:xfrm>
          <a:prstGeom prst="rect">
            <a:avLst/>
          </a:prstGeom>
        </p:spPr>
      </p:pic>
      <p:sp>
        <p:nvSpPr>
          <p:cNvPr id="12" name="TextBox 11">
            <a:extLst>
              <a:ext uri="{FF2B5EF4-FFF2-40B4-BE49-F238E27FC236}">
                <a16:creationId xmlns:a16="http://schemas.microsoft.com/office/drawing/2014/main" id="{05BEAF7F-283D-7125-159D-3EC25280C426}"/>
              </a:ext>
            </a:extLst>
          </p:cNvPr>
          <p:cNvSpPr txBox="1"/>
          <p:nvPr/>
        </p:nvSpPr>
        <p:spPr>
          <a:xfrm>
            <a:off x="223306" y="7228693"/>
            <a:ext cx="9838800" cy="217854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Do you know, what is difference between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DE" sz="5400" dirty="0">
                <a:ln w="0"/>
                <a:effectLst>
                  <a:outerShdw blurRad="38100" dist="19050" dir="2700000" algn="tl" rotWithShape="0">
                    <a:schemeClr val="dk1">
                      <a:alpha val="40000"/>
                    </a:schemeClr>
                  </a:outerShdw>
                </a:effectLst>
                <a:latin typeface="Patrick Hand" pitchFamily="2" charset="77"/>
              </a:rPr>
              <a:t> and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yield </a:t>
            </a:r>
            <a:r>
              <a:rPr lang="en-DE" sz="5400" dirty="0">
                <a:ln w="0"/>
                <a:effectLst>
                  <a:outerShdw blurRad="38100" dist="19050" dir="2700000" algn="tl" rotWithShape="0">
                    <a:schemeClr val="dk1">
                      <a:alpha val="40000"/>
                    </a:schemeClr>
                  </a:outerShdw>
                </a:effectLst>
                <a:latin typeface="Patrick Hand" pitchFamily="2" charset="77"/>
              </a:rPr>
              <a:t>in python? </a:t>
            </a:r>
            <a:endParaRPr lang="en-GB" sz="5400" dirty="0">
              <a:ln w="0"/>
              <a:effectLst>
                <a:outerShdw blurRad="38100" dist="19050" dir="2700000" algn="tl" rotWithShape="0">
                  <a:schemeClr val="dk1">
                    <a:alpha val="40000"/>
                  </a:schemeClr>
                </a:outerShdw>
              </a:effectLst>
              <a:latin typeface="Patrick Hand" pitchFamily="2" charset="77"/>
            </a:endParaRPr>
          </a:p>
        </p:txBody>
      </p:sp>
      <p:sp>
        <p:nvSpPr>
          <p:cNvPr id="14" name="Equals 13">
            <a:extLst>
              <a:ext uri="{FF2B5EF4-FFF2-40B4-BE49-F238E27FC236}">
                <a16:creationId xmlns:a16="http://schemas.microsoft.com/office/drawing/2014/main" id="{9F824058-82D9-7D6C-9B1C-619335A5E980}"/>
              </a:ext>
            </a:extLst>
          </p:cNvPr>
          <p:cNvSpPr/>
          <p:nvPr/>
        </p:nvSpPr>
        <p:spPr>
          <a:xfrm>
            <a:off x="4678195" y="5388538"/>
            <a:ext cx="914400" cy="914400"/>
          </a:xfrm>
          <a:prstGeom prst="mathEqual">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18" name="Graphic 17" descr="Question Mark with solid fill">
            <a:extLst>
              <a:ext uri="{FF2B5EF4-FFF2-40B4-BE49-F238E27FC236}">
                <a16:creationId xmlns:a16="http://schemas.microsoft.com/office/drawing/2014/main" id="{913BFA38-BA5B-99F6-A0B3-4B8ED9F733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89272" y="4528679"/>
            <a:ext cx="914400" cy="914400"/>
          </a:xfrm>
          <a:prstGeom prst="rect">
            <a:avLst/>
          </a:prstGeom>
        </p:spPr>
      </p:pic>
    </p:spTree>
    <p:extLst>
      <p:ext uri="{BB962C8B-B14F-4D97-AF65-F5344CB8AC3E}">
        <p14:creationId xmlns:p14="http://schemas.microsoft.com/office/powerpoint/2010/main" val="18493453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7A6EB9B-F5EE-231D-01E4-0768CD6F22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1D6189-A108-7C65-7670-219139AB1F65}"/>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32453D2A-656C-3E8A-DE12-7671785A2803}"/>
              </a:ext>
            </a:extLst>
          </p:cNvPr>
          <p:cNvPicPr>
            <a:picLocks noChangeAspect="1"/>
          </p:cNvPicPr>
          <p:nvPr/>
        </p:nvPicPr>
        <p:blipFill>
          <a:blip r:embed="rId3"/>
          <a:stretch>
            <a:fillRect/>
          </a:stretch>
        </p:blipFill>
        <p:spPr>
          <a:xfrm>
            <a:off x="304927" y="3265561"/>
            <a:ext cx="1063167" cy="1063167"/>
          </a:xfrm>
          <a:prstGeom prst="rect">
            <a:avLst/>
          </a:prstGeom>
        </p:spPr>
      </p:pic>
      <p:pic>
        <p:nvPicPr>
          <p:cNvPr id="5" name="Picture 4">
            <a:extLst>
              <a:ext uri="{FF2B5EF4-FFF2-40B4-BE49-F238E27FC236}">
                <a16:creationId xmlns:a16="http://schemas.microsoft.com/office/drawing/2014/main" id="{35464D00-D1E0-76C8-EC5E-6A8461A75022}"/>
              </a:ext>
            </a:extLst>
          </p:cNvPr>
          <p:cNvPicPr>
            <a:picLocks noChangeAspect="1"/>
          </p:cNvPicPr>
          <p:nvPr/>
        </p:nvPicPr>
        <p:blipFill rotWithShape="1">
          <a:blip r:embed="rId4"/>
          <a:srcRect l="20145" t="29169" r="15163" b="22586"/>
          <a:stretch>
            <a:fillRect/>
          </a:stretch>
        </p:blipFill>
        <p:spPr>
          <a:xfrm>
            <a:off x="223306" y="4502557"/>
            <a:ext cx="9838800" cy="5265838"/>
          </a:xfrm>
          <a:prstGeom prst="rect">
            <a:avLst/>
          </a:prstGeom>
        </p:spPr>
      </p:pic>
      <p:cxnSp>
        <p:nvCxnSpPr>
          <p:cNvPr id="6" name="Straight Connector 5">
            <a:extLst>
              <a:ext uri="{FF2B5EF4-FFF2-40B4-BE49-F238E27FC236}">
                <a16:creationId xmlns:a16="http://schemas.microsoft.com/office/drawing/2014/main" id="{6A916F26-6612-DF05-F5E7-481DC2170CE2}"/>
              </a:ext>
            </a:extLst>
          </p:cNvPr>
          <p:cNvCxnSpPr>
            <a:cxnSpLocks/>
          </p:cNvCxnSpPr>
          <p:nvPr/>
        </p:nvCxnSpPr>
        <p:spPr>
          <a:xfrm>
            <a:off x="233306" y="6830762"/>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498B3E6-F0E7-7294-E12A-BF2AF8D09A9A}"/>
              </a:ext>
            </a:extLst>
          </p:cNvPr>
          <p:cNvSpPr txBox="1"/>
          <p:nvPr/>
        </p:nvSpPr>
        <p:spPr>
          <a:xfrm>
            <a:off x="223306" y="9989819"/>
            <a:ext cx="9838800" cy="2178546"/>
          </a:xfrm>
          <a:prstGeom prst="rect">
            <a:avLst/>
          </a:prstGeom>
          <a:noFill/>
        </p:spPr>
        <p:txBody>
          <a:bodyPr wrap="square" rtlCol="0">
            <a:no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Or l</a:t>
            </a:r>
            <a:r>
              <a:rPr lang="en-DE" sz="5400" dirty="0">
                <a:ln w="0"/>
                <a:effectLst>
                  <a:outerShdw blurRad="38100" dist="19050" dir="2700000" algn="tl" rotWithShape="0">
                    <a:schemeClr val="dk1">
                      <a:alpha val="40000"/>
                    </a:schemeClr>
                  </a:outerShdw>
                </a:effectLst>
                <a:latin typeface="Patrick Hand" pitchFamily="2" charset="77"/>
              </a:rPr>
              <a:t>et’s see another example</a:t>
            </a:r>
            <a:endParaRPr lang="en-GB"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30370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DBA51D1-FD4B-0CE6-9C0F-C411D36FC0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99A80B-A18B-FDAF-8ACE-54BAA83306B3}"/>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E758396F-C507-E619-B9F6-E5F4344D4D62}"/>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0F21C4EE-3F9D-50FD-745F-4B1375A185CB}"/>
              </a:ext>
            </a:extLst>
          </p:cNvPr>
          <p:cNvSpPr txBox="1"/>
          <p:nvPr/>
        </p:nvSpPr>
        <p:spPr>
          <a:xfrm>
            <a:off x="223307" y="4593070"/>
            <a:ext cx="9838800" cy="5196392"/>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US" sz="5400" dirty="0">
                <a:ln w="0"/>
                <a:effectLst>
                  <a:outerShdw blurRad="38100" dist="19050" dir="2700000" algn="tl" rotWithShape="0">
                    <a:schemeClr val="dk1">
                      <a:alpha val="40000"/>
                    </a:schemeClr>
                  </a:outerShdw>
                </a:effectLst>
                <a:latin typeface="Patrick Hand" pitchFamily="2" charset="77"/>
              </a:rPr>
              <a:t> (Eager Evaluation) the function processes everything at once and allocates memory for the entire result. This can lead to </a:t>
            </a:r>
            <a:r>
              <a:rPr lang="en-US" sz="5400" b="1" dirty="0">
                <a:ln w="22225">
                  <a:solidFill>
                    <a:schemeClr val="accent2"/>
                  </a:solidFill>
                  <a:prstDash val="solid"/>
                </a:ln>
                <a:solidFill>
                  <a:srgbClr val="FF0000"/>
                </a:solidFill>
                <a:latin typeface="Patrick Hand" pitchFamily="2" charset="77"/>
              </a:rPr>
              <a:t>memory overflows </a:t>
            </a:r>
            <a:r>
              <a:rPr lang="en-US" sz="5400" dirty="0">
                <a:ln w="0"/>
                <a:effectLst>
                  <a:outerShdw blurRad="38100" dist="19050" dir="2700000" algn="tl" rotWithShape="0">
                    <a:schemeClr val="dk1">
                      <a:alpha val="40000"/>
                    </a:schemeClr>
                  </a:outerShdw>
                </a:effectLst>
                <a:latin typeface="Patrick Hand" pitchFamily="2" charset="77"/>
              </a:rPr>
              <a:t>when handling large datasets.</a:t>
            </a:r>
          </a:p>
        </p:txBody>
      </p:sp>
    </p:spTree>
    <p:extLst>
      <p:ext uri="{BB962C8B-B14F-4D97-AF65-F5344CB8AC3E}">
        <p14:creationId xmlns:p14="http://schemas.microsoft.com/office/powerpoint/2010/main" val="212217494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08C4B5B-CEE8-20BD-60C6-789B760313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D9AE4C-E80C-DA62-2994-DC0408CEF769}"/>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62431459-1385-8FCA-BC52-F1AE4714E038}"/>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19D78945-8563-FAB0-47A8-6154BCE18BD3}"/>
              </a:ext>
            </a:extLst>
          </p:cNvPr>
          <p:cNvSpPr txBox="1"/>
          <p:nvPr/>
        </p:nvSpPr>
        <p:spPr>
          <a:xfrm>
            <a:off x="223306" y="4593070"/>
            <a:ext cx="9838800" cy="5895636"/>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(Lazy Evaluation) the function produces values only on demand. It pauses execution after each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and resumes only when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next() </a:t>
            </a:r>
            <a:r>
              <a:rPr lang="en-US" sz="5400" dirty="0">
                <a:ln w="0"/>
                <a:effectLst>
                  <a:outerShdw blurRad="38100" dist="19050" dir="2700000" algn="tl" rotWithShape="0">
                    <a:schemeClr val="dk1">
                      <a:alpha val="40000"/>
                    </a:schemeClr>
                  </a:outerShdw>
                </a:effectLst>
                <a:latin typeface="Patrick Hand" pitchFamily="2" charset="77"/>
              </a:rPr>
              <a:t>is called, making it extremely memory-efficient for high-performance applications.</a:t>
            </a:r>
          </a:p>
          <a:p>
            <a:pPr algn="ctr"/>
            <a:endParaRPr lang="en-US"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02005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E0FD8F5-D6CF-F2C8-3D3A-83F5212EC23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3344B3-4730-DCE9-3E99-5444A73635C4}"/>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123A0EE0-EF47-C343-4E55-7F45E79D1BFD}"/>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2" name="TextBox 1">
            <a:extLst>
              <a:ext uri="{FF2B5EF4-FFF2-40B4-BE49-F238E27FC236}">
                <a16:creationId xmlns:a16="http://schemas.microsoft.com/office/drawing/2014/main" id="{590AD911-2B01-44AB-E10E-BF0BA697B5AB}"/>
              </a:ext>
            </a:extLst>
          </p:cNvPr>
          <p:cNvSpPr txBox="1"/>
          <p:nvPr/>
        </p:nvSpPr>
        <p:spPr>
          <a:xfrm>
            <a:off x="223306" y="4984251"/>
            <a:ext cx="9838800" cy="6275420"/>
          </a:xfrm>
          <a:prstGeom prst="rect">
            <a:avLst/>
          </a:prstGeom>
          <a:noFill/>
        </p:spPr>
        <p:txBody>
          <a:bodyPr wrap="square" rtlCol="0">
            <a:noAutofit/>
          </a:bodyPr>
          <a:lstStyle/>
          <a:p>
            <a:pPr algn="ctr"/>
            <a:r>
              <a:rPr lang="en-GB" sz="6600" dirty="0">
                <a:ln w="0"/>
                <a:effectLst>
                  <a:outerShdw blurRad="38100" dist="19050" dir="2700000" algn="tl" rotWithShape="0">
                    <a:schemeClr val="dk1">
                      <a:alpha val="40000"/>
                    </a:schemeClr>
                  </a:outerShdw>
                </a:effectLst>
                <a:latin typeface="Patrick Hand" pitchFamily="2" charset="77"/>
              </a:rPr>
              <a:t>W</a:t>
            </a:r>
            <a:r>
              <a:rPr lang="en-DE" sz="6600" dirty="0">
                <a:ln w="0"/>
                <a:effectLst>
                  <a:outerShdw blurRad="38100" dist="19050" dir="2700000" algn="tl" rotWithShape="0">
                    <a:schemeClr val="dk1">
                      <a:alpha val="40000"/>
                    </a:schemeClr>
                  </a:outerShdw>
                </a:effectLst>
                <a:latin typeface="Patrick Hand" pitchFamily="2" charset="77"/>
              </a:rPr>
              <a:t>ould you like me to create a concrete example to compare the memory allocation between these two methods?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0525401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9A429AD0-911E-6EEF-9941-80CAF268C21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A59A474-5AEB-FB02-0DF2-A00D0F75AA7F}"/>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t>Optional Params </a:t>
            </a:r>
            <a:r>
              <a:rPr lang="en-GB" sz="4400" b="1" dirty="0">
                <a:ln w="6600">
                  <a:solidFill>
                    <a:schemeClr val="accent2"/>
                  </a:solidFill>
                  <a:prstDash val="solid"/>
                </a:ln>
                <a:solidFill>
                  <a:srgbClr val="FFFFFF"/>
                </a:solidFill>
                <a:effectLst>
                  <a:outerShdw dist="38100" dir="2700000" algn="tl" rotWithShape="0">
                    <a:schemeClr val="accent2"/>
                  </a:outerShdw>
                </a:effectLst>
              </a:rPr>
              <a:t>vs</a:t>
            </a:r>
            <a:r>
              <a:rPr lang="en-GB" sz="4400" b="1" dirty="0"/>
              <a:t> Overloads</a:t>
            </a:r>
            <a:endParaRPr lang="en-GB" sz="11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1019409-E1EA-6469-6D0E-7A16A45BC581}"/>
                  </a:ext>
                </a:extLst>
              </p:cNvPr>
              <p:cNvSpPr txBox="1"/>
              <p:nvPr/>
            </p:nvSpPr>
            <p:spPr>
              <a:xfrm>
                <a:off x="223307" y="6395147"/>
                <a:ext cx="9838800" cy="707886"/>
              </a:xfrm>
              <a:prstGeom prst="rect">
                <a:avLst/>
              </a:prstGeom>
              <a:noFill/>
            </p:spPr>
            <p:txBody>
              <a:bodyPr wrap="square" rtlCol="0">
                <a:spAutoFit/>
              </a:bodyPr>
              <a:lstStyle/>
              <a:p>
                <a:pPr algn="ctr"/>
                <a:r>
                  <a:rPr lang="en-GB" sz="4000" i="1" dirty="0">
                    <a:latin typeface="Cambria Math" panose="02040503050406030204" pitchFamily="18" charset="0"/>
                  </a:rPr>
                  <a:t>f(</a:t>
                </a:r>
                <a:r>
                  <a:rPr lang="en-GB" sz="4000" i="1" dirty="0" err="1">
                    <a:latin typeface="Cambria Math" panose="02040503050406030204" pitchFamily="18" charset="0"/>
                  </a:rPr>
                  <a:t>a,b,c</a:t>
                </a:r>
                <a:r>
                  <a:rPr lang="en-GB" sz="4000" i="1" dirty="0">
                    <a:latin typeface="Cambria Math" panose="02040503050406030204" pitchFamily="18" charset="0"/>
                  </a:rPr>
                  <a:t>) = </a:t>
                </a:r>
                <a14:m>
                  <m:oMath xmlns:m="http://schemas.openxmlformats.org/officeDocument/2006/math">
                    <m:sSup>
                      <m:sSupPr>
                        <m:ctrlPr>
                          <a:rPr lang="en-GB" sz="4000" i="1" smtClean="0">
                            <a:latin typeface="Cambria Math" panose="02040503050406030204" pitchFamily="18" charset="0"/>
                          </a:rPr>
                        </m:ctrlPr>
                      </m:sSupPr>
                      <m:e>
                        <m:r>
                          <a:rPr lang="en-US" sz="4000" b="0" i="1" smtClean="0">
                            <a:latin typeface="Cambria Math" panose="02040503050406030204" pitchFamily="18" charset="0"/>
                          </a:rPr>
                          <m:t>𝑎</m:t>
                        </m:r>
                      </m:e>
                      <m:sup>
                        <m:r>
                          <a:rPr lang="en-GB" sz="4000" i="1" smtClean="0">
                            <a:latin typeface="Cambria Math" panose="02040503050406030204" pitchFamily="18" charset="0"/>
                          </a:rPr>
                          <m:t>2</m:t>
                        </m:r>
                      </m:sup>
                    </m:sSup>
                    <m:r>
                      <a:rPr lang="en-GB" sz="400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𝑏</m:t>
                        </m:r>
                      </m:e>
                      <m:sup>
                        <m:r>
                          <a:rPr lang="en-GB" sz="4000" i="1" smtClean="0">
                            <a:latin typeface="Cambria Math" panose="02040503050406030204" pitchFamily="18" charset="0"/>
                          </a:rPr>
                          <m:t>2</m:t>
                        </m:r>
                      </m:sup>
                    </m:sSup>
                    <m:r>
                      <a:rPr lang="en-US" sz="4000" b="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𝑐</m:t>
                        </m:r>
                      </m:e>
                      <m:sup>
                        <m:r>
                          <a:rPr lang="en-GB" sz="4000" i="1" smtClean="0">
                            <a:latin typeface="Cambria Math" panose="02040503050406030204" pitchFamily="18" charset="0"/>
                          </a:rPr>
                          <m:t>2</m:t>
                        </m:r>
                      </m:sup>
                    </m:sSup>
                  </m:oMath>
                </a14:m>
                <a:endParaRPr lang="en-DE" sz="4000" dirty="0"/>
              </a:p>
            </p:txBody>
          </p:sp>
        </mc:Choice>
        <mc:Fallback xmlns="">
          <p:sp>
            <p:nvSpPr>
              <p:cNvPr id="13" name="TextBox 12">
                <a:extLst>
                  <a:ext uri="{FF2B5EF4-FFF2-40B4-BE49-F238E27FC236}">
                    <a16:creationId xmlns:a16="http://schemas.microsoft.com/office/drawing/2014/main" id="{41019409-E1EA-6469-6D0E-7A16A45BC581}"/>
                  </a:ext>
                </a:extLst>
              </p:cNvPr>
              <p:cNvSpPr txBox="1">
                <a:spLocks noRot="1" noChangeAspect="1" noMove="1" noResize="1" noEditPoints="1" noAdjustHandles="1" noChangeArrowheads="1" noChangeShapeType="1" noTextEdit="1"/>
              </p:cNvSpPr>
              <p:nvPr/>
            </p:nvSpPr>
            <p:spPr>
              <a:xfrm>
                <a:off x="223307" y="6395147"/>
                <a:ext cx="9838800" cy="707886"/>
              </a:xfrm>
              <a:prstGeom prst="rect">
                <a:avLst/>
              </a:prstGeom>
              <a:blipFill>
                <a:blip r:embed="rId2"/>
                <a:stretch>
                  <a:fillRect t="-14035" b="-36842"/>
                </a:stretch>
              </a:blipFill>
            </p:spPr>
            <p:txBody>
              <a:bodyPr/>
              <a:lstStyle/>
              <a:p>
                <a:r>
                  <a:rPr lang="en-DE">
                    <a:noFill/>
                  </a:rPr>
                  <a:t> </a:t>
                </a:r>
              </a:p>
            </p:txBody>
          </p:sp>
        </mc:Fallback>
      </mc:AlternateContent>
      <p:pic>
        <p:nvPicPr>
          <p:cNvPr id="3" name="Picture 2">
            <a:extLst>
              <a:ext uri="{FF2B5EF4-FFF2-40B4-BE49-F238E27FC236}">
                <a16:creationId xmlns:a16="http://schemas.microsoft.com/office/drawing/2014/main" id="{D73AB14F-CD63-950B-6C0B-93DA6EA0542B}"/>
              </a:ext>
            </a:extLst>
          </p:cNvPr>
          <p:cNvPicPr>
            <a:picLocks noChangeAspect="1"/>
          </p:cNvPicPr>
          <p:nvPr/>
        </p:nvPicPr>
        <p:blipFill>
          <a:blip r:embed="rId3"/>
          <a:stretch>
            <a:fillRect/>
          </a:stretch>
        </p:blipFill>
        <p:spPr>
          <a:xfrm>
            <a:off x="321693" y="3184845"/>
            <a:ext cx="1062000" cy="1062000"/>
          </a:xfrm>
          <a:prstGeom prst="rect">
            <a:avLst/>
          </a:prstGeom>
        </p:spPr>
      </p:pic>
      <p:sp>
        <p:nvSpPr>
          <p:cNvPr id="7" name="TextBox 6">
            <a:extLst>
              <a:ext uri="{FF2B5EF4-FFF2-40B4-BE49-F238E27FC236}">
                <a16:creationId xmlns:a16="http://schemas.microsoft.com/office/drawing/2014/main" id="{E179F19C-C86C-170F-EAB2-53D6E5C9C6BC}"/>
              </a:ext>
            </a:extLst>
          </p:cNvPr>
          <p:cNvSpPr txBox="1"/>
          <p:nvPr/>
        </p:nvSpPr>
        <p:spPr>
          <a:xfrm>
            <a:off x="223307" y="4617719"/>
            <a:ext cx="9838800" cy="1617981"/>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Suppose we want to write a function like the one below in Typescript</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B72CAF92-13D6-F6B8-A5A4-6F8C19ADF386}"/>
              </a:ext>
            </a:extLst>
          </p:cNvPr>
          <p:cNvSpPr txBox="1"/>
          <p:nvPr/>
        </p:nvSpPr>
        <p:spPr>
          <a:xfrm>
            <a:off x="223306" y="7780019"/>
            <a:ext cx="9838800" cy="1097069"/>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I change it to the function below</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50894DE1-0A99-5721-CF9A-FB39946DC23B}"/>
              </a:ext>
            </a:extLst>
          </p:cNvPr>
          <p:cNvSpPr txBox="1"/>
          <p:nvPr/>
        </p:nvSpPr>
        <p:spPr>
          <a:xfrm>
            <a:off x="223306" y="9211042"/>
            <a:ext cx="9838800" cy="1097069"/>
          </a:xfrm>
          <a:prstGeom prst="rect">
            <a:avLst/>
          </a:prstGeom>
          <a:noFill/>
        </p:spPr>
        <p:txBody>
          <a:bodyPr wrap="square" rtlCol="0">
            <a:noAutofit/>
          </a:bodyPr>
          <a:lstStyle/>
          <a:p>
            <a:pPr algn="ctr"/>
            <a:r>
              <a:rPr lang="en-GB" sz="4000" dirty="0" err="1"/>
              <a:t>selfPowerSum</a:t>
            </a:r>
            <a:r>
              <a:rPr lang="en-GB" sz="4000" dirty="0"/>
              <a:t>(</a:t>
            </a:r>
            <a:r>
              <a:rPr lang="en-GB" sz="4000" dirty="0" err="1"/>
              <a:t>a,b,c</a:t>
            </a:r>
            <a:r>
              <a:rPr lang="en-GB" sz="4000" dirty="0"/>
              <a:t>) = a**a + b**b + c**c</a:t>
            </a:r>
          </a:p>
        </p:txBody>
      </p:sp>
      <p:sp>
        <p:nvSpPr>
          <p:cNvPr id="10" name="Right Arrow 9">
            <a:extLst>
              <a:ext uri="{FF2B5EF4-FFF2-40B4-BE49-F238E27FC236}">
                <a16:creationId xmlns:a16="http://schemas.microsoft.com/office/drawing/2014/main" id="{92DEF4FA-1C47-BEDE-5C41-8F12B43385C8}"/>
              </a:ext>
            </a:extLst>
          </p:cNvPr>
          <p:cNvSpPr/>
          <p:nvPr/>
        </p:nvSpPr>
        <p:spPr>
          <a:xfrm>
            <a:off x="4685506"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705264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287130D-A926-17D2-13DD-11F0FA37DC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F43537-B641-0F6E-DB36-2D984F3B8FDE}"/>
              </a:ext>
            </a:extLst>
          </p:cNvPr>
          <p:cNvSpPr txBox="1"/>
          <p:nvPr/>
        </p:nvSpPr>
        <p:spPr>
          <a:xfrm>
            <a:off x="223306" y="3159074"/>
            <a:ext cx="9838255" cy="1087772"/>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Use Optional Params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24D0CE48-E586-0347-4968-DFB4CA5770A6}"/>
              </a:ext>
            </a:extLst>
          </p:cNvPr>
          <p:cNvPicPr>
            <a:picLocks noChangeAspect="1"/>
          </p:cNvPicPr>
          <p:nvPr/>
        </p:nvPicPr>
        <p:blipFill>
          <a:blip r:embed="rId2"/>
          <a:stretch>
            <a:fillRect/>
          </a:stretch>
        </p:blipFill>
        <p:spPr>
          <a:xfrm>
            <a:off x="321693" y="3172145"/>
            <a:ext cx="1062000" cy="1062000"/>
          </a:xfrm>
          <a:prstGeom prst="rect">
            <a:avLst/>
          </a:prstGeom>
        </p:spPr>
      </p:pic>
      <p:pic>
        <p:nvPicPr>
          <p:cNvPr id="9" name="Picture 8">
            <a:extLst>
              <a:ext uri="{FF2B5EF4-FFF2-40B4-BE49-F238E27FC236}">
                <a16:creationId xmlns:a16="http://schemas.microsoft.com/office/drawing/2014/main" id="{2741A5AA-4D93-1E75-A781-E5BC38C4CAB4}"/>
              </a:ext>
            </a:extLst>
          </p:cNvPr>
          <p:cNvPicPr>
            <a:picLocks noChangeAspect="1"/>
          </p:cNvPicPr>
          <p:nvPr/>
        </p:nvPicPr>
        <p:blipFill rotWithShape="1">
          <a:blip r:embed="rId3"/>
          <a:srcRect l="16061" t="19155" r="11134" b="12390"/>
          <a:stretch>
            <a:fillRect/>
          </a:stretch>
        </p:blipFill>
        <p:spPr>
          <a:xfrm>
            <a:off x="223307" y="4381500"/>
            <a:ext cx="9838800" cy="7658215"/>
          </a:xfrm>
          <a:prstGeom prst="rect">
            <a:avLst/>
          </a:prstGeom>
        </p:spPr>
      </p:pic>
      <p:cxnSp>
        <p:nvCxnSpPr>
          <p:cNvPr id="10" name="Straight Connector 9">
            <a:extLst>
              <a:ext uri="{FF2B5EF4-FFF2-40B4-BE49-F238E27FC236}">
                <a16:creationId xmlns:a16="http://schemas.microsoft.com/office/drawing/2014/main" id="{5B080012-685A-2FED-AAA4-E6FC35C53A57}"/>
              </a:ext>
            </a:extLst>
          </p:cNvPr>
          <p:cNvCxnSpPr>
            <a:cxnSpLocks/>
          </p:cNvCxnSpPr>
          <p:nvPr/>
        </p:nvCxnSpPr>
        <p:spPr>
          <a:xfrm>
            <a:off x="241328" y="82935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12BCEDC-079B-19F4-71F6-BD3AAAD03F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9903806"/>
            <a:ext cx="914400" cy="914400"/>
          </a:xfrm>
          <a:prstGeom prst="rect">
            <a:avLst/>
          </a:prstGeom>
        </p:spPr>
      </p:pic>
      <p:pic>
        <p:nvPicPr>
          <p:cNvPr id="12" name="Graphic 11" descr="Close with solid fill">
            <a:extLst>
              <a:ext uri="{FF2B5EF4-FFF2-40B4-BE49-F238E27FC236}">
                <a16:creationId xmlns:a16="http://schemas.microsoft.com/office/drawing/2014/main" id="{2B4834A2-C368-8E80-DEE5-B4583C7DBB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4492558"/>
            <a:ext cx="914400" cy="914400"/>
          </a:xfrm>
          <a:prstGeom prst="rect">
            <a:avLst/>
          </a:prstGeom>
        </p:spPr>
      </p:pic>
      <p:sp>
        <p:nvSpPr>
          <p:cNvPr id="14" name="Right Arrow 13">
            <a:extLst>
              <a:ext uri="{FF2B5EF4-FFF2-40B4-BE49-F238E27FC236}">
                <a16:creationId xmlns:a16="http://schemas.microsoft.com/office/drawing/2014/main" id="{D8079D12-7210-78D0-CC8B-B74732F010A7}"/>
              </a:ext>
            </a:extLst>
          </p:cNvPr>
          <p:cNvSpPr/>
          <p:nvPr/>
        </p:nvSpPr>
        <p:spPr>
          <a:xfrm>
            <a:off x="4685507"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275980750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2238D967-192C-3F7A-D5E9-8A0BF53229A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A212AC8-8A62-9817-7EC6-FCEEDCB6D780}"/>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Any Points ?</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15352951-B231-E507-80AC-24A922D4BF0A}"/>
              </a:ext>
            </a:extLst>
          </p:cNvPr>
          <p:cNvPicPr>
            <a:picLocks noChangeAspect="1"/>
          </p:cNvPicPr>
          <p:nvPr/>
        </p:nvPicPr>
        <p:blipFill>
          <a:blip r:embed="rId2"/>
          <a:stretch>
            <a:fillRect/>
          </a:stretch>
        </p:blipFill>
        <p:spPr>
          <a:xfrm>
            <a:off x="321693" y="3184845"/>
            <a:ext cx="1062000" cy="1062000"/>
          </a:xfrm>
          <a:prstGeom prst="rect">
            <a:avLst/>
          </a:prstGeom>
        </p:spPr>
      </p:pic>
      <p:sp>
        <p:nvSpPr>
          <p:cNvPr id="2" name="TextBox 1">
            <a:extLst>
              <a:ext uri="{FF2B5EF4-FFF2-40B4-BE49-F238E27FC236}">
                <a16:creationId xmlns:a16="http://schemas.microsoft.com/office/drawing/2014/main" id="{88FFB917-E1C1-8EBE-106E-357D56B2A648}"/>
              </a:ext>
            </a:extLst>
          </p:cNvPr>
          <p:cNvSpPr txBox="1"/>
          <p:nvPr/>
        </p:nvSpPr>
        <p:spPr>
          <a:xfrm>
            <a:off x="223306"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43798591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5ED55789-4CEC-2ADB-DFE7-72C847BEBC0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D10DE69-3208-F81A-52B1-79FCD20F3CC8}"/>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6595AFBD-5011-F1A6-2229-14D74B388E60}"/>
              </a:ext>
            </a:extLst>
          </p:cNvPr>
          <p:cNvSpPr txBox="1"/>
          <p:nvPr/>
        </p:nvSpPr>
        <p:spPr>
          <a:xfrm>
            <a:off x="-8753367" y="2826600"/>
            <a:ext cx="613821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py_005_infinite_numbers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023CC8A3-0967-1AE5-953D-488271B5CAB4}"/>
              </a:ext>
            </a:extLst>
          </p:cNvPr>
          <p:cNvPicPr>
            <a:picLocks noChangeAspect="1"/>
          </p:cNvPicPr>
          <p:nvPr/>
        </p:nvPicPr>
        <p:blipFill>
          <a:blip r:embed="rId2"/>
          <a:stretch>
            <a:fillRect/>
          </a:stretch>
        </p:blipFill>
        <p:spPr>
          <a:xfrm>
            <a:off x="286071" y="3132277"/>
            <a:ext cx="1063167" cy="1063167"/>
          </a:xfrm>
          <a:prstGeom prst="rect">
            <a:avLst/>
          </a:prstGeom>
        </p:spPr>
      </p:pic>
      <p:pic>
        <p:nvPicPr>
          <p:cNvPr id="4" name="Picture 3">
            <a:extLst>
              <a:ext uri="{FF2B5EF4-FFF2-40B4-BE49-F238E27FC236}">
                <a16:creationId xmlns:a16="http://schemas.microsoft.com/office/drawing/2014/main" id="{6FA3D342-7331-9329-B8CE-1308063C1EEC}"/>
              </a:ext>
            </a:extLst>
          </p:cNvPr>
          <p:cNvPicPr preferRelativeResize="0">
            <a:picLocks/>
          </p:cNvPicPr>
          <p:nvPr/>
        </p:nvPicPr>
        <p:blipFill rotWithShape="1">
          <a:blip r:embed="rId3"/>
          <a:srcRect l="23784" t="24802" r="15187" b="20437"/>
          <a:stretch>
            <a:fillRect/>
          </a:stretch>
        </p:blipFill>
        <p:spPr>
          <a:xfrm>
            <a:off x="223307" y="4278372"/>
            <a:ext cx="9838800" cy="8280000"/>
          </a:xfrm>
          <a:prstGeom prst="rect">
            <a:avLst/>
          </a:prstGeom>
        </p:spPr>
      </p:pic>
      <p:sp>
        <p:nvSpPr>
          <p:cNvPr id="5" name="TextBox 4">
            <a:extLst>
              <a:ext uri="{FF2B5EF4-FFF2-40B4-BE49-F238E27FC236}">
                <a16:creationId xmlns:a16="http://schemas.microsoft.com/office/drawing/2014/main" id="{56B24BD9-D2EB-A936-4EB1-8F03E1B5D1AD}"/>
              </a:ext>
            </a:extLst>
          </p:cNvPr>
          <p:cNvSpPr txBox="1"/>
          <p:nvPr/>
        </p:nvSpPr>
        <p:spPr>
          <a:xfrm>
            <a:off x="223307"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23007046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FB48176E-9BCC-60CD-6B3F-23AE058F0D4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9AAB35F8-DCAE-E348-4A46-202D8DBE823D}"/>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BF4CC50A-1E24-998F-0D8E-DD7F8E75EA86}"/>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9080AFF-C3F1-C119-B4BD-4FA4BA392AC2}"/>
              </a:ext>
            </a:extLst>
          </p:cNvPr>
          <p:cNvPicPr preferRelativeResize="0">
            <a:picLocks/>
          </p:cNvPicPr>
          <p:nvPr/>
        </p:nvPicPr>
        <p:blipFill rotWithShape="1">
          <a:blip r:embed="rId2"/>
          <a:srcRect l="21119" t="22450" r="13467" b="17996"/>
          <a:stretch>
            <a:fillRect/>
          </a:stretch>
        </p:blipFill>
        <p:spPr>
          <a:xfrm>
            <a:off x="223306" y="4278372"/>
            <a:ext cx="9838800" cy="8280000"/>
          </a:xfrm>
          <a:prstGeom prst="rect">
            <a:avLst/>
          </a:prstGeom>
        </p:spPr>
      </p:pic>
      <p:pic>
        <p:nvPicPr>
          <p:cNvPr id="6" name="Picture 5">
            <a:extLst>
              <a:ext uri="{FF2B5EF4-FFF2-40B4-BE49-F238E27FC236}">
                <a16:creationId xmlns:a16="http://schemas.microsoft.com/office/drawing/2014/main" id="{89C234C9-1FF6-E25E-7BA8-5BDFDBCD7FD8}"/>
              </a:ext>
            </a:extLst>
          </p:cNvPr>
          <p:cNvPicPr>
            <a:picLocks noChangeAspect="1"/>
          </p:cNvPicPr>
          <p:nvPr/>
        </p:nvPicPr>
        <p:blipFill>
          <a:blip r:embed="rId3"/>
          <a:stretch>
            <a:fillRect/>
          </a:stretch>
        </p:blipFill>
        <p:spPr>
          <a:xfrm>
            <a:off x="337472" y="3152440"/>
            <a:ext cx="1062000" cy="1062000"/>
          </a:xfrm>
          <a:prstGeom prst="rect">
            <a:avLst/>
          </a:prstGeom>
        </p:spPr>
      </p:pic>
      <p:sp>
        <p:nvSpPr>
          <p:cNvPr id="7" name="TextBox 6">
            <a:extLst>
              <a:ext uri="{FF2B5EF4-FFF2-40B4-BE49-F238E27FC236}">
                <a16:creationId xmlns:a16="http://schemas.microsoft.com/office/drawing/2014/main" id="{4E19034F-3485-A20B-8828-9BFF62065FC8}"/>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198803220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6D85BD46-C766-91E0-4196-4B58DF75D8B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4063A0C-A63F-0AA5-FE54-088568FF441C}"/>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505749FD-6198-5794-38F2-79D4B24845E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8916222-E1B0-7561-C659-57BA11EAE1C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5" name="Picture 4">
            <a:extLst>
              <a:ext uri="{FF2B5EF4-FFF2-40B4-BE49-F238E27FC236}">
                <a16:creationId xmlns:a16="http://schemas.microsoft.com/office/drawing/2014/main" id="{E6E7AD87-D5FA-28E6-CA32-35C3229E00BA}"/>
              </a:ext>
            </a:extLst>
          </p:cNvPr>
          <p:cNvPicPr preferRelativeResize="0">
            <a:picLocks/>
          </p:cNvPicPr>
          <p:nvPr/>
        </p:nvPicPr>
        <p:blipFill rotWithShape="1">
          <a:blip r:embed="rId3"/>
          <a:srcRect l="20401" t="20211" r="13702" b="13574"/>
          <a:stretch>
            <a:fillRect/>
          </a:stretch>
        </p:blipFill>
        <p:spPr>
          <a:xfrm>
            <a:off x="223307" y="4279900"/>
            <a:ext cx="9838800" cy="8280000"/>
          </a:xfrm>
          <a:prstGeom prst="rect">
            <a:avLst/>
          </a:prstGeom>
        </p:spPr>
      </p:pic>
      <p:sp>
        <p:nvSpPr>
          <p:cNvPr id="6" name="TextBox 5">
            <a:extLst>
              <a:ext uri="{FF2B5EF4-FFF2-40B4-BE49-F238E27FC236}">
                <a16:creationId xmlns:a16="http://schemas.microsoft.com/office/drawing/2014/main" id="{25AD5A4B-B397-BDAB-BF0B-C85CBDE9DAA1}"/>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36761861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E002470D-0366-469B-E08A-729D2BC430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080C467-6CE6-CF10-B480-D97B9219CA06}"/>
              </a:ext>
            </a:extLst>
          </p:cNvPr>
          <p:cNvSpPr txBox="1"/>
          <p:nvPr/>
        </p:nvSpPr>
        <p:spPr>
          <a:xfrm>
            <a:off x="223306"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AAB6FC94-3D51-5683-C85B-BC69BF17696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A4BD4248-AD20-88B1-31F4-C9BBF95BFB97}"/>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743F2310-9A40-153E-55DA-3CCAFC1D729C}"/>
              </a:ext>
            </a:extLst>
          </p:cNvPr>
          <p:cNvSpPr txBox="1"/>
          <p:nvPr/>
        </p:nvSpPr>
        <p:spPr>
          <a:xfrm>
            <a:off x="223307" y="4275105"/>
            <a:ext cx="9838800" cy="9861021"/>
          </a:xfrm>
          <a:prstGeom prst="rect">
            <a:avLst/>
          </a:prstGeom>
          <a:noFill/>
        </p:spPr>
        <p:txBody>
          <a:bodyPr wrap="square" rtlCol="0">
            <a:no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TypeORM</a:t>
            </a:r>
            <a:r>
              <a:rPr lang="en-DE" sz="6600" dirty="0">
                <a:ln w="0"/>
                <a:effectLst>
                  <a:outerShdw blurRad="38100" dist="19050" dir="2700000" algn="tl" rotWithShape="0">
                    <a:schemeClr val="dk1">
                      <a:alpha val="40000"/>
                    </a:schemeClr>
                  </a:outerShdw>
                </a:effectLst>
                <a:latin typeface="Patrick Hand" pitchFamily="2" charset="77"/>
              </a:rPr>
              <a:t> is an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ORM</a:t>
            </a:r>
            <a:r>
              <a:rPr lang="en-DE" sz="6600" dirty="0">
                <a:ln w="0"/>
                <a:effectLst>
                  <a:outerShdw blurRad="38100" dist="19050" dir="2700000" algn="tl" rotWithShape="0">
                    <a:schemeClr val="dk1">
                      <a:alpha val="40000"/>
                    </a:schemeClr>
                  </a:outerShdw>
                </a:effectLst>
                <a:latin typeface="Patrick Hand" pitchFamily="2" charset="77"/>
              </a:rPr>
              <a:t> (Object relational mapping) for the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typescript</a:t>
            </a:r>
            <a:r>
              <a:rPr lang="en-DE" sz="6600" dirty="0">
                <a:ln w="0"/>
                <a:effectLst>
                  <a:outerShdw blurRad="38100" dist="19050" dir="2700000" algn="tl" rotWithShape="0">
                    <a:schemeClr val="dk1">
                      <a:alpha val="40000"/>
                    </a:schemeClr>
                  </a:outerShdw>
                </a:effectLst>
                <a:latin typeface="Patrick Hand" pitchFamily="2" charset="77"/>
              </a:rPr>
              <a:t>,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javascript</a:t>
            </a:r>
            <a:r>
              <a:rPr lang="en-DE" sz="6600" dirty="0">
                <a:ln w="0"/>
                <a:effectLst>
                  <a:outerShdw blurRad="38100" dist="19050" dir="2700000" algn="tl" rotWithShape="0">
                    <a:schemeClr val="dk1">
                      <a:alpha val="40000"/>
                    </a:schemeClr>
                  </a:outerShdw>
                </a:effectLst>
                <a:latin typeface="Patrick Hand" pitchFamily="2" charset="77"/>
              </a:rPr>
              <a:t> world. It allows you to avoid complex SQL queries by acting as a bdridge between relational databases and Object-Oriented Programming(OOP).</a:t>
            </a:r>
          </a:p>
        </p:txBody>
      </p:sp>
      <p:pic>
        <p:nvPicPr>
          <p:cNvPr id="1026" name="Picture 2" descr="TypeORM Logo">
            <a:extLst>
              <a:ext uri="{FF2B5EF4-FFF2-40B4-BE49-F238E27FC236}">
                <a16:creationId xmlns:a16="http://schemas.microsoft.com/office/drawing/2014/main" id="{D0C31FEC-009E-00AD-186A-D0BBD2B050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3" name="Right Arrow 2">
            <a:extLst>
              <a:ext uri="{FF2B5EF4-FFF2-40B4-BE49-F238E27FC236}">
                <a16:creationId xmlns:a16="http://schemas.microsoft.com/office/drawing/2014/main" id="{A50C6C6C-77DA-62D5-507C-030E9BF049E6}"/>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76642470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E1C2A68-4E6B-9939-A935-66BBD14071B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F59CDDA-F479-92C7-E072-C35AA1BDD0F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0618A91E-DC57-04FE-AAC6-A68744C30EA8}"/>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54FA0747-66E6-B397-B315-E48F645887FE}"/>
              </a:ext>
            </a:extLst>
          </p:cNvPr>
          <p:cNvSpPr txBox="1"/>
          <p:nvPr/>
        </p:nvSpPr>
        <p:spPr>
          <a:xfrm>
            <a:off x="223306" y="4271469"/>
            <a:ext cx="9838800" cy="8184142"/>
          </a:xfrm>
          <a:prstGeom prst="rect">
            <a:avLst/>
          </a:prstGeom>
          <a:noFill/>
        </p:spPr>
        <p:txBody>
          <a:bodyPr wrap="square" rtlCol="0">
            <a:noAutofit/>
          </a:bodyPr>
          <a:lstStyle/>
          <a:p>
            <a:pPr algn="ctr"/>
            <a:r>
              <a:rPr lang="en-GB" sz="66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r>
              <a:rPr lang="en-GB" sz="6600" dirty="0">
                <a:ln w="0"/>
                <a:effectLst>
                  <a:outerShdw blurRad="38100" dist="19050" dir="2700000" algn="tl" rotWithShape="0">
                    <a:schemeClr val="dk1">
                      <a:alpha val="40000"/>
                    </a:schemeClr>
                  </a:outerShdw>
                </a:effectLst>
                <a:latin typeface="Patrick Hand" pitchFamily="2" charset="77"/>
              </a:rPr>
              <a:t> supports a wide range of databases, including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PostgreSQL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MySQL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MariaDB</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Oracle</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MS SQL Server</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SQLite</a:t>
            </a:r>
            <a:r>
              <a:rPr lang="en-GB" sz="6600" dirty="0">
                <a:ln w="0"/>
                <a:effectLst>
                  <a:outerShdw blurRad="38100" dist="19050" dir="2700000" algn="tl" rotWithShape="0">
                    <a:schemeClr val="dk1">
                      <a:alpha val="40000"/>
                    </a:schemeClr>
                  </a:outerShdw>
                </a:effectLst>
                <a:latin typeface="Patrick Hand" pitchFamily="2" charset="77"/>
              </a:rPr>
              <a:t>, and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MongoDB</a:t>
            </a:r>
            <a:r>
              <a:rPr lang="en-GB" sz="6600" dirty="0">
                <a:ln w="0"/>
                <a:effectLst>
                  <a:outerShdw blurRad="38100" dist="19050" dir="2700000" algn="tl" rotWithShape="0">
                    <a:schemeClr val="dk1">
                      <a:alpha val="40000"/>
                    </a:schemeClr>
                  </a:outerShdw>
                </a:effectLst>
                <a:latin typeface="Patrick Hand" pitchFamily="2" charset="77"/>
              </a:rPr>
              <a:t>. This flexibility allows you to switch between different database engines with minimal code changes.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3" name="Picture 2" descr="TypeORM Logo">
            <a:extLst>
              <a:ext uri="{FF2B5EF4-FFF2-40B4-BE49-F238E27FC236}">
                <a16:creationId xmlns:a16="http://schemas.microsoft.com/office/drawing/2014/main" id="{6F1F2298-DF48-1974-6E30-96DBA8C5189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grpSp>
        <p:nvGrpSpPr>
          <p:cNvPr id="16" name="Group 15">
            <a:extLst>
              <a:ext uri="{FF2B5EF4-FFF2-40B4-BE49-F238E27FC236}">
                <a16:creationId xmlns:a16="http://schemas.microsoft.com/office/drawing/2014/main" id="{D3A7B382-5FFE-1EB0-A9E2-5228930C8768}"/>
              </a:ext>
            </a:extLst>
          </p:cNvPr>
          <p:cNvGrpSpPr/>
          <p:nvPr/>
        </p:nvGrpSpPr>
        <p:grpSpPr>
          <a:xfrm>
            <a:off x="843250" y="12885104"/>
            <a:ext cx="8598913" cy="1800000"/>
            <a:chOff x="1422945" y="10389035"/>
            <a:chExt cx="8598913" cy="1800000"/>
          </a:xfrm>
        </p:grpSpPr>
        <p:pic>
          <p:nvPicPr>
            <p:cNvPr id="7" name="Graphic 6">
              <a:extLst>
                <a:ext uri="{FF2B5EF4-FFF2-40B4-BE49-F238E27FC236}">
                  <a16:creationId xmlns:a16="http://schemas.microsoft.com/office/drawing/2014/main" id="{32CD9CF0-323C-C246-109F-BD29AFCF6F8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55553" y="10389035"/>
              <a:ext cx="1800000" cy="1800000"/>
            </a:xfrm>
            <a:prstGeom prst="rect">
              <a:avLst/>
            </a:prstGeom>
          </p:spPr>
        </p:pic>
        <p:pic>
          <p:nvPicPr>
            <p:cNvPr id="11" name="Graphic 10">
              <a:extLst>
                <a:ext uri="{FF2B5EF4-FFF2-40B4-BE49-F238E27FC236}">
                  <a16:creationId xmlns:a16="http://schemas.microsoft.com/office/drawing/2014/main" id="{FFFEF2D0-488A-F0EB-7EC4-BAAE34EECE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89249" y="10389035"/>
              <a:ext cx="1800000" cy="1800000"/>
            </a:xfrm>
            <a:prstGeom prst="rect">
              <a:avLst/>
            </a:prstGeom>
          </p:spPr>
        </p:pic>
        <p:pic>
          <p:nvPicPr>
            <p:cNvPr id="13" name="Graphic 12">
              <a:extLst>
                <a:ext uri="{FF2B5EF4-FFF2-40B4-BE49-F238E27FC236}">
                  <a16:creationId xmlns:a16="http://schemas.microsoft.com/office/drawing/2014/main" id="{50DA19DD-695D-477B-1155-225D7583FC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22945" y="10389035"/>
              <a:ext cx="1800000" cy="1800000"/>
            </a:xfrm>
            <a:prstGeom prst="rect">
              <a:avLst/>
            </a:prstGeom>
          </p:spPr>
        </p:pic>
        <p:pic>
          <p:nvPicPr>
            <p:cNvPr id="15" name="Graphic 14">
              <a:extLst>
                <a:ext uri="{FF2B5EF4-FFF2-40B4-BE49-F238E27FC236}">
                  <a16:creationId xmlns:a16="http://schemas.microsoft.com/office/drawing/2014/main" id="{D426DE27-C71B-04BC-50C7-691D5391EB6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221858" y="10389035"/>
              <a:ext cx="1800000" cy="1800000"/>
            </a:xfrm>
            <a:prstGeom prst="rect">
              <a:avLst/>
            </a:prstGeom>
          </p:spPr>
        </p:pic>
      </p:grpSp>
      <p:sp>
        <p:nvSpPr>
          <p:cNvPr id="17" name="Right Arrow 16">
            <a:extLst>
              <a:ext uri="{FF2B5EF4-FFF2-40B4-BE49-F238E27FC236}">
                <a16:creationId xmlns:a16="http://schemas.microsoft.com/office/drawing/2014/main" id="{9F6D0B33-A21C-CEF9-60A2-2B14169D3015}"/>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8" name="TextBox 17">
            <a:extLst>
              <a:ext uri="{FF2B5EF4-FFF2-40B4-BE49-F238E27FC236}">
                <a16:creationId xmlns:a16="http://schemas.microsoft.com/office/drawing/2014/main" id="{EA687CA0-2FBB-DAC5-FEB4-13CEF7D8C37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4960240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D7517B8-0A3B-8B33-B737-511C982123E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DB87F16-FA3C-9AC7-1E7F-B0E5758B03BA}"/>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1EDAB38E-4492-C685-E030-49C65F66933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5ECED8DC-BD42-2C87-E2D0-99B03614FD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52D44B4-D1A4-6634-ABA4-574641FB9509}"/>
              </a:ext>
            </a:extLst>
          </p:cNvPr>
          <p:cNvPicPr>
            <a:picLocks noChangeAspect="1"/>
          </p:cNvPicPr>
          <p:nvPr/>
        </p:nvPicPr>
        <p:blipFill rotWithShape="1">
          <a:blip r:embed="rId5"/>
          <a:srcRect l="22791" t="19828" r="13571" b="13560"/>
          <a:stretch>
            <a:fillRect/>
          </a:stretch>
        </p:blipFill>
        <p:spPr>
          <a:xfrm>
            <a:off x="223307" y="4275434"/>
            <a:ext cx="9838800" cy="10845920"/>
          </a:xfrm>
          <a:prstGeom prst="rect">
            <a:avLst/>
          </a:prstGeom>
        </p:spPr>
      </p:pic>
      <p:sp>
        <p:nvSpPr>
          <p:cNvPr id="7" name="Right Arrow 6">
            <a:extLst>
              <a:ext uri="{FF2B5EF4-FFF2-40B4-BE49-F238E27FC236}">
                <a16:creationId xmlns:a16="http://schemas.microsoft.com/office/drawing/2014/main" id="{07DAC0D8-418F-B62B-D006-83BF620948E0}"/>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8" name="TextBox 7">
            <a:extLst>
              <a:ext uri="{FF2B5EF4-FFF2-40B4-BE49-F238E27FC236}">
                <a16:creationId xmlns:a16="http://schemas.microsoft.com/office/drawing/2014/main" id="{5A510DF5-AF04-09B6-435B-BDDB016B8A9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4221756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50F78A-1986-C0DF-A790-8F33D99A351C}"/>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4A20D31-7934-DE73-595D-281CA6D4DF2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81334F0C-6A43-2A20-9D12-3A8524DE01E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8C59B2E4-715F-B40C-1AF2-6153ABA5418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9BFF542-CD32-9801-4692-AFA29A74FAF4}"/>
              </a:ext>
            </a:extLst>
          </p:cNvPr>
          <p:cNvSpPr txBox="1"/>
          <p:nvPr/>
        </p:nvSpPr>
        <p:spPr>
          <a:xfrm>
            <a:off x="223306" y="12065509"/>
            <a:ext cx="9838800" cy="2268325"/>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Each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entity</a:t>
            </a:r>
            <a:r>
              <a:rPr lang="en-DE" sz="6600" dirty="0">
                <a:ln w="0"/>
                <a:effectLst>
                  <a:outerShdw blurRad="38100" dist="19050" dir="2700000" algn="tl" rotWithShape="0">
                    <a:schemeClr val="dk1">
                      <a:alpha val="40000"/>
                    </a:schemeClr>
                  </a:outerShdw>
                </a:effectLst>
                <a:latin typeface="Patrick Hand" pitchFamily="2" charset="77"/>
              </a:rPr>
              <a:t> must be registered in your Data Source option.</a:t>
            </a:r>
          </a:p>
        </p:txBody>
      </p:sp>
      <p:sp>
        <p:nvSpPr>
          <p:cNvPr id="10" name="Right Arrow 9">
            <a:extLst>
              <a:ext uri="{FF2B5EF4-FFF2-40B4-BE49-F238E27FC236}">
                <a16:creationId xmlns:a16="http://schemas.microsoft.com/office/drawing/2014/main" id="{A0FCCDE8-859B-B05E-85F8-1D9F687C3764}"/>
              </a:ext>
            </a:extLst>
          </p:cNvPr>
          <p:cNvSpPr/>
          <p:nvPr/>
        </p:nvSpPr>
        <p:spPr>
          <a:xfrm>
            <a:off x="4597861"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66F0C03C-505B-1BC4-BA57-190194E4C76D}"/>
              </a:ext>
            </a:extLst>
          </p:cNvPr>
          <p:cNvPicPr>
            <a:picLocks noChangeAspect="1"/>
          </p:cNvPicPr>
          <p:nvPr/>
        </p:nvPicPr>
        <p:blipFill rotWithShape="1">
          <a:blip r:embed="rId5"/>
          <a:srcRect l="20372" t="23465" r="14026" b="15597"/>
          <a:stretch>
            <a:fillRect/>
          </a:stretch>
        </p:blipFill>
        <p:spPr>
          <a:xfrm>
            <a:off x="223307" y="4265909"/>
            <a:ext cx="9838800" cy="7676093"/>
          </a:xfrm>
          <a:prstGeom prst="rect">
            <a:avLst/>
          </a:prstGeom>
        </p:spPr>
      </p:pic>
      <p:sp>
        <p:nvSpPr>
          <p:cNvPr id="13" name="TextBox 12">
            <a:extLst>
              <a:ext uri="{FF2B5EF4-FFF2-40B4-BE49-F238E27FC236}">
                <a16:creationId xmlns:a16="http://schemas.microsoft.com/office/drawing/2014/main" id="{910AD74D-6658-A75C-5B4D-0F58EB19897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5971450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8108F73-C82D-F26B-F8A6-9CFCD8B5B25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94B14C2-CB32-F942-75E9-73B33F1CBEC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F2E5CE70-9D19-DDAA-B0F0-AF0567CA7030}"/>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CF8B4006-4FDC-A311-D280-765329A9B8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4FBACDC-A450-873E-E19F-139B9E40CEC8}"/>
              </a:ext>
            </a:extLst>
          </p:cNvPr>
          <p:cNvSpPr txBox="1"/>
          <p:nvPr/>
        </p:nvSpPr>
        <p:spPr>
          <a:xfrm>
            <a:off x="223307" y="10027799"/>
            <a:ext cx="9838800" cy="4231898"/>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To manage your data, use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save</a:t>
            </a:r>
            <a:r>
              <a:rPr lang="en-DE" sz="5400" dirty="0">
                <a:ln w="0"/>
                <a:effectLst>
                  <a:outerShdw blurRad="38100" dist="19050" dir="2700000" algn="tl" rotWithShape="0">
                    <a:schemeClr val="dk1">
                      <a:alpha val="40000"/>
                    </a:schemeClr>
                  </a:outerShdw>
                </a:effectLst>
                <a:latin typeface="Patrick Hand" pitchFamily="2" charset="77"/>
              </a:rPr>
              <a:t> method from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AppDataSource.manager </a:t>
            </a:r>
            <a:r>
              <a:rPr lang="en-DE" sz="5400" dirty="0">
                <a:ln w="0"/>
                <a:effectLst>
                  <a:outerShdw blurRad="38100" dist="19050" dir="2700000" algn="tl" rotWithShape="0">
                    <a:schemeClr val="dk1">
                      <a:alpha val="40000"/>
                    </a:schemeClr>
                  </a:outerShdw>
                </a:effectLst>
                <a:latin typeface="Patrick Hand" pitchFamily="2" charset="77"/>
              </a:rPr>
              <a:t>to persist new records, and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find</a:t>
            </a:r>
            <a:r>
              <a:rPr lang="en-DE" sz="5400" dirty="0">
                <a:ln w="0"/>
                <a:effectLst>
                  <a:outerShdw blurRad="38100" dist="19050" dir="2700000" algn="tl" rotWithShape="0">
                    <a:schemeClr val="dk1">
                      <a:alpha val="40000"/>
                    </a:schemeClr>
                  </a:outerShdw>
                </a:effectLst>
                <a:latin typeface="Patrick Hand" pitchFamily="2" charset="77"/>
              </a:rPr>
              <a:t> method to retrieve your previously saved data efficiently .</a:t>
            </a:r>
          </a:p>
        </p:txBody>
      </p:sp>
      <p:sp>
        <p:nvSpPr>
          <p:cNvPr id="10" name="Right Arrow 9">
            <a:extLst>
              <a:ext uri="{FF2B5EF4-FFF2-40B4-BE49-F238E27FC236}">
                <a16:creationId xmlns:a16="http://schemas.microsoft.com/office/drawing/2014/main" id="{FE9AAD56-EDE3-154E-4D32-EFE3B238A749}"/>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BAA97540-019B-787E-F7B6-734FF99AB767}"/>
              </a:ext>
            </a:extLst>
          </p:cNvPr>
          <p:cNvPicPr>
            <a:picLocks noChangeAspect="1"/>
          </p:cNvPicPr>
          <p:nvPr/>
        </p:nvPicPr>
        <p:blipFill rotWithShape="1">
          <a:blip r:embed="rId5"/>
          <a:srcRect l="23740" t="29056" r="12930" b="23569"/>
          <a:stretch>
            <a:fillRect/>
          </a:stretch>
        </p:blipFill>
        <p:spPr>
          <a:xfrm>
            <a:off x="223306" y="4288939"/>
            <a:ext cx="9838800" cy="5705265"/>
          </a:xfrm>
          <a:prstGeom prst="rect">
            <a:avLst/>
          </a:prstGeom>
        </p:spPr>
      </p:pic>
      <p:sp>
        <p:nvSpPr>
          <p:cNvPr id="13" name="TextBox 12">
            <a:extLst>
              <a:ext uri="{FF2B5EF4-FFF2-40B4-BE49-F238E27FC236}">
                <a16:creationId xmlns:a16="http://schemas.microsoft.com/office/drawing/2014/main" id="{B8E573FC-B937-F172-5723-C820720C891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799990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67CD703-2F32-F143-928D-80C3AA200A8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43E3BC4E-C10C-84C6-259D-BED4555F7C82}"/>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6F01B537-4D97-8BEC-C2F3-2672AAD5C314}"/>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C662F1CB-0492-2C3A-D7A8-3EFD1E30746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66E707AB-1C5B-73C5-DAEE-BF0C1CD06C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0B98A85-981F-4862-7ED4-351A333E9A83}"/>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99669867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C498022-1CF0-2831-6C26-DA5D109733B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6066B85-1DF1-5253-B1EB-73610B94690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FB422B08-C9E4-BBEC-807F-1C8299693CD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AA0C9A-1AD0-00EE-0C06-512851A145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02543D-04BC-1C96-EE37-1433E8289FE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7" name="TextBox 6">
            <a:extLst>
              <a:ext uri="{FF2B5EF4-FFF2-40B4-BE49-F238E27FC236}">
                <a16:creationId xmlns:a16="http://schemas.microsoft.com/office/drawing/2014/main" id="{4087D85B-534E-D930-3E8A-600FA80F3698}"/>
              </a:ext>
            </a:extLst>
          </p:cNvPr>
          <p:cNvSpPr txBox="1"/>
          <p:nvPr/>
        </p:nvSpPr>
        <p:spPr>
          <a:xfrm>
            <a:off x="223306" y="4240331"/>
            <a:ext cx="9838800" cy="2533870"/>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Suppose we have a user table like the one in the table below</a:t>
            </a:r>
          </a:p>
          <a:p>
            <a:pPr algn="ctr"/>
            <a:endParaRPr lang="en-DE" sz="6600" dirty="0">
              <a:ln w="0"/>
              <a:effectLst>
                <a:outerShdw blurRad="38100" dist="19050" dir="2700000" algn="tl" rotWithShape="0">
                  <a:schemeClr val="dk1">
                    <a:alpha val="40000"/>
                  </a:schemeClr>
                </a:outerShdw>
              </a:effectLst>
              <a:latin typeface="Patrick Hand" pitchFamily="2" charset="77"/>
            </a:endParaRPr>
          </a:p>
        </p:txBody>
      </p:sp>
      <p:grpSp>
        <p:nvGrpSpPr>
          <p:cNvPr id="13" name="Group 12">
            <a:extLst>
              <a:ext uri="{FF2B5EF4-FFF2-40B4-BE49-F238E27FC236}">
                <a16:creationId xmlns:a16="http://schemas.microsoft.com/office/drawing/2014/main" id="{A6416866-2671-24BD-DE3D-A3B3F7C355DF}"/>
              </a:ext>
            </a:extLst>
          </p:cNvPr>
          <p:cNvGrpSpPr/>
          <p:nvPr/>
        </p:nvGrpSpPr>
        <p:grpSpPr>
          <a:xfrm>
            <a:off x="2897341" y="7120237"/>
            <a:ext cx="4490731" cy="3536952"/>
            <a:chOff x="1591038" y="6223765"/>
            <a:chExt cx="4490731" cy="3536952"/>
          </a:xfrm>
        </p:grpSpPr>
        <p:sp>
          <p:nvSpPr>
            <p:cNvPr id="6" name="Rectangle 5">
              <a:extLst>
                <a:ext uri="{FF2B5EF4-FFF2-40B4-BE49-F238E27FC236}">
                  <a16:creationId xmlns:a16="http://schemas.microsoft.com/office/drawing/2014/main" id="{3E941D55-00F5-507F-51B8-516460DB0457}"/>
                </a:ext>
              </a:extLst>
            </p:cNvPr>
            <p:cNvSpPr/>
            <p:nvPr/>
          </p:nvSpPr>
          <p:spPr>
            <a:xfrm>
              <a:off x="1596203" y="6228775"/>
              <a:ext cx="4479010" cy="3531942"/>
            </a:xfrm>
            <a:prstGeom prst="rect">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8" name="Rectangle 7">
              <a:extLst>
                <a:ext uri="{FF2B5EF4-FFF2-40B4-BE49-F238E27FC236}">
                  <a16:creationId xmlns:a16="http://schemas.microsoft.com/office/drawing/2014/main" id="{A0671A8C-F260-B92B-4984-D7EA67A3A035}"/>
                </a:ext>
              </a:extLst>
            </p:cNvPr>
            <p:cNvSpPr/>
            <p:nvPr/>
          </p:nvSpPr>
          <p:spPr>
            <a:xfrm>
              <a:off x="1596203" y="6223765"/>
              <a:ext cx="4479010" cy="8720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User</a:t>
              </a:r>
              <a:endParaRPr lang="en-DE" dirty="0">
                <a:latin typeface="+mj-lt"/>
              </a:endParaRPr>
            </a:p>
          </p:txBody>
        </p:sp>
        <p:sp>
          <p:nvSpPr>
            <p:cNvPr id="9" name="Rectangle 8">
              <a:extLst>
                <a:ext uri="{FF2B5EF4-FFF2-40B4-BE49-F238E27FC236}">
                  <a16:creationId xmlns:a16="http://schemas.microsoft.com/office/drawing/2014/main" id="{7F787E08-503F-20D8-A013-1B96CF92D985}"/>
                </a:ext>
              </a:extLst>
            </p:cNvPr>
            <p:cNvSpPr/>
            <p:nvPr/>
          </p:nvSpPr>
          <p:spPr>
            <a:xfrm>
              <a:off x="1593620" y="7104587"/>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id</a:t>
              </a:r>
              <a:endParaRPr lang="en-DE" dirty="0">
                <a:latin typeface="+mj-lt"/>
              </a:endParaRPr>
            </a:p>
          </p:txBody>
        </p:sp>
        <p:sp>
          <p:nvSpPr>
            <p:cNvPr id="10" name="Rectangle 9">
              <a:extLst>
                <a:ext uri="{FF2B5EF4-FFF2-40B4-BE49-F238E27FC236}">
                  <a16:creationId xmlns:a16="http://schemas.microsoft.com/office/drawing/2014/main" id="{2520F808-D413-97C4-35FA-772BBA480BCD}"/>
                </a:ext>
              </a:extLst>
            </p:cNvPr>
            <p:cNvSpPr/>
            <p:nvPr/>
          </p:nvSpPr>
          <p:spPr>
            <a:xfrm>
              <a:off x="1591038" y="7986840"/>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firstName</a:t>
              </a:r>
              <a:endParaRPr lang="en-DE" dirty="0">
                <a:latin typeface="+mj-lt"/>
              </a:endParaRPr>
            </a:p>
          </p:txBody>
        </p:sp>
        <p:sp>
          <p:nvSpPr>
            <p:cNvPr id="11" name="Rectangle 10">
              <a:extLst>
                <a:ext uri="{FF2B5EF4-FFF2-40B4-BE49-F238E27FC236}">
                  <a16:creationId xmlns:a16="http://schemas.microsoft.com/office/drawing/2014/main" id="{7D91F21C-83E9-9D86-6ED1-AD5E87AB575A}"/>
                </a:ext>
              </a:extLst>
            </p:cNvPr>
            <p:cNvSpPr/>
            <p:nvPr/>
          </p:nvSpPr>
          <p:spPr>
            <a:xfrm>
              <a:off x="1602759" y="8870759"/>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role</a:t>
              </a:r>
              <a:endParaRPr lang="en-DE" dirty="0">
                <a:latin typeface="+mj-lt"/>
              </a:endParaRPr>
            </a:p>
          </p:txBody>
        </p:sp>
      </p:grpSp>
      <p:sp>
        <p:nvSpPr>
          <p:cNvPr id="14" name="Right Arrow 13">
            <a:extLst>
              <a:ext uri="{FF2B5EF4-FFF2-40B4-BE49-F238E27FC236}">
                <a16:creationId xmlns:a16="http://schemas.microsoft.com/office/drawing/2014/main" id="{246B48DE-2478-3942-8B1D-B69E1C7C751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95058275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EE5CCBBA-02F5-513D-15C0-E5EBFC8FB9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ED10E63-5F71-05B0-1F93-4B401F31A23A}"/>
              </a:ext>
            </a:extLst>
          </p:cNvPr>
          <p:cNvSpPr txBox="1"/>
          <p:nvPr/>
        </p:nvSpPr>
        <p:spPr>
          <a:xfrm>
            <a:off x="223307" y="3117521"/>
            <a:ext cx="9838800" cy="2123658"/>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a:p>
            <a:pPr marL="0" algn="ctr"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5218906-2BE5-4CAB-BD9A-29E2F73E60D6}"/>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FEF425F-527C-7624-758F-6C9FF071CF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BC9DD8-E707-3F9B-E419-C3D0070E2B2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16D901D1-A7D0-BF41-2DC5-0C424E9BC8D7}"/>
              </a:ext>
            </a:extLst>
          </p:cNvPr>
          <p:cNvPicPr>
            <a:picLocks noChangeAspect="1"/>
          </p:cNvPicPr>
          <p:nvPr/>
        </p:nvPicPr>
        <p:blipFill rotWithShape="1">
          <a:blip r:embed="rId4"/>
          <a:srcRect l="21307" t="21145" r="16892" b="14227"/>
          <a:stretch>
            <a:fillRect/>
          </a:stretch>
        </p:blipFill>
        <p:spPr>
          <a:xfrm>
            <a:off x="223306" y="4285073"/>
            <a:ext cx="9838800" cy="10647447"/>
          </a:xfrm>
          <a:prstGeom prst="rect">
            <a:avLst/>
          </a:prstGeom>
        </p:spPr>
      </p:pic>
      <p:sp>
        <p:nvSpPr>
          <p:cNvPr id="9" name="Right Arrow 8">
            <a:extLst>
              <a:ext uri="{FF2B5EF4-FFF2-40B4-BE49-F238E27FC236}">
                <a16:creationId xmlns:a16="http://schemas.microsoft.com/office/drawing/2014/main" id="{C26CD10E-6175-3728-574F-A8CB3571D9F0}"/>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5962562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EB7CBF6-BE87-C9AA-0F1F-A42951DBAF72}"/>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A57ECE7-DFFC-2EDA-4D9F-5939E56702C9}"/>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AD0D433E-03C6-5E3E-0720-E5808EB6D067}"/>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D8402EF-7997-4D51-EDE4-E89381943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FC0F5F0-ECEB-48F5-1EB7-C2BE76E02F0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5458DE4C-DA3E-6F71-013D-A61737AC2538}"/>
              </a:ext>
            </a:extLst>
          </p:cNvPr>
          <p:cNvPicPr>
            <a:picLocks noChangeAspect="1"/>
          </p:cNvPicPr>
          <p:nvPr/>
        </p:nvPicPr>
        <p:blipFill rotWithShape="1">
          <a:blip r:embed="rId4"/>
          <a:srcRect l="21855" t="23980" r="10250" b="19849"/>
          <a:stretch>
            <a:fillRect/>
          </a:stretch>
        </p:blipFill>
        <p:spPr>
          <a:xfrm>
            <a:off x="223306" y="4297007"/>
            <a:ext cx="9838800" cy="6201709"/>
          </a:xfrm>
          <a:prstGeom prst="rect">
            <a:avLst/>
          </a:prstGeom>
        </p:spPr>
      </p:pic>
      <p:sp>
        <p:nvSpPr>
          <p:cNvPr id="3" name="TextBox 2">
            <a:extLst>
              <a:ext uri="{FF2B5EF4-FFF2-40B4-BE49-F238E27FC236}">
                <a16:creationId xmlns:a16="http://schemas.microsoft.com/office/drawing/2014/main" id="{0088E211-A0CC-E12B-7D51-41ABDFB02A2C}"/>
              </a:ext>
            </a:extLst>
          </p:cNvPr>
          <p:cNvSpPr txBox="1"/>
          <p:nvPr/>
        </p:nvSpPr>
        <p:spPr>
          <a:xfrm>
            <a:off x="223307" y="10500668"/>
            <a:ext cx="9838800" cy="2093114"/>
          </a:xfrm>
          <a:prstGeom prst="rect">
            <a:avLst/>
          </a:prstGeom>
          <a:noFill/>
        </p:spPr>
        <p:txBody>
          <a:bodyPr wrap="square" rtlCol="0">
            <a:no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T</a:t>
            </a:r>
            <a:r>
              <a:rPr lang="en-DE" sz="6000" dirty="0">
                <a:ln w="0"/>
                <a:effectLst>
                  <a:outerShdw blurRad="38100" dist="19050" dir="2700000" algn="tl" rotWithShape="0">
                    <a:schemeClr val="dk1">
                      <a:alpha val="40000"/>
                    </a:schemeClr>
                  </a:outerShdw>
                </a:effectLst>
                <a:latin typeface="Patrick Hand" pitchFamily="2" charset="77"/>
              </a:rPr>
              <a:t>wo ways to find specific columns</a:t>
            </a:r>
          </a:p>
        </p:txBody>
      </p:sp>
      <p:sp>
        <p:nvSpPr>
          <p:cNvPr id="7" name="Right Arrow 6">
            <a:extLst>
              <a:ext uri="{FF2B5EF4-FFF2-40B4-BE49-F238E27FC236}">
                <a16:creationId xmlns:a16="http://schemas.microsoft.com/office/drawing/2014/main" id="{E7B7B07D-7FCB-9F69-25B9-B04D89C95745}"/>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102844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403F7197-0A72-E3A2-9882-7B20E03F645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3C343B0D-17B5-59D8-4846-ADF6AF71D350}"/>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7BB278B2-46A1-04E2-3065-7F83E2CC8092}"/>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6C2498-5EF0-7E9C-4662-826DB16B1B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5E75AC0-432A-3CC4-AFAB-F50304EF658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5B5BA947-857C-C567-5F0C-F20DD92DA6AC}"/>
              </a:ext>
            </a:extLst>
          </p:cNvPr>
          <p:cNvPicPr>
            <a:picLocks noChangeAspect="1"/>
          </p:cNvPicPr>
          <p:nvPr/>
        </p:nvPicPr>
        <p:blipFill rotWithShape="1">
          <a:blip r:embed="rId4"/>
          <a:srcRect l="16219" t="27740" r="12460" b="19522"/>
          <a:stretch>
            <a:fillRect/>
          </a:stretch>
        </p:blipFill>
        <p:spPr>
          <a:xfrm>
            <a:off x="223306" y="4299983"/>
            <a:ext cx="9838800" cy="4386262"/>
          </a:xfrm>
          <a:prstGeom prst="rect">
            <a:avLst/>
          </a:prstGeom>
        </p:spPr>
      </p:pic>
      <p:sp>
        <p:nvSpPr>
          <p:cNvPr id="9" name="TextBox 8">
            <a:extLst>
              <a:ext uri="{FF2B5EF4-FFF2-40B4-BE49-F238E27FC236}">
                <a16:creationId xmlns:a16="http://schemas.microsoft.com/office/drawing/2014/main" id="{B30A569A-BC82-1EEE-5B66-ECE906BA0D4E}"/>
              </a:ext>
            </a:extLst>
          </p:cNvPr>
          <p:cNvSpPr txBox="1"/>
          <p:nvPr/>
        </p:nvSpPr>
        <p:spPr>
          <a:xfrm>
            <a:off x="223307" y="8710024"/>
            <a:ext cx="9838800" cy="2093114"/>
          </a:xfrm>
          <a:prstGeom prst="rect">
            <a:avLst/>
          </a:prstGeom>
          <a:noFill/>
        </p:spPr>
        <p:txBody>
          <a:bodyPr wrap="square" rtlCol="0">
            <a:noAutofit/>
          </a:bodyPr>
          <a:lstStyle/>
          <a:p>
            <a:pPr algn="ctr"/>
            <a:r>
              <a:rPr lang="en-US" sz="6000" dirty="0">
                <a:ln w="0"/>
                <a:effectLst>
                  <a:outerShdw blurRad="38100" dist="19050" dir="2700000" algn="tl" rotWithShape="0">
                    <a:schemeClr val="dk1">
                      <a:alpha val="40000"/>
                    </a:schemeClr>
                  </a:outerShdw>
                </a:effectLst>
                <a:latin typeface="Patrick Hand" pitchFamily="2" charset="77"/>
              </a:rPr>
              <a:t>How do the SQL queries look like?</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10" name="Right Arrow 9">
            <a:extLst>
              <a:ext uri="{FF2B5EF4-FFF2-40B4-BE49-F238E27FC236}">
                <a16:creationId xmlns:a16="http://schemas.microsoft.com/office/drawing/2014/main" id="{B91D564F-644B-0D16-4A0F-051D3EA31C2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32262841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71B411C5-77AF-AC4E-78DB-458451986A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7CC5DE2-DDAA-1700-D071-7040B1C2ADF3}"/>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CE849187-BDDC-6EF0-C1A0-E4E684D74484}"/>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B964C9DA-BE9B-8614-A673-B24E801908C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48934E24-3591-7241-032A-0AA1F31E7B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99EAA44-27DB-AC62-3378-3103F19C3196}"/>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30453414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1A77F216-E418-00C9-1049-F50574E39566}"/>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C6E074C3-0CAA-A324-B81C-37036A864D1D}"/>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E4D2B8DC-09E8-1AE2-705D-1A5A27BD3B36}"/>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06B918B-EE17-32DE-B1CB-5442C67D1D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3D0571F-8EE4-1EBD-730E-A111FCABBE3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974D622B-F709-2C65-8E32-13ACB2BFBEBE}"/>
              </a:ext>
            </a:extLst>
          </p:cNvPr>
          <p:cNvSpPr txBox="1"/>
          <p:nvPr/>
        </p:nvSpPr>
        <p:spPr>
          <a:xfrm>
            <a:off x="223307" y="4240331"/>
            <a:ext cx="9838800" cy="907866"/>
          </a:xfrm>
          <a:prstGeom prst="rect">
            <a:avLst/>
          </a:prstGeom>
          <a:noFill/>
        </p:spPr>
        <p:txBody>
          <a:bodyPr wrap="square" rtlCol="0">
            <a:noAutofit/>
          </a:bodyPr>
          <a:lstStyle/>
          <a:p>
            <a:pPr algn="ctr"/>
            <a:r>
              <a:rPr lang="en-DE" sz="4800" dirty="0">
                <a:ln w="0"/>
                <a:effectLst>
                  <a:outerShdw blurRad="38100" dist="19050" dir="2700000" algn="tl" rotWithShape="0">
                    <a:schemeClr val="dk1">
                      <a:alpha val="40000"/>
                    </a:schemeClr>
                  </a:outerShdw>
                </a:effectLst>
                <a:latin typeface="Patrick Hand" pitchFamily="2" charset="77"/>
              </a:rPr>
              <a:t>Suppose we have tables like those below</a:t>
            </a:r>
          </a:p>
          <a:p>
            <a:pPr algn="ct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CC7B958-223E-6D38-B69C-8FC5D3E32BC1}"/>
              </a:ext>
            </a:extLst>
          </p:cNvPr>
          <p:cNvPicPr>
            <a:picLocks noChangeAspect="1"/>
          </p:cNvPicPr>
          <p:nvPr/>
        </p:nvPicPr>
        <p:blipFill>
          <a:blip r:embed="rId4"/>
          <a:stretch>
            <a:fillRect/>
          </a:stretch>
        </p:blipFill>
        <p:spPr>
          <a:xfrm>
            <a:off x="3564900" y="5163011"/>
            <a:ext cx="3155613" cy="6650661"/>
          </a:xfrm>
          <a:prstGeom prst="rect">
            <a:avLst/>
          </a:prstGeom>
        </p:spPr>
      </p:pic>
    </p:spTree>
    <p:extLst>
      <p:ext uri="{BB962C8B-B14F-4D97-AF65-F5344CB8AC3E}">
        <p14:creationId xmlns:p14="http://schemas.microsoft.com/office/powerpoint/2010/main" val="92933119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586F522A-0602-2906-B7B3-16179D891D9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334AC12-1C42-38E2-2851-D9DF3382B2F5}"/>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3FAEBD5C-4607-278E-D4EB-34CA55E2D02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8FB5C3F3-86A4-7513-4524-38B684BC7C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E8145E-9860-3AC4-534C-82A753D268FD}"/>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FD57C18A-FEF4-34C6-6D39-7AFBCEAE9E1A}"/>
              </a:ext>
            </a:extLst>
          </p:cNvPr>
          <p:cNvPicPr preferRelativeResize="0">
            <a:picLocks/>
          </p:cNvPicPr>
          <p:nvPr/>
        </p:nvPicPr>
        <p:blipFill rotWithShape="1">
          <a:blip r:embed="rId4"/>
          <a:srcRect l="20848" t="21625" r="14176" b="17941"/>
          <a:stretch>
            <a:fillRect/>
          </a:stretch>
        </p:blipFill>
        <p:spPr>
          <a:xfrm>
            <a:off x="223307" y="4267093"/>
            <a:ext cx="9838800" cy="7200000"/>
          </a:xfrm>
          <a:prstGeom prst="rect">
            <a:avLst/>
          </a:prstGeom>
        </p:spPr>
      </p:pic>
    </p:spTree>
    <p:extLst>
      <p:ext uri="{BB962C8B-B14F-4D97-AF65-F5344CB8AC3E}">
        <p14:creationId xmlns:p14="http://schemas.microsoft.com/office/powerpoint/2010/main" val="255712550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E2D970CC-B676-9454-A473-FBB44BB534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3698ADD4-88BC-A441-F2E9-698DC1B7B222}"/>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8123B542-9945-14E2-DBA1-8A167F35635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4871B75-3E51-F348-F46D-509306BFD2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F2A657B-387D-719D-E19B-B442E6585786}"/>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F1C90A2A-5A33-A120-090F-9BAFF7EE783C}"/>
              </a:ext>
            </a:extLst>
          </p:cNvPr>
          <p:cNvPicPr preferRelativeResize="0">
            <a:picLocks/>
          </p:cNvPicPr>
          <p:nvPr/>
        </p:nvPicPr>
        <p:blipFill rotWithShape="1">
          <a:blip r:embed="rId4"/>
          <a:srcRect l="19087" t="20868" r="13274" b="13187"/>
          <a:stretch>
            <a:fillRect/>
          </a:stretch>
        </p:blipFill>
        <p:spPr>
          <a:xfrm>
            <a:off x="223306" y="4267093"/>
            <a:ext cx="9838800" cy="7200000"/>
          </a:xfrm>
          <a:prstGeom prst="rect">
            <a:avLst/>
          </a:prstGeom>
        </p:spPr>
      </p:pic>
    </p:spTree>
    <p:extLst>
      <p:ext uri="{BB962C8B-B14F-4D97-AF65-F5344CB8AC3E}">
        <p14:creationId xmlns:p14="http://schemas.microsoft.com/office/powerpoint/2010/main" val="30955877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DB73D324-B0DF-5D16-5FC6-9A3B172F926D}"/>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B9A19712-FF23-D81E-CEE1-3A700BEBB088}"/>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8489986B-77EB-F8AD-993D-5EE8BFAC703B}"/>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66702D84-56B8-4E77-029C-4E8EB4FDF1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1746F5D-CAD8-0012-2AEB-FE451F484C24}"/>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12EF576-0886-C53C-D075-F6B84AD1B68E}"/>
              </a:ext>
            </a:extLst>
          </p:cNvPr>
          <p:cNvPicPr preferRelativeResize="0">
            <a:picLocks/>
          </p:cNvPicPr>
          <p:nvPr/>
        </p:nvPicPr>
        <p:blipFill rotWithShape="1">
          <a:blip r:embed="rId4"/>
          <a:srcRect l="16924" t="20672" r="11645" b="13017"/>
          <a:stretch>
            <a:fillRect/>
          </a:stretch>
        </p:blipFill>
        <p:spPr>
          <a:xfrm>
            <a:off x="223306" y="4267093"/>
            <a:ext cx="9838800" cy="7200000"/>
          </a:xfrm>
          <a:prstGeom prst="rect">
            <a:avLst/>
          </a:prstGeom>
        </p:spPr>
      </p:pic>
      <p:cxnSp>
        <p:nvCxnSpPr>
          <p:cNvPr id="8" name="Straight Connector 7">
            <a:extLst>
              <a:ext uri="{FF2B5EF4-FFF2-40B4-BE49-F238E27FC236}">
                <a16:creationId xmlns:a16="http://schemas.microsoft.com/office/drawing/2014/main" id="{243B303D-9B0A-61B2-A9B1-A580F8EB1153}"/>
              </a:ext>
            </a:extLst>
          </p:cNvPr>
          <p:cNvCxnSpPr>
            <a:cxnSpLocks/>
          </p:cNvCxnSpPr>
          <p:nvPr/>
        </p:nvCxnSpPr>
        <p:spPr>
          <a:xfrm>
            <a:off x="241328" y="670276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8201836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AF41DB3E-00E3-61C9-3D1E-3C8BC04AC56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A95DB8D-ED65-3039-D5CE-2F64B9E1FA50}"/>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21D3F987-D2E0-B04C-02BF-A618AD5F2839}"/>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4DB87CEE-C41B-A19F-4BCB-1A342CDFB193}"/>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0D78EC8D-3E5B-E13A-6260-F777FAAD47D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C12E81E-7D8C-4A66-284D-6F5B12A4A16A}"/>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036339246"/>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117778</TotalTime>
  <Words>2035</Words>
  <Application>Microsoft Macintosh PowerPoint</Application>
  <PresentationFormat>Custom</PresentationFormat>
  <Paragraphs>384</Paragraphs>
  <Slides>112</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112</vt:i4>
      </vt:variant>
    </vt:vector>
  </HeadingPairs>
  <TitlesOfParts>
    <vt:vector size="121" baseType="lpstr">
      <vt:lpstr>Aptos</vt:lpstr>
      <vt:lpstr>Arial</vt:lpstr>
      <vt:lpstr>Arial Narrow</vt:lpstr>
      <vt:lpstr>Calibri</vt:lpstr>
      <vt:lpstr>Calibri Light</vt:lpstr>
      <vt:lpstr>Cambria Math</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977</cp:revision>
  <cp:lastPrinted>2025-12-17T08:49:37Z</cp:lastPrinted>
  <dcterms:created xsi:type="dcterms:W3CDTF">2025-12-17T08:13:25Z</dcterms:created>
  <dcterms:modified xsi:type="dcterms:W3CDTF">2026-04-27T15:21:17Z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