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09"/>
  </p:notesMasterIdLst>
  <p:handoutMasterIdLst>
    <p:handoutMasterId r:id="rId110"/>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 id="389" r:id="rId104"/>
    <p:sldId id="391" r:id="rId105"/>
    <p:sldId id="393" r:id="rId106"/>
    <p:sldId id="392" r:id="rId107"/>
    <p:sldId id="390" r:id="rId108"/>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474"/>
    <p:restoredTop sz="96149"/>
  </p:normalViewPr>
  <p:slideViewPr>
    <p:cSldViewPr snapToGrid="0">
      <p:cViewPr>
        <p:scale>
          <a:sx n="96" d="100"/>
          <a:sy n="96" d="100"/>
        </p:scale>
        <p:origin x="2104" y="-2120"/>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notesMaster" Target="notesMasters/notesMaster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handoutMaster" Target="handoutMasters/handoutMaster1.xml"/><Relationship Id="rId115" Type="http://schemas.microsoft.com/office/2018/10/relationships/authors" Target="author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19.04.26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19.04.26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4/19/26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4/19/26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0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0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0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10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8" name="TextBox 17">
            <a:extLst>
              <a:ext uri="{FF2B5EF4-FFF2-40B4-BE49-F238E27FC236}">
                <a16:creationId xmlns:a16="http://schemas.microsoft.com/office/drawing/2014/main" id="{EA687CA0-2FBB-DAC5-FEB4-13CEF7D8C3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8" name="TextBox 7">
            <a:extLst>
              <a:ext uri="{FF2B5EF4-FFF2-40B4-BE49-F238E27FC236}">
                <a16:creationId xmlns:a16="http://schemas.microsoft.com/office/drawing/2014/main" id="{5A510DF5-AF04-09B6-435B-BDDB016B8A9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
        <p:nvSpPr>
          <p:cNvPr id="13" name="TextBox 12">
            <a:extLst>
              <a:ext uri="{FF2B5EF4-FFF2-40B4-BE49-F238E27FC236}">
                <a16:creationId xmlns:a16="http://schemas.microsoft.com/office/drawing/2014/main" id="{910AD74D-6658-A75C-5B4D-0F58EB19897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
        <p:nvSpPr>
          <p:cNvPr id="13" name="TextBox 12">
            <a:extLst>
              <a:ext uri="{FF2B5EF4-FFF2-40B4-BE49-F238E27FC236}">
                <a16:creationId xmlns:a16="http://schemas.microsoft.com/office/drawing/2014/main" id="{B8E573FC-B937-F172-5723-C820720C891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B98A85-981F-4862-7ED4-351A333E9A83}"/>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9966986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C498022-1CF0-2831-6C26-DA5D109733B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6066B85-1DF1-5253-B1EB-73610B94690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TypeORM</a:t>
            </a:r>
          </a:p>
        </p:txBody>
      </p:sp>
      <p:pic>
        <p:nvPicPr>
          <p:cNvPr id="2" name="Picture 1">
            <a:extLst>
              <a:ext uri="{FF2B5EF4-FFF2-40B4-BE49-F238E27FC236}">
                <a16:creationId xmlns:a16="http://schemas.microsoft.com/office/drawing/2014/main" id="{FB422B08-C9E4-BBEC-807F-1C8299693CD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AA0C9A-1AD0-00EE-0C06-512851A14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02543D-04BC-1C96-EE37-1433E8289FE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7" name="TextBox 6">
            <a:extLst>
              <a:ext uri="{FF2B5EF4-FFF2-40B4-BE49-F238E27FC236}">
                <a16:creationId xmlns:a16="http://schemas.microsoft.com/office/drawing/2014/main" id="{4087D85B-534E-D930-3E8A-600FA80F3698}"/>
              </a:ext>
            </a:extLst>
          </p:cNvPr>
          <p:cNvSpPr txBox="1"/>
          <p:nvPr/>
        </p:nvSpPr>
        <p:spPr>
          <a:xfrm>
            <a:off x="223306" y="4240331"/>
            <a:ext cx="9838800" cy="2533870"/>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Suppose we have a user table like the one in the table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grpSp>
        <p:nvGrpSpPr>
          <p:cNvPr id="13" name="Group 12">
            <a:extLst>
              <a:ext uri="{FF2B5EF4-FFF2-40B4-BE49-F238E27FC236}">
                <a16:creationId xmlns:a16="http://schemas.microsoft.com/office/drawing/2014/main" id="{A6416866-2671-24BD-DE3D-A3B3F7C355DF}"/>
              </a:ext>
            </a:extLst>
          </p:cNvPr>
          <p:cNvGrpSpPr/>
          <p:nvPr/>
        </p:nvGrpSpPr>
        <p:grpSpPr>
          <a:xfrm>
            <a:off x="2897341" y="7120237"/>
            <a:ext cx="4490731" cy="3536952"/>
            <a:chOff x="1591038" y="6223765"/>
            <a:chExt cx="4490731" cy="3536952"/>
          </a:xfrm>
        </p:grpSpPr>
        <p:sp>
          <p:nvSpPr>
            <p:cNvPr id="6" name="Rectangle 5">
              <a:extLst>
                <a:ext uri="{FF2B5EF4-FFF2-40B4-BE49-F238E27FC236}">
                  <a16:creationId xmlns:a16="http://schemas.microsoft.com/office/drawing/2014/main" id="{3E941D55-00F5-507F-51B8-516460DB0457}"/>
                </a:ext>
              </a:extLst>
            </p:cNvPr>
            <p:cNvSpPr/>
            <p:nvPr/>
          </p:nvSpPr>
          <p:spPr>
            <a:xfrm>
              <a:off x="1596203" y="6228775"/>
              <a:ext cx="4479010" cy="3531942"/>
            </a:xfrm>
            <a:prstGeom prst="rect">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8" name="Rectangle 7">
              <a:extLst>
                <a:ext uri="{FF2B5EF4-FFF2-40B4-BE49-F238E27FC236}">
                  <a16:creationId xmlns:a16="http://schemas.microsoft.com/office/drawing/2014/main" id="{A0671A8C-F260-B92B-4984-D7EA67A3A035}"/>
                </a:ext>
              </a:extLst>
            </p:cNvPr>
            <p:cNvSpPr/>
            <p:nvPr/>
          </p:nvSpPr>
          <p:spPr>
            <a:xfrm>
              <a:off x="1596203" y="6223765"/>
              <a:ext cx="4479010" cy="8720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User</a:t>
              </a:r>
              <a:endParaRPr lang="en-DE" dirty="0">
                <a:latin typeface="+mj-lt"/>
              </a:endParaRPr>
            </a:p>
          </p:txBody>
        </p:sp>
        <p:sp>
          <p:nvSpPr>
            <p:cNvPr id="9" name="Rectangle 8">
              <a:extLst>
                <a:ext uri="{FF2B5EF4-FFF2-40B4-BE49-F238E27FC236}">
                  <a16:creationId xmlns:a16="http://schemas.microsoft.com/office/drawing/2014/main" id="{7F787E08-503F-20D8-A013-1B96CF92D985}"/>
                </a:ext>
              </a:extLst>
            </p:cNvPr>
            <p:cNvSpPr/>
            <p:nvPr/>
          </p:nvSpPr>
          <p:spPr>
            <a:xfrm>
              <a:off x="1593620" y="7104587"/>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id</a:t>
              </a:r>
              <a:endParaRPr lang="en-DE" dirty="0">
                <a:latin typeface="+mj-lt"/>
              </a:endParaRPr>
            </a:p>
          </p:txBody>
        </p:sp>
        <p:sp>
          <p:nvSpPr>
            <p:cNvPr id="10" name="Rectangle 9">
              <a:extLst>
                <a:ext uri="{FF2B5EF4-FFF2-40B4-BE49-F238E27FC236}">
                  <a16:creationId xmlns:a16="http://schemas.microsoft.com/office/drawing/2014/main" id="{2520F808-D413-97C4-35FA-772BBA480BCD}"/>
                </a:ext>
              </a:extLst>
            </p:cNvPr>
            <p:cNvSpPr/>
            <p:nvPr/>
          </p:nvSpPr>
          <p:spPr>
            <a:xfrm>
              <a:off x="1591038" y="7986840"/>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firstName</a:t>
              </a:r>
              <a:endParaRPr lang="en-DE" dirty="0">
                <a:latin typeface="+mj-lt"/>
              </a:endParaRPr>
            </a:p>
          </p:txBody>
        </p:sp>
        <p:sp>
          <p:nvSpPr>
            <p:cNvPr id="11" name="Rectangle 10">
              <a:extLst>
                <a:ext uri="{FF2B5EF4-FFF2-40B4-BE49-F238E27FC236}">
                  <a16:creationId xmlns:a16="http://schemas.microsoft.com/office/drawing/2014/main" id="{7D91F21C-83E9-9D86-6ED1-AD5E87AB575A}"/>
                </a:ext>
              </a:extLst>
            </p:cNvPr>
            <p:cNvSpPr/>
            <p:nvPr/>
          </p:nvSpPr>
          <p:spPr>
            <a:xfrm>
              <a:off x="1602759" y="8870759"/>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role</a:t>
              </a:r>
              <a:endParaRPr lang="en-DE" dirty="0">
                <a:latin typeface="+mj-lt"/>
              </a:endParaRPr>
            </a:p>
          </p:txBody>
        </p:sp>
      </p:grpSp>
      <p:sp>
        <p:nvSpPr>
          <p:cNvPr id="14" name="Right Arrow 13">
            <a:extLst>
              <a:ext uri="{FF2B5EF4-FFF2-40B4-BE49-F238E27FC236}">
                <a16:creationId xmlns:a16="http://schemas.microsoft.com/office/drawing/2014/main" id="{246B48DE-2478-3942-8B1D-B69E1C7C751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5058275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EE5CCBBA-02F5-513D-15C0-E5EBFC8FB9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ED10E63-5F71-05B0-1F93-4B401F31A23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TypeORM</a:t>
            </a:r>
          </a:p>
        </p:txBody>
      </p:sp>
      <p:pic>
        <p:nvPicPr>
          <p:cNvPr id="2" name="Picture 1">
            <a:extLst>
              <a:ext uri="{FF2B5EF4-FFF2-40B4-BE49-F238E27FC236}">
                <a16:creationId xmlns:a16="http://schemas.microsoft.com/office/drawing/2014/main" id="{D5218906-2BE5-4CAB-BD9A-29E2F73E60D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FEF425F-527C-7624-758F-6C9FF071CF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BC9DD8-E707-3F9B-E419-C3D0070E2B2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16D901D1-A7D0-BF41-2DC5-0C424E9BC8D7}"/>
              </a:ext>
            </a:extLst>
          </p:cNvPr>
          <p:cNvPicPr>
            <a:picLocks noChangeAspect="1"/>
          </p:cNvPicPr>
          <p:nvPr/>
        </p:nvPicPr>
        <p:blipFill rotWithShape="1">
          <a:blip r:embed="rId4"/>
          <a:srcRect l="21307" t="21145" r="16892" b="14227"/>
          <a:stretch>
            <a:fillRect/>
          </a:stretch>
        </p:blipFill>
        <p:spPr>
          <a:xfrm>
            <a:off x="223306" y="4285073"/>
            <a:ext cx="9838800" cy="10647447"/>
          </a:xfrm>
          <a:prstGeom prst="rect">
            <a:avLst/>
          </a:prstGeom>
        </p:spPr>
      </p:pic>
      <p:sp>
        <p:nvSpPr>
          <p:cNvPr id="9" name="Right Arrow 8">
            <a:extLst>
              <a:ext uri="{FF2B5EF4-FFF2-40B4-BE49-F238E27FC236}">
                <a16:creationId xmlns:a16="http://schemas.microsoft.com/office/drawing/2014/main" id="{C26CD10E-6175-3728-574F-A8CB3571D9F0}"/>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596256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EB7CBF6-BE87-C9AA-0F1F-A42951DBAF72}"/>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57ECE7-DFFC-2EDA-4D9F-5939E56702C9}"/>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TypeORM</a:t>
            </a:r>
          </a:p>
        </p:txBody>
      </p:sp>
      <p:pic>
        <p:nvPicPr>
          <p:cNvPr id="2" name="Picture 1">
            <a:extLst>
              <a:ext uri="{FF2B5EF4-FFF2-40B4-BE49-F238E27FC236}">
                <a16:creationId xmlns:a16="http://schemas.microsoft.com/office/drawing/2014/main" id="{AD0D433E-03C6-5E3E-0720-E5808EB6D067}"/>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D8402EF-7997-4D51-EDE4-E89381943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FC0F5F0-ECEB-48F5-1EB7-C2BE76E02F0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458DE4C-DA3E-6F71-013D-A61737AC2538}"/>
              </a:ext>
            </a:extLst>
          </p:cNvPr>
          <p:cNvPicPr>
            <a:picLocks noChangeAspect="1"/>
          </p:cNvPicPr>
          <p:nvPr/>
        </p:nvPicPr>
        <p:blipFill rotWithShape="1">
          <a:blip r:embed="rId4"/>
          <a:srcRect l="21855" t="23980" r="10250" b="19849"/>
          <a:stretch>
            <a:fillRect/>
          </a:stretch>
        </p:blipFill>
        <p:spPr>
          <a:xfrm>
            <a:off x="223306" y="4297007"/>
            <a:ext cx="9838800" cy="6201709"/>
          </a:xfrm>
          <a:prstGeom prst="rect">
            <a:avLst/>
          </a:prstGeom>
        </p:spPr>
      </p:pic>
      <p:sp>
        <p:nvSpPr>
          <p:cNvPr id="3" name="TextBox 2">
            <a:extLst>
              <a:ext uri="{FF2B5EF4-FFF2-40B4-BE49-F238E27FC236}">
                <a16:creationId xmlns:a16="http://schemas.microsoft.com/office/drawing/2014/main" id="{0088E211-A0CC-E12B-7D51-41ABDFB02A2C}"/>
              </a:ext>
            </a:extLst>
          </p:cNvPr>
          <p:cNvSpPr txBox="1"/>
          <p:nvPr/>
        </p:nvSpPr>
        <p:spPr>
          <a:xfrm>
            <a:off x="223307" y="10500668"/>
            <a:ext cx="9838800" cy="2093114"/>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T</a:t>
            </a:r>
            <a:r>
              <a:rPr lang="en-DE" sz="6000" dirty="0">
                <a:ln w="0"/>
                <a:effectLst>
                  <a:outerShdw blurRad="38100" dist="19050" dir="2700000" algn="tl" rotWithShape="0">
                    <a:schemeClr val="dk1">
                      <a:alpha val="40000"/>
                    </a:schemeClr>
                  </a:outerShdw>
                </a:effectLst>
                <a:latin typeface="Patrick Hand" pitchFamily="2" charset="77"/>
              </a:rPr>
              <a:t>wo ways to find specific columns</a:t>
            </a:r>
          </a:p>
        </p:txBody>
      </p:sp>
      <p:sp>
        <p:nvSpPr>
          <p:cNvPr id="7" name="Right Arrow 6">
            <a:extLst>
              <a:ext uri="{FF2B5EF4-FFF2-40B4-BE49-F238E27FC236}">
                <a16:creationId xmlns:a16="http://schemas.microsoft.com/office/drawing/2014/main" id="{E7B7B07D-7FCB-9F69-25B9-B04D89C95745}"/>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102844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403F7197-0A72-E3A2-9882-7B20E03F645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C343B0D-17B5-59D8-4846-ADF6AF71D350}"/>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TypeORM</a:t>
            </a:r>
          </a:p>
        </p:txBody>
      </p:sp>
      <p:pic>
        <p:nvPicPr>
          <p:cNvPr id="2" name="Picture 1">
            <a:extLst>
              <a:ext uri="{FF2B5EF4-FFF2-40B4-BE49-F238E27FC236}">
                <a16:creationId xmlns:a16="http://schemas.microsoft.com/office/drawing/2014/main" id="{7BB278B2-46A1-04E2-3065-7F83E2CC8092}"/>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6C2498-5EF0-7E9C-4662-826DB16B1B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5E75AC0-432A-3CC4-AFAB-F50304EF658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5B5BA947-857C-C567-5F0C-F20DD92DA6AC}"/>
              </a:ext>
            </a:extLst>
          </p:cNvPr>
          <p:cNvPicPr>
            <a:picLocks noChangeAspect="1"/>
          </p:cNvPicPr>
          <p:nvPr/>
        </p:nvPicPr>
        <p:blipFill rotWithShape="1">
          <a:blip r:embed="rId4"/>
          <a:srcRect l="16219" t="27740" r="12460" b="19522"/>
          <a:stretch>
            <a:fillRect/>
          </a:stretch>
        </p:blipFill>
        <p:spPr>
          <a:xfrm>
            <a:off x="223306" y="4299983"/>
            <a:ext cx="9838800" cy="4386262"/>
          </a:xfrm>
          <a:prstGeom prst="rect">
            <a:avLst/>
          </a:prstGeom>
        </p:spPr>
      </p:pic>
      <p:sp>
        <p:nvSpPr>
          <p:cNvPr id="9" name="TextBox 8">
            <a:extLst>
              <a:ext uri="{FF2B5EF4-FFF2-40B4-BE49-F238E27FC236}">
                <a16:creationId xmlns:a16="http://schemas.microsoft.com/office/drawing/2014/main" id="{B30A569A-BC82-1EEE-5B66-ECE906BA0D4E}"/>
              </a:ext>
            </a:extLst>
          </p:cNvPr>
          <p:cNvSpPr txBox="1"/>
          <p:nvPr/>
        </p:nvSpPr>
        <p:spPr>
          <a:xfrm>
            <a:off x="223307" y="8710024"/>
            <a:ext cx="9838800" cy="2093114"/>
          </a:xfrm>
          <a:prstGeom prst="rect">
            <a:avLst/>
          </a:prstGeom>
          <a:noFill/>
        </p:spPr>
        <p:txBody>
          <a:bodyPr wrap="square" rtlCol="0">
            <a:noAutofit/>
          </a:bodyPr>
          <a:lstStyle/>
          <a:p>
            <a:pPr algn="ctr"/>
            <a:r>
              <a:rPr lang="en-US" sz="6000" dirty="0">
                <a:ln w="0"/>
                <a:effectLst>
                  <a:outerShdw blurRad="38100" dist="19050" dir="2700000" algn="tl" rotWithShape="0">
                    <a:schemeClr val="dk1">
                      <a:alpha val="40000"/>
                    </a:schemeClr>
                  </a:outerShdw>
                </a:effectLst>
                <a:latin typeface="Patrick Hand" pitchFamily="2" charset="77"/>
              </a:rPr>
              <a:t>How do the SQL queries look like?</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10" name="Right Arrow 9">
            <a:extLst>
              <a:ext uri="{FF2B5EF4-FFF2-40B4-BE49-F238E27FC236}">
                <a16:creationId xmlns:a16="http://schemas.microsoft.com/office/drawing/2014/main" id="{B91D564F-644B-0D16-4A0F-051D3EA31C2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2262841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71B411C5-77AF-AC4E-78DB-458451986A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7CC5DE2-DDAA-1700-D071-7040B1C2ADF3}"/>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TypeORM</a:t>
            </a:r>
          </a:p>
        </p:txBody>
      </p:sp>
      <p:pic>
        <p:nvPicPr>
          <p:cNvPr id="2" name="Picture 1">
            <a:extLst>
              <a:ext uri="{FF2B5EF4-FFF2-40B4-BE49-F238E27FC236}">
                <a16:creationId xmlns:a16="http://schemas.microsoft.com/office/drawing/2014/main" id="{CE849187-BDDC-6EF0-C1A0-E4E684D74484}"/>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964C9DA-BE9B-8614-A673-B24E801908C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48934E24-3591-7241-032A-0AA1F31E7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99EAA44-27DB-AC62-3378-3103F19C319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30453414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114369</TotalTime>
  <Words>1945</Words>
  <Application>Microsoft Macintosh PowerPoint</Application>
  <PresentationFormat>Custom</PresentationFormat>
  <Paragraphs>370</Paragraphs>
  <Slides>107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107</vt:i4>
      </vt:variant>
    </vt:vector>
  </HeadingPairs>
  <TitlesOfParts>
    <vt:vector size="116"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955</cp:revision>
  <cp:lastPrinted>2025-12-17T08:49:37Z</cp:lastPrinted>
  <dcterms:created xsi:type="dcterms:W3CDTF">2025-12-17T08:13:25Z</dcterms:created>
  <dcterms:modified xsi:type="dcterms:W3CDTF">2026-04-19T19:53:59Z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