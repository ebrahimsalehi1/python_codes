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29"/>
  </p:notesMasterIdLst>
  <p:handoutMasterIdLst>
    <p:handoutMasterId r:id="rId130"/>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 id="394" r:id="rId109"/>
    <p:sldId id="397" r:id="rId110"/>
    <p:sldId id="398" r:id="rId111"/>
    <p:sldId id="396" r:id="rId112"/>
    <p:sldId id="395" r:id="rId113"/>
    <p:sldId id="399" r:id="rId114"/>
    <p:sldId id="402" r:id="rId115"/>
    <p:sldId id="404" r:id="rId116"/>
    <p:sldId id="405" r:id="rId117"/>
    <p:sldId id="403" r:id="rId118"/>
    <p:sldId id="401" r:id="rId119"/>
    <p:sldId id="406" r:id="rId120"/>
    <p:sldId id="400" r:id="rId121"/>
    <p:sldId id="407" r:id="rId122"/>
    <p:sldId id="408" r:id="rId123"/>
    <p:sldId id="409" r:id="rId124"/>
    <p:sldId id="410" r:id="rId125"/>
    <p:sldId id="411" r:id="rId126"/>
    <p:sldId id="412" r:id="rId127"/>
    <p:sldId id="413" r:id="rId128"/>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964FBC3-BE9F-3441-B9E2-0B820C9A988D}">
          <p14:sldIdLst>
            <p14:sldId id="278"/>
            <p14:sldId id="279"/>
            <p14:sldId id="311"/>
            <p14:sldId id="312"/>
            <p14:sldId id="313"/>
            <p14:sldId id="280"/>
            <p14:sldId id="281"/>
            <p14:sldId id="288"/>
            <p14:sldId id="339"/>
            <p14:sldId id="340"/>
            <p14:sldId id="290"/>
            <p14:sldId id="289"/>
            <p14:sldId id="314"/>
            <p14:sldId id="315"/>
            <p14:sldId id="343"/>
            <p14:sldId id="344"/>
            <p14:sldId id="345"/>
            <p14:sldId id="346"/>
            <p14:sldId id="350"/>
            <p14:sldId id="351"/>
            <p14:sldId id="352"/>
            <p14:sldId id="291"/>
            <p14:sldId id="336"/>
            <p14:sldId id="337"/>
            <p14:sldId id="338"/>
            <p14:sldId id="309"/>
            <p14:sldId id="292"/>
            <p14:sldId id="333"/>
            <p14:sldId id="334"/>
            <p14:sldId id="335"/>
            <p14:sldId id="293"/>
            <p14:sldId id="327"/>
            <p14:sldId id="294"/>
            <p14:sldId id="306"/>
            <p14:sldId id="321"/>
            <p14:sldId id="322"/>
            <p14:sldId id="318"/>
            <p14:sldId id="330"/>
            <p14:sldId id="347"/>
            <p14:sldId id="348"/>
            <p14:sldId id="296"/>
            <p14:sldId id="297"/>
            <p14:sldId id="298"/>
            <p14:sldId id="331"/>
            <p14:sldId id="332"/>
            <p14:sldId id="341"/>
            <p14:sldId id="342"/>
            <p14:sldId id="299"/>
            <p14:sldId id="300"/>
            <p14:sldId id="301"/>
            <p14:sldId id="324"/>
            <p14:sldId id="325"/>
            <p14:sldId id="326"/>
            <p14:sldId id="302"/>
            <p14:sldId id="303"/>
            <p14:sldId id="319"/>
            <p14:sldId id="320"/>
            <p14:sldId id="304"/>
            <p14:sldId id="316"/>
            <p14:sldId id="317"/>
            <p14:sldId id="310"/>
            <p14:sldId id="305"/>
            <p14:sldId id="328"/>
            <p14:sldId id="329"/>
            <p14:sldId id="349"/>
            <p14:sldId id="307"/>
            <p14:sldId id="323"/>
            <p14:sldId id="308"/>
            <p14:sldId id="353"/>
            <p14:sldId id="354"/>
            <p14:sldId id="355"/>
            <p14:sldId id="356"/>
            <p14:sldId id="357"/>
            <p14:sldId id="359"/>
            <p14:sldId id="360"/>
            <p14:sldId id="358"/>
            <p14:sldId id="361"/>
            <p14:sldId id="362"/>
            <p14:sldId id="364"/>
            <p14:sldId id="365"/>
            <p14:sldId id="367"/>
            <p14:sldId id="366"/>
            <p14:sldId id="368"/>
            <p14:sldId id="369"/>
            <p14:sldId id="370"/>
            <p14:sldId id="371"/>
            <p14:sldId id="372"/>
            <p14:sldId id="375"/>
            <p14:sldId id="376"/>
            <p14:sldId id="373"/>
            <p14:sldId id="377"/>
            <p14:sldId id="378"/>
            <p14:sldId id="379"/>
            <p14:sldId id="380"/>
            <p14:sldId id="381"/>
            <p14:sldId id="382"/>
            <p14:sldId id="383"/>
            <p14:sldId id="384"/>
            <p14:sldId id="386"/>
            <p14:sldId id="387"/>
            <p14:sldId id="388"/>
            <p14:sldId id="385"/>
            <p14:sldId id="389"/>
            <p14:sldId id="391"/>
            <p14:sldId id="393"/>
            <p14:sldId id="392"/>
            <p14:sldId id="390"/>
            <p14:sldId id="394"/>
            <p14:sldId id="397"/>
            <p14:sldId id="398"/>
            <p14:sldId id="396"/>
            <p14:sldId id="395"/>
            <p14:sldId id="399"/>
            <p14:sldId id="402"/>
            <p14:sldId id="404"/>
            <p14:sldId id="405"/>
            <p14:sldId id="403"/>
            <p14:sldId id="401"/>
            <p14:sldId id="406"/>
            <p14:sldId id="400"/>
            <p14:sldId id="407"/>
            <p14:sldId id="408"/>
            <p14:sldId id="409"/>
            <p14:sldId id="410"/>
            <p14:sldId id="411"/>
            <p14:sldId id="412"/>
            <p14:sldId id="413"/>
          </p14:sldIdLst>
        </p14:section>
      </p14:sectionLst>
    </p:ex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462"/>
    <p:restoredTop sz="96069"/>
  </p:normalViewPr>
  <p:slideViewPr>
    <p:cSldViewPr snapToGrid="0">
      <p:cViewPr>
        <p:scale>
          <a:sx n="57" d="100"/>
          <a:sy n="57" d="100"/>
        </p:scale>
        <p:origin x="3256" y="1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handoutMaster" Target="handoutMasters/handoutMaster1.xml"/><Relationship Id="rId135" Type="http://schemas.microsoft.com/office/2018/10/relationships/authors" Targe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heme" Target="theme/theme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16.06.26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16.06.26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6/16/26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6/16/26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6/16/26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6/16/26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6/16/26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6/16/26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6/16/26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6/16/26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10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1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11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1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7.png"/></Relationships>
</file>

<file path=ppt/slides/_rels/slide11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1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12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122.png"/><Relationship Id="rId4" Type="http://schemas.openxmlformats.org/officeDocument/2006/relationships/image" Target="../media/image79.png"/></Relationships>
</file>

<file path=ppt/slides/_rels/slide12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9.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2123658"/>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a:p>
            <a:pPr marL="0" algn="ctr"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1A77F216-E418-00C9-1049-F50574E39566}"/>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6E074C3-0CAA-A324-B81C-37036A864D1D}"/>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E4D2B8DC-09E8-1AE2-705D-1A5A27BD3B3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06B918B-EE17-32DE-B1CB-5442C67D1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D0571F-8EE4-1EBD-730E-A111FCABBE3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974D622B-F709-2C65-8E32-13ACB2BFBEBE}"/>
              </a:ext>
            </a:extLst>
          </p:cNvPr>
          <p:cNvSpPr txBox="1"/>
          <p:nvPr/>
        </p:nvSpPr>
        <p:spPr>
          <a:xfrm>
            <a:off x="223307" y="4240331"/>
            <a:ext cx="9838800" cy="907866"/>
          </a:xfrm>
          <a:prstGeom prst="rect">
            <a:avLst/>
          </a:prstGeom>
          <a:noFill/>
        </p:spPr>
        <p:txBody>
          <a:bodyPr wrap="square" rtlCol="0">
            <a:noAutofit/>
          </a:bodyPr>
          <a:lstStyle/>
          <a:p>
            <a:pPr algn="ctr"/>
            <a:r>
              <a:rPr lang="en-DE" sz="4800" dirty="0">
                <a:ln w="0"/>
                <a:effectLst>
                  <a:outerShdw blurRad="38100" dist="19050" dir="2700000" algn="tl" rotWithShape="0">
                    <a:schemeClr val="dk1">
                      <a:alpha val="40000"/>
                    </a:schemeClr>
                  </a:outerShdw>
                </a:effectLst>
                <a:latin typeface="Patrick Hand" pitchFamily="2" charset="77"/>
              </a:rPr>
              <a:t>Suppose we have tables like those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CC7B958-223E-6D38-B69C-8FC5D3E32BC1}"/>
              </a:ext>
            </a:extLst>
          </p:cNvPr>
          <p:cNvPicPr>
            <a:picLocks noChangeAspect="1"/>
          </p:cNvPicPr>
          <p:nvPr/>
        </p:nvPicPr>
        <p:blipFill>
          <a:blip r:embed="rId4"/>
          <a:stretch>
            <a:fillRect/>
          </a:stretch>
        </p:blipFill>
        <p:spPr>
          <a:xfrm>
            <a:off x="3564900" y="5163011"/>
            <a:ext cx="3155613" cy="6650661"/>
          </a:xfrm>
          <a:prstGeom prst="rect">
            <a:avLst/>
          </a:prstGeom>
        </p:spPr>
      </p:pic>
    </p:spTree>
    <p:extLst>
      <p:ext uri="{BB962C8B-B14F-4D97-AF65-F5344CB8AC3E}">
        <p14:creationId xmlns:p14="http://schemas.microsoft.com/office/powerpoint/2010/main" val="9293311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586F522A-0602-2906-B7B3-16179D891D9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334AC12-1C42-38E2-2851-D9DF3382B2F5}"/>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3FAEBD5C-4607-278E-D4EB-34CA55E2D02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8FB5C3F3-86A4-7513-4524-38B684BC7C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E8145E-9860-3AC4-534C-82A753D268FD}"/>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FD57C18A-FEF4-34C6-6D39-7AFBCEAE9E1A}"/>
              </a:ext>
            </a:extLst>
          </p:cNvPr>
          <p:cNvPicPr preferRelativeResize="0">
            <a:picLocks/>
          </p:cNvPicPr>
          <p:nvPr/>
        </p:nvPicPr>
        <p:blipFill rotWithShape="1">
          <a:blip r:embed="rId4"/>
          <a:srcRect l="20848" t="21625" r="14176" b="17941"/>
          <a:stretch>
            <a:fillRect/>
          </a:stretch>
        </p:blipFill>
        <p:spPr>
          <a:xfrm>
            <a:off x="223307" y="4267093"/>
            <a:ext cx="9838800" cy="7200000"/>
          </a:xfrm>
          <a:prstGeom prst="rect">
            <a:avLst/>
          </a:prstGeom>
        </p:spPr>
      </p:pic>
    </p:spTree>
    <p:extLst>
      <p:ext uri="{BB962C8B-B14F-4D97-AF65-F5344CB8AC3E}">
        <p14:creationId xmlns:p14="http://schemas.microsoft.com/office/powerpoint/2010/main" val="25571255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E2D970CC-B676-9454-A473-FBB44BB534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698ADD4-88BC-A441-F2E9-698DC1B7B222}"/>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123B542-9945-14E2-DBA1-8A167F35635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4871B75-3E51-F348-F46D-509306BFD2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2A657B-387D-719D-E19B-B442E658578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F1C90A2A-5A33-A120-090F-9BAFF7EE783C}"/>
              </a:ext>
            </a:extLst>
          </p:cNvPr>
          <p:cNvPicPr preferRelativeResize="0">
            <a:picLocks/>
          </p:cNvPicPr>
          <p:nvPr/>
        </p:nvPicPr>
        <p:blipFill rotWithShape="1">
          <a:blip r:embed="rId4"/>
          <a:srcRect l="19087" t="20868" r="13274" b="13187"/>
          <a:stretch>
            <a:fillRect/>
          </a:stretch>
        </p:blipFill>
        <p:spPr>
          <a:xfrm>
            <a:off x="223306" y="4267093"/>
            <a:ext cx="9838800" cy="7200000"/>
          </a:xfrm>
          <a:prstGeom prst="rect">
            <a:avLst/>
          </a:prstGeom>
        </p:spPr>
      </p:pic>
    </p:spTree>
    <p:extLst>
      <p:ext uri="{BB962C8B-B14F-4D97-AF65-F5344CB8AC3E}">
        <p14:creationId xmlns:p14="http://schemas.microsoft.com/office/powerpoint/2010/main" val="30955877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DB73D324-B0DF-5D16-5FC6-9A3B172F926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9A19712-FF23-D81E-CEE1-3A700BEBB088}"/>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489986B-77EB-F8AD-993D-5EE8BFAC703B}"/>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66702D84-56B8-4E77-029C-4E8EB4FDF1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746F5D-CAD8-0012-2AEB-FE451F484C24}"/>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12EF576-0886-C53C-D075-F6B84AD1B68E}"/>
              </a:ext>
            </a:extLst>
          </p:cNvPr>
          <p:cNvPicPr preferRelativeResize="0">
            <a:picLocks/>
          </p:cNvPicPr>
          <p:nvPr/>
        </p:nvPicPr>
        <p:blipFill rotWithShape="1">
          <a:blip r:embed="rId4"/>
          <a:srcRect l="16924" t="20672" r="11645" b="13017"/>
          <a:stretch>
            <a:fillRect/>
          </a:stretch>
        </p:blipFill>
        <p:spPr>
          <a:xfrm>
            <a:off x="223306" y="4267093"/>
            <a:ext cx="9838800" cy="7200000"/>
          </a:xfrm>
          <a:prstGeom prst="rect">
            <a:avLst/>
          </a:prstGeom>
        </p:spPr>
      </p:pic>
      <p:cxnSp>
        <p:nvCxnSpPr>
          <p:cNvPr id="8" name="Straight Connector 7">
            <a:extLst>
              <a:ext uri="{FF2B5EF4-FFF2-40B4-BE49-F238E27FC236}">
                <a16:creationId xmlns:a16="http://schemas.microsoft.com/office/drawing/2014/main" id="{243B303D-9B0A-61B2-A9B1-A580F8EB1153}"/>
              </a:ext>
            </a:extLst>
          </p:cNvPr>
          <p:cNvCxnSpPr>
            <a:cxnSpLocks/>
          </p:cNvCxnSpPr>
          <p:nvPr/>
        </p:nvCxnSpPr>
        <p:spPr>
          <a:xfrm>
            <a:off x="241328" y="670276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201836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AF41DB3E-00E3-61C9-3D1E-3C8BC04AC56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95DB8D-ED65-3039-D5CE-2F64B9E1FA50}"/>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21D3F987-D2E0-B04C-02BF-A618AD5F2839}"/>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DB87CEE-C41B-A19F-4BCB-1A342CDFB193}"/>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0D78EC8D-3E5B-E13A-6260-F777FAAD47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C12E81E-7D8C-4A66-284D-6F5B12A4A16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03633924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5D143B38-B045-6F60-B635-5E79B2E1A248}"/>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1DBA93F0-C501-949C-5D77-1F8F64DE7FA1}"/>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97B13EF-31CE-C934-B0E0-0D286FA9B713}"/>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27845FB6-9D60-D7A5-B4EB-CE92EE9CC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4170394-402A-5F18-BF87-37446A4E9E0D}"/>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40B25F80-745F-3A58-6E4B-CFA952BA7B35}"/>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declare the column as a primary key. In this case, </a:t>
            </a:r>
          </a:p>
          <a:p>
            <a:pPr algn="ctr"/>
            <a:r>
              <a:rPr lang="en-GB" sz="6000" dirty="0">
                <a:ln w="0"/>
                <a:effectLst>
                  <a:outerShdw blurRad="38100" dist="19050" dir="2700000" algn="tl" rotWithShape="0">
                    <a:schemeClr val="dk1">
                      <a:alpha val="40000"/>
                    </a:schemeClr>
                  </a:outerShdw>
                </a:effectLst>
                <a:latin typeface="Patrick Hand" pitchFamily="2" charset="77"/>
              </a:rPr>
              <a:t>you must handle IDs yourself.</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ACDAE40F-7130-9FAC-BC07-EF8D981B6140}"/>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60021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E9EA150-3EFD-13EA-7493-77672DDF7D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3113D33-51D7-0193-90A9-0488B2371DDC}"/>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8580038-C0B5-ADA8-9356-9128DBCC4E4F}"/>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71A6C284-3AEE-6985-A9C0-04C8A369CD8B}"/>
              </a:ext>
            </a:extLst>
          </p:cNvPr>
          <p:cNvSpPr txBox="1"/>
          <p:nvPr/>
        </p:nvSpPr>
        <p:spPr>
          <a:xfrm>
            <a:off x="223306" y="7909999"/>
            <a:ext cx="8015528"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100 }</a:t>
            </a:r>
            <a:endParaRPr lang="en-DE" sz="4800" dirty="0"/>
          </a:p>
        </p:txBody>
      </p:sp>
      <p:pic>
        <p:nvPicPr>
          <p:cNvPr id="8" name="Picture 2" descr="TypeORM Logo">
            <a:extLst>
              <a:ext uri="{FF2B5EF4-FFF2-40B4-BE49-F238E27FC236}">
                <a16:creationId xmlns:a16="http://schemas.microsoft.com/office/drawing/2014/main" id="{7D554DB2-67D8-93CC-8974-0D17E6213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C904D608-AF7F-A837-E53E-2B276AA039D3}"/>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E27B72A9-A6D3-402B-3ABF-957D49F20578}"/>
              </a:ext>
            </a:extLst>
          </p:cNvPr>
          <p:cNvPicPr preferRelativeResize="0">
            <a:picLocks/>
          </p:cNvPicPr>
          <p:nvPr/>
        </p:nvPicPr>
        <p:blipFill rotWithShape="1">
          <a:blip r:embed="rId4"/>
          <a:srcRect l="20575" t="30963" r="15943" b="20711"/>
          <a:stretch>
            <a:fillRect/>
          </a:stretch>
        </p:blipFill>
        <p:spPr>
          <a:xfrm>
            <a:off x="223307" y="4338348"/>
            <a:ext cx="9838800" cy="3600000"/>
          </a:xfrm>
          <a:prstGeom prst="rect">
            <a:avLst/>
          </a:prstGeom>
        </p:spPr>
      </p:pic>
      <p:sp>
        <p:nvSpPr>
          <p:cNvPr id="14" name="TextBox 13">
            <a:extLst>
              <a:ext uri="{FF2B5EF4-FFF2-40B4-BE49-F238E27FC236}">
                <a16:creationId xmlns:a16="http://schemas.microsoft.com/office/drawing/2014/main" id="{08628A14-3577-6D24-D5F1-DA081CE9A11B}"/>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647015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136FD7F5-8C85-ABC2-0850-90FC12DE658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EBD9695-F098-531C-A737-A4883EA8A3FE}"/>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AEFFD053-4B66-D217-E3F4-1B1C618F853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87D3F73-D2A0-74B1-19FD-6034327F1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6BEAC00-8B60-AE2E-EC92-381263D32A7B}"/>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the IDs automatically.</a:t>
            </a:r>
          </a:p>
          <a:p>
            <a:pPr algn="ctr"/>
            <a:r>
              <a:rPr lang="en-GB" sz="6000" dirty="0">
                <a:ln w="0"/>
                <a:effectLst>
                  <a:outerShdw blurRad="38100" dist="19050" dir="2700000" algn="tl" rotWithShape="0">
                    <a:schemeClr val="dk1">
                      <a:alpha val="40000"/>
                    </a:schemeClr>
                  </a:outerShdw>
                </a:effectLst>
                <a:latin typeface="Patrick Hand" pitchFamily="2" charset="77"/>
              </a:rPr>
              <a:t>Generated IDs will be 1,2,3,…</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BDCE7B94-7BF7-2313-8E78-733CBD54FED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F01E49CD-FA71-B4C5-72ED-3E825F21E37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19909104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1025F92-4B24-A9AA-F61F-17661046CCD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F4D8309-3C40-D5F9-E772-BFC5E3B3CC43}"/>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80854EA5-788C-7F04-58C8-64D128396DBD}"/>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B483F32-118D-6A22-C0D5-5214F3A7357C}"/>
              </a:ext>
            </a:extLst>
          </p:cNvPr>
          <p:cNvSpPr txBox="1"/>
          <p:nvPr/>
        </p:nvSpPr>
        <p:spPr>
          <a:xfrm>
            <a:off x="223306" y="7909999"/>
            <a:ext cx="7390356"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 }</a:t>
            </a:r>
            <a:endParaRPr lang="en-DE" sz="4800" dirty="0"/>
          </a:p>
        </p:txBody>
      </p:sp>
      <p:pic>
        <p:nvPicPr>
          <p:cNvPr id="7" name="Picture 6">
            <a:extLst>
              <a:ext uri="{FF2B5EF4-FFF2-40B4-BE49-F238E27FC236}">
                <a16:creationId xmlns:a16="http://schemas.microsoft.com/office/drawing/2014/main" id="{8DD87DB2-1D9D-9F61-083A-7802C22ABD14}"/>
              </a:ext>
            </a:extLst>
          </p:cNvPr>
          <p:cNvPicPr preferRelativeResize="0">
            <a:picLocks/>
          </p:cNvPicPr>
          <p:nvPr/>
        </p:nvPicPr>
        <p:blipFill rotWithShape="1">
          <a:blip r:embed="rId3"/>
          <a:srcRect l="23314" t="30266" r="17241" b="25977"/>
          <a:stretch>
            <a:fillRect/>
          </a:stretch>
        </p:blipFill>
        <p:spPr>
          <a:xfrm>
            <a:off x="223306" y="4318001"/>
            <a:ext cx="9838800" cy="3600000"/>
          </a:xfrm>
          <a:prstGeom prst="rect">
            <a:avLst/>
          </a:prstGeom>
        </p:spPr>
      </p:pic>
      <p:pic>
        <p:nvPicPr>
          <p:cNvPr id="8" name="Picture 2" descr="TypeORM Logo">
            <a:extLst>
              <a:ext uri="{FF2B5EF4-FFF2-40B4-BE49-F238E27FC236}">
                <a16:creationId xmlns:a16="http://schemas.microsoft.com/office/drawing/2014/main" id="{66E3172C-DDCB-CED3-533A-D7CE5F9DC9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08BAED20-AD48-E6BF-77A0-5B32808BEABA}"/>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E587F6C4-E69B-A599-9956-C7078E3D727F}"/>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20736917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AF106E38-F375-1A20-BD22-679297B6481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6404838-69AB-03CC-F89E-2D5E86685FE4}"/>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9A2E1807-CF46-F913-3973-5773D655362F}"/>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CEDC324-946A-2179-08C7-B6CFB341AA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A7208C-E8B1-4A04-C20C-44CB84E6A816}"/>
              </a:ext>
            </a:extLst>
          </p:cNvPr>
          <p:cNvSpPr txBox="1"/>
          <p:nvPr/>
        </p:nvSpPr>
        <p:spPr>
          <a:xfrm>
            <a:off x="223307" y="4348767"/>
            <a:ext cx="9838800" cy="6663790"/>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UUIDs automatically.</a:t>
            </a:r>
          </a:p>
          <a:p>
            <a:pPr algn="ct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3" name="Right Arrow 2">
            <a:extLst>
              <a:ext uri="{FF2B5EF4-FFF2-40B4-BE49-F238E27FC236}">
                <a16:creationId xmlns:a16="http://schemas.microsoft.com/office/drawing/2014/main" id="{649EA0F4-C162-1CF2-01D9-93379810675E}"/>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DF5AC384-A632-6DBD-FD91-6B5AF493058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2906740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2DD0C7A-F266-CA91-BA01-AB3C2A4024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5A15CC9-9DED-ECA5-9921-AF2898BA1FEA}"/>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416976C1-6AAD-AD05-2B23-158BCF90BF6B}"/>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E3F4450-C86A-72AE-69B3-9AF9A40F300B}"/>
              </a:ext>
            </a:extLst>
          </p:cNvPr>
          <p:cNvSpPr txBox="1"/>
          <p:nvPr/>
        </p:nvSpPr>
        <p:spPr>
          <a:xfrm>
            <a:off x="223307" y="7919600"/>
            <a:ext cx="9838800" cy="4705970"/>
          </a:xfrm>
          <a:prstGeom prst="rect">
            <a:avLst/>
          </a:prstGeom>
          <a:noFill/>
        </p:spPr>
        <p:txBody>
          <a:bodyPr wrap="square" rtlCol="0">
            <a:no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 </a:t>
            </a:r>
          </a:p>
          <a:p>
            <a:r>
              <a:rPr lang="en-GB" sz="4800" dirty="0">
                <a:ln w="0"/>
                <a:effectLst>
                  <a:outerShdw blurRad="38100" dist="19050" dir="2700000" algn="tl" rotWithShape="0">
                    <a:schemeClr val="dk1">
                      <a:alpha val="40000"/>
                    </a:schemeClr>
                  </a:outerShdw>
                </a:effectLst>
              </a:rPr>
              <a:t>User {</a:t>
            </a:r>
          </a:p>
          <a:p>
            <a:r>
              <a:rPr lang="en-GB" sz="4800" dirty="0">
                <a:ln w="0"/>
                <a:effectLst>
                  <a:outerShdw blurRad="38100" dist="19050" dir="2700000" algn="tl" rotWithShape="0">
                    <a:schemeClr val="dk1">
                      <a:alpha val="40000"/>
                    </a:schemeClr>
                  </a:outerShdw>
                </a:effectLst>
              </a:rPr>
              <a:t>  username: '</a:t>
            </a:r>
            <a:r>
              <a:rPr lang="en-GB" sz="4800" dirty="0" err="1">
                <a:ln w="0"/>
                <a:effectLst>
                  <a:outerShdw blurRad="38100" dist="19050" dir="2700000" algn="tl" rotWithShape="0">
                    <a:schemeClr val="dk1">
                      <a:alpha val="40000"/>
                    </a:schemeClr>
                  </a:outerShdw>
                </a:effectLst>
              </a:rPr>
              <a:t>ebrahim</a:t>
            </a:r>
            <a:r>
              <a:rPr lang="en-GB" sz="4800" dirty="0">
                <a:ln w="0"/>
                <a:effectLst>
                  <a:outerShdw blurRad="38100" dist="19050" dir="2700000" algn="tl" rotWithShape="0">
                    <a:schemeClr val="dk1">
                      <a:alpha val="40000"/>
                    </a:schemeClr>
                  </a:outerShdw>
                </a:effectLst>
              </a:rPr>
              <a:t>',</a:t>
            </a:r>
          </a:p>
          <a:p>
            <a:r>
              <a:rPr lang="en-GB" sz="4800" dirty="0">
                <a:ln w="0"/>
                <a:effectLst>
                  <a:outerShdw blurRad="38100" dist="19050" dir="2700000" algn="tl" rotWithShape="0">
                    <a:schemeClr val="dk1">
                      <a:alpha val="40000"/>
                    </a:schemeClr>
                  </a:outerShdw>
                </a:effectLst>
              </a:rPr>
              <a:t>  id: '33e47825-8a2a-4c45-8199-984adb199f12'</a:t>
            </a:r>
          </a:p>
          <a:p>
            <a:r>
              <a:rPr lang="en-GB" sz="4800" dirty="0">
                <a:ln w="0"/>
                <a:effectLst>
                  <a:outerShdw blurRad="38100" dist="19050" dir="2700000" algn="tl" rotWithShape="0">
                    <a:schemeClr val="dk1">
                      <a:alpha val="40000"/>
                    </a:schemeClr>
                  </a:outerShdw>
                </a:effectLst>
              </a:rPr>
              <a:t>}</a:t>
            </a:r>
          </a:p>
        </p:txBody>
      </p:sp>
      <p:pic>
        <p:nvPicPr>
          <p:cNvPr id="7" name="Picture 6">
            <a:extLst>
              <a:ext uri="{FF2B5EF4-FFF2-40B4-BE49-F238E27FC236}">
                <a16:creationId xmlns:a16="http://schemas.microsoft.com/office/drawing/2014/main" id="{11D9A8D3-7F33-E585-44B1-E30A713182D8}"/>
              </a:ext>
            </a:extLst>
          </p:cNvPr>
          <p:cNvPicPr>
            <a:picLocks/>
          </p:cNvPicPr>
          <p:nvPr/>
        </p:nvPicPr>
        <p:blipFill>
          <a:blip r:embed="rId3"/>
          <a:srcRect l="19449" t="32735" r="15887" b="20962"/>
          <a:stretch>
            <a:fillRect/>
          </a:stretch>
        </p:blipFill>
        <p:spPr>
          <a:xfrm>
            <a:off x="223307" y="4309774"/>
            <a:ext cx="9838800" cy="3600000"/>
          </a:xfrm>
          <a:prstGeom prst="rect">
            <a:avLst/>
          </a:prstGeom>
        </p:spPr>
      </p:pic>
      <p:pic>
        <p:nvPicPr>
          <p:cNvPr id="8" name="Picture 2" descr="TypeORM Logo">
            <a:extLst>
              <a:ext uri="{FF2B5EF4-FFF2-40B4-BE49-F238E27FC236}">
                <a16:creationId xmlns:a16="http://schemas.microsoft.com/office/drawing/2014/main" id="{8F995695-E53B-1A5C-A014-735AB0C03A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AD3E362D-6122-0DB5-75C1-56F46D847C1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0" name="TextBox 9">
            <a:extLst>
              <a:ext uri="{FF2B5EF4-FFF2-40B4-BE49-F238E27FC236}">
                <a16:creationId xmlns:a16="http://schemas.microsoft.com/office/drawing/2014/main" id="{F9E05CDE-8574-E2AA-38E6-C12F4A11FE2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502895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E786D623-92F5-2541-992D-19EFA1EA7AE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2260D41-138B-1F78-0C59-948840D9D646}"/>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355EB5B-8C35-F9BC-CDC1-C12CDD03FF6A}"/>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1D324EFE-3C70-4985-2265-80E8B7761939}"/>
              </a:ext>
            </a:extLst>
          </p:cNvPr>
          <p:cNvSpPr txBox="1"/>
          <p:nvPr/>
        </p:nvSpPr>
        <p:spPr>
          <a:xfrm>
            <a:off x="223307" y="717881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6" name="Picture 2" descr="TypeORM Logo">
            <a:extLst>
              <a:ext uri="{FF2B5EF4-FFF2-40B4-BE49-F238E27FC236}">
                <a16:creationId xmlns:a16="http://schemas.microsoft.com/office/drawing/2014/main" id="{D4680794-1596-CA35-55FA-64A91790A9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CFA82A-630F-9CF2-0108-611C193DD8A0}"/>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8725909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C5DC4634-740A-DEF7-A312-070EC4A940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CB5153A-1CA2-5FAD-B3C5-AF8582611DE7}"/>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D5DB766-F3E5-C6C8-0861-5B7F3D9EE9B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9E340DC7-2BC8-6329-FB90-3F241C077102}"/>
              </a:ext>
            </a:extLst>
          </p:cNvPr>
          <p:cNvSpPr txBox="1"/>
          <p:nvPr/>
        </p:nvSpPr>
        <p:spPr>
          <a:xfrm>
            <a:off x="223306" y="6693021"/>
            <a:ext cx="9838800" cy="4901958"/>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if you want to keep your data secure and scalable.</a:t>
            </a:r>
          </a:p>
        </p:txBody>
      </p:sp>
      <p:pic>
        <p:nvPicPr>
          <p:cNvPr id="6" name="Picture 2" descr="TypeORM Logo">
            <a:extLst>
              <a:ext uri="{FF2B5EF4-FFF2-40B4-BE49-F238E27FC236}">
                <a16:creationId xmlns:a16="http://schemas.microsoft.com/office/drawing/2014/main" id="{3EF45B22-494A-B916-B060-10B0795C70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7" name="Right Arrow 6">
            <a:extLst>
              <a:ext uri="{FF2B5EF4-FFF2-40B4-BE49-F238E27FC236}">
                <a16:creationId xmlns:a16="http://schemas.microsoft.com/office/drawing/2014/main" id="{1708CAFC-5D12-3159-B21D-D43EE345DA84}"/>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6506279D-1E74-9E20-60C8-79F3E3A9D01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365178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458D50A1-39F9-D244-F57F-58C7C03E7FE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FED74F8-5A56-FFCD-BF99-76C8ED437481}"/>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FC91E70-DAD4-7DE7-D410-51B5A6006CF8}"/>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5" name="TextBox 4">
            <a:extLst>
              <a:ext uri="{FF2B5EF4-FFF2-40B4-BE49-F238E27FC236}">
                <a16:creationId xmlns:a16="http://schemas.microsoft.com/office/drawing/2014/main" id="{7002EC5E-DED4-DC9F-7BD6-33BB1BF15F2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173EC4D3-0B6A-1BA7-C325-F1340C99DCED}"/>
              </a:ext>
            </a:extLst>
          </p:cNvPr>
          <p:cNvPicPr preferRelativeResize="0">
            <a:picLocks/>
          </p:cNvPicPr>
          <p:nvPr/>
        </p:nvPicPr>
        <p:blipFill rotWithShape="1">
          <a:blip r:embed="rId3"/>
          <a:srcRect l="18125" t="21891" r="12688" b="14972"/>
          <a:stretch>
            <a:fillRect/>
          </a:stretch>
        </p:blipFill>
        <p:spPr>
          <a:xfrm>
            <a:off x="223306" y="4317998"/>
            <a:ext cx="9838800" cy="7200000"/>
          </a:xfrm>
          <a:prstGeom prst="rect">
            <a:avLst/>
          </a:prstGeom>
        </p:spPr>
      </p:pic>
      <p:cxnSp>
        <p:nvCxnSpPr>
          <p:cNvPr id="10" name="Straight Connector 9">
            <a:extLst>
              <a:ext uri="{FF2B5EF4-FFF2-40B4-BE49-F238E27FC236}">
                <a16:creationId xmlns:a16="http://schemas.microsoft.com/office/drawing/2014/main" id="{4E3EE47E-370B-893D-F306-BB3B0E5063B2}"/>
              </a:ext>
            </a:extLst>
          </p:cNvPr>
          <p:cNvCxnSpPr>
            <a:cxnSpLocks/>
          </p:cNvCxnSpPr>
          <p:nvPr/>
        </p:nvCxnSpPr>
        <p:spPr>
          <a:xfrm>
            <a:off x="223306" y="88015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031D63AB-B867-DCB1-5FB8-76587FABC1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10462606"/>
            <a:ext cx="914400" cy="914400"/>
          </a:xfrm>
          <a:prstGeom prst="rect">
            <a:avLst/>
          </a:prstGeom>
        </p:spPr>
      </p:pic>
      <p:pic>
        <p:nvPicPr>
          <p:cNvPr id="12" name="Graphic 11" descr="Close with solid fill">
            <a:extLst>
              <a:ext uri="{FF2B5EF4-FFF2-40B4-BE49-F238E27FC236}">
                <a16:creationId xmlns:a16="http://schemas.microsoft.com/office/drawing/2014/main" id="{4670BA5A-6BE0-695E-E494-FC8CE02A991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7769158"/>
            <a:ext cx="914400" cy="914400"/>
          </a:xfrm>
          <a:prstGeom prst="rect">
            <a:avLst/>
          </a:prstGeom>
        </p:spPr>
      </p:pic>
      <p:sp>
        <p:nvSpPr>
          <p:cNvPr id="13" name="Right Arrow 12">
            <a:extLst>
              <a:ext uri="{FF2B5EF4-FFF2-40B4-BE49-F238E27FC236}">
                <a16:creationId xmlns:a16="http://schemas.microsoft.com/office/drawing/2014/main" id="{41355DCA-F782-1503-36A7-CED1E0843065}"/>
              </a:ext>
            </a:extLst>
          </p:cNvPr>
          <p:cNvSpPr/>
          <p:nvPr/>
        </p:nvSpPr>
        <p:spPr>
          <a:xfrm>
            <a:off x="4650820" y="12153900"/>
            <a:ext cx="983773" cy="689903"/>
          </a:xfrm>
          <a:prstGeom prst="rightArrow">
            <a:avLst/>
          </a:prstGeom>
          <a:ln>
            <a:solidFill>
              <a:schemeClr val="tx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4" name="Straight Connector 13">
            <a:extLst>
              <a:ext uri="{FF2B5EF4-FFF2-40B4-BE49-F238E27FC236}">
                <a16:creationId xmlns:a16="http://schemas.microsoft.com/office/drawing/2014/main" id="{18A61D01-0572-159B-CBAD-722734383941}"/>
              </a:ext>
            </a:extLst>
          </p:cNvPr>
          <p:cNvCxnSpPr>
            <a:cxnSpLocks/>
          </p:cNvCxnSpPr>
          <p:nvPr/>
        </p:nvCxnSpPr>
        <p:spPr>
          <a:xfrm>
            <a:off x="223307" y="60837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524515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DD5F704C-D60B-B5E4-0F58-4D4DE76F9A0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57BC040-AF29-F459-6AD1-99E5E431F4C3}"/>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CD4E245-1B47-BA5D-4D0D-491444F50CA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3BCF8B6E-CBFC-2A2F-908A-B301E11419B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know why?</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AAA40DB-6116-7915-A0FB-2F4303BF466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1527947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AD862727-6134-9400-743F-99F7BBE9FFD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760FD555-3FC9-35C7-67AB-705B6F17931F}"/>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6073EC61-F7A5-9D97-115A-E405F4F66F3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55BD8A4F-9338-7AF6-5FE8-318D0D38863E}"/>
              </a:ext>
            </a:extLst>
          </p:cNvPr>
          <p:cNvPicPr>
            <a:picLocks noChangeAspect="1"/>
          </p:cNvPicPr>
          <p:nvPr/>
        </p:nvPicPr>
        <p:blipFill>
          <a:blip r:embed="rId2"/>
          <a:stretch>
            <a:fillRect/>
          </a:stretch>
        </p:blipFill>
        <p:spPr>
          <a:xfrm>
            <a:off x="284266" y="3140519"/>
            <a:ext cx="1062000" cy="1062000"/>
          </a:xfrm>
          <a:prstGeom prst="rect">
            <a:avLst/>
          </a:prstGeom>
        </p:spPr>
      </p:pic>
      <p:sp>
        <p:nvSpPr>
          <p:cNvPr id="8" name="Right Arrow 7">
            <a:extLst>
              <a:ext uri="{FF2B5EF4-FFF2-40B4-BE49-F238E27FC236}">
                <a16:creationId xmlns:a16="http://schemas.microsoft.com/office/drawing/2014/main" id="{71895382-E64E-C6E7-7F72-2923E8098672}"/>
              </a:ext>
            </a:extLst>
          </p:cNvPr>
          <p:cNvSpPr/>
          <p:nvPr/>
        </p:nvSpPr>
        <p:spPr>
          <a:xfrm>
            <a:off x="4469544" y="11262541"/>
            <a:ext cx="1346325" cy="1120282"/>
          </a:xfrm>
          <a:prstGeom prst="rightArrow">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12E59C43-C14C-9198-313D-44EF1A8B5FC0}"/>
              </a:ext>
            </a:extLst>
          </p:cNvPr>
          <p:cNvPicPr>
            <a:picLocks noChangeAspect="1"/>
          </p:cNvPicPr>
          <p:nvPr/>
        </p:nvPicPr>
        <p:blipFill rotWithShape="1">
          <a:blip r:embed="rId3"/>
          <a:srcRect l="18628" t="27230" r="14131" b="23634"/>
          <a:stretch>
            <a:fillRect/>
          </a:stretch>
        </p:blipFill>
        <p:spPr>
          <a:xfrm>
            <a:off x="223306" y="4345323"/>
            <a:ext cx="9838800" cy="5323119"/>
          </a:xfrm>
          <a:prstGeom prst="rect">
            <a:avLst/>
          </a:prstGeom>
        </p:spPr>
      </p:pic>
      <p:cxnSp>
        <p:nvCxnSpPr>
          <p:cNvPr id="11" name="Straight Connector 10">
            <a:extLst>
              <a:ext uri="{FF2B5EF4-FFF2-40B4-BE49-F238E27FC236}">
                <a16:creationId xmlns:a16="http://schemas.microsoft.com/office/drawing/2014/main" id="{2D9F7EC9-D232-A77F-9124-0A5A45AE02B4}"/>
              </a:ext>
            </a:extLst>
          </p:cNvPr>
          <p:cNvCxnSpPr>
            <a:cxnSpLocks/>
          </p:cNvCxnSpPr>
          <p:nvPr/>
        </p:nvCxnSpPr>
        <p:spPr>
          <a:xfrm>
            <a:off x="223307" y="7069878"/>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682902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EBBB550D-47FA-A35D-4230-6C707171856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6B469B3-0DF1-60D6-EC27-1538AC412687}"/>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AF4A4861-52F7-8C3F-B064-21B61330B0DD}"/>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3981A18-5250-04B1-2C7A-5C105FE4FE1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E311B6D2-E3AE-70BB-A345-F45BBE2CDE32}"/>
              </a:ext>
            </a:extLst>
          </p:cNvPr>
          <p:cNvPicPr>
            <a:picLocks noChangeAspect="1"/>
          </p:cNvPicPr>
          <p:nvPr/>
        </p:nvPicPr>
        <p:blipFill>
          <a:blip r:embed="rId2"/>
          <a:stretch>
            <a:fillRect/>
          </a:stretch>
        </p:blipFill>
        <p:spPr>
          <a:xfrm>
            <a:off x="284266" y="3140519"/>
            <a:ext cx="1062000" cy="1062000"/>
          </a:xfrm>
          <a:prstGeom prst="rect">
            <a:avLst/>
          </a:prstGeom>
        </p:spPr>
      </p:pic>
    </p:spTree>
    <p:extLst>
      <p:ext uri="{BB962C8B-B14F-4D97-AF65-F5344CB8AC3E}">
        <p14:creationId xmlns:p14="http://schemas.microsoft.com/office/powerpoint/2010/main" val="35762949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4175FB3-9D55-CE93-D189-E436B65F75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C5DD00C-45CE-DD89-DAD9-A252F4228EE3}"/>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installation</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DA1549A3-407E-9F95-9966-6B631B362E4C}"/>
              </a:ext>
            </a:extLst>
          </p:cNvPr>
          <p:cNvSpPr txBox="1"/>
          <p:nvPr/>
        </p:nvSpPr>
        <p:spPr>
          <a:xfrm>
            <a:off x="658063" y="5840593"/>
            <a:ext cx="8969286" cy="380414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nchor="ctr">
            <a:noAutofit/>
          </a:bodyPr>
          <a:lstStyle/>
          <a:p>
            <a:pPr algn="ctr"/>
            <a:r>
              <a:rPr lang="en-DE" sz="6000" dirty="0">
                <a:ln w="0"/>
                <a:effectLst>
                  <a:outerShdw blurRad="38100" dist="19050" dir="2700000" algn="tl" rotWithShape="0">
                    <a:schemeClr val="dk1">
                      <a:alpha val="40000"/>
                    </a:schemeClr>
                  </a:outerShdw>
                </a:effectLst>
              </a:rPr>
              <a:t>npm install --save-dev @testing-library/react @testing-library/dom</a:t>
            </a:r>
          </a:p>
        </p:txBody>
      </p:sp>
      <p:sp>
        <p:nvSpPr>
          <p:cNvPr id="5" name="TextBox 4">
            <a:extLst>
              <a:ext uri="{FF2B5EF4-FFF2-40B4-BE49-F238E27FC236}">
                <a16:creationId xmlns:a16="http://schemas.microsoft.com/office/drawing/2014/main" id="{19C55A03-5033-6AE8-F138-37D6ECDF39B9}"/>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36ABD07-D666-ECB1-1B73-C17E0E1628D6}"/>
              </a:ext>
            </a:extLst>
          </p:cNvPr>
          <p:cNvPicPr>
            <a:picLocks noChangeAspect="1"/>
          </p:cNvPicPr>
          <p:nvPr/>
        </p:nvPicPr>
        <p:blipFill>
          <a:blip r:embed="rId3"/>
          <a:stretch>
            <a:fillRect/>
          </a:stretch>
        </p:blipFill>
        <p:spPr>
          <a:xfrm>
            <a:off x="284266" y="3140519"/>
            <a:ext cx="1062000" cy="1062000"/>
          </a:xfrm>
          <a:prstGeom prst="rect">
            <a:avLst/>
          </a:prstGeom>
        </p:spPr>
      </p:pic>
      <p:sp>
        <p:nvSpPr>
          <p:cNvPr id="2" name="TextBox 1">
            <a:extLst>
              <a:ext uri="{FF2B5EF4-FFF2-40B4-BE49-F238E27FC236}">
                <a16:creationId xmlns:a16="http://schemas.microsoft.com/office/drawing/2014/main" id="{03C524B5-62D7-150A-7B76-18F6DA2A93B9}"/>
              </a:ext>
            </a:extLst>
          </p:cNvPr>
          <p:cNvSpPr txBox="1"/>
          <p:nvPr/>
        </p:nvSpPr>
        <p:spPr>
          <a:xfrm>
            <a:off x="658063" y="4970858"/>
            <a:ext cx="4953600" cy="830997"/>
          </a:xfrm>
          <a:prstGeom prst="rect">
            <a:avLst/>
          </a:prstGeom>
          <a:noFill/>
        </p:spPr>
        <p:txBody>
          <a:bodyPr wrap="none" rtlCol="0">
            <a:spAutoFit/>
          </a:bodyPr>
          <a:lstStyle/>
          <a:p>
            <a:r>
              <a:rPr lang="en-DE" sz="4800" dirty="0">
                <a:latin typeface="Patrick Hand" pitchFamily="2" charset="77"/>
              </a:rPr>
              <a:t>React Testing Library</a:t>
            </a:r>
            <a:endParaRPr lang="en-DE" sz="19900" dirty="0">
              <a:latin typeface="Patrick Hand" pitchFamily="2" charset="77"/>
            </a:endParaRPr>
          </a:p>
        </p:txBody>
      </p:sp>
      <p:pic>
        <p:nvPicPr>
          <p:cNvPr id="4" name="Picture 3">
            <a:extLst>
              <a:ext uri="{FF2B5EF4-FFF2-40B4-BE49-F238E27FC236}">
                <a16:creationId xmlns:a16="http://schemas.microsoft.com/office/drawing/2014/main" id="{8241125A-4270-7AA8-DBA0-DE28FD553C5D}"/>
              </a:ext>
            </a:extLst>
          </p:cNvPr>
          <p:cNvPicPr>
            <a:picLocks noChangeAspect="1"/>
          </p:cNvPicPr>
          <p:nvPr/>
        </p:nvPicPr>
        <p:blipFill>
          <a:blip r:embed="rId4"/>
          <a:stretch>
            <a:fillRect/>
          </a:stretch>
        </p:blipFill>
        <p:spPr>
          <a:xfrm>
            <a:off x="1501567" y="3142973"/>
            <a:ext cx="1062000" cy="1062000"/>
          </a:xfrm>
          <a:prstGeom prst="rect">
            <a:avLst/>
          </a:prstGeom>
        </p:spPr>
      </p:pic>
      <p:sp>
        <p:nvSpPr>
          <p:cNvPr id="6" name="TextBox 5">
            <a:extLst>
              <a:ext uri="{FF2B5EF4-FFF2-40B4-BE49-F238E27FC236}">
                <a16:creationId xmlns:a16="http://schemas.microsoft.com/office/drawing/2014/main" id="{7D5C7A6D-3025-299E-8E8E-33546665E54B}"/>
              </a:ext>
            </a:extLst>
          </p:cNvPr>
          <p:cNvSpPr txBox="1"/>
          <p:nvPr/>
        </p:nvSpPr>
        <p:spPr>
          <a:xfrm>
            <a:off x="658063" y="10791917"/>
            <a:ext cx="8969286" cy="5667285"/>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nchor="ctr">
            <a:noAutofit/>
          </a:bodyPr>
          <a:lstStyle/>
          <a:p>
            <a:pPr algn="ctr"/>
            <a:r>
              <a:rPr lang="en-DE" sz="6000" dirty="0"/>
              <a:t>npm install --save-dev @testing-library/react @testing-library/dom @types/react @types/react-dom</a:t>
            </a:r>
          </a:p>
        </p:txBody>
      </p:sp>
      <p:sp>
        <p:nvSpPr>
          <p:cNvPr id="8" name="TextBox 7">
            <a:extLst>
              <a:ext uri="{FF2B5EF4-FFF2-40B4-BE49-F238E27FC236}">
                <a16:creationId xmlns:a16="http://schemas.microsoft.com/office/drawing/2014/main" id="{34570DB1-D228-D978-9196-596B78B7CA6E}"/>
              </a:ext>
            </a:extLst>
          </p:cNvPr>
          <p:cNvSpPr txBox="1"/>
          <p:nvPr/>
        </p:nvSpPr>
        <p:spPr>
          <a:xfrm>
            <a:off x="658063" y="9914341"/>
            <a:ext cx="3749744" cy="830997"/>
          </a:xfrm>
          <a:prstGeom prst="rect">
            <a:avLst/>
          </a:prstGeom>
          <a:noFill/>
        </p:spPr>
        <p:txBody>
          <a:bodyPr wrap="none" rtlCol="0">
            <a:spAutoFit/>
          </a:bodyPr>
          <a:lstStyle/>
          <a:p>
            <a:r>
              <a:rPr lang="en-DE" sz="4800" dirty="0">
                <a:latin typeface="Patrick Hand" pitchFamily="2" charset="77"/>
              </a:rPr>
              <a:t>With TypeScript</a:t>
            </a:r>
          </a:p>
        </p:txBody>
      </p:sp>
    </p:spTree>
    <p:extLst>
      <p:ext uri="{BB962C8B-B14F-4D97-AF65-F5344CB8AC3E}">
        <p14:creationId xmlns:p14="http://schemas.microsoft.com/office/powerpoint/2010/main" val="255635626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364DB3F-ED2A-8104-2F19-4D34F4CBEEA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7A4A6E48-15AC-F5C4-ED8F-00B3B3C4828B}"/>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test</a:t>
            </a:r>
          </a:p>
        </p:txBody>
      </p:sp>
      <p:sp>
        <p:nvSpPr>
          <p:cNvPr id="5" name="TextBox 4">
            <a:extLst>
              <a:ext uri="{FF2B5EF4-FFF2-40B4-BE49-F238E27FC236}">
                <a16:creationId xmlns:a16="http://schemas.microsoft.com/office/drawing/2014/main" id="{7EE51F94-59C5-18DF-7787-EDAA10E6D45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9E04A8E-2710-F667-8EC2-7A484DB79ABC}"/>
              </a:ext>
            </a:extLst>
          </p:cNvPr>
          <p:cNvPicPr>
            <a:picLocks noChangeAspect="1"/>
          </p:cNvPicPr>
          <p:nvPr/>
        </p:nvPicPr>
        <p:blipFill>
          <a:blip r:embed="rId3"/>
          <a:stretch>
            <a:fillRect/>
          </a:stretch>
        </p:blipFill>
        <p:spPr>
          <a:xfrm>
            <a:off x="284266" y="3140519"/>
            <a:ext cx="1062000" cy="1062000"/>
          </a:xfrm>
          <a:prstGeom prst="rect">
            <a:avLst/>
          </a:prstGeom>
        </p:spPr>
      </p:pic>
      <p:pic>
        <p:nvPicPr>
          <p:cNvPr id="4" name="Picture 3">
            <a:extLst>
              <a:ext uri="{FF2B5EF4-FFF2-40B4-BE49-F238E27FC236}">
                <a16:creationId xmlns:a16="http://schemas.microsoft.com/office/drawing/2014/main" id="{0A19F03B-8304-DD5F-A8FE-A9BD7A32AED6}"/>
              </a:ext>
            </a:extLst>
          </p:cNvPr>
          <p:cNvPicPr>
            <a:picLocks noChangeAspect="1"/>
          </p:cNvPicPr>
          <p:nvPr/>
        </p:nvPicPr>
        <p:blipFill>
          <a:blip r:embed="rId4"/>
          <a:stretch>
            <a:fillRect/>
          </a:stretch>
        </p:blipFill>
        <p:spPr>
          <a:xfrm>
            <a:off x="1501567" y="3142973"/>
            <a:ext cx="1062000" cy="1062000"/>
          </a:xfrm>
          <a:prstGeom prst="rect">
            <a:avLst/>
          </a:prstGeom>
        </p:spPr>
      </p:pic>
      <p:pic>
        <p:nvPicPr>
          <p:cNvPr id="10" name="Picture 9">
            <a:extLst>
              <a:ext uri="{FF2B5EF4-FFF2-40B4-BE49-F238E27FC236}">
                <a16:creationId xmlns:a16="http://schemas.microsoft.com/office/drawing/2014/main" id="{CCDEB471-FEB2-A2BD-9585-C73BFD98333F}"/>
              </a:ext>
            </a:extLst>
          </p:cNvPr>
          <p:cNvPicPr>
            <a:picLocks noChangeAspect="1"/>
          </p:cNvPicPr>
          <p:nvPr/>
        </p:nvPicPr>
        <p:blipFill rotWithShape="1">
          <a:blip r:embed="rId5"/>
          <a:srcRect l="19011" t="31359" r="14131" b="19554"/>
          <a:stretch>
            <a:fillRect/>
          </a:stretch>
        </p:blipFill>
        <p:spPr>
          <a:xfrm>
            <a:off x="223306" y="4415883"/>
            <a:ext cx="9838800" cy="4644927"/>
          </a:xfrm>
          <a:prstGeom prst="rect">
            <a:avLst/>
          </a:prstGeom>
        </p:spPr>
      </p:pic>
      <p:sp>
        <p:nvSpPr>
          <p:cNvPr id="11" name="TextBox 10">
            <a:extLst>
              <a:ext uri="{FF2B5EF4-FFF2-40B4-BE49-F238E27FC236}">
                <a16:creationId xmlns:a16="http://schemas.microsoft.com/office/drawing/2014/main" id="{5FC63733-0F0C-DDA6-4297-8A4465848ADC}"/>
              </a:ext>
            </a:extLst>
          </p:cNvPr>
          <p:cNvSpPr txBox="1"/>
          <p:nvPr/>
        </p:nvSpPr>
        <p:spPr>
          <a:xfrm>
            <a:off x="671208" y="13041120"/>
            <a:ext cx="8942996" cy="1569660"/>
          </a:xfrm>
          <a:prstGeom prst="rect">
            <a:avLst/>
          </a:prstGeom>
          <a:noFill/>
        </p:spPr>
        <p:txBody>
          <a:bodyPr wrap="square" rtlCol="0">
            <a:spAutoFit/>
          </a:bodyPr>
          <a:lstStyle/>
          <a:p>
            <a:r>
              <a:rPr lang="en-GB" sz="4800" dirty="0">
                <a:solidFill>
                  <a:srgbClr val="7030A0"/>
                </a:solidFill>
                <a:latin typeface="Patrick Hand" pitchFamily="2" charset="77"/>
              </a:rPr>
              <a:t>e</a:t>
            </a:r>
            <a:r>
              <a:rPr lang="en-DE" sz="4800" dirty="0">
                <a:solidFill>
                  <a:srgbClr val="7030A0"/>
                </a:solidFill>
                <a:latin typeface="Patrick Hand" pitchFamily="2" charset="77"/>
              </a:rPr>
              <a:t>xpect:</a:t>
            </a:r>
          </a:p>
          <a:p>
            <a:r>
              <a:rPr lang="en-DE" sz="4800" dirty="0">
                <a:latin typeface="Patrick Hand" pitchFamily="2" charset="77"/>
              </a:rPr>
              <a:t>Assert that the Text exists in the DOM.</a:t>
            </a:r>
            <a:endParaRPr lang="en-DE" sz="19900" dirty="0">
              <a:latin typeface="Patrick Hand" pitchFamily="2" charset="77"/>
            </a:endParaRPr>
          </a:p>
        </p:txBody>
      </p:sp>
      <p:sp>
        <p:nvSpPr>
          <p:cNvPr id="12" name="TextBox 11">
            <a:extLst>
              <a:ext uri="{FF2B5EF4-FFF2-40B4-BE49-F238E27FC236}">
                <a16:creationId xmlns:a16="http://schemas.microsoft.com/office/drawing/2014/main" id="{5AFECF68-E5C5-2B93-D2CF-193676B6734C}"/>
              </a:ext>
            </a:extLst>
          </p:cNvPr>
          <p:cNvSpPr txBox="1"/>
          <p:nvPr/>
        </p:nvSpPr>
        <p:spPr>
          <a:xfrm>
            <a:off x="671208" y="11163232"/>
            <a:ext cx="8942996" cy="1569660"/>
          </a:xfrm>
          <a:prstGeom prst="rect">
            <a:avLst/>
          </a:prstGeom>
          <a:noFill/>
        </p:spPr>
        <p:txBody>
          <a:bodyPr wrap="square" rtlCol="0">
            <a:spAutoFit/>
          </a:bodyPr>
          <a:lstStyle/>
          <a:p>
            <a:r>
              <a:rPr lang="en-GB" sz="4800" dirty="0" err="1">
                <a:solidFill>
                  <a:srgbClr val="0070C0"/>
                </a:solidFill>
                <a:latin typeface="Patrick Hand" pitchFamily="2" charset="77"/>
              </a:rPr>
              <a:t>screen</a:t>
            </a:r>
            <a:r>
              <a:rPr lang="en-GB" sz="4800" dirty="0" err="1">
                <a:solidFill>
                  <a:srgbClr val="7030A0"/>
                </a:solidFill>
                <a:latin typeface="Patrick Hand" pitchFamily="2" charset="77"/>
              </a:rPr>
              <a:t>.getByText</a:t>
            </a:r>
            <a:r>
              <a:rPr lang="en-DE" sz="4800" dirty="0">
                <a:solidFill>
                  <a:srgbClr val="7030A0"/>
                </a:solidFill>
                <a:latin typeface="Patrick Hand" pitchFamily="2" charset="77"/>
              </a:rPr>
              <a:t>:</a:t>
            </a:r>
          </a:p>
          <a:p>
            <a:r>
              <a:rPr lang="en-GB" sz="4800" dirty="0">
                <a:latin typeface="Patrick Hand" pitchFamily="2" charset="77"/>
              </a:rPr>
              <a:t>G</a:t>
            </a:r>
            <a:r>
              <a:rPr lang="en-DE" sz="4800" dirty="0">
                <a:latin typeface="Patrick Hand" pitchFamily="2" charset="77"/>
              </a:rPr>
              <a:t>et the element by text.</a:t>
            </a:r>
            <a:endParaRPr lang="en-DE" sz="19900" dirty="0">
              <a:latin typeface="Patrick Hand" pitchFamily="2" charset="77"/>
            </a:endParaRPr>
          </a:p>
        </p:txBody>
      </p:sp>
      <p:sp>
        <p:nvSpPr>
          <p:cNvPr id="13" name="TextBox 12">
            <a:extLst>
              <a:ext uri="{FF2B5EF4-FFF2-40B4-BE49-F238E27FC236}">
                <a16:creationId xmlns:a16="http://schemas.microsoft.com/office/drawing/2014/main" id="{6389E510-AAF4-59F0-352C-11A1920EAAD2}"/>
              </a:ext>
            </a:extLst>
          </p:cNvPr>
          <p:cNvSpPr txBox="1"/>
          <p:nvPr/>
        </p:nvSpPr>
        <p:spPr>
          <a:xfrm>
            <a:off x="671208" y="9285344"/>
            <a:ext cx="8942996" cy="1569660"/>
          </a:xfrm>
          <a:prstGeom prst="rect">
            <a:avLst/>
          </a:prstGeom>
          <a:noFill/>
        </p:spPr>
        <p:txBody>
          <a:bodyPr wrap="square" rtlCol="0">
            <a:spAutoFit/>
          </a:bodyPr>
          <a:lstStyle/>
          <a:p>
            <a:r>
              <a:rPr lang="en-DE" sz="4800" dirty="0">
                <a:solidFill>
                  <a:srgbClr val="7030A0"/>
                </a:solidFill>
                <a:latin typeface="Patrick Hand" pitchFamily="2" charset="77"/>
              </a:rPr>
              <a:t>render:</a:t>
            </a:r>
          </a:p>
          <a:p>
            <a:r>
              <a:rPr lang="en-US" sz="4800" dirty="0">
                <a:latin typeface="Patrick Hand" pitchFamily="2" charset="77"/>
              </a:rPr>
              <a:t>Render the component</a:t>
            </a:r>
            <a:r>
              <a:rPr lang="en-DE" sz="4800" dirty="0">
                <a:latin typeface="Patrick Hand" pitchFamily="2" charset="77"/>
              </a:rPr>
              <a:t>.</a:t>
            </a:r>
            <a:endParaRPr lang="en-DE" sz="19900" dirty="0">
              <a:latin typeface="Patrick Hand" pitchFamily="2" charset="77"/>
            </a:endParaRPr>
          </a:p>
        </p:txBody>
      </p:sp>
    </p:spTree>
    <p:extLst>
      <p:ext uri="{BB962C8B-B14F-4D97-AF65-F5344CB8AC3E}">
        <p14:creationId xmlns:p14="http://schemas.microsoft.com/office/powerpoint/2010/main" val="12466773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7852593-F0D4-2C63-8F78-C5A9AAEB329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D2EBB1B-AB84-70F7-52B3-61EB945D1689}"/>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comments</a:t>
            </a:r>
          </a:p>
        </p:txBody>
      </p:sp>
      <p:sp>
        <p:nvSpPr>
          <p:cNvPr id="3" name="TextBox 2">
            <a:extLst>
              <a:ext uri="{FF2B5EF4-FFF2-40B4-BE49-F238E27FC236}">
                <a16:creationId xmlns:a16="http://schemas.microsoft.com/office/drawing/2014/main" id="{91863F0F-75B2-BABD-5E08-8E9D91E75758}"/>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C002FB29-4498-733F-29B7-253D5D885A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9DD585EB-D206-58E7-7081-54D6900B03CA}"/>
              </a:ext>
            </a:extLst>
          </p:cNvPr>
          <p:cNvPicPr>
            <a:picLocks noChangeAspect="1"/>
          </p:cNvPicPr>
          <p:nvPr/>
        </p:nvPicPr>
        <p:blipFill>
          <a:blip r:embed="rId3"/>
          <a:stretch>
            <a:fillRect/>
          </a:stretch>
        </p:blipFill>
        <p:spPr>
          <a:xfrm>
            <a:off x="284266" y="3140519"/>
            <a:ext cx="1062000" cy="1062000"/>
          </a:xfrm>
          <a:prstGeom prst="rect">
            <a:avLst/>
          </a:prstGeom>
        </p:spPr>
      </p:pic>
      <p:pic>
        <p:nvPicPr>
          <p:cNvPr id="4" name="Picture 3">
            <a:extLst>
              <a:ext uri="{FF2B5EF4-FFF2-40B4-BE49-F238E27FC236}">
                <a16:creationId xmlns:a16="http://schemas.microsoft.com/office/drawing/2014/main" id="{A2CDE843-3609-BB09-9EA7-657AE77C58B3}"/>
              </a:ext>
            </a:extLst>
          </p:cNvPr>
          <p:cNvPicPr>
            <a:picLocks noChangeAspect="1"/>
          </p:cNvPicPr>
          <p:nvPr/>
        </p:nvPicPr>
        <p:blipFill>
          <a:blip r:embed="rId4"/>
          <a:stretch>
            <a:fillRect/>
          </a:stretch>
        </p:blipFill>
        <p:spPr>
          <a:xfrm>
            <a:off x="1501567" y="3142973"/>
            <a:ext cx="1062000" cy="1062000"/>
          </a:xfrm>
          <a:prstGeom prst="rect">
            <a:avLst/>
          </a:prstGeom>
        </p:spPr>
      </p:pic>
    </p:spTree>
    <p:extLst>
      <p:ext uri="{BB962C8B-B14F-4D97-AF65-F5344CB8AC3E}">
        <p14:creationId xmlns:p14="http://schemas.microsoft.com/office/powerpoint/2010/main" val="318856246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125612</TotalTime>
  <Words>2454</Words>
  <Application>Microsoft Macintosh PowerPoint</Application>
  <PresentationFormat>Custom</PresentationFormat>
  <Paragraphs>456</Paragraphs>
  <Slides>127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127</vt:i4>
      </vt:variant>
    </vt:vector>
  </HeadingPairs>
  <TitlesOfParts>
    <vt:vector size="136"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1055</cp:revision>
  <cp:lastPrinted>2025-12-17T08:49:37Z</cp:lastPrinted>
  <dcterms:created xsi:type="dcterms:W3CDTF">2025-12-17T08:13:25Z</dcterms:created>
  <dcterms:modified xsi:type="dcterms:W3CDTF">2026-06-16T19:56:20Z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