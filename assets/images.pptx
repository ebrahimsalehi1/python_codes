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comments/modernComment_117_532A238D.xml" ContentType="application/vnd.ms-powerpoint.comments+xml"/>
  <Override PartName="/ppt/comments/modernComment_118_626EC4B9.xml" ContentType="application/vnd.ms-powerpoint.comments+xml"/>
  <Override PartName="/ppt/comments/modernComment_120_FA024C04.xml" ContentType="application/vnd.ms-powerpoint.comments+xml"/>
  <Override PartName="/ppt/notesSlides/notesSlide2.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27"/>
  </p:notesMasterIdLst>
  <p:sldIdLst>
    <p:sldId id="278" r:id="rId2"/>
    <p:sldId id="279" r:id="rId3"/>
    <p:sldId id="280" r:id="rId4"/>
    <p:sldId id="281" r:id="rId5"/>
    <p:sldId id="288" r:id="rId6"/>
    <p:sldId id="289" r:id="rId7"/>
    <p:sldId id="290" r:id="rId8"/>
    <p:sldId id="291" r:id="rId9"/>
    <p:sldId id="309" r:id="rId10"/>
    <p:sldId id="292" r:id="rId11"/>
    <p:sldId id="293" r:id="rId12"/>
    <p:sldId id="294" r:id="rId13"/>
    <p:sldId id="306" r:id="rId14"/>
    <p:sldId id="296" r:id="rId15"/>
    <p:sldId id="297" r:id="rId16"/>
    <p:sldId id="298" r:id="rId17"/>
    <p:sldId id="299" r:id="rId18"/>
    <p:sldId id="300" r:id="rId19"/>
    <p:sldId id="301" r:id="rId20"/>
    <p:sldId id="302" r:id="rId21"/>
    <p:sldId id="303" r:id="rId22"/>
    <p:sldId id="304" r:id="rId23"/>
    <p:sldId id="305" r:id="rId24"/>
    <p:sldId id="307" r:id="rId25"/>
    <p:sldId id="308" r:id="rId2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862"/>
    <p:restoredTop sz="96296"/>
  </p:normalViewPr>
  <p:slideViewPr>
    <p:cSldViewPr snapToGrid="0">
      <p:cViewPr varScale="1">
        <p:scale>
          <a:sx n="53" d="100"/>
          <a:sy n="53" d="100"/>
        </p:scale>
        <p:origin x="3152" y="184"/>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7_532A238D.xml><?xml version="1.0" encoding="utf-8"?>
<p188:cmLst xmlns:a="http://schemas.openxmlformats.org/drawingml/2006/main" xmlns:r="http://schemas.openxmlformats.org/officeDocument/2006/relationships" xmlns:p188="http://schemas.microsoft.com/office/powerpoint/2018/8/main">
  <p188:cm id="{C2077823-D24A-8947-B4FE-B579AFEE0A3A}" authorId="{8860045D-B334-310D-0A4E-9E20AA0B149E}" created="2026-01-03T21:47:30.016">
    <pc:sldMkLst xmlns:pc="http://schemas.microsoft.com/office/powerpoint/2013/main/command">
      <pc:docMk/>
      <pc:sldMk cId="1395270541" sldId="279"/>
    </pc:sldMkLst>
    <p188:txBody>
      <a:bodyPr/>
      <a:lstStyle/>
      <a:p>
        <a:r>
          <a:rPr lang="en-DE"/>
          <a:t>Youtube
Title: Why you should switch to Pathlib! 🐍
Working with file paths doesn't have to be ugly. pathlib makes your code readable and object-oriented. No more messy strings!
🚀 Pro Tip: Use the / operator to join paths easily.
#Python #CleanCode #Pathlib #SoftwareEngineering #ProgrammingTips #CodingLife #Backend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18.01.26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3797265"/>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366480"/>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1/18/26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1/18/26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1/18/26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1/18/26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1/18/26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microsoft.com/office/2018/10/relationships/comments" Target="../comments/modernComment_117_532A238D.xml"/><Relationship Id="rId7" Type="http://schemas.openxmlformats.org/officeDocument/2006/relationships/image" Target="../media/image7.sv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5.png"/><Relationship Id="rId9" Type="http://schemas.openxmlformats.org/officeDocument/2006/relationships/image" Target="../media/image9.svg"/></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10.png"/><Relationship Id="rId7" Type="http://schemas.openxmlformats.org/officeDocument/2006/relationships/image" Target="../media/image8.pn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sv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sv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sv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sv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3.png"/><Relationship Id="rId2" Type="http://schemas.microsoft.com/office/2018/10/relationships/comments" Target="../comments/modernComment_128_2DA5E9E5.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1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4.png"/><Relationship Id="rId7" Type="http://schemas.openxmlformats.org/officeDocument/2006/relationships/image" Target="../media/image9.sv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A_2D01584F.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microsoft.com/office/2018/10/relationships/comments" Target="../comments/modernComment_12B_AC4C8FF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microsoft.com/office/2018/10/relationships/comments" Target="../comments/modernComment_12D_BEDEFA17.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4"/>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pathlib</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5"/>
          <a:stretch>
            <a:fillRect/>
          </a:stretch>
        </p:blipFill>
        <p:spPr>
          <a:xfrm>
            <a:off x="271852" y="4899389"/>
            <a:ext cx="1063167" cy="1063167"/>
          </a:xfrm>
          <a:prstGeom prst="rect">
            <a:avLst/>
          </a:prstGeom>
        </p:spPr>
      </p:pic>
      <p:cxnSp>
        <p:nvCxnSpPr>
          <p:cNvPr id="16" name="Straight Connector 15">
            <a:extLst>
              <a:ext uri="{FF2B5EF4-FFF2-40B4-BE49-F238E27FC236}">
                <a16:creationId xmlns:a16="http://schemas.microsoft.com/office/drawing/2014/main" id="{F3E6C352-2A47-650A-9234-C3DF3F810C43}"/>
              </a:ext>
            </a:extLst>
          </p:cNvPr>
          <p:cNvCxnSpPr>
            <a:cxnSpLocks/>
          </p:cNvCxnSpPr>
          <p:nvPr/>
        </p:nvCxnSpPr>
        <p:spPr>
          <a:xfrm>
            <a:off x="223579" y="1033442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2D6D7F89-C47E-56C4-9355-13A359543B8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764125"/>
            <a:ext cx="914400" cy="914400"/>
          </a:xfrm>
          <a:prstGeom prst="rect">
            <a:avLst/>
          </a:prstGeom>
        </p:spPr>
      </p:pic>
      <p:pic>
        <p:nvPicPr>
          <p:cNvPr id="19" name="Graphic 18" descr="Close with solid fill">
            <a:extLst>
              <a:ext uri="{FF2B5EF4-FFF2-40B4-BE49-F238E27FC236}">
                <a16:creationId xmlns:a16="http://schemas.microsoft.com/office/drawing/2014/main" id="{ADFF07AD-5C5D-EBE3-F7F1-7D805603E5B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7980445"/>
            <a:ext cx="914400" cy="914400"/>
          </a:xfrm>
          <a:prstGeom prst="rect">
            <a:avLst/>
          </a:prstGeom>
        </p:spPr>
      </p:pic>
      <p:sp>
        <p:nvSpPr>
          <p:cNvPr id="20" name="TextBox 19">
            <a:extLst>
              <a:ext uri="{FF2B5EF4-FFF2-40B4-BE49-F238E27FC236}">
                <a16:creationId xmlns:a16="http://schemas.microsoft.com/office/drawing/2014/main" id="{DD1EF262-28AB-179A-F611-B5A8CFF9D9DB}"/>
              </a:ext>
            </a:extLst>
          </p:cNvPr>
          <p:cNvSpPr txBox="1"/>
          <p:nvPr/>
        </p:nvSpPr>
        <p:spPr>
          <a:xfrm>
            <a:off x="213487" y="14792806"/>
            <a:ext cx="2040815" cy="646331"/>
          </a:xfrm>
          <a:prstGeom prst="rect">
            <a:avLst/>
          </a:prstGeom>
          <a:noFill/>
        </p:spPr>
        <p:txBody>
          <a:bodyPr wrap="none" rtlCol="0">
            <a:spAutoFit/>
          </a:bodyPr>
          <a:lstStyle/>
          <a:p>
            <a:r>
              <a:rPr lang="en-GB" sz="3600" dirty="0">
                <a:solidFill>
                  <a:schemeClr val="bg1"/>
                </a:solidFill>
              </a:rPr>
              <a:t>Readable:</a:t>
            </a:r>
            <a:endParaRPr lang="en-DE" sz="3600" dirty="0">
              <a:solidFill>
                <a:schemeClr val="bg1"/>
              </a:solidFill>
            </a:endParaRPr>
          </a:p>
        </p:txBody>
      </p:sp>
      <p:sp>
        <p:nvSpPr>
          <p:cNvPr id="21" name="TextBox 20">
            <a:extLst>
              <a:ext uri="{FF2B5EF4-FFF2-40B4-BE49-F238E27FC236}">
                <a16:creationId xmlns:a16="http://schemas.microsoft.com/office/drawing/2014/main" id="{DEA5BC88-F15A-3738-DE5E-7E3E6AF2D763}"/>
              </a:ext>
            </a:extLst>
          </p:cNvPr>
          <p:cNvSpPr txBox="1"/>
          <p:nvPr/>
        </p:nvSpPr>
        <p:spPr>
          <a:xfrm>
            <a:off x="2365380" y="14792806"/>
            <a:ext cx="7706546" cy="707886"/>
          </a:xfrm>
          <a:prstGeom prst="rect">
            <a:avLst/>
          </a:prstGeom>
          <a:noFill/>
        </p:spPr>
        <p:txBody>
          <a:bodyPr wrap="square" rtlCol="0">
            <a:spAutoFit/>
          </a:bodyPr>
          <a:lstStyle/>
          <a:p>
            <a:r>
              <a:rPr lang="en-GB" sz="4000" dirty="0">
                <a:latin typeface="Patrick Hand" pitchFamily="2" charset="77"/>
              </a:rPr>
              <a:t>Use the / operator to join paths easily.</a:t>
            </a:r>
            <a:endParaRPr lang="en-DE" sz="4000" dirty="0">
              <a:latin typeface="Patrick Hand" pitchFamily="2" charset="77"/>
            </a:endParaRPr>
          </a:p>
        </p:txBody>
      </p:sp>
      <p:sp>
        <p:nvSpPr>
          <p:cNvPr id="23" name="TextBox 22">
            <a:extLst>
              <a:ext uri="{FF2B5EF4-FFF2-40B4-BE49-F238E27FC236}">
                <a16:creationId xmlns:a16="http://schemas.microsoft.com/office/drawing/2014/main" id="{F691A230-89C2-97BC-EA0B-5A1547026FC2}"/>
              </a:ext>
            </a:extLst>
          </p:cNvPr>
          <p:cNvSpPr txBox="1"/>
          <p:nvPr/>
        </p:nvSpPr>
        <p:spPr>
          <a:xfrm>
            <a:off x="2365380" y="15612948"/>
            <a:ext cx="6327171" cy="707886"/>
          </a:xfrm>
          <a:prstGeom prst="rect">
            <a:avLst/>
          </a:prstGeom>
          <a:noFill/>
        </p:spPr>
        <p:txBody>
          <a:bodyPr wrap="square" rtlCol="0">
            <a:spAutoFit/>
          </a:bodyPr>
          <a:lstStyle/>
          <a:p>
            <a:r>
              <a:rPr lang="en-GB" sz="4000" dirty="0">
                <a:latin typeface="Patrick Hand" pitchFamily="2" charset="77"/>
              </a:rPr>
              <a:t>Auto-handles Windows vs. Linux</a:t>
            </a:r>
            <a:endParaRPr lang="en-DE" sz="4000" dirty="0">
              <a:latin typeface="Patrick Hand" pitchFamily="2" charset="77"/>
            </a:endParaRPr>
          </a:p>
        </p:txBody>
      </p:sp>
      <p:sp>
        <p:nvSpPr>
          <p:cNvPr id="24" name="TextBox 23">
            <a:extLst>
              <a:ext uri="{FF2B5EF4-FFF2-40B4-BE49-F238E27FC236}">
                <a16:creationId xmlns:a16="http://schemas.microsoft.com/office/drawing/2014/main" id="{88EEEC48-48C2-1866-EF77-F57F21472377}"/>
              </a:ext>
            </a:extLst>
          </p:cNvPr>
          <p:cNvSpPr txBox="1"/>
          <p:nvPr/>
        </p:nvSpPr>
        <p:spPr>
          <a:xfrm>
            <a:off x="2365379" y="16433090"/>
            <a:ext cx="7706545" cy="707886"/>
          </a:xfrm>
          <a:prstGeom prst="rect">
            <a:avLst/>
          </a:prstGeom>
          <a:noFill/>
        </p:spPr>
        <p:txBody>
          <a:bodyPr wrap="square" rtlCol="0">
            <a:spAutoFit/>
          </a:bodyPr>
          <a:lstStyle/>
          <a:p>
            <a:r>
              <a:rPr lang="en-GB" sz="4000" dirty="0">
                <a:latin typeface="Patrick Hand" pitchFamily="2" charset="77"/>
              </a:rPr>
              <a:t>Everything is an object, not just a string.</a:t>
            </a:r>
            <a:endParaRPr lang="en-DE" sz="4000" dirty="0">
              <a:latin typeface="Patrick Hand" pitchFamily="2" charset="77"/>
            </a:endParaRPr>
          </a:p>
        </p:txBody>
      </p:sp>
      <p:sp>
        <p:nvSpPr>
          <p:cNvPr id="25" name="TextBox 24">
            <a:extLst>
              <a:ext uri="{FF2B5EF4-FFF2-40B4-BE49-F238E27FC236}">
                <a16:creationId xmlns:a16="http://schemas.microsoft.com/office/drawing/2014/main" id="{358B2339-07F2-9A25-79CD-9BB6EA178151}"/>
              </a:ext>
            </a:extLst>
          </p:cNvPr>
          <p:cNvSpPr txBox="1"/>
          <p:nvPr/>
        </p:nvSpPr>
        <p:spPr>
          <a:xfrm>
            <a:off x="213487" y="15612948"/>
            <a:ext cx="1423788" cy="646331"/>
          </a:xfrm>
          <a:prstGeom prst="rect">
            <a:avLst/>
          </a:prstGeom>
          <a:noFill/>
        </p:spPr>
        <p:txBody>
          <a:bodyPr wrap="none" rtlCol="0">
            <a:spAutoFit/>
          </a:bodyPr>
          <a:lstStyle/>
          <a:p>
            <a:r>
              <a:rPr lang="en-GB" sz="3600" dirty="0">
                <a:solidFill>
                  <a:schemeClr val="bg1"/>
                </a:solidFill>
              </a:rPr>
              <a:t>Smart:</a:t>
            </a:r>
            <a:endParaRPr lang="en-DE" sz="3600" dirty="0">
              <a:solidFill>
                <a:schemeClr val="bg1"/>
              </a:solidFill>
            </a:endParaRPr>
          </a:p>
        </p:txBody>
      </p:sp>
      <p:sp>
        <p:nvSpPr>
          <p:cNvPr id="26" name="TextBox 25">
            <a:extLst>
              <a:ext uri="{FF2B5EF4-FFF2-40B4-BE49-F238E27FC236}">
                <a16:creationId xmlns:a16="http://schemas.microsoft.com/office/drawing/2014/main" id="{B16A6396-DD35-DF1E-72A6-426DA90CEC4D}"/>
              </a:ext>
            </a:extLst>
          </p:cNvPr>
          <p:cNvSpPr txBox="1"/>
          <p:nvPr/>
        </p:nvSpPr>
        <p:spPr>
          <a:xfrm>
            <a:off x="213487" y="16433090"/>
            <a:ext cx="1984198" cy="646331"/>
          </a:xfrm>
          <a:prstGeom prst="rect">
            <a:avLst/>
          </a:prstGeom>
          <a:noFill/>
        </p:spPr>
        <p:txBody>
          <a:bodyPr wrap="none" rtlCol="0">
            <a:spAutoFit/>
          </a:bodyPr>
          <a:lstStyle/>
          <a:p>
            <a:r>
              <a:rPr lang="en-GB" sz="3600" dirty="0">
                <a:solidFill>
                  <a:schemeClr val="bg1"/>
                </a:solidFill>
              </a:rPr>
              <a:t>Powerful:</a:t>
            </a:r>
            <a:endParaRPr lang="en-DE" sz="3600" dirty="0">
              <a:solidFill>
                <a:schemeClr val="bg1"/>
              </a:solidFill>
            </a:endParaRPr>
          </a:p>
        </p:txBody>
      </p:sp>
    </p:spTree>
    <p:extLst>
      <p:ext uri="{BB962C8B-B14F-4D97-AF65-F5344CB8AC3E}">
        <p14:creationId xmlns:p14="http://schemas.microsoft.com/office/powerpoint/2010/main" val="139527054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Truthiness</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4"/>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234397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68075" y="8352587"/>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is None </a:t>
              </a:r>
              <a:r>
                <a:rPr lang="en-GB" sz="6600" b="1" dirty="0">
                  <a:ln w="22225">
                    <a:solidFill>
                      <a:schemeClr val="accent2"/>
                    </a:solidFill>
                    <a:prstDash val="solid"/>
                  </a:ln>
                  <a:solidFill>
                    <a:srgbClr val="00B0F0"/>
                  </a:solidFill>
                </a:rPr>
                <a:t>vs</a:t>
              </a:r>
              <a:r>
                <a:rPr lang="en-GB" sz="6600" dirty="0"/>
                <a:t> == None</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4726C78F-5842-BADA-97BD-2A58BA5E5C84}"/>
              </a:ext>
            </a:extLst>
          </p:cNvPr>
          <p:cNvSpPr txBox="1"/>
          <p:nvPr/>
        </p:nvSpPr>
        <p:spPr>
          <a:xfrm>
            <a:off x="223306" y="13997209"/>
            <a:ext cx="1727909" cy="707886"/>
          </a:xfrm>
          <a:prstGeom prst="rect">
            <a:avLst/>
          </a:prstGeom>
          <a:noFill/>
        </p:spPr>
        <p:txBody>
          <a:bodyPr wrap="none" rtlCol="0">
            <a:spAutoFit/>
          </a:bodyPr>
          <a:lstStyle/>
          <a:p>
            <a:r>
              <a:rPr lang="en-GB" sz="4000" b="1" dirty="0"/>
              <a:t>Faster:</a:t>
            </a:r>
            <a:r>
              <a:rPr lang="en-GB" sz="4000" dirty="0"/>
              <a:t> </a:t>
            </a:r>
            <a:endParaRPr lang="en-DE" sz="4000" dirty="0"/>
          </a:p>
        </p:txBody>
      </p:sp>
      <p:sp>
        <p:nvSpPr>
          <p:cNvPr id="11" name="TextBox 10">
            <a:extLst>
              <a:ext uri="{FF2B5EF4-FFF2-40B4-BE49-F238E27FC236}">
                <a16:creationId xmlns:a16="http://schemas.microsoft.com/office/drawing/2014/main" id="{3B956DD6-0D86-8B09-E89A-759DDDD3D6BC}"/>
              </a:ext>
            </a:extLst>
          </p:cNvPr>
          <p:cNvSpPr txBox="1"/>
          <p:nvPr/>
        </p:nvSpPr>
        <p:spPr>
          <a:xfrm>
            <a:off x="2609831" y="13997209"/>
            <a:ext cx="7315200" cy="707886"/>
          </a:xfrm>
          <a:prstGeom prst="rect">
            <a:avLst/>
          </a:prstGeom>
          <a:noFill/>
        </p:spPr>
        <p:txBody>
          <a:bodyPr wrap="square" rtlCol="0">
            <a:spAutoFit/>
          </a:bodyPr>
          <a:lstStyle/>
          <a:p>
            <a:r>
              <a:rPr lang="en-GB" sz="4000" dirty="0">
                <a:latin typeface="Patrick Hand" pitchFamily="2" charset="77"/>
              </a:rPr>
              <a:t>Uses memory address comparison</a:t>
            </a:r>
            <a:endParaRPr lang="en-DE" sz="4000" dirty="0">
              <a:latin typeface="Patrick Hand" pitchFamily="2" charset="77"/>
            </a:endParaRPr>
          </a:p>
        </p:txBody>
      </p:sp>
      <p:sp>
        <p:nvSpPr>
          <p:cNvPr id="8" name="TextBox 7">
            <a:extLst>
              <a:ext uri="{FF2B5EF4-FFF2-40B4-BE49-F238E27FC236}">
                <a16:creationId xmlns:a16="http://schemas.microsoft.com/office/drawing/2014/main" id="{46D9AEC7-81A8-D8FA-9B3F-D7975BB39742}"/>
              </a:ext>
            </a:extLst>
          </p:cNvPr>
          <p:cNvSpPr txBox="1"/>
          <p:nvPr/>
        </p:nvSpPr>
        <p:spPr>
          <a:xfrm>
            <a:off x="223306" y="15080308"/>
            <a:ext cx="1527406" cy="707886"/>
          </a:xfrm>
          <a:prstGeom prst="rect">
            <a:avLst/>
          </a:prstGeom>
          <a:noFill/>
        </p:spPr>
        <p:txBody>
          <a:bodyPr wrap="none" rtlCol="0">
            <a:spAutoFit/>
          </a:bodyPr>
          <a:lstStyle/>
          <a:p>
            <a:r>
              <a:rPr lang="en-GB" sz="4000" b="1" dirty="0"/>
              <a:t>Safer: </a:t>
            </a:r>
            <a:endParaRPr lang="en-DE" sz="4000" b="1" dirty="0"/>
          </a:p>
        </p:txBody>
      </p:sp>
      <p:sp>
        <p:nvSpPr>
          <p:cNvPr id="12" name="TextBox 11">
            <a:extLst>
              <a:ext uri="{FF2B5EF4-FFF2-40B4-BE49-F238E27FC236}">
                <a16:creationId xmlns:a16="http://schemas.microsoft.com/office/drawing/2014/main" id="{A2A4893F-4945-B7EB-1C1A-4AFCB0335910}"/>
              </a:ext>
            </a:extLst>
          </p:cNvPr>
          <p:cNvSpPr txBox="1"/>
          <p:nvPr/>
        </p:nvSpPr>
        <p:spPr>
          <a:xfrm>
            <a:off x="2609831" y="15070832"/>
            <a:ext cx="7315200" cy="707886"/>
          </a:xfrm>
          <a:prstGeom prst="rect">
            <a:avLst/>
          </a:prstGeom>
          <a:noFill/>
        </p:spPr>
        <p:txBody>
          <a:bodyPr wrap="square" rtlCol="0">
            <a:spAutoFit/>
          </a:bodyPr>
          <a:lstStyle/>
          <a:p>
            <a:r>
              <a:rPr lang="en-GB" sz="4000" dirty="0">
                <a:latin typeface="Patrick Hand" pitchFamily="2" charset="77"/>
              </a:rPr>
              <a:t>Avoids custom --</a:t>
            </a:r>
            <a:r>
              <a:rPr lang="en-GB" sz="4000" dirty="0" err="1">
                <a:latin typeface="Patrick Hand" pitchFamily="2" charset="77"/>
              </a:rPr>
              <a:t>eq</a:t>
            </a:r>
            <a:r>
              <a:rPr lang="en-GB" sz="4000" dirty="0">
                <a:latin typeface="Patrick Hand" pitchFamily="2" charset="77"/>
              </a:rPr>
              <a:t>-- method bugs</a:t>
            </a:r>
            <a:endParaRPr lang="en-DE" sz="4000" dirty="0">
              <a:latin typeface="Patrick Hand" pitchFamily="2" charset="77"/>
            </a:endParaRPr>
          </a:p>
        </p:txBody>
      </p:sp>
      <p:sp>
        <p:nvSpPr>
          <p:cNvPr id="9" name="TextBox 8">
            <a:extLst>
              <a:ext uri="{FF2B5EF4-FFF2-40B4-BE49-F238E27FC236}">
                <a16:creationId xmlns:a16="http://schemas.microsoft.com/office/drawing/2014/main" id="{B266C270-8250-9E8C-0C34-1C95D283B5CB}"/>
              </a:ext>
            </a:extLst>
          </p:cNvPr>
          <p:cNvSpPr txBox="1"/>
          <p:nvPr/>
        </p:nvSpPr>
        <p:spPr>
          <a:xfrm>
            <a:off x="223306" y="16163407"/>
            <a:ext cx="2310120" cy="707886"/>
          </a:xfrm>
          <a:prstGeom prst="rect">
            <a:avLst/>
          </a:prstGeom>
          <a:noFill/>
        </p:spPr>
        <p:txBody>
          <a:bodyPr wrap="none" rtlCol="0">
            <a:spAutoFit/>
          </a:bodyPr>
          <a:lstStyle/>
          <a:p>
            <a:r>
              <a:rPr lang="en-GB" sz="4000" b="1" dirty="0"/>
              <a:t>Pythonic: </a:t>
            </a:r>
            <a:endParaRPr lang="en-DE" sz="4000" b="1" dirty="0"/>
          </a:p>
        </p:txBody>
      </p:sp>
      <p:sp>
        <p:nvSpPr>
          <p:cNvPr id="13" name="TextBox 12">
            <a:extLst>
              <a:ext uri="{FF2B5EF4-FFF2-40B4-BE49-F238E27FC236}">
                <a16:creationId xmlns:a16="http://schemas.microsoft.com/office/drawing/2014/main" id="{AD66807C-E3C5-9589-B831-282432DEFF7E}"/>
              </a:ext>
            </a:extLst>
          </p:cNvPr>
          <p:cNvSpPr txBox="1"/>
          <p:nvPr/>
        </p:nvSpPr>
        <p:spPr>
          <a:xfrm>
            <a:off x="2609831" y="16144456"/>
            <a:ext cx="7314747" cy="707886"/>
          </a:xfrm>
          <a:prstGeom prst="rect">
            <a:avLst/>
          </a:prstGeom>
          <a:noFill/>
        </p:spPr>
        <p:txBody>
          <a:bodyPr wrap="square" rtlCol="0">
            <a:spAutoFit/>
          </a:bodyPr>
          <a:lstStyle/>
          <a:p>
            <a:r>
              <a:rPr lang="en-GB" sz="4000" dirty="0">
                <a:latin typeface="Patrick Hand" pitchFamily="2" charset="77"/>
              </a:rPr>
              <a:t>Follows the official PEP 8 standard</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C66AB981-805B-D3EA-B666-79A9BBF3F4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68075" y="10904066"/>
            <a:ext cx="914400" cy="914400"/>
          </a:xfrm>
          <a:prstGeom prst="rect">
            <a:avLst/>
          </a:prstGeom>
        </p:spPr>
      </p:pic>
      <p:pic>
        <p:nvPicPr>
          <p:cNvPr id="19" name="Graphic 18" descr="Close with solid fill">
            <a:extLst>
              <a:ext uri="{FF2B5EF4-FFF2-40B4-BE49-F238E27FC236}">
                <a16:creationId xmlns:a16="http://schemas.microsoft.com/office/drawing/2014/main" id="{A5EA347C-65F5-100D-F091-6637F8AA15E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68075" y="8826753"/>
            <a:ext cx="914400" cy="914400"/>
          </a:xfrm>
          <a:prstGeom prst="rect">
            <a:avLst/>
          </a:prstGeom>
        </p:spPr>
      </p:pic>
    </p:spTree>
    <p:extLst>
      <p:ext uri="{BB962C8B-B14F-4D97-AF65-F5344CB8AC3E}">
        <p14:creationId xmlns:p14="http://schemas.microsoft.com/office/powerpoint/2010/main" val="107355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E57E8F2-34E1-D30F-1E3C-9D9F815C62CE}"/>
              </a:ext>
            </a:extLst>
          </p:cNvPr>
          <p:cNvGrpSpPr/>
          <p:nvPr/>
        </p:nvGrpSpPr>
        <p:grpSpPr>
          <a:xfrm>
            <a:off x="223306" y="5058812"/>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Use 'with' Statement</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3"/>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FC490A48-FDDC-CA56-7D3A-6259AD2D71C3}"/>
              </a:ext>
            </a:extLst>
          </p:cNvPr>
          <p:cNvSpPr txBox="1"/>
          <p:nvPr/>
        </p:nvSpPr>
        <p:spPr>
          <a:xfrm>
            <a:off x="186673" y="13917695"/>
            <a:ext cx="2545762" cy="707886"/>
          </a:xfrm>
          <a:prstGeom prst="rect">
            <a:avLst/>
          </a:prstGeom>
          <a:noFill/>
        </p:spPr>
        <p:txBody>
          <a:bodyPr wrap="none" rtlCol="0">
            <a:spAutoFit/>
          </a:bodyPr>
          <a:lstStyle/>
          <a:p>
            <a:r>
              <a:rPr lang="en-US" sz="4000" b="1" dirty="0"/>
              <a:t>Automatic:</a:t>
            </a:r>
            <a:endParaRPr lang="en-DE" sz="4000" dirty="0"/>
          </a:p>
        </p:txBody>
      </p:sp>
      <p:sp>
        <p:nvSpPr>
          <p:cNvPr id="11" name="TextBox 10">
            <a:extLst>
              <a:ext uri="{FF2B5EF4-FFF2-40B4-BE49-F238E27FC236}">
                <a16:creationId xmlns:a16="http://schemas.microsoft.com/office/drawing/2014/main" id="{3C107D96-4FC3-027C-1D15-683F85C805B5}"/>
              </a:ext>
            </a:extLst>
          </p:cNvPr>
          <p:cNvSpPr txBox="1"/>
          <p:nvPr/>
        </p:nvSpPr>
        <p:spPr>
          <a:xfrm>
            <a:off x="3425118" y="13917695"/>
            <a:ext cx="6673622" cy="830997"/>
          </a:xfrm>
          <a:prstGeom prst="rect">
            <a:avLst/>
          </a:prstGeom>
          <a:noFill/>
        </p:spPr>
        <p:txBody>
          <a:bodyPr wrap="none" rtlCol="0">
            <a:spAutoFit/>
          </a:bodyPr>
          <a:lstStyle/>
          <a:p>
            <a:r>
              <a:rPr lang="en-GB" sz="4800" dirty="0">
                <a:latin typeface="Patrick Hand" pitchFamily="2" charset="77"/>
              </a:rPr>
              <a:t>No more manual close() calls</a:t>
            </a:r>
            <a:endParaRPr lang="en-DE" sz="4800" dirty="0">
              <a:latin typeface="Patrick Hand" pitchFamily="2" charset="77"/>
            </a:endParaRPr>
          </a:p>
        </p:txBody>
      </p:sp>
      <p:sp>
        <p:nvSpPr>
          <p:cNvPr id="8" name="TextBox 7">
            <a:extLst>
              <a:ext uri="{FF2B5EF4-FFF2-40B4-BE49-F238E27FC236}">
                <a16:creationId xmlns:a16="http://schemas.microsoft.com/office/drawing/2014/main" id="{12E3EC7A-21B7-943A-EA25-C438EAE74DC0}"/>
              </a:ext>
            </a:extLst>
          </p:cNvPr>
          <p:cNvSpPr txBox="1"/>
          <p:nvPr/>
        </p:nvSpPr>
        <p:spPr>
          <a:xfrm>
            <a:off x="186673" y="15000794"/>
            <a:ext cx="1344663" cy="707886"/>
          </a:xfrm>
          <a:prstGeom prst="rect">
            <a:avLst/>
          </a:prstGeom>
          <a:noFill/>
        </p:spPr>
        <p:txBody>
          <a:bodyPr wrap="none" rtlCol="0">
            <a:spAutoFit/>
          </a:bodyPr>
          <a:lstStyle/>
          <a:p>
            <a:r>
              <a:rPr lang="en-GB" sz="4000" b="1" dirty="0"/>
              <a:t>Safe: </a:t>
            </a:r>
            <a:endParaRPr lang="en-DE" sz="4000" b="1" dirty="0"/>
          </a:p>
        </p:txBody>
      </p:sp>
      <p:sp>
        <p:nvSpPr>
          <p:cNvPr id="12" name="TextBox 11">
            <a:extLst>
              <a:ext uri="{FF2B5EF4-FFF2-40B4-BE49-F238E27FC236}">
                <a16:creationId xmlns:a16="http://schemas.microsoft.com/office/drawing/2014/main" id="{30FAB019-507A-2EC2-3DA2-A9BB1C904276}"/>
              </a:ext>
            </a:extLst>
          </p:cNvPr>
          <p:cNvSpPr txBox="1"/>
          <p:nvPr/>
        </p:nvSpPr>
        <p:spPr>
          <a:xfrm>
            <a:off x="3490841" y="14991319"/>
            <a:ext cx="6607899" cy="830997"/>
          </a:xfrm>
          <a:prstGeom prst="rect">
            <a:avLst/>
          </a:prstGeom>
          <a:noFill/>
        </p:spPr>
        <p:txBody>
          <a:bodyPr wrap="none" rtlCol="0">
            <a:spAutoFit/>
          </a:bodyPr>
          <a:lstStyle/>
          <a:p>
            <a:r>
              <a:rPr lang="en-GB" sz="4800" dirty="0">
                <a:latin typeface="Patrick Hand" pitchFamily="2" charset="77"/>
              </a:rPr>
              <a:t>Prevents leaks during errors</a:t>
            </a:r>
            <a:endParaRPr lang="en-DE" sz="4800" dirty="0">
              <a:latin typeface="Patrick Hand" pitchFamily="2" charset="77"/>
            </a:endParaRPr>
          </a:p>
        </p:txBody>
      </p:sp>
      <p:sp>
        <p:nvSpPr>
          <p:cNvPr id="9" name="TextBox 8">
            <a:extLst>
              <a:ext uri="{FF2B5EF4-FFF2-40B4-BE49-F238E27FC236}">
                <a16:creationId xmlns:a16="http://schemas.microsoft.com/office/drawing/2014/main" id="{15FEAAD5-4282-A2CD-8811-5319C0B2D77D}"/>
              </a:ext>
            </a:extLst>
          </p:cNvPr>
          <p:cNvSpPr txBox="1"/>
          <p:nvPr/>
        </p:nvSpPr>
        <p:spPr>
          <a:xfrm>
            <a:off x="186673" y="16064942"/>
            <a:ext cx="1625766" cy="707886"/>
          </a:xfrm>
          <a:prstGeom prst="rect">
            <a:avLst/>
          </a:prstGeom>
          <a:noFill/>
        </p:spPr>
        <p:txBody>
          <a:bodyPr wrap="none" rtlCol="0">
            <a:spAutoFit/>
          </a:bodyPr>
          <a:lstStyle/>
          <a:p>
            <a:r>
              <a:rPr lang="en-GB" sz="4000" b="1" dirty="0"/>
              <a:t>Clean: </a:t>
            </a:r>
            <a:endParaRPr lang="en-DE" sz="4000" b="1" dirty="0"/>
          </a:p>
        </p:txBody>
      </p:sp>
      <p:sp>
        <p:nvSpPr>
          <p:cNvPr id="13" name="TextBox 12">
            <a:extLst>
              <a:ext uri="{FF2B5EF4-FFF2-40B4-BE49-F238E27FC236}">
                <a16:creationId xmlns:a16="http://schemas.microsoft.com/office/drawing/2014/main" id="{6AACDDF8-9461-833E-A5D0-B258E1311441}"/>
              </a:ext>
            </a:extLst>
          </p:cNvPr>
          <p:cNvSpPr txBox="1"/>
          <p:nvPr/>
        </p:nvSpPr>
        <p:spPr>
          <a:xfrm>
            <a:off x="3668775" y="16064942"/>
            <a:ext cx="6429965" cy="830997"/>
          </a:xfrm>
          <a:prstGeom prst="rect">
            <a:avLst/>
          </a:prstGeom>
          <a:noFill/>
        </p:spPr>
        <p:txBody>
          <a:bodyPr wrap="none" rtlCol="0">
            <a:spAutoFit/>
          </a:bodyPr>
          <a:lstStyle/>
          <a:p>
            <a:r>
              <a:rPr lang="en-GB" sz="4800" dirty="0">
                <a:latin typeface="Patrick Hand" pitchFamily="2" charset="77"/>
              </a:rPr>
              <a:t>Less code, better readability</a:t>
            </a:r>
            <a:endParaRPr lang="en-DE" sz="48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905873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3493" y="9218781"/>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73493" y="6740024"/>
            <a:ext cx="914400" cy="914400"/>
          </a:xfrm>
          <a:prstGeom prst="rect">
            <a:avLst/>
          </a:prstGeom>
        </p:spPr>
      </p:pic>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F05B7D4-F280-F06F-B39C-2F00BFC25F26}"/>
              </a:ext>
            </a:extLst>
          </p:cNvPr>
          <p:cNvSpPr txBox="1"/>
          <p:nvPr/>
        </p:nvSpPr>
        <p:spPr>
          <a:xfrm>
            <a:off x="963120" y="4920953"/>
            <a:ext cx="8359169"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Decor</a:t>
            </a:r>
            <a:r>
              <a:rPr lang="en-US"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a</a:t>
            </a: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tors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4"/>
          <a:stretch>
            <a:fillRect/>
          </a:stretch>
        </p:blipFill>
        <p:spPr>
          <a:xfrm>
            <a:off x="1097040"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963120" y="10225821"/>
            <a:ext cx="835916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83882" y="10648304"/>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83882" y="8897747"/>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05785" y="14009019"/>
            <a:ext cx="9879628" cy="769441"/>
          </a:xfrm>
          <a:prstGeom prst="rect">
            <a:avLst/>
          </a:prstGeom>
          <a:noFill/>
        </p:spPr>
        <p:txBody>
          <a:bodyPr wrap="none" rtlCol="0">
            <a:spAutoFit/>
          </a:bodyPr>
          <a:lstStyle/>
          <a:p>
            <a:r>
              <a:rPr lang="en-GB" sz="4400" dirty="0">
                <a:latin typeface="Patrick Hand" pitchFamily="2" charset="77"/>
              </a:rPr>
              <a:t>Extend </a:t>
            </a:r>
            <a:r>
              <a:rPr lang="en-GB" sz="4400" dirty="0" err="1">
                <a:latin typeface="Patrick Hand" pitchFamily="2" charset="77"/>
              </a:rPr>
              <a:t>behavior</a:t>
            </a:r>
            <a:r>
              <a:rPr lang="en-GB" sz="4400" dirty="0">
                <a:latin typeface="Patrick Hand" pitchFamily="2" charset="77"/>
              </a:rPr>
              <a:t> without changing the core logic</a:t>
            </a:r>
            <a:endParaRPr lang="en-DE" sz="44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103D25-9216-BAB2-ACB7-9FFD1936580E}"/>
              </a:ext>
            </a:extLst>
          </p:cNvPr>
          <p:cNvSpPr txBox="1"/>
          <p:nvPr/>
        </p:nvSpPr>
        <p:spPr>
          <a:xfrm>
            <a:off x="223306" y="4701002"/>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3"/>
          <a:stretch>
            <a:fillRect/>
          </a:stretch>
        </p:blipFill>
        <p:spPr>
          <a:xfrm>
            <a:off x="264001" y="4734907"/>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037235"/>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037235"/>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120334"/>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110858"/>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5203433"/>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5184482"/>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46277" y="11430008"/>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248861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7203" y="11530342"/>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867489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4780516"/>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4814421"/>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2884024"/>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2884024"/>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3967123"/>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3957647"/>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5050222"/>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5031271"/>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031930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00733" y="11395343"/>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00733" y="9040444"/>
            <a:ext cx="914400" cy="914400"/>
          </a:xfrm>
          <a:prstGeom prst="rect">
            <a:avLst/>
          </a:prstGeom>
        </p:spPr>
      </p:pic>
    </p:spTree>
    <p:extLst>
      <p:ext uri="{BB962C8B-B14F-4D97-AF65-F5344CB8AC3E}">
        <p14:creationId xmlns:p14="http://schemas.microsoft.com/office/powerpoint/2010/main" val="3565809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98E0008-9AB4-2A98-E8E5-B5D3D1A4C9B7}"/>
              </a:ext>
            </a:extLst>
          </p:cNvPr>
          <p:cNvSpPr txBox="1"/>
          <p:nvPr/>
        </p:nvSpPr>
        <p:spPr>
          <a:xfrm>
            <a:off x="225526" y="4800391"/>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3"/>
          <a:stretch>
            <a:fillRect/>
          </a:stretch>
        </p:blipFill>
        <p:spPr>
          <a:xfrm>
            <a:off x="264001" y="4834297"/>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4657755"/>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5534245"/>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1012261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01805" y="11312088"/>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801805" y="6972845"/>
            <a:ext cx="914400" cy="914400"/>
          </a:xfrm>
          <a:prstGeom prst="rect">
            <a:avLst/>
          </a:prstGeom>
        </p:spPr>
      </p:pic>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501905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11856891"/>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2921039"/>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4740755"/>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264001" y="4894976"/>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3874103"/>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5015453"/>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102795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18372" y="11444957"/>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18372" y="9030758"/>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D3C74BE-8F9A-C3BA-F073-3F00A5C2D8DD}"/>
              </a:ext>
            </a:extLst>
          </p:cNvPr>
          <p:cNvSpPr txBox="1"/>
          <p:nvPr/>
        </p:nvSpPr>
        <p:spPr>
          <a:xfrm>
            <a:off x="223306" y="4882583"/>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2"/>
          <a:stretch>
            <a:fillRect/>
          </a:stretch>
        </p:blipFill>
        <p:spPr>
          <a:xfrm>
            <a:off x="290127" y="4945362"/>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2736086"/>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1191463"/>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8493978"/>
            <a:ext cx="914400" cy="914400"/>
          </a:xfrm>
          <a:prstGeom prst="rect">
            <a:avLst/>
          </a:prstGeom>
        </p:spPr>
      </p:pic>
    </p:spTree>
    <p:extLst>
      <p:ext uri="{BB962C8B-B14F-4D97-AF65-F5344CB8AC3E}">
        <p14:creationId xmlns:p14="http://schemas.microsoft.com/office/powerpoint/2010/main" val="3592637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3411C09-F441-2209-3B70-426112066B8E}"/>
              </a:ext>
            </a:extLst>
          </p:cNvPr>
          <p:cNvSpPr txBox="1"/>
          <p:nvPr/>
        </p:nvSpPr>
        <p:spPr>
          <a:xfrm>
            <a:off x="223306" y="4691271"/>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2929DF9-28B4-596B-3779-93529974DF88}"/>
              </a:ext>
            </a:extLst>
          </p:cNvPr>
          <p:cNvSpPr txBox="1"/>
          <p:nvPr/>
        </p:nvSpPr>
        <p:spPr>
          <a:xfrm>
            <a:off x="2372910" y="12785470"/>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2FE2217F-C2F1-2F4F-83A7-73EBD6CE883E}"/>
              </a:ext>
            </a:extLst>
          </p:cNvPr>
          <p:cNvSpPr txBox="1"/>
          <p:nvPr/>
        </p:nvSpPr>
        <p:spPr>
          <a:xfrm>
            <a:off x="324721" y="13790373"/>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213264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D45EB65-7112-0EB0-9B6E-C9CD15F47E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247354" y="9981872"/>
            <a:ext cx="914400" cy="914400"/>
          </a:xfrm>
          <a:prstGeom prst="rect">
            <a:avLst/>
          </a:prstGeom>
        </p:spPr>
      </p:pic>
      <p:pic>
        <p:nvPicPr>
          <p:cNvPr id="19" name="Graphic 18" descr="Close with solid fill">
            <a:extLst>
              <a:ext uri="{FF2B5EF4-FFF2-40B4-BE49-F238E27FC236}">
                <a16:creationId xmlns:a16="http://schemas.microsoft.com/office/drawing/2014/main" id="{E309D260-B766-F1FF-6112-14AF040E356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80859" y="10124358"/>
            <a:ext cx="914400" cy="914400"/>
          </a:xfrm>
          <a:prstGeom prst="rect">
            <a:avLst/>
          </a:prstGeom>
        </p:spPr>
      </p:pic>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7"/>
          <a:stretch>
            <a:fillRect/>
          </a:stretch>
        </p:blipFill>
        <p:spPr>
          <a:xfrm>
            <a:off x="295124" y="4786755"/>
            <a:ext cx="1062000" cy="1062000"/>
          </a:xfrm>
          <a:prstGeom prst="rect">
            <a:avLst/>
          </a:prstGeom>
        </p:spPr>
      </p:pic>
      <p:cxnSp>
        <p:nvCxnSpPr>
          <p:cNvPr id="20" name="Straight Connector 19">
            <a:extLst>
              <a:ext uri="{FF2B5EF4-FFF2-40B4-BE49-F238E27FC236}">
                <a16:creationId xmlns:a16="http://schemas.microsoft.com/office/drawing/2014/main" id="{9C2BEBA6-3540-099F-950A-DFE7B0760A09}"/>
              </a:ext>
            </a:extLst>
          </p:cNvPr>
          <p:cNvCxnSpPr>
            <a:cxnSpLocks/>
          </p:cNvCxnSpPr>
          <p:nvPr/>
        </p:nvCxnSpPr>
        <p:spPr>
          <a:xfrm>
            <a:off x="216954" y="90051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E69985D-32A1-133A-560E-545071650182}"/>
              </a:ext>
            </a:extLst>
          </p:cNvPr>
          <p:cNvSpPr txBox="1"/>
          <p:nvPr/>
        </p:nvSpPr>
        <p:spPr>
          <a:xfrm>
            <a:off x="223306" y="471115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143279"/>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148182"/>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4048" y="9759930"/>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16966" y="9623125"/>
            <a:ext cx="914400" cy="914400"/>
          </a:xfrm>
          <a:prstGeom prst="rect">
            <a:avLst/>
          </a:prstGeom>
        </p:spPr>
      </p:pic>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8"/>
          <a:stretch>
            <a:fillRect/>
          </a:stretch>
        </p:blipFill>
        <p:spPr>
          <a:xfrm>
            <a:off x="295124" y="480663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922378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7098FD-4147-4F55-8BEF-B0FCC793F657}"/>
              </a:ext>
            </a:extLst>
          </p:cNvPr>
          <p:cNvSpPr txBox="1"/>
          <p:nvPr/>
        </p:nvSpPr>
        <p:spPr>
          <a:xfrm>
            <a:off x="223306" y="4810542"/>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306" y="12057329"/>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307" y="913282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4"/>
          <a:stretch>
            <a:fillRect/>
          </a:stretch>
        </p:blipFill>
        <p:spPr>
          <a:xfrm>
            <a:off x="232778" y="490602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C70B594-D22D-ACB6-998B-6388692A6559}"/>
              </a:ext>
            </a:extLst>
          </p:cNvPr>
          <p:cNvSpPr txBox="1"/>
          <p:nvPr/>
        </p:nvSpPr>
        <p:spPr>
          <a:xfrm>
            <a:off x="223306" y="4673426"/>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451219" y="11080552"/>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3"/>
          <a:stretch>
            <a:fillRect/>
          </a:stretch>
        </p:blipFill>
        <p:spPr>
          <a:xfrm>
            <a:off x="321693" y="4768910"/>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4752938"/>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240794"/>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4848422"/>
            <a:ext cx="1062000" cy="10620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540892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0" y="10609432"/>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5504405"/>
            <a:ext cx="1062000" cy="10620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4693304"/>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223306" y="1004962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4788788"/>
            <a:ext cx="1062000" cy="10620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223306" y="4911964"/>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321693" y="5007448"/>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471318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342696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4808666"/>
            <a:ext cx="1062000" cy="1062000"/>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42245</TotalTime>
  <Words>401</Words>
  <Application>Microsoft Macintosh PowerPoint</Application>
  <PresentationFormat>Custom</PresentationFormat>
  <Paragraphs>85</Paragraphs>
  <Slides>25</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Arial</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522</cp:revision>
  <cp:lastPrinted>2025-12-17T08:49:37Z</cp:lastPrinted>
  <dcterms:created xsi:type="dcterms:W3CDTF">2025-12-17T08:13:25Z</dcterms:created>
  <dcterms:modified xsi:type="dcterms:W3CDTF">2026-01-18T16:25:57Z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