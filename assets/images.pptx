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omments/modernComment_116_9D718DED.xml" ContentType="application/vnd.ms-powerpoint.comments+xml"/>
  <Override PartName="/ppt/notesSlides/notesSlide1.xml" ContentType="application/vnd.openxmlformats-officedocument.presentationml.notesSlide+xml"/>
  <Override PartName="/ppt/comments/modernComment_118_626EC4B9.xml" ContentType="application/vnd.ms-powerpoint.comments+xml"/>
  <Override PartName="/ppt/comments/modernComment_120_FA024C04.xml" ContentType="application/vnd.ms-powerpoint.comments+xml"/>
  <Override PartName="/ppt/notesSlides/notesSlide2.xml" ContentType="application/vnd.openxmlformats-officedocument.presentationml.notesSlide+xml"/>
  <Override PartName="/ppt/comments/modernComment_122_9A36DA00.xml" ContentType="application/vnd.ms-powerpoint.comments+xml"/>
  <Override PartName="/ppt/comments/modernComment_124_3E0760C.xml" ContentType="application/vnd.ms-powerpoint.comments+xml"/>
  <Override PartName="/ppt/comments/modernComment_125_E21438E9.xml" ContentType="application/vnd.ms-powerpoint.comments+xml"/>
  <Override PartName="/ppt/comments/modernComment_126_9DA2AD4E.xml" ContentType="application/vnd.ms-powerpoint.comments+xml"/>
  <Override PartName="/ppt/comments/modernComment_128_2DA5E9E5.xml" ContentType="application/vnd.ms-powerpoint.comments+xml"/>
  <Override PartName="/ppt/comments/modernComment_129_FD6B0559.xml" ContentType="application/vnd.ms-powerpoint.comments+xml"/>
  <Override PartName="/ppt/comments/modernComment_12A_2D01584F.xml" ContentType="application/vnd.ms-powerpoint.comments+xml"/>
  <Override PartName="/ppt/comments/modernComment_12B_AC4C8FF1.xml" ContentType="application/vnd.ms-powerpoint.comments+xml"/>
  <Override PartName="/ppt/comments/modernComment_12D_BEDEFA17.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32" r:id="rId1"/>
  </p:sldMasterIdLst>
  <p:notesMasterIdLst>
    <p:notesMasterId r:id="rId27"/>
  </p:notesMasterIdLst>
  <p:sldIdLst>
    <p:sldId id="278" r:id="rId2"/>
    <p:sldId id="279" r:id="rId3"/>
    <p:sldId id="280" r:id="rId4"/>
    <p:sldId id="281" r:id="rId5"/>
    <p:sldId id="288" r:id="rId6"/>
    <p:sldId id="289" r:id="rId7"/>
    <p:sldId id="290" r:id="rId8"/>
    <p:sldId id="291" r:id="rId9"/>
    <p:sldId id="309" r:id="rId10"/>
    <p:sldId id="292" r:id="rId11"/>
    <p:sldId id="293" r:id="rId12"/>
    <p:sldId id="294" r:id="rId13"/>
    <p:sldId id="306" r:id="rId14"/>
    <p:sldId id="296" r:id="rId15"/>
    <p:sldId id="297" r:id="rId16"/>
    <p:sldId id="298" r:id="rId17"/>
    <p:sldId id="299" r:id="rId18"/>
    <p:sldId id="300" r:id="rId19"/>
    <p:sldId id="301" r:id="rId20"/>
    <p:sldId id="302" r:id="rId21"/>
    <p:sldId id="303" r:id="rId22"/>
    <p:sldId id="304" r:id="rId23"/>
    <p:sldId id="305" r:id="rId24"/>
    <p:sldId id="307" r:id="rId25"/>
    <p:sldId id="308" r:id="rId26"/>
  </p:sldIdLst>
  <p:sldSz cx="10285413" cy="1828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5737" userDrawn="1">
          <p15:clr>
            <a:srgbClr val="A4A3A4"/>
          </p15:clr>
        </p15:guide>
        <p15:guide id="2" pos="3240"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8860045D-B334-310D-0A4E-9E20AA0B149E}" name="Salehi Oshtorjani, Ebrahim (K-DACT/F)" initials="SOE(D" userId="S::ebrahim.salehi.oshtorjani1@volkswagen.de::56f2298d-f17e-4b85-9b58-413b9e2aed6c"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6742"/>
    <p:restoredTop sz="96296"/>
  </p:normalViewPr>
  <p:slideViewPr>
    <p:cSldViewPr snapToGrid="0">
      <p:cViewPr>
        <p:scale>
          <a:sx n="76" d="100"/>
          <a:sy n="76" d="100"/>
        </p:scale>
        <p:origin x="1416" y="-1064"/>
      </p:cViewPr>
      <p:guideLst>
        <p:guide orient="horz" pos="5737"/>
        <p:guide pos="32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microsoft.com/office/2018/10/relationships/authors" Target="author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comments/modernComment_12A_2D01584F.xml><?xml version="1.0" encoding="utf-8"?>
<p188:cmLst xmlns:a="http://schemas.openxmlformats.org/drawingml/2006/main" xmlns:r="http://schemas.openxmlformats.org/officeDocument/2006/relationships" xmlns:p188="http://schemas.microsoft.com/office/powerpoint/2018/8/main">
  <p188:cm id="{BCB7BE59-BE70-664A-B52B-07C7AC57743A}" authorId="{8860045D-B334-310D-0A4E-9E20AA0B149E}" created="2026-01-06T02:21:22.727">
    <pc:sldMkLst xmlns:pc="http://schemas.microsoft.com/office/powerpoint/2013/main/command">
      <pc:docMk/>
      <pc:sldMk cId="755062863" sldId="298"/>
    </pc:sldMkLst>
    <p188:txBody>
      <a:bodyPr/>
      <a:lstStyle/>
      <a:p>
        <a:r>
          <a:rPr lang="en-DE"/>
          <a:t>Interface vs Type: Which one to choose? ⚔️
Confused between interface and type? Here is the biggest difference! 🤯
Interfaces are "extensible." If you declare the same interface twice, TypeScript merges them into one. This is great for plugins! Types, however, are unique. Once defined, you cannot declare them again.
#TypeScript #WebDevelopment #ProgrammingTips #CodeWithEbrahim #SoftwareEngineering #CleanCode #shorts #تایپ_اسکریپت #برنامه_نویسی✨</a:t>
        </a:r>
      </a:p>
    </p188:txBody>
  </p188:cm>
</p188:cmLst>
</file>

<file path=ppt/comments/modernComment_12B_AC4C8FF1.xml><?xml version="1.0" encoding="utf-8"?>
<p188:cmLst xmlns:a="http://schemas.openxmlformats.org/drawingml/2006/main" xmlns:r="http://schemas.openxmlformats.org/officeDocument/2006/relationships" xmlns:p188="http://schemas.microsoft.com/office/powerpoint/2018/8/main">
  <p188:cm id="{7CDB7C17-68E6-3546-9EDF-C588652CFDB1}" authorId="{8860045D-B334-310D-0A4E-9E20AA0B149E}" created="2026-01-06T10:20:57.833">
    <pc:sldMkLst xmlns:pc="http://schemas.microsoft.com/office/powerpoint/2013/main/command">
      <pc:docMk/>
      <pc:sldMk cId="2890698737" sldId="299"/>
    </pc:sldMkLst>
    <p188:txBody>
      <a:bodyPr/>
      <a:lstStyle/>
      <a:p>
        <a:r>
          <a:rPr lang="en-DE"/>
          <a:t>Headline:
Tired of unpredictable strings? Use Union Types! 🔀✨
Caption:
Why allow any string when you only need three? Union Types in TypeScript allow you to define a list of exact values a variable can hold.
It’s like having a dropdown menu for your code! If you try to use a value that isn't in your list, TypeScript catches the error before you even run the app. 🛡️
#TypeScript #CodingLife #WebDevelopment #CleanCode #CodeWithEbrahim #تایپ_اسکریپت #برنامه_نویسی</a:t>
        </a:r>
      </a:p>
    </p188:txBody>
  </p188:cm>
</p188:cmLst>
</file>

<file path=ppt/comments/modernComment_12D_BEDEFA17.xml><?xml version="1.0" encoding="utf-8"?>
<p188:cmLst xmlns:a="http://schemas.openxmlformats.org/drawingml/2006/main" xmlns:r="http://schemas.openxmlformats.org/officeDocument/2006/relationships" xmlns:p188="http://schemas.microsoft.com/office/powerpoint/2018/8/main">
  <p188:cm id="{7BC66CD6-2936-4942-8702-B4DEFB5CE232}" authorId="{8860045D-B334-310D-0A4E-9E20AA0B149E}" created="2026-01-06T13:12:59.785">
    <pc:sldMkLst xmlns:pc="http://schemas.microsoft.com/office/powerpoint/2013/main/command">
      <pc:docMk/>
      <pc:sldMk cId="3202284055" sldId="301"/>
    </pc:sldMkLst>
    <p188:txBody>
      <a:bodyPr/>
      <a:lstStyle/>
      <a:p>
        <a:r>
          <a:rPr lang="en-DE"/>
          <a:t>Headline:
Update Objects Easily with Partial! 🧩✨
Caption:
Ever had an interface with 10 properties, but you only wanted to update one? 🧐
Instead of creating a new interface, use Partial&lt;T&gt;! It automatically makes every property in your existing interface optional, saving you from writing redundant code. 🚀
#TypeScript #CleanCode #ProgrammingHacks #WebDevelopment #CodeWithEbrahim #SoftwareEngineering #تایپ_اسکریپت</a:t>
        </a:r>
      </a:p>
    </p188:txBody>
  </p188:cm>
</p188:cmLst>
</file>

<file path=ppt/comments/modernComment_116_9D718DED.xml><?xml version="1.0" encoding="utf-8"?>
<p188:cmLst xmlns:a="http://schemas.openxmlformats.org/drawingml/2006/main" xmlns:r="http://schemas.openxmlformats.org/officeDocument/2006/relationships" xmlns:p188="http://schemas.microsoft.com/office/powerpoint/2018/8/main">
  <p188:cm id="{4624A432-E714-704A-91D8-E4A8019E62C5}" authorId="{8860045D-B334-310D-0A4E-9E20AA0B149E}" created="2026-01-02T21:09:18.585">
    <pc:sldMkLst xmlns:pc="http://schemas.microsoft.com/office/powerpoint/2013/main/command">
      <pc:docMk/>
      <pc:sldMk cId="2641464813" sldId="278"/>
    </pc:sldMkLst>
    <p188:txBody>
      <a:bodyPr/>
      <a:lstStyle/>
      <a:p>
        <a:r>
          <a:rPr lang="en-DE"/>
          <a:t>Subscribe for more Clean Code tips!
</a:t>
        </a:r>
      </a:p>
    </p188:txBody>
  </p188:cm>
  <p188:cm id="{BD450650-0826-3F40-866F-BB5FA42A6E60}" authorId="{8860045D-B334-310D-0A4E-9E20AA0B149E}" created="2026-01-03T02:36:43.451">
    <pc:sldMkLst xmlns:pc="http://schemas.microsoft.com/office/powerpoint/2013/main/command">
      <pc:docMk/>
      <pc:sldMk cId="2641464813" sldId="278"/>
    </pc:sldMkLst>
    <p188:txBody>
      <a:bodyPr/>
      <a:lstStyle/>
      <a:p>
        <a:r>
          <a:rPr lang="en-DE"/>
          <a:t>Youtube
Ever wondered what those double underscores (Dunders) actually do in Python? 🐍
1️⃣ name: Tells you if the script is running directly or being imported.
2️⃣ file: Gives you the exact location of your script on your computer. 
3️⃣ package: Helps you understand where your module lives in a project.
🇺🇸 Level up your Python skills! 🇩🇪 Python-Variablen einfach erklärt!
#Python #CodingTips #Backend #SoftwareEngineering #Germany #USA #Deutschland #Programming #CodeWithEbrahim</a:t>
        </a:r>
      </a:p>
    </p188:txBody>
  </p188:cm>
</p188:cmLst>
</file>

<file path=ppt/comments/modernComment_118_626EC4B9.xml><?xml version="1.0" encoding="utf-8"?>
<p188:cmLst xmlns:a="http://schemas.openxmlformats.org/drawingml/2006/main" xmlns:r="http://schemas.openxmlformats.org/officeDocument/2006/relationships" xmlns:p188="http://schemas.microsoft.com/office/powerpoint/2018/8/main">
  <p188:cm id="{F289ECDD-2FC4-B843-90C4-2BBA8C3E356B}" authorId="{8860045D-B334-310D-0A4E-9E20AA0B149E}" created="2026-01-03T21:59:30.244">
    <pc:sldMkLst xmlns:pc="http://schemas.microsoft.com/office/powerpoint/2013/main/command">
      <pc:docMk/>
      <pc:sldMk cId="1651426489" sldId="280"/>
    </pc:sldMkLst>
    <p188:txBody>
      <a:bodyPr/>
      <a:lstStyle/>
      <a:p>
        <a:r>
          <a:rPr lang="en-DE"/>
          <a:t>Title: Pythonic If-Statements: Use Truthiness! 🐍
Why write more code when Python does it for you? Using Truthiness makes your scripts cleaner and more efficient. 🚀
🇺🇸 Learn the Pythonic way! 🇩🇪 Python-Code sauberer schreiben!
#Python #CleanCode #Pythonic #ProgrammingTips #Coding #SoftwareEngineering #USA #Germany #CodeWithEbrahim
</a:t>
        </a:r>
      </a:p>
    </p188:txBody>
  </p188:cm>
</p188:cmLst>
</file>

<file path=ppt/comments/modernComment_120_FA024C04.xml><?xml version="1.0" encoding="utf-8"?>
<p188:cmLst xmlns:a="http://schemas.openxmlformats.org/drawingml/2006/main" xmlns:r="http://schemas.openxmlformats.org/officeDocument/2006/relationships" xmlns:p188="http://schemas.microsoft.com/office/powerpoint/2018/8/main">
  <p188:cm id="{2D904378-B2C9-5241-A08B-375F4FC6B280}" authorId="{8860045D-B334-310D-0A4E-9E20AA0B149E}" created="2026-01-04T06:33:22.990">
    <pc:sldMkLst xmlns:pc="http://schemas.microsoft.com/office/powerpoint/2013/main/command">
      <pc:docMk/>
      <pc:sldMk cId="4194454532" sldId="288"/>
    </pc:sldMkLst>
    <p188:txBody>
      <a:bodyPr/>
      <a:lstStyle/>
      <a:p>
        <a:r>
          <a:rPr lang="en-DE"/>
          <a:t>Title: Python 'with' Statement: Resource Management Made Easy! 🛡️
Tired of forgetting to close your files or database connections? The with statement in Python is your clean code superpower!
🇺🇸 Keep your Python code safe and clean! 🇩🇪 Python: Ressourcen sicher verwalten!
#Python #CleanCode #ProgrammingTips #ContextManager #FileHandling #CodeWithEbrahim</a:t>
        </a:r>
      </a:p>
    </p188:txBody>
  </p188:cm>
</p188:cmLst>
</file>

<file path=ppt/comments/modernComment_122_9A36DA00.xml><?xml version="1.0" encoding="utf-8"?>
<p188:cmLst xmlns:a="http://schemas.openxmlformats.org/drawingml/2006/main" xmlns:r="http://schemas.openxmlformats.org/officeDocument/2006/relationships" xmlns:p188="http://schemas.microsoft.com/office/powerpoint/2018/8/main">
  <p188:cm id="{62DADDA2-3D15-FC44-A576-7980490464C2}" authorId="{8860045D-B334-310D-0A4E-9E20AA0B149E}" created="2026-01-05T00:38:35.625">
    <pc:sldMkLst xmlns:pc="http://schemas.microsoft.com/office/powerpoint/2013/main/command">
      <pc:docMk/>
      <pc:sldMk cId="2587286016" sldId="290"/>
    </pc:sldMkLst>
    <p188:txBody>
      <a:bodyPr/>
      <a:lstStyle/>
      <a:p>
        <a:r>
          <a:rPr lang="en-DE"/>
          <a:t>Python f-Strings: The Faster &amp; Cleaner Way 🐍
Are you still using % or .format() to handle strings in Python? It’s time to upgrade! 🐍✨
f-Strings are not just more readable; they are also faster because they're evaluated
#Python #CleanCode #ProgrammingTips #fstrings #Python3 #CodeWithEbrahim #CodingLife</a:t>
        </a:r>
      </a:p>
    </p188:txBody>
  </p188:cm>
</p188:cmLst>
</file>

<file path=ppt/comments/modernComment_124_3E0760C.xml><?xml version="1.0" encoding="utf-8"?>
<p188:cmLst xmlns:a="http://schemas.openxmlformats.org/drawingml/2006/main" xmlns:r="http://schemas.openxmlformats.org/officeDocument/2006/relationships" xmlns:p188="http://schemas.microsoft.com/office/powerpoint/2018/8/main">
  <p188:cm id="{088181D5-5BED-2047-99D7-3799AF364966}" authorId="{8860045D-B334-310D-0A4E-9E20AA0B149E}" created="2026-01-05T02:39:46.343">
    <pc:sldMkLst xmlns:pc="http://schemas.microsoft.com/office/powerpoint/2013/main/command">
      <pc:docMk/>
      <pc:sldMk cId="65041932" sldId="292"/>
    </pc:sldMkLst>
    <p188:txBody>
      <a:bodyPr/>
      <a:lstStyle/>
      <a:p>
        <a:r>
          <a:rPr lang="en-DE"/>
          <a:t>Stop writing unnecessary "if" checks! 🐍✨
Using defaultdict from the collections module makes your code cleaner and prevents the famous KeyError. It automatically initializes keys with a default value (like an empty list).
#PythonTips #CleanCode #PythonProgramming #CodeWithEbrahim #SoftwareDevelopment #Python3</a:t>
        </a:r>
      </a:p>
    </p188:txBody>
  </p188:cm>
</p188:cmLst>
</file>

<file path=ppt/comments/modernComment_125_E21438E9.xml><?xml version="1.0" encoding="utf-8"?>
<p188:cmLst xmlns:a="http://schemas.openxmlformats.org/drawingml/2006/main" xmlns:r="http://schemas.openxmlformats.org/officeDocument/2006/relationships" xmlns:p188="http://schemas.microsoft.com/office/powerpoint/2018/8/main">
  <p188:cm id="{1D4420A9-55BE-024F-A9FE-476F72618FC0}" authorId="{8860045D-B334-310D-0A4E-9E20AA0B149E}" created="2026-01-05T03:19:53.551">
    <pc:sldMkLst xmlns:pc="http://schemas.microsoft.com/office/powerpoint/2013/main/command">
      <pc:docMk/>
      <pc:sldMk cId="3792976105" sldId="293"/>
    </pc:sldMkLst>
    <p188:txBody>
      <a:bodyPr/>
      <a:lstStyle/>
      <a:p>
        <a:r>
          <a:rPr lang="en-DE"/>
          <a:t>Did you know Python can return multiple values at once? 🤯🐍
In many languages, you need a class or an array to return more than one value. In Python, you just use a comma! It’s called "Tuple Unpacking" and it makes your
#PythonTips #CleanCode #ProgrammingLife #CodeWithEbrahim #PythonHacks #BackendDev</a:t>
        </a:r>
      </a:p>
    </p188:txBody>
  </p188:cm>
</p188:cmLst>
</file>

<file path=ppt/comments/modernComment_126_9DA2AD4E.xml><?xml version="1.0" encoding="utf-8"?>
<p188:cmLst xmlns:a="http://schemas.openxmlformats.org/drawingml/2006/main" xmlns:r="http://schemas.openxmlformats.org/officeDocument/2006/relationships" xmlns:p188="http://schemas.microsoft.com/office/powerpoint/2018/8/main">
  <p188:cm id="{538865AF-136D-2642-923A-35928BA76FED}" authorId="{8860045D-B334-310D-0A4E-9E20AA0B149E}" created="2026-01-05T04:08:30.372">
    <pc:sldMkLst xmlns:pc="http://schemas.microsoft.com/office/powerpoint/2013/main/command">
      <pc:docMk/>
      <pc:sldMk cId="2644684110" sldId="294"/>
    </pc:sldMkLst>
    <p188:txBody>
      <a:bodyPr/>
      <a:lstStyle/>
      <a:p>
        <a:r>
          <a:rPr lang="en-DE"/>
          <a:t>Stop crashing your app with KeyErrors! 🛡️🐍
Tired of seeing KeyError in your logs? Accessing dictionary values with [] is risky because if the key is missing, your code breaks.
The .get() method is your best friend. It allows you to provide a default value so your program keeps running smoothly no matter what.
#PythonTips #CleanCode #ErrorHandling #PythonDeveloper #ProgrammingLife #CodeWithEbrahim</a:t>
        </a:r>
      </a:p>
    </p188:txBody>
  </p188:cm>
</p188:cmLst>
</file>

<file path=ppt/comments/modernComment_128_2DA5E9E5.xml><?xml version="1.0" encoding="utf-8"?>
<p188:cmLst xmlns:a="http://schemas.openxmlformats.org/drawingml/2006/main" xmlns:r="http://schemas.openxmlformats.org/officeDocument/2006/relationships" xmlns:p188="http://schemas.microsoft.com/office/powerpoint/2018/8/main">
  <p188:cm id="{2ACBA615-6F93-FE4D-AF24-4DC16D768C38}" authorId="{8860045D-B334-310D-0A4E-9E20AA0B149E}" created="2026-01-05T14:00:03.636">
    <pc:sldMkLst xmlns:pc="http://schemas.microsoft.com/office/powerpoint/2013/main/command">
      <pc:docMk/>
      <pc:sldMk cId="765848037" sldId="296"/>
    </pc:sldMkLst>
    <p188:txBody>
      <a:bodyPr/>
      <a:lstStyle/>
      <a:p>
        <a:r>
          <a:rPr lang="en-DE"/>
          <a:t>Master TypeScript: Cleaner Code in Seconds! ✨
Caption:
Stop struggling with long if chains! 🛑
In TypeScript, you can break down complex object access into clean, readable lines using ?.. It makes your code look professional and prevents "Undefined" errors.
#TypeScript #CleanCode #WebDevelopment #Programming #CodeWithEbrahim 
</a:t>
        </a:r>
      </a:p>
    </p188:txBody>
  </p188:cm>
</p188:cmLst>
</file>

<file path=ppt/comments/modernComment_129_FD6B0559.xml><?xml version="1.0" encoding="utf-8"?>
<p188:cmLst xmlns:a="http://schemas.openxmlformats.org/drawingml/2006/main" xmlns:r="http://schemas.openxmlformats.org/officeDocument/2006/relationships" xmlns:p188="http://schemas.microsoft.com/office/powerpoint/2018/8/main">
  <p188:cm id="{309E6CEA-BF3D-9F42-AECA-91EFCE7151E0}" authorId="{8860045D-B334-310D-0A4E-9E20AA0B149E}" created="2026-01-06T01:33:22.454">
    <pc:sldMkLst xmlns:pc="http://schemas.microsoft.com/office/powerpoint/2013/main/command">
      <pc:docMk/>
      <pc:sldMk cId="4251649369" sldId="297"/>
    </pc:sldMkLst>
    <p188:txBody>
      <a:bodyPr/>
      <a:lstStyle/>
      <a:p>
        <a:r>
          <a:rPr lang="en-DE"/>
          <a:t>Stop treating "0" as "False"! 🛑✨
In JavaScript, the || operator can be tricky because it treats 0 or "" as falsy values. This leads to bugs!
TypeScript's Nullish Coalescing (??) solves this. It only uses the default value if the original one is strictly null or undefined.
#TypeScript #CodingTips #WebDev #CleanCode #Programming #CodeWithEbrahim #shorts</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EF57384-5D6E-7E42-90C4-560B39EF53DD}" type="datetimeFigureOut">
              <a:rPr lang="en-DE" smtClean="0"/>
              <a:t>18.01.26</a:t>
            </a:fld>
            <a:endParaRPr lang="en-DE"/>
          </a:p>
        </p:txBody>
      </p:sp>
      <p:sp>
        <p:nvSpPr>
          <p:cNvPr id="4" name="Slide Image Placeholder 3"/>
          <p:cNvSpPr>
            <a:spLocks noGrp="1" noRot="1" noChangeAspect="1"/>
          </p:cNvSpPr>
          <p:nvPr>
            <p:ph type="sldImg" idx="2"/>
          </p:nvPr>
        </p:nvSpPr>
        <p:spPr>
          <a:xfrm>
            <a:off x="2560638" y="1143000"/>
            <a:ext cx="1736725" cy="3086100"/>
          </a:xfrm>
          <a:prstGeom prst="rect">
            <a:avLst/>
          </a:prstGeom>
          <a:noFill/>
          <a:ln w="12700">
            <a:solidFill>
              <a:prstClr val="black"/>
            </a:solidFill>
          </a:ln>
        </p:spPr>
        <p:txBody>
          <a:bodyPr vert="horz" lIns="91440" tIns="45720" rIns="91440" bIns="45720" rtlCol="0" anchor="ctr"/>
          <a:lstStyle/>
          <a:p>
            <a:endParaRPr lang="en-D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D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46D1A58-C582-AC49-9010-037E894CD422}" type="slidenum">
              <a:rPr lang="en-DE" smtClean="0"/>
              <a:t>‹#›</a:t>
            </a:fld>
            <a:endParaRPr lang="en-DE"/>
          </a:p>
        </p:txBody>
      </p:sp>
    </p:spTree>
    <p:extLst>
      <p:ext uri="{BB962C8B-B14F-4D97-AF65-F5344CB8AC3E}">
        <p14:creationId xmlns:p14="http://schemas.microsoft.com/office/powerpoint/2010/main" val="35564076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p:cNvSpPr>
            <a:spLocks noGrp="1"/>
          </p:cNvSpPr>
          <p:nvPr>
            <p:ph type="sldNum" sz="quarter" idx="5"/>
          </p:nvPr>
        </p:nvSpPr>
        <p:spPr/>
        <p:txBody>
          <a:bodyPr/>
          <a:lstStyle/>
          <a:p>
            <a:fld id="{B46D1A58-C582-AC49-9010-037E894CD422}" type="slidenum">
              <a:rPr lang="en-DE" smtClean="0"/>
              <a:t>2</a:t>
            </a:fld>
            <a:endParaRPr lang="en-DE"/>
          </a:p>
        </p:txBody>
      </p:sp>
    </p:spTree>
    <p:extLst>
      <p:ext uri="{BB962C8B-B14F-4D97-AF65-F5344CB8AC3E}">
        <p14:creationId xmlns:p14="http://schemas.microsoft.com/office/powerpoint/2010/main" val="267137210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C732FD-D9E9-AAE3-0DFD-25C6A5879A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F65AD2-BF8F-55A2-6C49-4C74899FC2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E244BB-A6D8-1077-F5B9-623B75F9D79E}"/>
              </a:ext>
            </a:extLst>
          </p:cNvPr>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a:extLst>
              <a:ext uri="{FF2B5EF4-FFF2-40B4-BE49-F238E27FC236}">
                <a16:creationId xmlns:a16="http://schemas.microsoft.com/office/drawing/2014/main" id="{A9999D23-2291-E2AF-4349-FDA5EB6F07AD}"/>
              </a:ext>
            </a:extLst>
          </p:cNvPr>
          <p:cNvSpPr>
            <a:spLocks noGrp="1"/>
          </p:cNvSpPr>
          <p:nvPr>
            <p:ph type="sldNum" sz="quarter" idx="5"/>
          </p:nvPr>
        </p:nvSpPr>
        <p:spPr/>
        <p:txBody>
          <a:bodyPr/>
          <a:lstStyle/>
          <a:p>
            <a:fld id="{B46D1A58-C582-AC49-9010-037E894CD422}" type="slidenum">
              <a:rPr lang="en-DE" smtClean="0"/>
              <a:t>6</a:t>
            </a:fld>
            <a:endParaRPr lang="en-DE"/>
          </a:p>
        </p:txBody>
      </p:sp>
    </p:spTree>
    <p:extLst>
      <p:ext uri="{BB962C8B-B14F-4D97-AF65-F5344CB8AC3E}">
        <p14:creationId xmlns:p14="http://schemas.microsoft.com/office/powerpoint/2010/main" val="18322365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771406" y="2992968"/>
            <a:ext cx="8742601" cy="6366933"/>
          </a:xfrm>
        </p:spPr>
        <p:txBody>
          <a:bodyPr anchor="b"/>
          <a:lstStyle>
            <a:lvl1pPr algn="ctr">
              <a:defRPr sz="6749"/>
            </a:lvl1pPr>
          </a:lstStyle>
          <a:p>
            <a:r>
              <a:rPr lang="en-GB"/>
              <a:t>Click to edit Master title style</a:t>
            </a:r>
            <a:endParaRPr lang="en-US" dirty="0"/>
          </a:p>
        </p:txBody>
      </p:sp>
      <p:sp>
        <p:nvSpPr>
          <p:cNvPr id="3" name="Subtitle 2"/>
          <p:cNvSpPr>
            <a:spLocks noGrp="1"/>
          </p:cNvSpPr>
          <p:nvPr>
            <p:ph type="subTitle" idx="1"/>
          </p:nvPr>
        </p:nvSpPr>
        <p:spPr>
          <a:xfrm>
            <a:off x="1285677" y="9605435"/>
            <a:ext cx="7714060" cy="4415365"/>
          </a:xfrm>
        </p:spPr>
        <p:txBody>
          <a:bodyPr/>
          <a:lstStyle>
            <a:lvl1pPr marL="0" indent="0" algn="ctr">
              <a:buNone/>
              <a:defRPr sz="2700"/>
            </a:lvl1pPr>
            <a:lvl2pPr marL="514259" indent="0" algn="ctr">
              <a:buNone/>
              <a:defRPr sz="2250"/>
            </a:lvl2pPr>
            <a:lvl3pPr marL="1028517" indent="0" algn="ctr">
              <a:buNone/>
              <a:defRPr sz="2025"/>
            </a:lvl3pPr>
            <a:lvl4pPr marL="1542776" indent="0" algn="ctr">
              <a:buNone/>
              <a:defRPr sz="1800"/>
            </a:lvl4pPr>
            <a:lvl5pPr marL="2057034" indent="0" algn="ctr">
              <a:buNone/>
              <a:defRPr sz="1800"/>
            </a:lvl5pPr>
            <a:lvl6pPr marL="2571293" indent="0" algn="ctr">
              <a:buNone/>
              <a:defRPr sz="1800"/>
            </a:lvl6pPr>
            <a:lvl7pPr marL="3085551" indent="0" algn="ctr">
              <a:buNone/>
              <a:defRPr sz="1800"/>
            </a:lvl7pPr>
            <a:lvl8pPr marL="3599810" indent="0" algn="ctr">
              <a:buNone/>
              <a:defRPr sz="1800"/>
            </a:lvl8pPr>
            <a:lvl9pPr marL="4114068" indent="0" algn="ctr">
              <a:buNone/>
              <a:defRPr sz="1800"/>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pPr/>
              <a:t>1/18/26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7209365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582B4725-F1EC-C0BF-28F1-5FBD00F89475}"/>
              </a:ext>
            </a:extLst>
          </p:cNvPr>
          <p:cNvSpPr txBox="1"/>
          <p:nvPr userDrawn="1"/>
        </p:nvSpPr>
        <p:spPr>
          <a:xfrm>
            <a:off x="2170229" y="3797265"/>
            <a:ext cx="5944954" cy="923330"/>
          </a:xfrm>
          <a:prstGeom prst="rect">
            <a:avLst/>
          </a:prstGeom>
          <a:noFill/>
        </p:spPr>
        <p:txBody>
          <a:bodyPr wrap="square" rtlCol="0">
            <a:spAutoFit/>
          </a:bodyPr>
          <a:lstStyle/>
          <a:p>
            <a:pPr algn="ctr"/>
            <a:r>
              <a:rPr lang="en-GB" sz="5400" b="1" dirty="0">
                <a:ln/>
                <a:latin typeface="+mj-lt"/>
              </a:rPr>
              <a:t>@</a:t>
            </a:r>
            <a:r>
              <a:rPr lang="en-GB" sz="5400" b="1" dirty="0" err="1">
                <a:ln/>
                <a:latin typeface="+mj-lt"/>
              </a:rPr>
              <a:t>CodeWithEbrahim</a:t>
            </a:r>
            <a:endParaRPr lang="en-GB" sz="5400" b="1" dirty="0">
              <a:ln/>
              <a:latin typeface="+mj-lt"/>
            </a:endParaRPr>
          </a:p>
        </p:txBody>
      </p:sp>
      <p:grpSp>
        <p:nvGrpSpPr>
          <p:cNvPr id="8" name="Group 7">
            <a:extLst>
              <a:ext uri="{FF2B5EF4-FFF2-40B4-BE49-F238E27FC236}">
                <a16:creationId xmlns:a16="http://schemas.microsoft.com/office/drawing/2014/main" id="{58E2B3C5-12FB-9052-C5A5-A819EAF27AC1}"/>
              </a:ext>
            </a:extLst>
          </p:cNvPr>
          <p:cNvGrpSpPr/>
          <p:nvPr userDrawn="1"/>
        </p:nvGrpSpPr>
        <p:grpSpPr>
          <a:xfrm>
            <a:off x="4153139" y="2366480"/>
            <a:ext cx="1979135" cy="925200"/>
            <a:chOff x="4315976" y="15244200"/>
            <a:chExt cx="1979135" cy="925200"/>
          </a:xfrm>
        </p:grpSpPr>
        <p:pic>
          <p:nvPicPr>
            <p:cNvPr id="9" name="Picture 8">
              <a:extLst>
                <a:ext uri="{FF2B5EF4-FFF2-40B4-BE49-F238E27FC236}">
                  <a16:creationId xmlns:a16="http://schemas.microsoft.com/office/drawing/2014/main" id="{34524E7D-1D75-8F90-E72A-A01BE2ADDFE0}"/>
                </a:ext>
              </a:extLst>
            </p:cNvPr>
            <p:cNvPicPr>
              <a:picLocks noChangeAspect="1"/>
            </p:cNvPicPr>
            <p:nvPr/>
          </p:nvPicPr>
          <p:blipFill>
            <a:blip r:embed="rId2"/>
            <a:stretch>
              <a:fillRect/>
            </a:stretch>
          </p:blipFill>
          <p:spPr>
            <a:xfrm>
              <a:off x="5369911" y="15244200"/>
              <a:ext cx="925200" cy="925200"/>
            </a:xfrm>
            <a:prstGeom prst="rect">
              <a:avLst/>
            </a:prstGeom>
          </p:spPr>
        </p:pic>
        <p:pic>
          <p:nvPicPr>
            <p:cNvPr id="10" name="Picture 9">
              <a:extLst>
                <a:ext uri="{FF2B5EF4-FFF2-40B4-BE49-F238E27FC236}">
                  <a16:creationId xmlns:a16="http://schemas.microsoft.com/office/drawing/2014/main" id="{A3FF6CE8-F094-62A9-F577-CE8ADDA4349A}"/>
                </a:ext>
              </a:extLst>
            </p:cNvPr>
            <p:cNvPicPr>
              <a:picLocks noChangeAspect="1"/>
            </p:cNvPicPr>
            <p:nvPr/>
          </p:nvPicPr>
          <p:blipFill>
            <a:blip r:embed="rId3"/>
            <a:stretch>
              <a:fillRect/>
            </a:stretch>
          </p:blipFill>
          <p:spPr>
            <a:xfrm>
              <a:off x="4315976" y="15244200"/>
              <a:ext cx="925200" cy="925200"/>
            </a:xfrm>
            <a:prstGeom prst="rect">
              <a:avLst/>
            </a:prstGeom>
          </p:spPr>
        </p:pic>
      </p:grpSp>
      <p:sp>
        <p:nvSpPr>
          <p:cNvPr id="12" name="Date Placeholder 11">
            <a:extLst>
              <a:ext uri="{FF2B5EF4-FFF2-40B4-BE49-F238E27FC236}">
                <a16:creationId xmlns:a16="http://schemas.microsoft.com/office/drawing/2014/main" id="{B184EB1F-481A-B6D2-1817-1F871BD06A73}"/>
              </a:ext>
            </a:extLst>
          </p:cNvPr>
          <p:cNvSpPr>
            <a:spLocks noGrp="1"/>
          </p:cNvSpPr>
          <p:nvPr>
            <p:ph type="dt" sz="half" idx="10"/>
          </p:nvPr>
        </p:nvSpPr>
        <p:spPr/>
        <p:txBody>
          <a:bodyPr/>
          <a:lstStyle/>
          <a:p>
            <a:fld id="{48A87A34-81AB-432B-8DAE-1953F412C126}" type="datetimeFigureOut">
              <a:rPr lang="en-US" smtClean="0"/>
              <a:pPr/>
              <a:t>1/18/26</a:t>
            </a:fld>
            <a:endParaRPr lang="en-US" dirty="0"/>
          </a:p>
        </p:txBody>
      </p:sp>
      <p:sp>
        <p:nvSpPr>
          <p:cNvPr id="13" name="Footer Placeholder 12">
            <a:extLst>
              <a:ext uri="{FF2B5EF4-FFF2-40B4-BE49-F238E27FC236}">
                <a16:creationId xmlns:a16="http://schemas.microsoft.com/office/drawing/2014/main" id="{B97F9027-CC07-7360-7ADD-A8D8CE9A1E52}"/>
              </a:ext>
            </a:extLst>
          </p:cNvPr>
          <p:cNvSpPr>
            <a:spLocks noGrp="1"/>
          </p:cNvSpPr>
          <p:nvPr>
            <p:ph type="ftr" sz="quarter" idx="11"/>
          </p:nvPr>
        </p:nvSpPr>
        <p:spPr/>
        <p:txBody>
          <a:bodyPr/>
          <a:lstStyle/>
          <a:p>
            <a:endParaRPr lang="en-US" dirty="0"/>
          </a:p>
        </p:txBody>
      </p:sp>
      <p:sp>
        <p:nvSpPr>
          <p:cNvPr id="14" name="Slide Number Placeholder 13">
            <a:extLst>
              <a:ext uri="{FF2B5EF4-FFF2-40B4-BE49-F238E27FC236}">
                <a16:creationId xmlns:a16="http://schemas.microsoft.com/office/drawing/2014/main" id="{025924C7-C2EA-D319-9523-271865881EE9}"/>
              </a:ext>
            </a:extLst>
          </p:cNvPr>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875218026"/>
      </p:ext>
    </p:extLst>
  </p:cSld>
  <p:clrMapOvr>
    <a:masterClrMapping/>
  </p:clrMapOvr>
  <p:extLst>
    <p:ext uri="{DCECCB84-F9BA-43D5-87BE-67443E8EF086}">
      <p15:sldGuideLst xmlns:p15="http://schemas.microsoft.com/office/powerpoint/2012/main">
        <p15:guide id="1" orient="horz" pos="5760" userDrawn="1">
          <p15:clr>
            <a:srgbClr val="FBAE40"/>
          </p15:clr>
        </p15:guide>
        <p15:guide id="2" pos="3239"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01766" y="4559305"/>
            <a:ext cx="8871169" cy="7607299"/>
          </a:xfrm>
        </p:spPr>
        <p:txBody>
          <a:bodyPr anchor="b"/>
          <a:lstStyle>
            <a:lvl1pPr>
              <a:defRPr sz="6749"/>
            </a:lvl1pPr>
          </a:lstStyle>
          <a:p>
            <a:r>
              <a:rPr lang="en-GB"/>
              <a:t>Click to edit Master title style</a:t>
            </a:r>
            <a:endParaRPr lang="en-US" dirty="0"/>
          </a:p>
        </p:txBody>
      </p:sp>
      <p:sp>
        <p:nvSpPr>
          <p:cNvPr id="3" name="Text Placeholder 2"/>
          <p:cNvSpPr>
            <a:spLocks noGrp="1"/>
          </p:cNvSpPr>
          <p:nvPr>
            <p:ph type="body" idx="1"/>
          </p:nvPr>
        </p:nvSpPr>
        <p:spPr>
          <a:xfrm>
            <a:off x="701766" y="12238572"/>
            <a:ext cx="8871169" cy="4000499"/>
          </a:xfrm>
        </p:spPr>
        <p:txBody>
          <a:bodyPr/>
          <a:lstStyle>
            <a:lvl1pPr marL="0" indent="0">
              <a:buNone/>
              <a:defRPr sz="2700">
                <a:solidFill>
                  <a:schemeClr val="tx1"/>
                </a:solidFill>
              </a:defRPr>
            </a:lvl1pPr>
            <a:lvl2pPr marL="514259" indent="0">
              <a:buNone/>
              <a:defRPr sz="2250">
                <a:solidFill>
                  <a:schemeClr val="tx1">
                    <a:tint val="75000"/>
                  </a:schemeClr>
                </a:solidFill>
              </a:defRPr>
            </a:lvl2pPr>
            <a:lvl3pPr marL="1028517" indent="0">
              <a:buNone/>
              <a:defRPr sz="2025">
                <a:solidFill>
                  <a:schemeClr val="tx1">
                    <a:tint val="75000"/>
                  </a:schemeClr>
                </a:solidFill>
              </a:defRPr>
            </a:lvl3pPr>
            <a:lvl4pPr marL="1542776" indent="0">
              <a:buNone/>
              <a:defRPr sz="1800">
                <a:solidFill>
                  <a:schemeClr val="tx1">
                    <a:tint val="75000"/>
                  </a:schemeClr>
                </a:solidFill>
              </a:defRPr>
            </a:lvl4pPr>
            <a:lvl5pPr marL="2057034" indent="0">
              <a:buNone/>
              <a:defRPr sz="1800">
                <a:solidFill>
                  <a:schemeClr val="tx1">
                    <a:tint val="75000"/>
                  </a:schemeClr>
                </a:solidFill>
              </a:defRPr>
            </a:lvl5pPr>
            <a:lvl6pPr marL="2571293" indent="0">
              <a:buNone/>
              <a:defRPr sz="1800">
                <a:solidFill>
                  <a:schemeClr val="tx1">
                    <a:tint val="75000"/>
                  </a:schemeClr>
                </a:solidFill>
              </a:defRPr>
            </a:lvl6pPr>
            <a:lvl7pPr marL="3085551" indent="0">
              <a:buNone/>
              <a:defRPr sz="1800">
                <a:solidFill>
                  <a:schemeClr val="tx1">
                    <a:tint val="75000"/>
                  </a:schemeClr>
                </a:solidFill>
              </a:defRPr>
            </a:lvl7pPr>
            <a:lvl8pPr marL="3599810" indent="0">
              <a:buNone/>
              <a:defRPr sz="1800">
                <a:solidFill>
                  <a:schemeClr val="tx1">
                    <a:tint val="75000"/>
                  </a:schemeClr>
                </a:solidFill>
              </a:defRPr>
            </a:lvl8pPr>
            <a:lvl9pPr marL="4114068" indent="0">
              <a:buNone/>
              <a:defRPr sz="18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t>1/18/26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2484873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707122" y="4868333"/>
            <a:ext cx="4371301" cy="11603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5206990" y="4868333"/>
            <a:ext cx="4371301" cy="11603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smtClean="0"/>
              <a:t>1/18/26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277871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708462" y="973670"/>
            <a:ext cx="8871169" cy="3534835"/>
          </a:xfrm>
        </p:spPr>
        <p:txBody>
          <a:bodyPr/>
          <a:lstStyle/>
          <a:p>
            <a:r>
              <a:rPr lang="en-GB"/>
              <a:t>Click to edit Master title style</a:t>
            </a:r>
            <a:endParaRPr lang="en-US" dirty="0"/>
          </a:p>
        </p:txBody>
      </p:sp>
      <p:sp>
        <p:nvSpPr>
          <p:cNvPr id="3" name="Text Placeholder 2"/>
          <p:cNvSpPr>
            <a:spLocks noGrp="1"/>
          </p:cNvSpPr>
          <p:nvPr>
            <p:ph type="body" idx="1"/>
          </p:nvPr>
        </p:nvSpPr>
        <p:spPr>
          <a:xfrm>
            <a:off x="708463" y="4483101"/>
            <a:ext cx="4351211" cy="2197099"/>
          </a:xfrm>
        </p:spPr>
        <p:txBody>
          <a:bodyPr anchor="b"/>
          <a:lstStyle>
            <a:lvl1pPr marL="0" indent="0">
              <a:buNone/>
              <a:defRPr sz="2700" b="1"/>
            </a:lvl1pPr>
            <a:lvl2pPr marL="514259" indent="0">
              <a:buNone/>
              <a:defRPr sz="2250" b="1"/>
            </a:lvl2pPr>
            <a:lvl3pPr marL="1028517" indent="0">
              <a:buNone/>
              <a:defRPr sz="2025" b="1"/>
            </a:lvl3pPr>
            <a:lvl4pPr marL="1542776" indent="0">
              <a:buNone/>
              <a:defRPr sz="1800" b="1"/>
            </a:lvl4pPr>
            <a:lvl5pPr marL="2057034" indent="0">
              <a:buNone/>
              <a:defRPr sz="1800" b="1"/>
            </a:lvl5pPr>
            <a:lvl6pPr marL="2571293" indent="0">
              <a:buNone/>
              <a:defRPr sz="1800" b="1"/>
            </a:lvl6pPr>
            <a:lvl7pPr marL="3085551" indent="0">
              <a:buNone/>
              <a:defRPr sz="1800" b="1"/>
            </a:lvl7pPr>
            <a:lvl8pPr marL="3599810" indent="0">
              <a:buNone/>
              <a:defRPr sz="1800" b="1"/>
            </a:lvl8pPr>
            <a:lvl9pPr marL="4114068" indent="0">
              <a:buNone/>
              <a:defRPr sz="1800" b="1"/>
            </a:lvl9pPr>
          </a:lstStyle>
          <a:p>
            <a:pPr lvl="0"/>
            <a:r>
              <a:rPr lang="en-GB"/>
              <a:t>Click to edit Master text styles</a:t>
            </a:r>
          </a:p>
        </p:txBody>
      </p:sp>
      <p:sp>
        <p:nvSpPr>
          <p:cNvPr id="4" name="Content Placeholder 3"/>
          <p:cNvSpPr>
            <a:spLocks noGrp="1"/>
          </p:cNvSpPr>
          <p:nvPr>
            <p:ph sz="half" idx="2"/>
          </p:nvPr>
        </p:nvSpPr>
        <p:spPr>
          <a:xfrm>
            <a:off x="708463" y="6680200"/>
            <a:ext cx="4351211" cy="9825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5206991" y="4483101"/>
            <a:ext cx="4372640" cy="2197099"/>
          </a:xfrm>
        </p:spPr>
        <p:txBody>
          <a:bodyPr anchor="b"/>
          <a:lstStyle>
            <a:lvl1pPr marL="0" indent="0">
              <a:buNone/>
              <a:defRPr sz="2700" b="1"/>
            </a:lvl1pPr>
            <a:lvl2pPr marL="514259" indent="0">
              <a:buNone/>
              <a:defRPr sz="2250" b="1"/>
            </a:lvl2pPr>
            <a:lvl3pPr marL="1028517" indent="0">
              <a:buNone/>
              <a:defRPr sz="2025" b="1"/>
            </a:lvl3pPr>
            <a:lvl4pPr marL="1542776" indent="0">
              <a:buNone/>
              <a:defRPr sz="1800" b="1"/>
            </a:lvl4pPr>
            <a:lvl5pPr marL="2057034" indent="0">
              <a:buNone/>
              <a:defRPr sz="1800" b="1"/>
            </a:lvl5pPr>
            <a:lvl6pPr marL="2571293" indent="0">
              <a:buNone/>
              <a:defRPr sz="1800" b="1"/>
            </a:lvl6pPr>
            <a:lvl7pPr marL="3085551" indent="0">
              <a:buNone/>
              <a:defRPr sz="1800" b="1"/>
            </a:lvl7pPr>
            <a:lvl8pPr marL="3599810" indent="0">
              <a:buNone/>
              <a:defRPr sz="1800" b="1"/>
            </a:lvl8pPr>
            <a:lvl9pPr marL="4114068" indent="0">
              <a:buNone/>
              <a:defRPr sz="1800" b="1"/>
            </a:lvl9pPr>
          </a:lstStyle>
          <a:p>
            <a:pPr lvl="0"/>
            <a:r>
              <a:rPr lang="en-GB"/>
              <a:t>Click to edit Master text styles</a:t>
            </a:r>
          </a:p>
        </p:txBody>
      </p:sp>
      <p:sp>
        <p:nvSpPr>
          <p:cNvPr id="6" name="Content Placeholder 5"/>
          <p:cNvSpPr>
            <a:spLocks noGrp="1"/>
          </p:cNvSpPr>
          <p:nvPr>
            <p:ph sz="quarter" idx="4"/>
          </p:nvPr>
        </p:nvSpPr>
        <p:spPr>
          <a:xfrm>
            <a:off x="5206991" y="6680200"/>
            <a:ext cx="4372640" cy="9825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smtClean="0"/>
              <a:t>1/18/26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3029076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smtClean="0"/>
              <a:t>1/18/26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2947287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smtClean="0"/>
              <a:t>1/18/26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7537280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462" y="1219200"/>
            <a:ext cx="3317313" cy="4267200"/>
          </a:xfrm>
        </p:spPr>
        <p:txBody>
          <a:bodyPr anchor="b"/>
          <a:lstStyle>
            <a:lvl1pPr>
              <a:defRPr sz="3599"/>
            </a:lvl1pPr>
          </a:lstStyle>
          <a:p>
            <a:r>
              <a:rPr lang="en-GB"/>
              <a:t>Click to edit Master title style</a:t>
            </a:r>
            <a:endParaRPr lang="en-US" dirty="0"/>
          </a:p>
        </p:txBody>
      </p:sp>
      <p:sp>
        <p:nvSpPr>
          <p:cNvPr id="3" name="Content Placeholder 2"/>
          <p:cNvSpPr>
            <a:spLocks noGrp="1"/>
          </p:cNvSpPr>
          <p:nvPr>
            <p:ph idx="1"/>
          </p:nvPr>
        </p:nvSpPr>
        <p:spPr>
          <a:xfrm>
            <a:off x="4372640" y="2633137"/>
            <a:ext cx="5206990" cy="12996333"/>
          </a:xfrm>
        </p:spPr>
        <p:txBody>
          <a:bodyPr/>
          <a:lstStyle>
            <a:lvl1pPr>
              <a:defRPr sz="3599"/>
            </a:lvl1pPr>
            <a:lvl2pPr>
              <a:defRPr sz="3149"/>
            </a:lvl2pPr>
            <a:lvl3pPr>
              <a:defRPr sz="2700"/>
            </a:lvl3pPr>
            <a:lvl4pPr>
              <a:defRPr sz="2250"/>
            </a:lvl4pPr>
            <a:lvl5pPr>
              <a:defRPr sz="2250"/>
            </a:lvl5pPr>
            <a:lvl6pPr>
              <a:defRPr sz="2250"/>
            </a:lvl6pPr>
            <a:lvl7pPr>
              <a:defRPr sz="2250"/>
            </a:lvl7pPr>
            <a:lvl8pPr>
              <a:defRPr sz="2250"/>
            </a:lvl8pPr>
            <a:lvl9pPr>
              <a:defRPr sz="225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708462" y="5486400"/>
            <a:ext cx="3317313" cy="10164235"/>
          </a:xfrm>
        </p:spPr>
        <p:txBody>
          <a:bodyPr/>
          <a:lstStyle>
            <a:lvl1pPr marL="0" indent="0">
              <a:buNone/>
              <a:defRPr sz="1800"/>
            </a:lvl1pPr>
            <a:lvl2pPr marL="514259" indent="0">
              <a:buNone/>
              <a:defRPr sz="1575"/>
            </a:lvl2pPr>
            <a:lvl3pPr marL="1028517" indent="0">
              <a:buNone/>
              <a:defRPr sz="1350"/>
            </a:lvl3pPr>
            <a:lvl4pPr marL="1542776" indent="0">
              <a:buNone/>
              <a:defRPr sz="1125"/>
            </a:lvl4pPr>
            <a:lvl5pPr marL="2057034" indent="0">
              <a:buNone/>
              <a:defRPr sz="1125"/>
            </a:lvl5pPr>
            <a:lvl6pPr marL="2571293" indent="0">
              <a:buNone/>
              <a:defRPr sz="1125"/>
            </a:lvl6pPr>
            <a:lvl7pPr marL="3085551" indent="0">
              <a:buNone/>
              <a:defRPr sz="1125"/>
            </a:lvl7pPr>
            <a:lvl8pPr marL="3599810" indent="0">
              <a:buNone/>
              <a:defRPr sz="1125"/>
            </a:lvl8pPr>
            <a:lvl9pPr marL="4114068" indent="0">
              <a:buNone/>
              <a:defRPr sz="1125"/>
            </a:lvl9pPr>
          </a:lstStyle>
          <a:p>
            <a:pPr lvl="0"/>
            <a:r>
              <a:rPr lang="en-GB"/>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1/18/26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3002895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462" y="1219200"/>
            <a:ext cx="3317313" cy="4267200"/>
          </a:xfrm>
        </p:spPr>
        <p:txBody>
          <a:bodyPr anchor="b"/>
          <a:lstStyle>
            <a:lvl1pPr>
              <a:defRPr sz="3599"/>
            </a:lvl1pPr>
          </a:lstStyle>
          <a:p>
            <a:r>
              <a:rPr lang="en-GB"/>
              <a:t>Click to edit Master title style</a:t>
            </a:r>
            <a:endParaRPr lang="en-US" dirty="0"/>
          </a:p>
        </p:txBody>
      </p:sp>
      <p:sp>
        <p:nvSpPr>
          <p:cNvPr id="3" name="Picture Placeholder 2"/>
          <p:cNvSpPr>
            <a:spLocks noGrp="1" noChangeAspect="1"/>
          </p:cNvSpPr>
          <p:nvPr>
            <p:ph type="pic" idx="1"/>
          </p:nvPr>
        </p:nvSpPr>
        <p:spPr>
          <a:xfrm>
            <a:off x="4372640" y="2633137"/>
            <a:ext cx="5206990" cy="12996333"/>
          </a:xfrm>
        </p:spPr>
        <p:txBody>
          <a:bodyPr anchor="t"/>
          <a:lstStyle>
            <a:lvl1pPr marL="0" indent="0">
              <a:buNone/>
              <a:defRPr sz="3599"/>
            </a:lvl1pPr>
            <a:lvl2pPr marL="514259" indent="0">
              <a:buNone/>
              <a:defRPr sz="3149"/>
            </a:lvl2pPr>
            <a:lvl3pPr marL="1028517" indent="0">
              <a:buNone/>
              <a:defRPr sz="2700"/>
            </a:lvl3pPr>
            <a:lvl4pPr marL="1542776" indent="0">
              <a:buNone/>
              <a:defRPr sz="2250"/>
            </a:lvl4pPr>
            <a:lvl5pPr marL="2057034" indent="0">
              <a:buNone/>
              <a:defRPr sz="2250"/>
            </a:lvl5pPr>
            <a:lvl6pPr marL="2571293" indent="0">
              <a:buNone/>
              <a:defRPr sz="2250"/>
            </a:lvl6pPr>
            <a:lvl7pPr marL="3085551" indent="0">
              <a:buNone/>
              <a:defRPr sz="2250"/>
            </a:lvl7pPr>
            <a:lvl8pPr marL="3599810" indent="0">
              <a:buNone/>
              <a:defRPr sz="2250"/>
            </a:lvl8pPr>
            <a:lvl9pPr marL="4114068" indent="0">
              <a:buNone/>
              <a:defRPr sz="2250"/>
            </a:lvl9pPr>
          </a:lstStyle>
          <a:p>
            <a:r>
              <a:rPr lang="en-GB"/>
              <a:t>Click icon to add picture</a:t>
            </a:r>
            <a:endParaRPr lang="en-US" dirty="0"/>
          </a:p>
        </p:txBody>
      </p:sp>
      <p:sp>
        <p:nvSpPr>
          <p:cNvPr id="4" name="Text Placeholder 3"/>
          <p:cNvSpPr>
            <a:spLocks noGrp="1"/>
          </p:cNvSpPr>
          <p:nvPr>
            <p:ph type="body" sz="half" idx="2"/>
          </p:nvPr>
        </p:nvSpPr>
        <p:spPr>
          <a:xfrm>
            <a:off x="708462" y="5486400"/>
            <a:ext cx="3317313" cy="10164235"/>
          </a:xfrm>
        </p:spPr>
        <p:txBody>
          <a:bodyPr/>
          <a:lstStyle>
            <a:lvl1pPr marL="0" indent="0">
              <a:buNone/>
              <a:defRPr sz="1800"/>
            </a:lvl1pPr>
            <a:lvl2pPr marL="514259" indent="0">
              <a:buNone/>
              <a:defRPr sz="1575"/>
            </a:lvl2pPr>
            <a:lvl3pPr marL="1028517" indent="0">
              <a:buNone/>
              <a:defRPr sz="1350"/>
            </a:lvl3pPr>
            <a:lvl4pPr marL="1542776" indent="0">
              <a:buNone/>
              <a:defRPr sz="1125"/>
            </a:lvl4pPr>
            <a:lvl5pPr marL="2057034" indent="0">
              <a:buNone/>
              <a:defRPr sz="1125"/>
            </a:lvl5pPr>
            <a:lvl6pPr marL="2571293" indent="0">
              <a:buNone/>
              <a:defRPr sz="1125"/>
            </a:lvl6pPr>
            <a:lvl7pPr marL="3085551" indent="0">
              <a:buNone/>
              <a:defRPr sz="1125"/>
            </a:lvl7pPr>
            <a:lvl8pPr marL="3599810" indent="0">
              <a:buNone/>
              <a:defRPr sz="1125"/>
            </a:lvl8pPr>
            <a:lvl9pPr marL="4114068" indent="0">
              <a:buNone/>
              <a:defRPr sz="1125"/>
            </a:lvl9pPr>
          </a:lstStyle>
          <a:p>
            <a:pPr lvl="0"/>
            <a:r>
              <a:rPr lang="en-GB"/>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1/18/26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23014862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1/18/26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3226946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360499" y="973666"/>
            <a:ext cx="2217792" cy="15498235"/>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707123" y="973666"/>
            <a:ext cx="6524809" cy="15498235"/>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1/18/26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0039854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07122" y="973670"/>
            <a:ext cx="8871169" cy="3534835"/>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3" name="Text Placeholder 2"/>
          <p:cNvSpPr>
            <a:spLocks noGrp="1"/>
          </p:cNvSpPr>
          <p:nvPr>
            <p:ph type="body" idx="1"/>
          </p:nvPr>
        </p:nvSpPr>
        <p:spPr>
          <a:xfrm>
            <a:off x="707122" y="4868333"/>
            <a:ext cx="8871169" cy="1160356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707122" y="16950271"/>
            <a:ext cx="2314218" cy="973667"/>
          </a:xfrm>
          <a:prstGeom prst="rect">
            <a:avLst/>
          </a:prstGeom>
        </p:spPr>
        <p:txBody>
          <a:bodyPr vert="horz" lIns="91440" tIns="45720" rIns="91440" bIns="45720" rtlCol="0" anchor="ctr"/>
          <a:lstStyle>
            <a:lvl1pPr algn="l">
              <a:defRPr sz="1350">
                <a:solidFill>
                  <a:schemeClr val="tx1">
                    <a:tint val="75000"/>
                  </a:schemeClr>
                </a:solidFill>
              </a:defRPr>
            </a:lvl1pPr>
          </a:lstStyle>
          <a:p>
            <a:fld id="{48A87A34-81AB-432B-8DAE-1953F412C126}" type="datetimeFigureOut">
              <a:rPr lang="en-US" smtClean="0"/>
              <a:pPr/>
              <a:t>1/18/26</a:t>
            </a:fld>
            <a:endParaRPr lang="en-US" dirty="0"/>
          </a:p>
        </p:txBody>
      </p:sp>
      <p:sp>
        <p:nvSpPr>
          <p:cNvPr id="5" name="Footer Placeholder 4"/>
          <p:cNvSpPr>
            <a:spLocks noGrp="1"/>
          </p:cNvSpPr>
          <p:nvPr>
            <p:ph type="ftr" sz="quarter" idx="3"/>
          </p:nvPr>
        </p:nvSpPr>
        <p:spPr>
          <a:xfrm>
            <a:off x="3407043" y="16950271"/>
            <a:ext cx="3471327" cy="973667"/>
          </a:xfrm>
          <a:prstGeom prst="rect">
            <a:avLst/>
          </a:prstGeom>
        </p:spPr>
        <p:txBody>
          <a:bodyPr vert="horz" lIns="91440" tIns="45720" rIns="91440" bIns="45720" rtlCol="0" anchor="ctr"/>
          <a:lstStyle>
            <a:lvl1pPr algn="ctr">
              <a:defRPr sz="135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7264073" y="16950271"/>
            <a:ext cx="2314218" cy="973667"/>
          </a:xfrm>
          <a:prstGeom prst="rect">
            <a:avLst/>
          </a:prstGeom>
        </p:spPr>
        <p:txBody>
          <a:bodyPr vert="horz" lIns="91440" tIns="45720" rIns="91440" bIns="45720" rtlCol="0" anchor="ctr"/>
          <a:lstStyle>
            <a:lvl1pPr algn="r">
              <a:defRPr sz="1350">
                <a:solidFill>
                  <a:schemeClr val="tx1">
                    <a:tint val="75000"/>
                  </a:schemeClr>
                </a:solidFill>
              </a:defRPr>
            </a:lvl1pPr>
          </a:lstStyle>
          <a:p>
            <a:fld id="{6D22F896-40B5-4ADD-8801-0D06FADFA095}" type="slidenum">
              <a:rPr lang="en-US" smtClean="0"/>
              <a:pPr/>
              <a:t>‹#›</a:t>
            </a:fld>
            <a:endParaRPr lang="en-US" dirty="0"/>
          </a:p>
        </p:txBody>
      </p:sp>
      <p:sp>
        <p:nvSpPr>
          <p:cNvPr id="7" name="TextBox 6">
            <a:extLst>
              <a:ext uri="{FF2B5EF4-FFF2-40B4-BE49-F238E27FC236}">
                <a16:creationId xmlns:a16="http://schemas.microsoft.com/office/drawing/2014/main" id="{9B8A1E25-E09E-9B11-3FEC-A3FD03A7A6C3}"/>
              </a:ext>
            </a:extLst>
          </p:cNvPr>
          <p:cNvSpPr txBox="1"/>
          <p:nvPr userDrawn="1">
            <p:extLst>
              <p:ext uri="{1162E1C5-73C7-4A58-AE30-91384D911F3F}">
                <p184:classification xmlns:p184="http://schemas.microsoft.com/office/powerpoint/2018/4/main" val="ftr"/>
              </p:ext>
            </p:extLst>
          </p:nvPr>
        </p:nvSpPr>
        <p:spPr>
          <a:xfrm>
            <a:off x="53571" y="17793550"/>
            <a:ext cx="448648" cy="103875"/>
          </a:xfrm>
          <a:prstGeom prst="rect">
            <a:avLst/>
          </a:prstGeom>
        </p:spPr>
        <p:txBody>
          <a:bodyPr horzOverflow="overflow" lIns="0" tIns="0" rIns="0" bIns="0">
            <a:spAutoFit/>
          </a:bodyPr>
          <a:lstStyle/>
          <a:p>
            <a:pPr algn="l"/>
            <a:r>
              <a:rPr lang="en-DE" sz="675">
                <a:solidFill>
                  <a:srgbClr val="000000">
                    <a:alpha val="50000"/>
                  </a:srgbClr>
                </a:solidFill>
                <a:latin typeface="Arial" panose="020B0604020202020204" pitchFamily="34" charset="0"/>
                <a:cs typeface="Arial" panose="020B0604020202020204" pitchFamily="34" charset="0"/>
              </a:rPr>
              <a:t>INTERNAL</a:t>
            </a:r>
          </a:p>
        </p:txBody>
      </p:sp>
    </p:spTree>
    <p:extLst>
      <p:ext uri="{BB962C8B-B14F-4D97-AF65-F5344CB8AC3E}">
        <p14:creationId xmlns:p14="http://schemas.microsoft.com/office/powerpoint/2010/main" val="1140142845"/>
      </p:ext>
    </p:extLst>
  </p:cSld>
  <p:clrMap bg1="lt1" tx1="dk1" bg2="lt2" tx2="dk2" accent1="accent1" accent2="accent2" accent3="accent3" accent4="accent4" accent5="accent5" accent6="accent6" hlink="hlink" folHlink="folHlink"/>
  <p:sldLayoutIdLst>
    <p:sldLayoutId id="2147483733" r:id="rId1"/>
    <p:sldLayoutId id="2147483734" r:id="rId2"/>
    <p:sldLayoutId id="2147483735" r:id="rId3"/>
    <p:sldLayoutId id="2147483736" r:id="rId4"/>
    <p:sldLayoutId id="2147483737" r:id="rId5"/>
    <p:sldLayoutId id="2147483738" r:id="rId6"/>
    <p:sldLayoutId id="2147483739" r:id="rId7"/>
    <p:sldLayoutId id="2147483740" r:id="rId8"/>
    <p:sldLayoutId id="2147483741" r:id="rId9"/>
    <p:sldLayoutId id="2147483742" r:id="rId10"/>
    <p:sldLayoutId id="2147483743" r:id="rId11"/>
  </p:sldLayoutIdLst>
  <p:txStyles>
    <p:titleStyle>
      <a:lvl1pPr algn="l" defTabSz="1028517" rtl="0" eaLnBrk="1" latinLnBrk="0" hangingPunct="1">
        <a:lnSpc>
          <a:spcPct val="90000"/>
        </a:lnSpc>
        <a:spcBef>
          <a:spcPct val="0"/>
        </a:spcBef>
        <a:buNone/>
        <a:defRPr sz="4949" kern="1200">
          <a:solidFill>
            <a:schemeClr val="tx1"/>
          </a:solidFill>
          <a:latin typeface="+mj-lt"/>
          <a:ea typeface="+mj-ea"/>
          <a:cs typeface="+mj-cs"/>
        </a:defRPr>
      </a:lvl1pPr>
    </p:titleStyle>
    <p:bodyStyle>
      <a:lvl1pPr marL="257129" indent="-257129" algn="l" defTabSz="1028517" rtl="0" eaLnBrk="1" latinLnBrk="0" hangingPunct="1">
        <a:lnSpc>
          <a:spcPct val="90000"/>
        </a:lnSpc>
        <a:spcBef>
          <a:spcPts val="1125"/>
        </a:spcBef>
        <a:buFont typeface="Arial" panose="020B0604020202020204" pitchFamily="34" charset="0"/>
        <a:buChar char="•"/>
        <a:defRPr sz="3149" kern="1200">
          <a:solidFill>
            <a:schemeClr val="tx1"/>
          </a:solidFill>
          <a:latin typeface="+mn-lt"/>
          <a:ea typeface="+mn-ea"/>
          <a:cs typeface="+mn-cs"/>
        </a:defRPr>
      </a:lvl1pPr>
      <a:lvl2pPr marL="771388" indent="-257129" algn="l" defTabSz="1028517" rtl="0" eaLnBrk="1" latinLnBrk="0" hangingPunct="1">
        <a:lnSpc>
          <a:spcPct val="90000"/>
        </a:lnSpc>
        <a:spcBef>
          <a:spcPts val="562"/>
        </a:spcBef>
        <a:buFont typeface="Arial" panose="020B0604020202020204" pitchFamily="34" charset="0"/>
        <a:buChar char="•"/>
        <a:defRPr sz="2700" kern="1200">
          <a:solidFill>
            <a:schemeClr val="tx1"/>
          </a:solidFill>
          <a:latin typeface="+mn-lt"/>
          <a:ea typeface="+mn-ea"/>
          <a:cs typeface="+mn-cs"/>
        </a:defRPr>
      </a:lvl2pPr>
      <a:lvl3pPr marL="1285646" indent="-257129" algn="l" defTabSz="1028517" rtl="0" eaLnBrk="1" latinLnBrk="0" hangingPunct="1">
        <a:lnSpc>
          <a:spcPct val="90000"/>
        </a:lnSpc>
        <a:spcBef>
          <a:spcPts val="562"/>
        </a:spcBef>
        <a:buFont typeface="Arial" panose="020B0604020202020204" pitchFamily="34" charset="0"/>
        <a:buChar char="•"/>
        <a:defRPr sz="2250" kern="1200">
          <a:solidFill>
            <a:schemeClr val="tx1"/>
          </a:solidFill>
          <a:latin typeface="+mn-lt"/>
          <a:ea typeface="+mn-ea"/>
          <a:cs typeface="+mn-cs"/>
        </a:defRPr>
      </a:lvl3pPr>
      <a:lvl4pPr marL="1799905"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4pPr>
      <a:lvl5pPr marL="2314164"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5pPr>
      <a:lvl6pPr marL="2828422"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6pPr>
      <a:lvl7pPr marL="3342681"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7pPr>
      <a:lvl8pPr marL="3856939"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8pPr>
      <a:lvl9pPr marL="4371198"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9pPr>
    </p:bodyStyle>
    <p:otherStyle>
      <a:defPPr>
        <a:defRPr lang="en-US"/>
      </a:defPPr>
      <a:lvl1pPr marL="0" algn="l" defTabSz="1028517" rtl="0" eaLnBrk="1" latinLnBrk="0" hangingPunct="1">
        <a:defRPr sz="2025" kern="1200">
          <a:solidFill>
            <a:schemeClr val="tx1"/>
          </a:solidFill>
          <a:latin typeface="+mn-lt"/>
          <a:ea typeface="+mn-ea"/>
          <a:cs typeface="+mn-cs"/>
        </a:defRPr>
      </a:lvl1pPr>
      <a:lvl2pPr marL="514259" algn="l" defTabSz="1028517" rtl="0" eaLnBrk="1" latinLnBrk="0" hangingPunct="1">
        <a:defRPr sz="2025" kern="1200">
          <a:solidFill>
            <a:schemeClr val="tx1"/>
          </a:solidFill>
          <a:latin typeface="+mn-lt"/>
          <a:ea typeface="+mn-ea"/>
          <a:cs typeface="+mn-cs"/>
        </a:defRPr>
      </a:lvl2pPr>
      <a:lvl3pPr marL="1028517" algn="l" defTabSz="1028517" rtl="0" eaLnBrk="1" latinLnBrk="0" hangingPunct="1">
        <a:defRPr sz="2025" kern="1200">
          <a:solidFill>
            <a:schemeClr val="tx1"/>
          </a:solidFill>
          <a:latin typeface="+mn-lt"/>
          <a:ea typeface="+mn-ea"/>
          <a:cs typeface="+mn-cs"/>
        </a:defRPr>
      </a:lvl3pPr>
      <a:lvl4pPr marL="1542776" algn="l" defTabSz="1028517" rtl="0" eaLnBrk="1" latinLnBrk="0" hangingPunct="1">
        <a:defRPr sz="2025" kern="1200">
          <a:solidFill>
            <a:schemeClr val="tx1"/>
          </a:solidFill>
          <a:latin typeface="+mn-lt"/>
          <a:ea typeface="+mn-ea"/>
          <a:cs typeface="+mn-cs"/>
        </a:defRPr>
      </a:lvl4pPr>
      <a:lvl5pPr marL="2057034" algn="l" defTabSz="1028517" rtl="0" eaLnBrk="1" latinLnBrk="0" hangingPunct="1">
        <a:defRPr sz="2025" kern="1200">
          <a:solidFill>
            <a:schemeClr val="tx1"/>
          </a:solidFill>
          <a:latin typeface="+mn-lt"/>
          <a:ea typeface="+mn-ea"/>
          <a:cs typeface="+mn-cs"/>
        </a:defRPr>
      </a:lvl5pPr>
      <a:lvl6pPr marL="2571293" algn="l" defTabSz="1028517" rtl="0" eaLnBrk="1" latinLnBrk="0" hangingPunct="1">
        <a:defRPr sz="2025" kern="1200">
          <a:solidFill>
            <a:schemeClr val="tx1"/>
          </a:solidFill>
          <a:latin typeface="+mn-lt"/>
          <a:ea typeface="+mn-ea"/>
          <a:cs typeface="+mn-cs"/>
        </a:defRPr>
      </a:lvl6pPr>
      <a:lvl7pPr marL="3085551" algn="l" defTabSz="1028517" rtl="0" eaLnBrk="1" latinLnBrk="0" hangingPunct="1">
        <a:defRPr sz="2025" kern="1200">
          <a:solidFill>
            <a:schemeClr val="tx1"/>
          </a:solidFill>
          <a:latin typeface="+mn-lt"/>
          <a:ea typeface="+mn-ea"/>
          <a:cs typeface="+mn-cs"/>
        </a:defRPr>
      </a:lvl7pPr>
      <a:lvl8pPr marL="3599810" algn="l" defTabSz="1028517" rtl="0" eaLnBrk="1" latinLnBrk="0" hangingPunct="1">
        <a:defRPr sz="2025" kern="1200">
          <a:solidFill>
            <a:schemeClr val="tx1"/>
          </a:solidFill>
          <a:latin typeface="+mn-lt"/>
          <a:ea typeface="+mn-ea"/>
          <a:cs typeface="+mn-cs"/>
        </a:defRPr>
      </a:lvl8pPr>
      <a:lvl9pPr marL="4114068" algn="l" defTabSz="1028517" rtl="0" eaLnBrk="1" latinLnBrk="0" hangingPunct="1">
        <a:defRPr sz="202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microsoft.com/office/2018/10/relationships/comments" Target="../comments/modernComment_116_9D718DED.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7.png"/><Relationship Id="rId7" Type="http://schemas.openxmlformats.org/officeDocument/2006/relationships/image" Target="../media/image10.svg"/><Relationship Id="rId2" Type="http://schemas.microsoft.com/office/2018/10/relationships/comments" Target="../comments/modernComment_118_626EC4B9.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3.png"/><Relationship Id="rId4" Type="http://schemas.openxmlformats.org/officeDocument/2006/relationships/image" Target="../media/image8.png"/><Relationship Id="rId9" Type="http://schemas.openxmlformats.org/officeDocument/2006/relationships/image" Target="../media/image12.svg"/></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image" Target="../media/image12.svg"/><Relationship Id="rId5" Type="http://schemas.openxmlformats.org/officeDocument/2006/relationships/image" Target="../media/image11.png"/><Relationship Id="rId4" Type="http://schemas.openxmlformats.org/officeDocument/2006/relationships/image" Target="../media/image10.sv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2.svg"/><Relationship Id="rId2" Type="http://schemas.microsoft.com/office/2018/10/relationships/comments" Target="../comments/modernComment_120_FA024C04.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svg"/><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image" Target="../media/image5.png"/><Relationship Id="rId7" Type="http://schemas.openxmlformats.org/officeDocument/2006/relationships/image" Target="../media/image11.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0.svg"/><Relationship Id="rId5" Type="http://schemas.openxmlformats.org/officeDocument/2006/relationships/image" Target="../media/image9.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2.svg"/><Relationship Id="rId2" Type="http://schemas.microsoft.com/office/2018/10/relationships/comments" Target="../comments/modernComment_122_9A36DA00.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svg"/><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image" Target="../media/image12.svg"/><Relationship Id="rId5" Type="http://schemas.openxmlformats.org/officeDocument/2006/relationships/image" Target="../media/image11.png"/><Relationship Id="rId4" Type="http://schemas.openxmlformats.org/officeDocument/2006/relationships/image" Target="../media/image10.sv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2.svg"/><Relationship Id="rId2" Type="http://schemas.microsoft.com/office/2018/10/relationships/comments" Target="../comments/modernComment_124_3E0760C.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svg"/><Relationship Id="rId4" Type="http://schemas.openxmlformats.org/officeDocument/2006/relationships/image" Target="../media/image9.pn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microsoft.com/office/2018/10/relationships/comments" Target="../comments/modernComment_125_E21438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2.svg"/><Relationship Id="rId2" Type="http://schemas.microsoft.com/office/2018/10/relationships/comments" Target="../comments/modernComment_126_9DA2AD4E.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svg"/><Relationship Id="rId4" Type="http://schemas.openxmlformats.org/officeDocument/2006/relationships/image" Target="../media/image9.png"/></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image" Target="../media/image12.svg"/><Relationship Id="rId5" Type="http://schemas.openxmlformats.org/officeDocument/2006/relationships/image" Target="../media/image11.png"/><Relationship Id="rId4" Type="http://schemas.openxmlformats.org/officeDocument/2006/relationships/image" Target="../media/image10.svg"/></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7" Type="http://schemas.openxmlformats.org/officeDocument/2006/relationships/image" Target="../media/image15.png"/><Relationship Id="rId2" Type="http://schemas.microsoft.com/office/2018/10/relationships/comments" Target="../comments/modernComment_128_2DA5E9E5.xml"/><Relationship Id="rId1" Type="http://schemas.openxmlformats.org/officeDocument/2006/relationships/slideLayout" Target="../slideLayouts/slideLayout2.xml"/><Relationship Id="rId6" Type="http://schemas.openxmlformats.org/officeDocument/2006/relationships/image" Target="../media/image12.svg"/><Relationship Id="rId5" Type="http://schemas.openxmlformats.org/officeDocument/2006/relationships/image" Target="../media/image11.png"/><Relationship Id="rId4" Type="http://schemas.openxmlformats.org/officeDocument/2006/relationships/image" Target="../media/image10.svg"/></Relationships>
</file>

<file path=ppt/slides/_rels/slide15.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16.png"/><Relationship Id="rId7" Type="http://schemas.openxmlformats.org/officeDocument/2006/relationships/image" Target="../media/image12.svg"/><Relationship Id="rId2" Type="http://schemas.microsoft.com/office/2018/10/relationships/comments" Target="../comments/modernComment_129_FD6B0559.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svg"/><Relationship Id="rId4" Type="http://schemas.openxmlformats.org/officeDocument/2006/relationships/image" Target="../media/image9.png"/></Relationships>
</file>

<file path=ppt/slides/_rels/slide16.xml.rels><?xml version="1.0" encoding="UTF-8" standalone="yes"?>
<Relationships xmlns="http://schemas.openxmlformats.org/package/2006/relationships"><Relationship Id="rId3" Type="http://schemas.openxmlformats.org/officeDocument/2006/relationships/image" Target="../media/image17.png"/><Relationship Id="rId2" Type="http://schemas.microsoft.com/office/2018/10/relationships/comments" Target="../comments/modernComment_12A_2D01584F.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17.xml.rels><?xml version="1.0" encoding="UTF-8" standalone="yes"?>
<Relationships xmlns="http://schemas.openxmlformats.org/package/2006/relationships"><Relationship Id="rId3" Type="http://schemas.openxmlformats.org/officeDocument/2006/relationships/image" Target="../media/image15.png"/><Relationship Id="rId2" Type="http://schemas.microsoft.com/office/2018/10/relationships/comments" Target="../comments/modernComment_12B_AC4C8FF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8.png"/><Relationship Id="rId2" Type="http://schemas.microsoft.com/office/2018/10/relationships/comments" Target="../comments/modernComment_12D_BEDEFA17.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6.png"/><Relationship Id="rId1" Type="http://schemas.openxmlformats.org/officeDocument/2006/relationships/slideLayout" Target="../slideLayouts/slideLayout2.xml"/><Relationship Id="rId4" Type="http://schemas.openxmlformats.org/officeDocument/2006/relationships/image" Target="../media/image22.png"/></Relationships>
</file>

<file path=ppt/slides/slide1.xml><?xml version="1.0" encoding="utf-8"?>
<p:sld xmlns:a="http://schemas.openxmlformats.org/drawingml/2006/main" xmlns:r="http://schemas.openxmlformats.org/officeDocument/2006/relationships" xmlns:p="http://schemas.openxmlformats.org/presentationml/2006/main">
  <p:cSld>
    <p:bg>
      <p:bgPr>
        <a:pattFill prst="smConfetti">
          <a:fgClr>
            <a:schemeClr val="accent2"/>
          </a:fgClr>
          <a:bgClr>
            <a:schemeClr val="bg1"/>
          </a:bgClr>
        </a:pattFill>
        <a:effectLst/>
      </p:bgPr>
    </p:bg>
    <p:spTree>
      <p:nvGrpSpPr>
        <p:cNvPr id="1" name=""/>
        <p:cNvGrpSpPr/>
        <p:nvPr/>
      </p:nvGrpSpPr>
      <p:grpSpPr>
        <a:xfrm>
          <a:off x="0" y="0"/>
          <a:ext cx="0" cy="0"/>
          <a:chOff x="0" y="0"/>
          <a:chExt cx="0" cy="0"/>
        </a:xfrm>
      </p:grpSpPr>
      <p:sp>
        <p:nvSpPr>
          <p:cNvPr id="20" name="TextBox 19">
            <a:extLst>
              <a:ext uri="{FF2B5EF4-FFF2-40B4-BE49-F238E27FC236}">
                <a16:creationId xmlns:a16="http://schemas.microsoft.com/office/drawing/2014/main" id="{8959F1A2-B22C-5219-5969-65113B4369B8}"/>
              </a:ext>
            </a:extLst>
          </p:cNvPr>
          <p:cNvSpPr txBox="1"/>
          <p:nvPr/>
        </p:nvSpPr>
        <p:spPr>
          <a:xfrm>
            <a:off x="151141" y="4793921"/>
            <a:ext cx="9982800" cy="1107996"/>
          </a:xfrm>
          <a:prstGeom prst="rect">
            <a:avLst/>
          </a:prstGeom>
          <a:ln/>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pPr algn="ctr"/>
            <a:r>
              <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  </a:t>
            </a:r>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vs</a:t>
            </a:r>
            <a:r>
              <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  extend()</a:t>
            </a:r>
          </a:p>
        </p:txBody>
      </p:sp>
      <p:sp>
        <p:nvSpPr>
          <p:cNvPr id="22" name="TextBox 21">
            <a:extLst>
              <a:ext uri="{FF2B5EF4-FFF2-40B4-BE49-F238E27FC236}">
                <a16:creationId xmlns:a16="http://schemas.microsoft.com/office/drawing/2014/main" id="{7A649A9D-2FA9-D9EC-895D-62F1C7539235}"/>
              </a:ext>
            </a:extLst>
          </p:cNvPr>
          <p:cNvSpPr txBox="1"/>
          <p:nvPr/>
        </p:nvSpPr>
        <p:spPr>
          <a:xfrm>
            <a:off x="-8753367" y="2826600"/>
            <a:ext cx="7603363"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py_010_special_variable_names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10" name="Picture 9">
            <a:extLst>
              <a:ext uri="{FF2B5EF4-FFF2-40B4-BE49-F238E27FC236}">
                <a16:creationId xmlns:a16="http://schemas.microsoft.com/office/drawing/2014/main" id="{D6102011-F70E-143B-2E74-E8E55F0FBD0D}"/>
              </a:ext>
            </a:extLst>
          </p:cNvPr>
          <p:cNvPicPr>
            <a:picLocks noChangeAspect="1"/>
          </p:cNvPicPr>
          <p:nvPr/>
        </p:nvPicPr>
        <p:blipFill>
          <a:blip r:embed="rId3"/>
          <a:stretch>
            <a:fillRect/>
          </a:stretch>
        </p:blipFill>
        <p:spPr>
          <a:xfrm>
            <a:off x="235271" y="4834077"/>
            <a:ext cx="1063167" cy="1063167"/>
          </a:xfrm>
          <a:prstGeom prst="rect">
            <a:avLst/>
          </a:prstGeom>
        </p:spPr>
      </p:pic>
      <p:pic>
        <p:nvPicPr>
          <p:cNvPr id="2" name="Picture 1">
            <a:extLst>
              <a:ext uri="{FF2B5EF4-FFF2-40B4-BE49-F238E27FC236}">
                <a16:creationId xmlns:a16="http://schemas.microsoft.com/office/drawing/2014/main" id="{EB4CE257-8D6D-8055-9B32-F34222BC8230}"/>
              </a:ext>
            </a:extLst>
          </p:cNvPr>
          <p:cNvPicPr>
            <a:picLocks noChangeAspect="1"/>
          </p:cNvPicPr>
          <p:nvPr/>
        </p:nvPicPr>
        <p:blipFill rotWithShape="1">
          <a:blip r:embed="rId4"/>
          <a:srcRect l="21185" t="23909" r="15652" b="12589"/>
          <a:stretch>
            <a:fillRect/>
          </a:stretch>
        </p:blipFill>
        <p:spPr>
          <a:xfrm>
            <a:off x="149506" y="6112042"/>
            <a:ext cx="9986400" cy="9321097"/>
          </a:xfrm>
          <a:prstGeom prst="rect">
            <a:avLst/>
          </a:prstGeom>
        </p:spPr>
      </p:pic>
    </p:spTree>
    <p:extLst>
      <p:ext uri="{BB962C8B-B14F-4D97-AF65-F5344CB8AC3E}">
        <p14:creationId xmlns:p14="http://schemas.microsoft.com/office/powerpoint/2010/main" val="2641464813"/>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182B4FA4-54CE-F8EF-9FE8-9B59817B4D24}"/>
              </a:ext>
            </a:extLst>
          </p:cNvPr>
          <p:cNvSpPr txBox="1"/>
          <p:nvPr/>
        </p:nvSpPr>
        <p:spPr>
          <a:xfrm>
            <a:off x="223306" y="4873439"/>
            <a:ext cx="9838800" cy="1200329"/>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7200" b="1" dirty="0">
                <a:ln w="6600">
                  <a:solidFill>
                    <a:schemeClr val="accent2"/>
                  </a:solidFill>
                  <a:prstDash val="solid"/>
                </a:ln>
                <a:solidFill>
                  <a:srgbClr val="FFFFFF"/>
                </a:solidFill>
                <a:effectLst>
                  <a:outerShdw dist="38100" dir="2700000" algn="tl" rotWithShape="0">
                    <a:schemeClr val="accent2"/>
                  </a:outerShdw>
                </a:effectLst>
                <a:latin typeface="+mj-lt"/>
              </a:rPr>
              <a:t>t</a:t>
            </a:r>
            <a:r>
              <a:rPr lang="en-DE" sz="7200" b="1" dirty="0">
                <a:ln w="6600">
                  <a:solidFill>
                    <a:schemeClr val="accent2"/>
                  </a:solidFill>
                  <a:prstDash val="solid"/>
                </a:ln>
                <a:solidFill>
                  <a:srgbClr val="FFFFFF"/>
                </a:solidFill>
                <a:effectLst>
                  <a:outerShdw dist="38100" dir="2700000" algn="tl" rotWithShape="0">
                    <a:schemeClr val="accent2"/>
                  </a:outerShdw>
                </a:effectLst>
                <a:latin typeface="+mj-lt"/>
              </a:rPr>
              <a:t>ype()</a:t>
            </a:r>
            <a:endParaRPr lang="en-DE" sz="7200" dirty="0">
              <a:ln w="0"/>
              <a:effectLst>
                <a:outerShdw blurRad="38100" dist="19050" dir="2700000" algn="tl" rotWithShape="0">
                  <a:schemeClr val="dk1">
                    <a:alpha val="40000"/>
                  </a:schemeClr>
                </a:outerShdw>
              </a:effectLst>
              <a:latin typeface="+mj-lt"/>
            </a:endParaRPr>
          </a:p>
        </p:txBody>
      </p:sp>
      <p:pic>
        <p:nvPicPr>
          <p:cNvPr id="13" name="Picture 12">
            <a:extLst>
              <a:ext uri="{FF2B5EF4-FFF2-40B4-BE49-F238E27FC236}">
                <a16:creationId xmlns:a16="http://schemas.microsoft.com/office/drawing/2014/main" id="{68147BC7-63E8-F552-FAF5-1E8EA5F3D04B}"/>
              </a:ext>
            </a:extLst>
          </p:cNvPr>
          <p:cNvPicPr>
            <a:picLocks noChangeAspect="1"/>
          </p:cNvPicPr>
          <p:nvPr/>
        </p:nvPicPr>
        <p:blipFill>
          <a:blip r:embed="rId4"/>
          <a:stretch>
            <a:fillRect/>
          </a:stretch>
        </p:blipFill>
        <p:spPr>
          <a:xfrm>
            <a:off x="271852" y="4899389"/>
            <a:ext cx="1063167" cy="1063167"/>
          </a:xfrm>
          <a:prstGeom prst="rect">
            <a:avLst/>
          </a:prstGeom>
        </p:spPr>
      </p:pic>
      <p:pic>
        <p:nvPicPr>
          <p:cNvPr id="3" name="Picture 2">
            <a:extLst>
              <a:ext uri="{FF2B5EF4-FFF2-40B4-BE49-F238E27FC236}">
                <a16:creationId xmlns:a16="http://schemas.microsoft.com/office/drawing/2014/main" id="{5AEC6DC4-7CE8-6BA0-8C15-EC7F128FBAD8}"/>
              </a:ext>
            </a:extLst>
          </p:cNvPr>
          <p:cNvPicPr>
            <a:picLocks noChangeAspect="1"/>
          </p:cNvPicPr>
          <p:nvPr/>
        </p:nvPicPr>
        <p:blipFill rotWithShape="1">
          <a:blip r:embed="rId5"/>
          <a:srcRect l="16861" t="20373" r="23923" b="14691"/>
          <a:stretch>
            <a:fillRect/>
          </a:stretch>
        </p:blipFill>
        <p:spPr>
          <a:xfrm>
            <a:off x="223306" y="6135709"/>
            <a:ext cx="9838800" cy="8549356"/>
          </a:xfrm>
          <a:prstGeom prst="rect">
            <a:avLst/>
          </a:prstGeom>
        </p:spPr>
      </p:pic>
    </p:spTree>
    <p:extLst>
      <p:ext uri="{BB962C8B-B14F-4D97-AF65-F5344CB8AC3E}">
        <p14:creationId xmlns:p14="http://schemas.microsoft.com/office/powerpoint/2010/main" val="13952705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18CD963-890F-C0FB-2CEA-0581E4029033}"/>
              </a:ext>
            </a:extLst>
          </p:cNvPr>
          <p:cNvPicPr>
            <a:picLocks noChangeAspect="1"/>
          </p:cNvPicPr>
          <p:nvPr/>
        </p:nvPicPr>
        <p:blipFill rotWithShape="1">
          <a:blip r:embed="rId4"/>
          <a:srcRect l="13860" t="15730" r="9843" b="9716"/>
          <a:stretch>
            <a:fillRect/>
          </a:stretch>
        </p:blipFill>
        <p:spPr>
          <a:xfrm>
            <a:off x="223306" y="6012973"/>
            <a:ext cx="9838800" cy="8340750"/>
          </a:xfrm>
          <a:prstGeom prst="rect">
            <a:avLst/>
          </a:prstGeom>
          <a:ln w="25400">
            <a:solidFill>
              <a:schemeClr val="bg1"/>
            </a:solidFill>
          </a:ln>
        </p:spPr>
      </p:pic>
      <p:sp>
        <p:nvSpPr>
          <p:cNvPr id="38" name="TextBox 37">
            <a:extLst>
              <a:ext uri="{FF2B5EF4-FFF2-40B4-BE49-F238E27FC236}">
                <a16:creationId xmlns:a16="http://schemas.microsoft.com/office/drawing/2014/main" id="{02F516FD-316D-B719-C21B-68F85C795F3C}"/>
              </a:ext>
            </a:extLst>
          </p:cNvPr>
          <p:cNvSpPr txBox="1"/>
          <p:nvPr/>
        </p:nvSpPr>
        <p:spPr>
          <a:xfrm>
            <a:off x="223306" y="4820274"/>
            <a:ext cx="9838800" cy="1107996"/>
          </a:xfrm>
          <a:prstGeom prst="rect">
            <a:avLst/>
          </a:prstGeom>
          <a:ln w="25400">
            <a:solidFill>
              <a:schemeClr val="bg1"/>
            </a:solidFill>
          </a:ln>
        </p:spPr>
        <p:style>
          <a:lnRef idx="0">
            <a:schemeClr val="accent2"/>
          </a:lnRef>
          <a:fillRef idx="3">
            <a:schemeClr val="accent2"/>
          </a:fillRef>
          <a:effectRef idx="3">
            <a:schemeClr val="accent2"/>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n w="0"/>
                <a:solidFill>
                  <a:schemeClr val="accent1"/>
                </a:solidFill>
                <a:effectLst>
                  <a:outerShdw blurRad="38100" dist="25400" dir="5400000" algn="ctr" rotWithShape="0">
                    <a:srgbClr val="6E747A">
                      <a:alpha val="43000"/>
                    </a:srgbClr>
                  </a:outerShdw>
                </a:effectLst>
                <a:latin typeface="Patrick Hand" pitchFamily="2" charset="77"/>
              </a:rPr>
              <a:t>Palindrome Hack</a:t>
            </a:r>
            <a:endParaRPr lang="en-GB" b="1" dirty="0">
              <a:ln w="0"/>
              <a:solidFill>
                <a:schemeClr val="accent1"/>
              </a:solidFill>
              <a:effectLst>
                <a:outerShdw blurRad="38100" dist="25400" dir="5400000" algn="ctr" rotWithShape="0">
                  <a:srgbClr val="6E747A">
                    <a:alpha val="43000"/>
                  </a:srgbClr>
                </a:outerShdw>
              </a:effectLst>
              <a:latin typeface="Patrick Hand" pitchFamily="2" charset="77"/>
            </a:endParaRPr>
          </a:p>
        </p:txBody>
      </p:sp>
      <p:pic>
        <p:nvPicPr>
          <p:cNvPr id="39" name="Picture 38">
            <a:extLst>
              <a:ext uri="{FF2B5EF4-FFF2-40B4-BE49-F238E27FC236}">
                <a16:creationId xmlns:a16="http://schemas.microsoft.com/office/drawing/2014/main" id="{CF25CE73-8562-EA92-101F-278FE6E68DFC}"/>
              </a:ext>
            </a:extLst>
          </p:cNvPr>
          <p:cNvPicPr>
            <a:picLocks noChangeAspect="1"/>
          </p:cNvPicPr>
          <p:nvPr/>
        </p:nvPicPr>
        <p:blipFill>
          <a:blip r:embed="rId5"/>
          <a:stretch>
            <a:fillRect/>
          </a:stretch>
        </p:blipFill>
        <p:spPr>
          <a:xfrm>
            <a:off x="264001" y="4854179"/>
            <a:ext cx="1063167" cy="1063167"/>
          </a:xfrm>
          <a:prstGeom prst="rect">
            <a:avLst/>
          </a:prstGeom>
        </p:spPr>
      </p:pic>
      <p:cxnSp>
        <p:nvCxnSpPr>
          <p:cNvPr id="40" name="Straight Connector 39">
            <a:extLst>
              <a:ext uri="{FF2B5EF4-FFF2-40B4-BE49-F238E27FC236}">
                <a16:creationId xmlns:a16="http://schemas.microsoft.com/office/drawing/2014/main" id="{E0DA8088-06F2-94B5-C3F4-15954706D4EF}"/>
              </a:ext>
            </a:extLst>
          </p:cNvPr>
          <p:cNvCxnSpPr>
            <a:cxnSpLocks/>
          </p:cNvCxnSpPr>
          <p:nvPr/>
        </p:nvCxnSpPr>
        <p:spPr>
          <a:xfrm>
            <a:off x="223579" y="11751310"/>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41" name="Graphic 40" descr="Shield Tick with solid fill">
            <a:extLst>
              <a:ext uri="{FF2B5EF4-FFF2-40B4-BE49-F238E27FC236}">
                <a16:creationId xmlns:a16="http://schemas.microsoft.com/office/drawing/2014/main" id="{01510C08-436C-82D7-D02A-80A605474E8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7668075" y="12838552"/>
            <a:ext cx="914400" cy="914400"/>
          </a:xfrm>
          <a:prstGeom prst="rect">
            <a:avLst/>
          </a:prstGeom>
        </p:spPr>
      </p:pic>
      <p:pic>
        <p:nvPicPr>
          <p:cNvPr id="42" name="Graphic 41" descr="Close with solid fill">
            <a:extLst>
              <a:ext uri="{FF2B5EF4-FFF2-40B4-BE49-F238E27FC236}">
                <a16:creationId xmlns:a16="http://schemas.microsoft.com/office/drawing/2014/main" id="{F9E50DDB-5369-3F10-6CE1-B12F3117D41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7668075" y="9114585"/>
            <a:ext cx="914400" cy="914400"/>
          </a:xfrm>
          <a:prstGeom prst="rect">
            <a:avLst/>
          </a:prstGeom>
        </p:spPr>
      </p:pic>
    </p:spTree>
    <p:extLst>
      <p:ext uri="{BB962C8B-B14F-4D97-AF65-F5344CB8AC3E}">
        <p14:creationId xmlns:p14="http://schemas.microsoft.com/office/powerpoint/2010/main" val="1651426489"/>
      </p:ext>
    </p:extLst>
  </p:cSld>
  <p:clrMapOvr>
    <a:masterClrMapping/>
  </p:clrMapOvr>
  <p:extLst>
    <p:ext uri="{6950BFC3-D8DA-4A85-94F7-54DA5524770B}">
      <p188:commentRel xmlns:p188="http://schemas.microsoft.com/office/powerpoint/2018/8/main" r:id="rId2"/>
    </p:ext>
  </p:extLst>
</p:sld>
</file>

<file path=ppt/slides/slide4.xml><?xml version="1.0" encoding="utf-8"?>
<p:sld xmlns:a="http://schemas.openxmlformats.org/drawingml/2006/main" xmlns:r="http://schemas.openxmlformats.org/officeDocument/2006/relationships" xmlns:p="http://schemas.openxmlformats.org/presentationml/2006/main">
  <p:cSld>
    <p:bg>
      <p:bgPr>
        <a:pattFill prst="dotGrid">
          <a:fgClr>
            <a:srgbClr val="92D050"/>
          </a:fgClr>
          <a:bgClr>
            <a:schemeClr val="bg1"/>
          </a:bgClr>
        </a:pattFill>
        <a:effectLst/>
      </p:bgPr>
    </p:bg>
    <p:spTree>
      <p:nvGrpSpPr>
        <p:cNvPr id="1" name=""/>
        <p:cNvGrpSpPr/>
        <p:nvPr/>
      </p:nvGrpSpPr>
      <p:grpSpPr>
        <a:xfrm>
          <a:off x="0" y="0"/>
          <a:ext cx="0" cy="0"/>
          <a:chOff x="0" y="0"/>
          <a:chExt cx="0" cy="0"/>
        </a:xfrm>
      </p:grpSpPr>
      <p:grpSp>
        <p:nvGrpSpPr>
          <p:cNvPr id="23" name="Group 22">
            <a:extLst>
              <a:ext uri="{FF2B5EF4-FFF2-40B4-BE49-F238E27FC236}">
                <a16:creationId xmlns:a16="http://schemas.microsoft.com/office/drawing/2014/main" id="{77507D99-36CB-6227-152C-9190E799B830}"/>
              </a:ext>
            </a:extLst>
          </p:cNvPr>
          <p:cNvGrpSpPr/>
          <p:nvPr/>
        </p:nvGrpSpPr>
        <p:grpSpPr>
          <a:xfrm>
            <a:off x="223306" y="5138326"/>
            <a:ext cx="9838800" cy="1107996"/>
            <a:chOff x="223306" y="2872200"/>
            <a:chExt cx="9838800" cy="1107996"/>
          </a:xfrm>
        </p:grpSpPr>
        <p:sp>
          <p:nvSpPr>
            <p:cNvPr id="4" name="TextBox 3">
              <a:extLst>
                <a:ext uri="{FF2B5EF4-FFF2-40B4-BE49-F238E27FC236}">
                  <a16:creationId xmlns:a16="http://schemas.microsoft.com/office/drawing/2014/main" id="{2D6272F5-EA5E-8E54-DAF0-417836251F1B}"/>
                </a:ext>
              </a:extLst>
            </p:cNvPr>
            <p:cNvSpPr txBox="1"/>
            <p:nvPr/>
          </p:nvSpPr>
          <p:spPr>
            <a:xfrm>
              <a:off x="223306" y="2872200"/>
              <a:ext cx="9838800" cy="1107996"/>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dirty="0"/>
                <a:t>is None </a:t>
              </a:r>
              <a:r>
                <a:rPr lang="en-GB" sz="6600" b="1" dirty="0">
                  <a:ln w="22225">
                    <a:solidFill>
                      <a:schemeClr val="accent2"/>
                    </a:solidFill>
                    <a:prstDash val="solid"/>
                  </a:ln>
                  <a:solidFill>
                    <a:srgbClr val="00B0F0"/>
                  </a:solidFill>
                </a:rPr>
                <a:t>vs</a:t>
              </a:r>
              <a:r>
                <a:rPr lang="en-GB" sz="6600" dirty="0"/>
                <a:t> == None</a:t>
              </a:r>
              <a:endParaRPr lang="en-GB"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A749827E-2E74-ACEC-8444-637079C18620}"/>
                </a:ext>
              </a:extLst>
            </p:cNvPr>
            <p:cNvPicPr>
              <a:picLocks noChangeAspect="1"/>
            </p:cNvPicPr>
            <p:nvPr/>
          </p:nvPicPr>
          <p:blipFill>
            <a:blip r:embed="rId2"/>
            <a:stretch>
              <a:fillRect/>
            </a:stretch>
          </p:blipFill>
          <p:spPr>
            <a:xfrm>
              <a:off x="264001" y="2906105"/>
              <a:ext cx="1063167" cy="1063167"/>
            </a:xfrm>
            <a:prstGeom prst="rect">
              <a:avLst/>
            </a:prstGeom>
          </p:spPr>
        </p:pic>
      </p:grpSp>
      <p:sp>
        <p:nvSpPr>
          <p:cNvPr id="7" name="TextBox 6">
            <a:extLst>
              <a:ext uri="{FF2B5EF4-FFF2-40B4-BE49-F238E27FC236}">
                <a16:creationId xmlns:a16="http://schemas.microsoft.com/office/drawing/2014/main" id="{4726C78F-5842-BADA-97BD-2A58BA5E5C84}"/>
              </a:ext>
            </a:extLst>
          </p:cNvPr>
          <p:cNvSpPr txBox="1"/>
          <p:nvPr/>
        </p:nvSpPr>
        <p:spPr>
          <a:xfrm>
            <a:off x="223306" y="13997209"/>
            <a:ext cx="1727909" cy="707886"/>
          </a:xfrm>
          <a:prstGeom prst="rect">
            <a:avLst/>
          </a:prstGeom>
          <a:noFill/>
        </p:spPr>
        <p:txBody>
          <a:bodyPr wrap="none" rtlCol="0">
            <a:spAutoFit/>
          </a:bodyPr>
          <a:lstStyle/>
          <a:p>
            <a:r>
              <a:rPr lang="en-GB" sz="4000" b="1" dirty="0"/>
              <a:t>Faster:</a:t>
            </a:r>
            <a:r>
              <a:rPr lang="en-GB" sz="4000" dirty="0"/>
              <a:t> </a:t>
            </a:r>
            <a:endParaRPr lang="en-DE" sz="4000" dirty="0"/>
          </a:p>
        </p:txBody>
      </p:sp>
      <p:sp>
        <p:nvSpPr>
          <p:cNvPr id="11" name="TextBox 10">
            <a:extLst>
              <a:ext uri="{FF2B5EF4-FFF2-40B4-BE49-F238E27FC236}">
                <a16:creationId xmlns:a16="http://schemas.microsoft.com/office/drawing/2014/main" id="{3B956DD6-0D86-8B09-E89A-759DDDD3D6BC}"/>
              </a:ext>
            </a:extLst>
          </p:cNvPr>
          <p:cNvSpPr txBox="1"/>
          <p:nvPr/>
        </p:nvSpPr>
        <p:spPr>
          <a:xfrm>
            <a:off x="2609831" y="13997209"/>
            <a:ext cx="7315200" cy="707886"/>
          </a:xfrm>
          <a:prstGeom prst="rect">
            <a:avLst/>
          </a:prstGeom>
          <a:noFill/>
        </p:spPr>
        <p:txBody>
          <a:bodyPr wrap="square" rtlCol="0">
            <a:spAutoFit/>
          </a:bodyPr>
          <a:lstStyle/>
          <a:p>
            <a:r>
              <a:rPr lang="en-GB" sz="4000" dirty="0">
                <a:latin typeface="Patrick Hand" pitchFamily="2" charset="77"/>
              </a:rPr>
              <a:t>Uses memory address comparison</a:t>
            </a:r>
            <a:endParaRPr lang="en-DE" sz="4000" dirty="0">
              <a:latin typeface="Patrick Hand" pitchFamily="2" charset="77"/>
            </a:endParaRPr>
          </a:p>
        </p:txBody>
      </p:sp>
      <p:sp>
        <p:nvSpPr>
          <p:cNvPr id="8" name="TextBox 7">
            <a:extLst>
              <a:ext uri="{FF2B5EF4-FFF2-40B4-BE49-F238E27FC236}">
                <a16:creationId xmlns:a16="http://schemas.microsoft.com/office/drawing/2014/main" id="{46D9AEC7-81A8-D8FA-9B3F-D7975BB39742}"/>
              </a:ext>
            </a:extLst>
          </p:cNvPr>
          <p:cNvSpPr txBox="1"/>
          <p:nvPr/>
        </p:nvSpPr>
        <p:spPr>
          <a:xfrm>
            <a:off x="223306" y="15080308"/>
            <a:ext cx="1527406" cy="707886"/>
          </a:xfrm>
          <a:prstGeom prst="rect">
            <a:avLst/>
          </a:prstGeom>
          <a:noFill/>
        </p:spPr>
        <p:txBody>
          <a:bodyPr wrap="none" rtlCol="0">
            <a:spAutoFit/>
          </a:bodyPr>
          <a:lstStyle/>
          <a:p>
            <a:r>
              <a:rPr lang="en-GB" sz="4000" b="1" dirty="0"/>
              <a:t>Safer: </a:t>
            </a:r>
            <a:endParaRPr lang="en-DE" sz="4000" b="1" dirty="0"/>
          </a:p>
        </p:txBody>
      </p:sp>
      <p:sp>
        <p:nvSpPr>
          <p:cNvPr id="12" name="TextBox 11">
            <a:extLst>
              <a:ext uri="{FF2B5EF4-FFF2-40B4-BE49-F238E27FC236}">
                <a16:creationId xmlns:a16="http://schemas.microsoft.com/office/drawing/2014/main" id="{A2A4893F-4945-B7EB-1C1A-4AFCB0335910}"/>
              </a:ext>
            </a:extLst>
          </p:cNvPr>
          <p:cNvSpPr txBox="1"/>
          <p:nvPr/>
        </p:nvSpPr>
        <p:spPr>
          <a:xfrm>
            <a:off x="2609831" y="15070832"/>
            <a:ext cx="7315200" cy="707886"/>
          </a:xfrm>
          <a:prstGeom prst="rect">
            <a:avLst/>
          </a:prstGeom>
          <a:noFill/>
        </p:spPr>
        <p:txBody>
          <a:bodyPr wrap="square" rtlCol="0">
            <a:spAutoFit/>
          </a:bodyPr>
          <a:lstStyle/>
          <a:p>
            <a:r>
              <a:rPr lang="en-GB" sz="4000" dirty="0">
                <a:latin typeface="Patrick Hand" pitchFamily="2" charset="77"/>
              </a:rPr>
              <a:t>Avoids custom --</a:t>
            </a:r>
            <a:r>
              <a:rPr lang="en-GB" sz="4000" dirty="0" err="1">
                <a:latin typeface="Patrick Hand" pitchFamily="2" charset="77"/>
              </a:rPr>
              <a:t>eq</a:t>
            </a:r>
            <a:r>
              <a:rPr lang="en-GB" sz="4000" dirty="0">
                <a:latin typeface="Patrick Hand" pitchFamily="2" charset="77"/>
              </a:rPr>
              <a:t>-- method bugs</a:t>
            </a:r>
            <a:endParaRPr lang="en-DE" sz="4000" dirty="0">
              <a:latin typeface="Patrick Hand" pitchFamily="2" charset="77"/>
            </a:endParaRPr>
          </a:p>
        </p:txBody>
      </p:sp>
      <p:sp>
        <p:nvSpPr>
          <p:cNvPr id="9" name="TextBox 8">
            <a:extLst>
              <a:ext uri="{FF2B5EF4-FFF2-40B4-BE49-F238E27FC236}">
                <a16:creationId xmlns:a16="http://schemas.microsoft.com/office/drawing/2014/main" id="{B266C270-8250-9E8C-0C34-1C95D283B5CB}"/>
              </a:ext>
            </a:extLst>
          </p:cNvPr>
          <p:cNvSpPr txBox="1"/>
          <p:nvPr/>
        </p:nvSpPr>
        <p:spPr>
          <a:xfrm>
            <a:off x="223306" y="16163407"/>
            <a:ext cx="2310120" cy="707886"/>
          </a:xfrm>
          <a:prstGeom prst="rect">
            <a:avLst/>
          </a:prstGeom>
          <a:noFill/>
        </p:spPr>
        <p:txBody>
          <a:bodyPr wrap="none" rtlCol="0">
            <a:spAutoFit/>
          </a:bodyPr>
          <a:lstStyle/>
          <a:p>
            <a:r>
              <a:rPr lang="en-GB" sz="4000" b="1" dirty="0"/>
              <a:t>Pythonic: </a:t>
            </a:r>
            <a:endParaRPr lang="en-DE" sz="4000" b="1" dirty="0"/>
          </a:p>
        </p:txBody>
      </p:sp>
      <p:sp>
        <p:nvSpPr>
          <p:cNvPr id="13" name="TextBox 12">
            <a:extLst>
              <a:ext uri="{FF2B5EF4-FFF2-40B4-BE49-F238E27FC236}">
                <a16:creationId xmlns:a16="http://schemas.microsoft.com/office/drawing/2014/main" id="{AD66807C-E3C5-9589-B831-282432DEFF7E}"/>
              </a:ext>
            </a:extLst>
          </p:cNvPr>
          <p:cNvSpPr txBox="1"/>
          <p:nvPr/>
        </p:nvSpPr>
        <p:spPr>
          <a:xfrm>
            <a:off x="2609831" y="16144456"/>
            <a:ext cx="7314747" cy="707886"/>
          </a:xfrm>
          <a:prstGeom prst="rect">
            <a:avLst/>
          </a:prstGeom>
          <a:noFill/>
        </p:spPr>
        <p:txBody>
          <a:bodyPr wrap="square" rtlCol="0">
            <a:spAutoFit/>
          </a:bodyPr>
          <a:lstStyle/>
          <a:p>
            <a:r>
              <a:rPr lang="en-GB" sz="4000" dirty="0">
                <a:latin typeface="Patrick Hand" pitchFamily="2" charset="77"/>
              </a:rPr>
              <a:t>Follows the official PEP 8 standard</a:t>
            </a:r>
            <a:endParaRPr lang="en-DE" sz="4000" dirty="0">
              <a:latin typeface="Patrick Hand" pitchFamily="2" charset="77"/>
            </a:endParaRPr>
          </a:p>
        </p:txBody>
      </p:sp>
      <p:cxnSp>
        <p:nvCxnSpPr>
          <p:cNvPr id="17" name="Straight Connector 16">
            <a:extLst>
              <a:ext uri="{FF2B5EF4-FFF2-40B4-BE49-F238E27FC236}">
                <a16:creationId xmlns:a16="http://schemas.microsoft.com/office/drawing/2014/main" id="{4B53DAC6-803E-6E54-0AFE-08E92D625C58}"/>
              </a:ext>
            </a:extLst>
          </p:cNvPr>
          <p:cNvCxnSpPr>
            <a:cxnSpLocks/>
          </p:cNvCxnSpPr>
          <p:nvPr/>
        </p:nvCxnSpPr>
        <p:spPr>
          <a:xfrm>
            <a:off x="223579" y="1067711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C66AB981-805B-D3EA-B666-79A9BBF3F4F9}"/>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668075" y="10904066"/>
            <a:ext cx="914400" cy="914400"/>
          </a:xfrm>
          <a:prstGeom prst="rect">
            <a:avLst/>
          </a:prstGeom>
        </p:spPr>
      </p:pic>
      <p:pic>
        <p:nvPicPr>
          <p:cNvPr id="19" name="Graphic 18" descr="Close with solid fill">
            <a:extLst>
              <a:ext uri="{FF2B5EF4-FFF2-40B4-BE49-F238E27FC236}">
                <a16:creationId xmlns:a16="http://schemas.microsoft.com/office/drawing/2014/main" id="{A5EA347C-65F5-100D-F091-6637F8AA15E0}"/>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668075" y="8826753"/>
            <a:ext cx="914400" cy="914400"/>
          </a:xfrm>
          <a:prstGeom prst="rect">
            <a:avLst/>
          </a:prstGeom>
        </p:spPr>
      </p:pic>
    </p:spTree>
    <p:extLst>
      <p:ext uri="{BB962C8B-B14F-4D97-AF65-F5344CB8AC3E}">
        <p14:creationId xmlns:p14="http://schemas.microsoft.com/office/powerpoint/2010/main" val="10735502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3">
                <a:lumMod val="5000"/>
                <a:lumOff val="95000"/>
              </a:schemeClr>
            </a:gs>
            <a:gs pos="74000">
              <a:schemeClr val="accent3">
                <a:lumMod val="45000"/>
                <a:lumOff val="55000"/>
              </a:schemeClr>
            </a:gs>
            <a:gs pos="83000">
              <a:schemeClr val="accent3">
                <a:lumMod val="45000"/>
                <a:lumOff val="55000"/>
              </a:schemeClr>
            </a:gs>
            <a:gs pos="100000">
              <a:schemeClr val="accent3">
                <a:lumMod val="30000"/>
                <a:lumOff val="70000"/>
              </a:schemeClr>
            </a:gs>
          </a:gsLst>
          <a:lin ang="5400000" scaled="1"/>
          <a:tileRect/>
        </a:gradFill>
        <a:effectLst/>
      </p:bgPr>
    </p:bg>
    <p:spTree>
      <p:nvGrpSpPr>
        <p:cNvPr id="1" name="">
          <a:extLst>
            <a:ext uri="{FF2B5EF4-FFF2-40B4-BE49-F238E27FC236}">
              <a16:creationId xmlns:a16="http://schemas.microsoft.com/office/drawing/2014/main" id="{263935C7-D76D-D8A9-B1A0-857B7FCF6699}"/>
            </a:ext>
          </a:extLst>
        </p:cNvPr>
        <p:cNvGrpSpPr/>
        <p:nvPr/>
      </p:nvGrpSpPr>
      <p:grpSpPr>
        <a:xfrm>
          <a:off x="0" y="0"/>
          <a:ext cx="0" cy="0"/>
          <a:chOff x="0" y="0"/>
          <a:chExt cx="0" cy="0"/>
        </a:xfrm>
      </p:grpSpPr>
      <p:grpSp>
        <p:nvGrpSpPr>
          <p:cNvPr id="15" name="Group 14">
            <a:extLst>
              <a:ext uri="{FF2B5EF4-FFF2-40B4-BE49-F238E27FC236}">
                <a16:creationId xmlns:a16="http://schemas.microsoft.com/office/drawing/2014/main" id="{5E57E8F2-34E1-D30F-1E3C-9D9F815C62CE}"/>
              </a:ext>
            </a:extLst>
          </p:cNvPr>
          <p:cNvGrpSpPr/>
          <p:nvPr/>
        </p:nvGrpSpPr>
        <p:grpSpPr>
          <a:xfrm>
            <a:off x="223306" y="5058812"/>
            <a:ext cx="9838800" cy="1107996"/>
            <a:chOff x="223306" y="2872200"/>
            <a:chExt cx="9838800" cy="1107996"/>
          </a:xfrm>
        </p:grpSpPr>
        <p:sp>
          <p:nvSpPr>
            <p:cNvPr id="4" name="TextBox 3">
              <a:extLst>
                <a:ext uri="{FF2B5EF4-FFF2-40B4-BE49-F238E27FC236}">
                  <a16:creationId xmlns:a16="http://schemas.microsoft.com/office/drawing/2014/main" id="{D9811DF6-DCA6-5BA5-173D-D3A1AD21181A}"/>
                </a:ext>
              </a:extLst>
            </p:cNvPr>
            <p:cNvSpPr txBox="1"/>
            <p:nvPr/>
          </p:nvSpPr>
          <p:spPr>
            <a:xfrm>
              <a:off x="223306" y="2872200"/>
              <a:ext cx="9838800" cy="1107996"/>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atin typeface="+mj-lt"/>
                </a:rPr>
                <a:t>Use 'with' Statement</a:t>
              </a:r>
              <a:endParaRPr lang="en-GB" b="1" dirty="0">
                <a:ln w="0"/>
                <a:solidFill>
                  <a:schemeClr val="tx1"/>
                </a:solidFill>
                <a:effectLst>
                  <a:outerShdw blurRad="38100" dist="25400" dir="5400000" algn="ctr" rotWithShape="0">
                    <a:srgbClr val="6E747A">
                      <a:alpha val="43000"/>
                    </a:srgbClr>
                  </a:outerShdw>
                </a:effectLst>
                <a:latin typeface="+mj-lt"/>
              </a:endParaRPr>
            </a:p>
          </p:txBody>
        </p:sp>
        <p:pic>
          <p:nvPicPr>
            <p:cNvPr id="5" name="Picture 4">
              <a:extLst>
                <a:ext uri="{FF2B5EF4-FFF2-40B4-BE49-F238E27FC236}">
                  <a16:creationId xmlns:a16="http://schemas.microsoft.com/office/drawing/2014/main" id="{37B55E9B-ABE8-F7C9-F6DE-0B1F6CDFDDAF}"/>
                </a:ext>
              </a:extLst>
            </p:cNvPr>
            <p:cNvPicPr>
              <a:picLocks noChangeAspect="1"/>
            </p:cNvPicPr>
            <p:nvPr/>
          </p:nvPicPr>
          <p:blipFill>
            <a:blip r:embed="rId3"/>
            <a:stretch>
              <a:fillRect/>
            </a:stretch>
          </p:blipFill>
          <p:spPr>
            <a:xfrm>
              <a:off x="264001" y="2906105"/>
              <a:ext cx="1063167" cy="1063167"/>
            </a:xfrm>
            <a:prstGeom prst="rect">
              <a:avLst/>
            </a:prstGeom>
          </p:spPr>
        </p:pic>
      </p:grpSp>
      <p:sp>
        <p:nvSpPr>
          <p:cNvPr id="7" name="TextBox 6">
            <a:extLst>
              <a:ext uri="{FF2B5EF4-FFF2-40B4-BE49-F238E27FC236}">
                <a16:creationId xmlns:a16="http://schemas.microsoft.com/office/drawing/2014/main" id="{FC490A48-FDDC-CA56-7D3A-6259AD2D71C3}"/>
              </a:ext>
            </a:extLst>
          </p:cNvPr>
          <p:cNvSpPr txBox="1"/>
          <p:nvPr/>
        </p:nvSpPr>
        <p:spPr>
          <a:xfrm>
            <a:off x="186673" y="13917695"/>
            <a:ext cx="2545762" cy="707886"/>
          </a:xfrm>
          <a:prstGeom prst="rect">
            <a:avLst/>
          </a:prstGeom>
          <a:noFill/>
        </p:spPr>
        <p:txBody>
          <a:bodyPr wrap="none" rtlCol="0">
            <a:spAutoFit/>
          </a:bodyPr>
          <a:lstStyle/>
          <a:p>
            <a:r>
              <a:rPr lang="en-US" sz="4000" b="1" dirty="0"/>
              <a:t>Automatic:</a:t>
            </a:r>
            <a:endParaRPr lang="en-DE" sz="4000" dirty="0"/>
          </a:p>
        </p:txBody>
      </p:sp>
      <p:sp>
        <p:nvSpPr>
          <p:cNvPr id="11" name="TextBox 10">
            <a:extLst>
              <a:ext uri="{FF2B5EF4-FFF2-40B4-BE49-F238E27FC236}">
                <a16:creationId xmlns:a16="http://schemas.microsoft.com/office/drawing/2014/main" id="{3C107D96-4FC3-027C-1D15-683F85C805B5}"/>
              </a:ext>
            </a:extLst>
          </p:cNvPr>
          <p:cNvSpPr txBox="1"/>
          <p:nvPr/>
        </p:nvSpPr>
        <p:spPr>
          <a:xfrm>
            <a:off x="3425118" y="13917695"/>
            <a:ext cx="6673622" cy="830997"/>
          </a:xfrm>
          <a:prstGeom prst="rect">
            <a:avLst/>
          </a:prstGeom>
          <a:noFill/>
        </p:spPr>
        <p:txBody>
          <a:bodyPr wrap="none" rtlCol="0">
            <a:spAutoFit/>
          </a:bodyPr>
          <a:lstStyle/>
          <a:p>
            <a:r>
              <a:rPr lang="en-GB" sz="4800" dirty="0">
                <a:latin typeface="Patrick Hand" pitchFamily="2" charset="77"/>
              </a:rPr>
              <a:t>No more manual close() calls</a:t>
            </a:r>
            <a:endParaRPr lang="en-DE" sz="4800" dirty="0">
              <a:latin typeface="Patrick Hand" pitchFamily="2" charset="77"/>
            </a:endParaRPr>
          </a:p>
        </p:txBody>
      </p:sp>
      <p:sp>
        <p:nvSpPr>
          <p:cNvPr id="8" name="TextBox 7">
            <a:extLst>
              <a:ext uri="{FF2B5EF4-FFF2-40B4-BE49-F238E27FC236}">
                <a16:creationId xmlns:a16="http://schemas.microsoft.com/office/drawing/2014/main" id="{12E3EC7A-21B7-943A-EA25-C438EAE74DC0}"/>
              </a:ext>
            </a:extLst>
          </p:cNvPr>
          <p:cNvSpPr txBox="1"/>
          <p:nvPr/>
        </p:nvSpPr>
        <p:spPr>
          <a:xfrm>
            <a:off x="186673" y="15000794"/>
            <a:ext cx="1344663" cy="707886"/>
          </a:xfrm>
          <a:prstGeom prst="rect">
            <a:avLst/>
          </a:prstGeom>
          <a:noFill/>
        </p:spPr>
        <p:txBody>
          <a:bodyPr wrap="none" rtlCol="0">
            <a:spAutoFit/>
          </a:bodyPr>
          <a:lstStyle/>
          <a:p>
            <a:r>
              <a:rPr lang="en-GB" sz="4000" b="1" dirty="0"/>
              <a:t>Safe: </a:t>
            </a:r>
            <a:endParaRPr lang="en-DE" sz="4000" b="1" dirty="0"/>
          </a:p>
        </p:txBody>
      </p:sp>
      <p:sp>
        <p:nvSpPr>
          <p:cNvPr id="12" name="TextBox 11">
            <a:extLst>
              <a:ext uri="{FF2B5EF4-FFF2-40B4-BE49-F238E27FC236}">
                <a16:creationId xmlns:a16="http://schemas.microsoft.com/office/drawing/2014/main" id="{30FAB019-507A-2EC2-3DA2-A9BB1C904276}"/>
              </a:ext>
            </a:extLst>
          </p:cNvPr>
          <p:cNvSpPr txBox="1"/>
          <p:nvPr/>
        </p:nvSpPr>
        <p:spPr>
          <a:xfrm>
            <a:off x="3490841" y="14991319"/>
            <a:ext cx="6607899" cy="830997"/>
          </a:xfrm>
          <a:prstGeom prst="rect">
            <a:avLst/>
          </a:prstGeom>
          <a:noFill/>
        </p:spPr>
        <p:txBody>
          <a:bodyPr wrap="none" rtlCol="0">
            <a:spAutoFit/>
          </a:bodyPr>
          <a:lstStyle/>
          <a:p>
            <a:r>
              <a:rPr lang="en-GB" sz="4800" dirty="0">
                <a:latin typeface="Patrick Hand" pitchFamily="2" charset="77"/>
              </a:rPr>
              <a:t>Prevents leaks during errors</a:t>
            </a:r>
            <a:endParaRPr lang="en-DE" sz="4800" dirty="0">
              <a:latin typeface="Patrick Hand" pitchFamily="2" charset="77"/>
            </a:endParaRPr>
          </a:p>
        </p:txBody>
      </p:sp>
      <p:sp>
        <p:nvSpPr>
          <p:cNvPr id="9" name="TextBox 8">
            <a:extLst>
              <a:ext uri="{FF2B5EF4-FFF2-40B4-BE49-F238E27FC236}">
                <a16:creationId xmlns:a16="http://schemas.microsoft.com/office/drawing/2014/main" id="{15FEAAD5-4282-A2CD-8811-5319C0B2D77D}"/>
              </a:ext>
            </a:extLst>
          </p:cNvPr>
          <p:cNvSpPr txBox="1"/>
          <p:nvPr/>
        </p:nvSpPr>
        <p:spPr>
          <a:xfrm>
            <a:off x="186673" y="16064942"/>
            <a:ext cx="1625766" cy="707886"/>
          </a:xfrm>
          <a:prstGeom prst="rect">
            <a:avLst/>
          </a:prstGeom>
          <a:noFill/>
        </p:spPr>
        <p:txBody>
          <a:bodyPr wrap="none" rtlCol="0">
            <a:spAutoFit/>
          </a:bodyPr>
          <a:lstStyle/>
          <a:p>
            <a:r>
              <a:rPr lang="en-GB" sz="4000" b="1" dirty="0"/>
              <a:t>Clean: </a:t>
            </a:r>
            <a:endParaRPr lang="en-DE" sz="4000" b="1" dirty="0"/>
          </a:p>
        </p:txBody>
      </p:sp>
      <p:sp>
        <p:nvSpPr>
          <p:cNvPr id="13" name="TextBox 12">
            <a:extLst>
              <a:ext uri="{FF2B5EF4-FFF2-40B4-BE49-F238E27FC236}">
                <a16:creationId xmlns:a16="http://schemas.microsoft.com/office/drawing/2014/main" id="{6AACDDF8-9461-833E-A5D0-B258E1311441}"/>
              </a:ext>
            </a:extLst>
          </p:cNvPr>
          <p:cNvSpPr txBox="1"/>
          <p:nvPr/>
        </p:nvSpPr>
        <p:spPr>
          <a:xfrm>
            <a:off x="3668775" y="16064942"/>
            <a:ext cx="6429965" cy="830997"/>
          </a:xfrm>
          <a:prstGeom prst="rect">
            <a:avLst/>
          </a:prstGeom>
          <a:noFill/>
        </p:spPr>
        <p:txBody>
          <a:bodyPr wrap="none" rtlCol="0">
            <a:spAutoFit/>
          </a:bodyPr>
          <a:lstStyle/>
          <a:p>
            <a:r>
              <a:rPr lang="en-GB" sz="4800" dirty="0">
                <a:latin typeface="Patrick Hand" pitchFamily="2" charset="77"/>
              </a:rPr>
              <a:t>Less code, better readability</a:t>
            </a:r>
            <a:endParaRPr lang="en-DE" sz="4800" dirty="0">
              <a:latin typeface="Patrick Hand" pitchFamily="2" charset="77"/>
            </a:endParaRPr>
          </a:p>
        </p:txBody>
      </p:sp>
      <p:cxnSp>
        <p:nvCxnSpPr>
          <p:cNvPr id="17" name="Straight Connector 16">
            <a:extLst>
              <a:ext uri="{FF2B5EF4-FFF2-40B4-BE49-F238E27FC236}">
                <a16:creationId xmlns:a16="http://schemas.microsoft.com/office/drawing/2014/main" id="{078A09D0-33BF-6B03-AE47-665AE3D0A683}"/>
              </a:ext>
            </a:extLst>
          </p:cNvPr>
          <p:cNvCxnSpPr>
            <a:cxnSpLocks/>
          </p:cNvCxnSpPr>
          <p:nvPr/>
        </p:nvCxnSpPr>
        <p:spPr>
          <a:xfrm>
            <a:off x="235460" y="9058736"/>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5828BDD9-29EC-80B8-F9E0-00FC6D12F56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73493" y="9218781"/>
            <a:ext cx="914400" cy="914400"/>
          </a:xfrm>
          <a:prstGeom prst="rect">
            <a:avLst/>
          </a:prstGeom>
        </p:spPr>
      </p:pic>
      <p:pic>
        <p:nvPicPr>
          <p:cNvPr id="19" name="Graphic 18" descr="Close with solid fill">
            <a:extLst>
              <a:ext uri="{FF2B5EF4-FFF2-40B4-BE49-F238E27FC236}">
                <a16:creationId xmlns:a16="http://schemas.microsoft.com/office/drawing/2014/main" id="{A9BD8DFA-A234-2917-65AF-90E0E24DEF8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973493" y="6740024"/>
            <a:ext cx="914400" cy="914400"/>
          </a:xfrm>
          <a:prstGeom prst="rect">
            <a:avLst/>
          </a:prstGeom>
        </p:spPr>
      </p:pic>
    </p:spTree>
    <p:extLst>
      <p:ext uri="{BB962C8B-B14F-4D97-AF65-F5344CB8AC3E}">
        <p14:creationId xmlns:p14="http://schemas.microsoft.com/office/powerpoint/2010/main" val="4194454532"/>
      </p:ext>
    </p:extLst>
  </p:cSld>
  <p:clrMapOvr>
    <a:masterClrMapping/>
  </p:clrMapOvr>
  <p:extLst>
    <p:ext uri="{6950BFC3-D8DA-4A85-94F7-54DA5524770B}">
      <p188:commentRel xmlns:p188="http://schemas.microsoft.com/office/powerpoint/2018/8/main" r:id="rId2"/>
    </p:ext>
  </p:extLst>
</p:sld>
</file>

<file path=ppt/slides/slide6.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38D6513E-44C3-8C15-A7B0-E379B4EE782B}"/>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9F05B7D4-F280-F06F-B39C-2F00BFC25F26}"/>
              </a:ext>
            </a:extLst>
          </p:cNvPr>
          <p:cNvSpPr txBox="1"/>
          <p:nvPr/>
        </p:nvSpPr>
        <p:spPr>
          <a:xfrm>
            <a:off x="963120" y="4920953"/>
            <a:ext cx="8359169" cy="1107996"/>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DE" sz="6600" b="1" dirty="0">
                <a:ln w="6600">
                  <a:solidFill>
                    <a:schemeClr val="accent2"/>
                  </a:solidFill>
                  <a:prstDash val="solid"/>
                </a:ln>
                <a:solidFill>
                  <a:srgbClr val="FFFFFF"/>
                </a:solidFill>
                <a:effectLst>
                  <a:outerShdw dist="38100" dir="2700000" algn="tl" rotWithShape="0">
                    <a:schemeClr val="accent2"/>
                  </a:outerShdw>
                </a:effectLst>
                <a:latin typeface="Patrick Hand" pitchFamily="2" charset="77"/>
              </a:rPr>
              <a:t>Decor</a:t>
            </a:r>
            <a:r>
              <a:rPr lang="en-US" sz="6600" b="1" dirty="0">
                <a:ln w="6600">
                  <a:solidFill>
                    <a:schemeClr val="accent2"/>
                  </a:solidFill>
                  <a:prstDash val="solid"/>
                </a:ln>
                <a:solidFill>
                  <a:srgbClr val="FFFFFF"/>
                </a:solidFill>
                <a:effectLst>
                  <a:outerShdw dist="38100" dir="2700000" algn="tl" rotWithShape="0">
                    <a:schemeClr val="accent2"/>
                  </a:outerShdw>
                </a:effectLst>
                <a:latin typeface="Patrick Hand" pitchFamily="2" charset="77"/>
              </a:rPr>
              <a:t>a</a:t>
            </a:r>
            <a:r>
              <a:rPr lang="en-DE" sz="6600" b="1" dirty="0">
                <a:ln w="6600">
                  <a:solidFill>
                    <a:schemeClr val="accent2"/>
                  </a:solidFill>
                  <a:prstDash val="solid"/>
                </a:ln>
                <a:solidFill>
                  <a:srgbClr val="FFFFFF"/>
                </a:solidFill>
                <a:effectLst>
                  <a:outerShdw dist="38100" dir="2700000" algn="tl" rotWithShape="0">
                    <a:schemeClr val="accent2"/>
                  </a:outerShdw>
                </a:effectLst>
                <a:latin typeface="Patrick Hand" pitchFamily="2" charset="77"/>
              </a:rPr>
              <a:t>tors</a:t>
            </a:r>
            <a:endParaRPr lang="en-DE" sz="6600" dirty="0">
              <a:ln w="0"/>
              <a:effectLst>
                <a:outerShdw blurRad="38100" dist="19050" dir="2700000" algn="tl" rotWithShape="0">
                  <a:schemeClr val="dk1">
                    <a:alpha val="40000"/>
                  </a:schemeClr>
                </a:outerShdw>
              </a:effectLst>
              <a:latin typeface="Patrick Hand" pitchFamily="2" charset="77"/>
            </a:endParaRPr>
          </a:p>
        </p:txBody>
      </p:sp>
      <p:pic>
        <p:nvPicPr>
          <p:cNvPr id="13" name="Picture 12">
            <a:extLst>
              <a:ext uri="{FF2B5EF4-FFF2-40B4-BE49-F238E27FC236}">
                <a16:creationId xmlns:a16="http://schemas.microsoft.com/office/drawing/2014/main" id="{B0F0CA92-46F0-129E-D4FC-B71F8C1DEB31}"/>
              </a:ext>
            </a:extLst>
          </p:cNvPr>
          <p:cNvPicPr>
            <a:picLocks noChangeAspect="1"/>
          </p:cNvPicPr>
          <p:nvPr/>
        </p:nvPicPr>
        <p:blipFill>
          <a:blip r:embed="rId4"/>
          <a:stretch>
            <a:fillRect/>
          </a:stretch>
        </p:blipFill>
        <p:spPr>
          <a:xfrm>
            <a:off x="1097040" y="4946903"/>
            <a:ext cx="1063167" cy="1063167"/>
          </a:xfrm>
          <a:prstGeom prst="rect">
            <a:avLst/>
          </a:prstGeom>
        </p:spPr>
      </p:pic>
      <p:cxnSp>
        <p:nvCxnSpPr>
          <p:cNvPr id="16" name="Straight Connector 15">
            <a:extLst>
              <a:ext uri="{FF2B5EF4-FFF2-40B4-BE49-F238E27FC236}">
                <a16:creationId xmlns:a16="http://schemas.microsoft.com/office/drawing/2014/main" id="{096EFBF3-9D7A-45C0-5825-529AF9B87540}"/>
              </a:ext>
            </a:extLst>
          </p:cNvPr>
          <p:cNvCxnSpPr>
            <a:cxnSpLocks/>
          </p:cNvCxnSpPr>
          <p:nvPr/>
        </p:nvCxnSpPr>
        <p:spPr>
          <a:xfrm>
            <a:off x="963120" y="10225821"/>
            <a:ext cx="8359169"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1D3086D5-48CC-ED96-614E-18E795A99AF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883882" y="10648304"/>
            <a:ext cx="914400" cy="914400"/>
          </a:xfrm>
          <a:prstGeom prst="rect">
            <a:avLst/>
          </a:prstGeom>
        </p:spPr>
      </p:pic>
      <p:pic>
        <p:nvPicPr>
          <p:cNvPr id="19" name="Graphic 18" descr="Close with solid fill">
            <a:extLst>
              <a:ext uri="{FF2B5EF4-FFF2-40B4-BE49-F238E27FC236}">
                <a16:creationId xmlns:a16="http://schemas.microsoft.com/office/drawing/2014/main" id="{B4714FB7-C189-E14C-AA62-67E825ED6B3D}"/>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5883882" y="8897747"/>
            <a:ext cx="914400" cy="914400"/>
          </a:xfrm>
          <a:prstGeom prst="rect">
            <a:avLst/>
          </a:prstGeom>
        </p:spPr>
      </p:pic>
      <p:sp>
        <p:nvSpPr>
          <p:cNvPr id="21" name="TextBox 20">
            <a:extLst>
              <a:ext uri="{FF2B5EF4-FFF2-40B4-BE49-F238E27FC236}">
                <a16:creationId xmlns:a16="http://schemas.microsoft.com/office/drawing/2014/main" id="{4CC720A1-BB63-65E7-EAD2-2F645218BC30}"/>
              </a:ext>
            </a:extLst>
          </p:cNvPr>
          <p:cNvSpPr txBox="1"/>
          <p:nvPr/>
        </p:nvSpPr>
        <p:spPr>
          <a:xfrm>
            <a:off x="405785" y="14009019"/>
            <a:ext cx="9879628" cy="769441"/>
          </a:xfrm>
          <a:prstGeom prst="rect">
            <a:avLst/>
          </a:prstGeom>
          <a:noFill/>
        </p:spPr>
        <p:txBody>
          <a:bodyPr wrap="none" rtlCol="0">
            <a:spAutoFit/>
          </a:bodyPr>
          <a:lstStyle/>
          <a:p>
            <a:r>
              <a:rPr lang="en-GB" sz="4400" dirty="0">
                <a:latin typeface="Patrick Hand" pitchFamily="2" charset="77"/>
              </a:rPr>
              <a:t>Extend </a:t>
            </a:r>
            <a:r>
              <a:rPr lang="en-GB" sz="4400" dirty="0" err="1">
                <a:latin typeface="Patrick Hand" pitchFamily="2" charset="77"/>
              </a:rPr>
              <a:t>behavior</a:t>
            </a:r>
            <a:r>
              <a:rPr lang="en-GB" sz="4400" dirty="0">
                <a:latin typeface="Patrick Hand" pitchFamily="2" charset="77"/>
              </a:rPr>
              <a:t> without changing the core logic</a:t>
            </a:r>
            <a:endParaRPr lang="en-DE" sz="4400" dirty="0">
              <a:latin typeface="Patrick Hand" pitchFamily="2" charset="77"/>
            </a:endParaRPr>
          </a:p>
        </p:txBody>
      </p:sp>
    </p:spTree>
    <p:extLst>
      <p:ext uri="{BB962C8B-B14F-4D97-AF65-F5344CB8AC3E}">
        <p14:creationId xmlns:p14="http://schemas.microsoft.com/office/powerpoint/2010/main" val="22616114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D8E99C58-5AF8-CF25-9DE3-F4ED5841DEE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8103D25-9216-BAB2-ACB7-9FFD1936580E}"/>
              </a:ext>
            </a:extLst>
          </p:cNvPr>
          <p:cNvSpPr txBox="1"/>
          <p:nvPr/>
        </p:nvSpPr>
        <p:spPr>
          <a:xfrm>
            <a:off x="223306" y="4701002"/>
            <a:ext cx="9838800" cy="1107996"/>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dirty="0"/>
              <a:t>F-Strings </a:t>
            </a:r>
            <a:r>
              <a:rPr lang="en-GB" sz="6600" b="1" dirty="0">
                <a:ln w="22225">
                  <a:solidFill>
                    <a:schemeClr val="accent2"/>
                  </a:solidFill>
                  <a:prstDash val="solid"/>
                </a:ln>
                <a:solidFill>
                  <a:srgbClr val="00B0F0"/>
                </a:solidFill>
              </a:rPr>
              <a:t>vs</a:t>
            </a:r>
            <a:r>
              <a:rPr lang="en-GB" sz="6600" dirty="0"/>
              <a:t> Format</a:t>
            </a:r>
            <a:endParaRPr lang="en-GB"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2C4B819E-3D27-043B-A206-CB6B14345940}"/>
              </a:ext>
            </a:extLst>
          </p:cNvPr>
          <p:cNvPicPr>
            <a:picLocks noChangeAspect="1"/>
          </p:cNvPicPr>
          <p:nvPr/>
        </p:nvPicPr>
        <p:blipFill>
          <a:blip r:embed="rId3"/>
          <a:stretch>
            <a:fillRect/>
          </a:stretch>
        </p:blipFill>
        <p:spPr>
          <a:xfrm>
            <a:off x="264001" y="4734907"/>
            <a:ext cx="1063167" cy="1063167"/>
          </a:xfrm>
          <a:prstGeom prst="rect">
            <a:avLst/>
          </a:prstGeom>
        </p:spPr>
      </p:pic>
      <p:sp>
        <p:nvSpPr>
          <p:cNvPr id="7" name="TextBox 6">
            <a:extLst>
              <a:ext uri="{FF2B5EF4-FFF2-40B4-BE49-F238E27FC236}">
                <a16:creationId xmlns:a16="http://schemas.microsoft.com/office/drawing/2014/main" id="{470B9811-0F6C-A74D-399A-984849072C23}"/>
              </a:ext>
            </a:extLst>
          </p:cNvPr>
          <p:cNvSpPr txBox="1"/>
          <p:nvPr/>
        </p:nvSpPr>
        <p:spPr>
          <a:xfrm>
            <a:off x="223306" y="13037235"/>
            <a:ext cx="2422971" cy="707886"/>
          </a:xfrm>
          <a:prstGeom prst="rect">
            <a:avLst/>
          </a:prstGeom>
          <a:noFill/>
        </p:spPr>
        <p:txBody>
          <a:bodyPr wrap="none" rtlCol="0">
            <a:spAutoFit/>
          </a:bodyPr>
          <a:lstStyle/>
          <a:p>
            <a:r>
              <a:rPr lang="en-GB" sz="4000" b="1" dirty="0"/>
              <a:t>Readable:</a:t>
            </a:r>
            <a:r>
              <a:rPr lang="en-GB" sz="4000" dirty="0"/>
              <a:t> </a:t>
            </a:r>
            <a:endParaRPr lang="en-DE" sz="4000" dirty="0"/>
          </a:p>
        </p:txBody>
      </p:sp>
      <p:sp>
        <p:nvSpPr>
          <p:cNvPr id="11" name="TextBox 10">
            <a:extLst>
              <a:ext uri="{FF2B5EF4-FFF2-40B4-BE49-F238E27FC236}">
                <a16:creationId xmlns:a16="http://schemas.microsoft.com/office/drawing/2014/main" id="{A78813AD-F7A7-B5FC-5C7D-0687E4D3D610}"/>
              </a:ext>
            </a:extLst>
          </p:cNvPr>
          <p:cNvSpPr txBox="1"/>
          <p:nvPr/>
        </p:nvSpPr>
        <p:spPr>
          <a:xfrm>
            <a:off x="2381255" y="13037235"/>
            <a:ext cx="7543776" cy="707886"/>
          </a:xfrm>
          <a:prstGeom prst="rect">
            <a:avLst/>
          </a:prstGeom>
          <a:noFill/>
        </p:spPr>
        <p:txBody>
          <a:bodyPr wrap="square" rtlCol="0">
            <a:spAutoFit/>
          </a:bodyPr>
          <a:lstStyle/>
          <a:p>
            <a:r>
              <a:rPr lang="en-GB" sz="4000" dirty="0">
                <a:latin typeface="Patrick Hand" pitchFamily="2" charset="77"/>
              </a:rPr>
              <a:t>Direct variable injection into strings</a:t>
            </a:r>
            <a:endParaRPr lang="en-DE" sz="4000" dirty="0">
              <a:latin typeface="Patrick Hand" pitchFamily="2" charset="77"/>
            </a:endParaRPr>
          </a:p>
        </p:txBody>
      </p:sp>
      <p:sp>
        <p:nvSpPr>
          <p:cNvPr id="8" name="TextBox 7">
            <a:extLst>
              <a:ext uri="{FF2B5EF4-FFF2-40B4-BE49-F238E27FC236}">
                <a16:creationId xmlns:a16="http://schemas.microsoft.com/office/drawing/2014/main" id="{256376E3-CABD-1877-68D4-60BF8B8214F8}"/>
              </a:ext>
            </a:extLst>
          </p:cNvPr>
          <p:cNvSpPr txBox="1"/>
          <p:nvPr/>
        </p:nvSpPr>
        <p:spPr>
          <a:xfrm>
            <a:off x="223306" y="14120334"/>
            <a:ext cx="1727909" cy="707886"/>
          </a:xfrm>
          <a:prstGeom prst="rect">
            <a:avLst/>
          </a:prstGeom>
          <a:noFill/>
        </p:spPr>
        <p:txBody>
          <a:bodyPr wrap="none" rtlCol="0">
            <a:spAutoFit/>
          </a:bodyPr>
          <a:lstStyle/>
          <a:p>
            <a:r>
              <a:rPr lang="en-GB" sz="4000" b="1" dirty="0"/>
              <a:t>Faster: </a:t>
            </a:r>
            <a:endParaRPr lang="en-DE" sz="4000" b="1" dirty="0"/>
          </a:p>
        </p:txBody>
      </p:sp>
      <p:sp>
        <p:nvSpPr>
          <p:cNvPr id="12" name="TextBox 11">
            <a:extLst>
              <a:ext uri="{FF2B5EF4-FFF2-40B4-BE49-F238E27FC236}">
                <a16:creationId xmlns:a16="http://schemas.microsoft.com/office/drawing/2014/main" id="{084482C2-56C7-DEF8-3919-CB98C47190C8}"/>
              </a:ext>
            </a:extLst>
          </p:cNvPr>
          <p:cNvSpPr txBox="1"/>
          <p:nvPr/>
        </p:nvSpPr>
        <p:spPr>
          <a:xfrm>
            <a:off x="2369994" y="14110858"/>
            <a:ext cx="7915419" cy="707886"/>
          </a:xfrm>
          <a:prstGeom prst="rect">
            <a:avLst/>
          </a:prstGeom>
          <a:noFill/>
        </p:spPr>
        <p:txBody>
          <a:bodyPr wrap="square" rtlCol="0">
            <a:spAutoFit/>
          </a:bodyPr>
          <a:lstStyle/>
          <a:p>
            <a:r>
              <a:rPr lang="en-GB" sz="4000" dirty="0">
                <a:latin typeface="Patrick Hand" pitchFamily="2" charset="77"/>
              </a:rPr>
              <a:t>F-Strings are optimized by the compiler</a:t>
            </a:r>
            <a:endParaRPr lang="en-DE" sz="4000" dirty="0">
              <a:latin typeface="Patrick Hand" pitchFamily="2" charset="77"/>
            </a:endParaRPr>
          </a:p>
        </p:txBody>
      </p:sp>
      <p:sp>
        <p:nvSpPr>
          <p:cNvPr id="9" name="TextBox 8">
            <a:extLst>
              <a:ext uri="{FF2B5EF4-FFF2-40B4-BE49-F238E27FC236}">
                <a16:creationId xmlns:a16="http://schemas.microsoft.com/office/drawing/2014/main" id="{366DD4EA-520B-F2EB-D460-A5C71B3EE88D}"/>
              </a:ext>
            </a:extLst>
          </p:cNvPr>
          <p:cNvSpPr txBox="1"/>
          <p:nvPr/>
        </p:nvSpPr>
        <p:spPr>
          <a:xfrm>
            <a:off x="223306" y="15203433"/>
            <a:ext cx="2157963" cy="707886"/>
          </a:xfrm>
          <a:prstGeom prst="rect">
            <a:avLst/>
          </a:prstGeom>
          <a:noFill/>
        </p:spPr>
        <p:txBody>
          <a:bodyPr wrap="none" rtlCol="0">
            <a:spAutoFit/>
          </a:bodyPr>
          <a:lstStyle/>
          <a:p>
            <a:r>
              <a:rPr lang="en-GB" sz="4000" b="1" dirty="0"/>
              <a:t>Modern: </a:t>
            </a:r>
            <a:endParaRPr lang="en-DE" sz="4000" b="1" dirty="0"/>
          </a:p>
        </p:txBody>
      </p:sp>
      <p:sp>
        <p:nvSpPr>
          <p:cNvPr id="13" name="TextBox 12">
            <a:extLst>
              <a:ext uri="{FF2B5EF4-FFF2-40B4-BE49-F238E27FC236}">
                <a16:creationId xmlns:a16="http://schemas.microsoft.com/office/drawing/2014/main" id="{52E6ABE3-1E92-6F86-7CA0-C6FADF7C5095}"/>
              </a:ext>
            </a:extLst>
          </p:cNvPr>
          <p:cNvSpPr txBox="1"/>
          <p:nvPr/>
        </p:nvSpPr>
        <p:spPr>
          <a:xfrm>
            <a:off x="2381269" y="15184482"/>
            <a:ext cx="7543309" cy="707886"/>
          </a:xfrm>
          <a:prstGeom prst="rect">
            <a:avLst/>
          </a:prstGeom>
          <a:noFill/>
        </p:spPr>
        <p:txBody>
          <a:bodyPr wrap="square" rtlCol="0">
            <a:spAutoFit/>
          </a:bodyPr>
          <a:lstStyle/>
          <a:p>
            <a:r>
              <a:rPr lang="en-GB" sz="4000" dirty="0">
                <a:latin typeface="Patrick Hand" pitchFamily="2" charset="77"/>
              </a:rPr>
              <a:t>The standard since Python 3.6+</a:t>
            </a:r>
            <a:endParaRPr lang="en-DE" sz="4000" dirty="0">
              <a:latin typeface="Patrick Hand" pitchFamily="2" charset="77"/>
            </a:endParaRPr>
          </a:p>
        </p:txBody>
      </p:sp>
      <p:pic>
        <p:nvPicPr>
          <p:cNvPr id="18" name="Graphic 17" descr="Shield Tick with solid fill">
            <a:extLst>
              <a:ext uri="{FF2B5EF4-FFF2-40B4-BE49-F238E27FC236}">
                <a16:creationId xmlns:a16="http://schemas.microsoft.com/office/drawing/2014/main" id="{ACE77A71-8D07-48B7-30F8-7E68A4376FB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646277" y="11430008"/>
            <a:ext cx="914400" cy="914400"/>
          </a:xfrm>
          <a:prstGeom prst="rect">
            <a:avLst/>
          </a:prstGeom>
        </p:spPr>
      </p:pic>
      <p:cxnSp>
        <p:nvCxnSpPr>
          <p:cNvPr id="14" name="Straight Connector 13">
            <a:extLst>
              <a:ext uri="{FF2B5EF4-FFF2-40B4-BE49-F238E27FC236}">
                <a16:creationId xmlns:a16="http://schemas.microsoft.com/office/drawing/2014/main" id="{ADE21DD3-BC0C-FFAD-871E-662DE0033853}"/>
              </a:ext>
            </a:extLst>
          </p:cNvPr>
          <p:cNvCxnSpPr>
            <a:cxnSpLocks/>
          </p:cNvCxnSpPr>
          <p:nvPr/>
        </p:nvCxnSpPr>
        <p:spPr>
          <a:xfrm>
            <a:off x="232736" y="12488613"/>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5" name="Graphic 14" descr="Close with solid fill">
            <a:extLst>
              <a:ext uri="{FF2B5EF4-FFF2-40B4-BE49-F238E27FC236}">
                <a16:creationId xmlns:a16="http://schemas.microsoft.com/office/drawing/2014/main" id="{54038AA9-B89F-0FCE-89F0-93FC9897432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767203" y="11530342"/>
            <a:ext cx="914400" cy="914400"/>
          </a:xfrm>
          <a:prstGeom prst="rect">
            <a:avLst/>
          </a:prstGeom>
        </p:spPr>
      </p:pic>
      <p:cxnSp>
        <p:nvCxnSpPr>
          <p:cNvPr id="16" name="Straight Connector 15">
            <a:extLst>
              <a:ext uri="{FF2B5EF4-FFF2-40B4-BE49-F238E27FC236}">
                <a16:creationId xmlns:a16="http://schemas.microsoft.com/office/drawing/2014/main" id="{66790796-F6C2-8B89-95FA-2E549CC68251}"/>
              </a:ext>
            </a:extLst>
          </p:cNvPr>
          <p:cNvCxnSpPr>
            <a:cxnSpLocks/>
          </p:cNvCxnSpPr>
          <p:nvPr/>
        </p:nvCxnSpPr>
        <p:spPr>
          <a:xfrm>
            <a:off x="210435" y="8674898"/>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87286016"/>
      </p:ext>
    </p:extLst>
  </p:cSld>
  <p:clrMapOvr>
    <a:masterClrMapping/>
  </p:clrMapOvr>
  <p:extLst>
    <p:ext uri="{6950BFC3-D8DA-4A85-94F7-54DA5524770B}">
      <p188:commentRel xmlns:p188="http://schemas.microsoft.com/office/powerpoint/2018/8/main" r:id="rId2"/>
    </p:ext>
  </p:extLst>
</p:sld>
</file>

<file path=ppt/slides/slide8.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DFDB729E-F8DD-029C-9B05-01CFB72ACF7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8B3B024-AFE3-B787-1CF0-88840F303020}"/>
              </a:ext>
            </a:extLst>
          </p:cNvPr>
          <p:cNvSpPr txBox="1"/>
          <p:nvPr/>
        </p:nvSpPr>
        <p:spPr>
          <a:xfrm>
            <a:off x="223306" y="4780516"/>
            <a:ext cx="9838800" cy="1107996"/>
          </a:xfrm>
          <a:prstGeom prst="rect">
            <a:avLst/>
          </a:prstGeom>
          <a:ln/>
        </p:spPr>
        <p:style>
          <a:lnRef idx="0">
            <a:schemeClr val="accent6"/>
          </a:lnRef>
          <a:fillRef idx="3">
            <a:schemeClr val="accent6"/>
          </a:fillRef>
          <a:effectRef idx="3">
            <a:schemeClr val="accent6"/>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rPr>
              <a:t>Zip function</a:t>
            </a:r>
            <a:endParaRPr lang="en-GB"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pic>
        <p:nvPicPr>
          <p:cNvPr id="5" name="Picture 4">
            <a:extLst>
              <a:ext uri="{FF2B5EF4-FFF2-40B4-BE49-F238E27FC236}">
                <a16:creationId xmlns:a16="http://schemas.microsoft.com/office/drawing/2014/main" id="{0F2CAF92-9DDC-DFC3-FF81-8A5C6F4225A0}"/>
              </a:ext>
            </a:extLst>
          </p:cNvPr>
          <p:cNvPicPr>
            <a:picLocks noChangeAspect="1"/>
          </p:cNvPicPr>
          <p:nvPr/>
        </p:nvPicPr>
        <p:blipFill>
          <a:blip r:embed="rId2"/>
          <a:stretch>
            <a:fillRect/>
          </a:stretch>
        </p:blipFill>
        <p:spPr>
          <a:xfrm>
            <a:off x="264001" y="4814421"/>
            <a:ext cx="1063167" cy="1063167"/>
          </a:xfrm>
          <a:prstGeom prst="rect">
            <a:avLst/>
          </a:prstGeom>
        </p:spPr>
      </p:pic>
      <p:sp>
        <p:nvSpPr>
          <p:cNvPr id="7" name="TextBox 6">
            <a:extLst>
              <a:ext uri="{FF2B5EF4-FFF2-40B4-BE49-F238E27FC236}">
                <a16:creationId xmlns:a16="http://schemas.microsoft.com/office/drawing/2014/main" id="{69BBD432-F653-9467-301C-A4F29799E896}"/>
              </a:ext>
            </a:extLst>
          </p:cNvPr>
          <p:cNvSpPr txBox="1"/>
          <p:nvPr/>
        </p:nvSpPr>
        <p:spPr>
          <a:xfrm>
            <a:off x="111653" y="12884024"/>
            <a:ext cx="2176301" cy="707886"/>
          </a:xfrm>
          <a:prstGeom prst="rect">
            <a:avLst/>
          </a:prstGeom>
          <a:noFill/>
        </p:spPr>
        <p:txBody>
          <a:bodyPr wrap="none" rtlCol="0">
            <a:spAutoFit/>
          </a:bodyPr>
          <a:lstStyle/>
          <a:p>
            <a:r>
              <a:rPr lang="en-GB" sz="4000" b="1" dirty="0"/>
              <a:t>Efficient:</a:t>
            </a:r>
            <a:r>
              <a:rPr lang="en-GB" sz="4000" dirty="0"/>
              <a:t> </a:t>
            </a:r>
            <a:endParaRPr lang="en-DE" sz="4000" dirty="0"/>
          </a:p>
        </p:txBody>
      </p:sp>
      <p:sp>
        <p:nvSpPr>
          <p:cNvPr id="11" name="TextBox 10">
            <a:extLst>
              <a:ext uri="{FF2B5EF4-FFF2-40B4-BE49-F238E27FC236}">
                <a16:creationId xmlns:a16="http://schemas.microsoft.com/office/drawing/2014/main" id="{0F29FF69-10AD-2D7D-57DB-432C9733AE0A}"/>
              </a:ext>
            </a:extLst>
          </p:cNvPr>
          <p:cNvSpPr txBox="1"/>
          <p:nvPr/>
        </p:nvSpPr>
        <p:spPr>
          <a:xfrm>
            <a:off x="2258341" y="12884024"/>
            <a:ext cx="7680579" cy="707886"/>
          </a:xfrm>
          <a:prstGeom prst="rect">
            <a:avLst/>
          </a:prstGeom>
          <a:noFill/>
        </p:spPr>
        <p:txBody>
          <a:bodyPr wrap="square" rtlCol="0">
            <a:spAutoFit/>
          </a:bodyPr>
          <a:lstStyle/>
          <a:p>
            <a:r>
              <a:rPr lang="en-GB" sz="4000" dirty="0">
                <a:latin typeface="Patrick Hand" pitchFamily="2" charset="77"/>
              </a:rPr>
              <a:t>Loops through multiple </a:t>
            </a:r>
            <a:r>
              <a:rPr lang="en-GB" sz="4000" dirty="0" err="1">
                <a:latin typeface="Patrick Hand" pitchFamily="2" charset="77"/>
              </a:rPr>
              <a:t>iterables</a:t>
            </a:r>
            <a:r>
              <a:rPr lang="en-GB" sz="4000" dirty="0">
                <a:latin typeface="Patrick Hand" pitchFamily="2" charset="77"/>
              </a:rPr>
              <a:t> at once</a:t>
            </a:r>
            <a:endParaRPr lang="en-DE" sz="4000" dirty="0">
              <a:latin typeface="Patrick Hand" pitchFamily="2" charset="77"/>
            </a:endParaRPr>
          </a:p>
        </p:txBody>
      </p:sp>
      <p:sp>
        <p:nvSpPr>
          <p:cNvPr id="8" name="TextBox 7">
            <a:extLst>
              <a:ext uri="{FF2B5EF4-FFF2-40B4-BE49-F238E27FC236}">
                <a16:creationId xmlns:a16="http://schemas.microsoft.com/office/drawing/2014/main" id="{0868B171-25AA-CACD-A094-E0B38D31F23D}"/>
              </a:ext>
            </a:extLst>
          </p:cNvPr>
          <p:cNvSpPr txBox="1"/>
          <p:nvPr/>
        </p:nvSpPr>
        <p:spPr>
          <a:xfrm>
            <a:off x="111653" y="13967123"/>
            <a:ext cx="2310120" cy="707886"/>
          </a:xfrm>
          <a:prstGeom prst="rect">
            <a:avLst/>
          </a:prstGeom>
          <a:noFill/>
        </p:spPr>
        <p:txBody>
          <a:bodyPr wrap="none" rtlCol="0">
            <a:spAutoFit/>
          </a:bodyPr>
          <a:lstStyle/>
          <a:p>
            <a:r>
              <a:rPr lang="en-GB" sz="4000" b="1" dirty="0"/>
              <a:t>Pythonic: </a:t>
            </a:r>
            <a:endParaRPr lang="en-DE" sz="4000" b="1" dirty="0"/>
          </a:p>
        </p:txBody>
      </p:sp>
      <p:sp>
        <p:nvSpPr>
          <p:cNvPr id="12" name="TextBox 11">
            <a:extLst>
              <a:ext uri="{FF2B5EF4-FFF2-40B4-BE49-F238E27FC236}">
                <a16:creationId xmlns:a16="http://schemas.microsoft.com/office/drawing/2014/main" id="{115BBC69-7564-146A-362D-6284651CA860}"/>
              </a:ext>
            </a:extLst>
          </p:cNvPr>
          <p:cNvSpPr txBox="1"/>
          <p:nvPr/>
        </p:nvSpPr>
        <p:spPr>
          <a:xfrm>
            <a:off x="2258341" y="13957647"/>
            <a:ext cx="7915419" cy="707886"/>
          </a:xfrm>
          <a:prstGeom prst="rect">
            <a:avLst/>
          </a:prstGeom>
          <a:noFill/>
        </p:spPr>
        <p:txBody>
          <a:bodyPr wrap="square" rtlCol="0">
            <a:spAutoFit/>
          </a:bodyPr>
          <a:lstStyle/>
          <a:p>
            <a:r>
              <a:rPr lang="en-GB" sz="4000" dirty="0">
                <a:latin typeface="Patrick Hand" pitchFamily="2" charset="77"/>
              </a:rPr>
              <a:t>Eliminates the need for manual indexing</a:t>
            </a:r>
            <a:endParaRPr lang="en-DE" sz="4000" dirty="0">
              <a:latin typeface="Patrick Hand" pitchFamily="2" charset="77"/>
            </a:endParaRPr>
          </a:p>
        </p:txBody>
      </p:sp>
      <p:sp>
        <p:nvSpPr>
          <p:cNvPr id="9" name="TextBox 8">
            <a:extLst>
              <a:ext uri="{FF2B5EF4-FFF2-40B4-BE49-F238E27FC236}">
                <a16:creationId xmlns:a16="http://schemas.microsoft.com/office/drawing/2014/main" id="{19005E2A-72FF-9431-1DDA-030C01BAAB6B}"/>
              </a:ext>
            </a:extLst>
          </p:cNvPr>
          <p:cNvSpPr txBox="1"/>
          <p:nvPr/>
        </p:nvSpPr>
        <p:spPr>
          <a:xfrm>
            <a:off x="111653" y="15050222"/>
            <a:ext cx="1887055" cy="707886"/>
          </a:xfrm>
          <a:prstGeom prst="rect">
            <a:avLst/>
          </a:prstGeom>
          <a:noFill/>
        </p:spPr>
        <p:txBody>
          <a:bodyPr wrap="none" rtlCol="0">
            <a:spAutoFit/>
          </a:bodyPr>
          <a:lstStyle/>
          <a:p>
            <a:r>
              <a:rPr lang="en-GB" sz="4000" b="1" dirty="0"/>
              <a:t>Simple: </a:t>
            </a:r>
            <a:endParaRPr lang="en-DE" sz="4000" b="1" dirty="0"/>
          </a:p>
        </p:txBody>
      </p:sp>
      <p:sp>
        <p:nvSpPr>
          <p:cNvPr id="13" name="TextBox 12">
            <a:extLst>
              <a:ext uri="{FF2B5EF4-FFF2-40B4-BE49-F238E27FC236}">
                <a16:creationId xmlns:a16="http://schemas.microsoft.com/office/drawing/2014/main" id="{2DC93386-7003-550B-8361-770B236BA91B}"/>
              </a:ext>
            </a:extLst>
          </p:cNvPr>
          <p:cNvSpPr txBox="1"/>
          <p:nvPr/>
        </p:nvSpPr>
        <p:spPr>
          <a:xfrm>
            <a:off x="2258341" y="15031271"/>
            <a:ext cx="7543309" cy="707886"/>
          </a:xfrm>
          <a:prstGeom prst="rect">
            <a:avLst/>
          </a:prstGeom>
          <a:noFill/>
        </p:spPr>
        <p:txBody>
          <a:bodyPr wrap="square" rtlCol="0">
            <a:spAutoFit/>
          </a:bodyPr>
          <a:lstStyle/>
          <a:p>
            <a:r>
              <a:rPr lang="en-GB" sz="4000" dirty="0">
                <a:latin typeface="Patrick Hand" pitchFamily="2" charset="77"/>
              </a:rPr>
              <a:t>Makes your loops cleaner and shorter</a:t>
            </a:r>
            <a:endParaRPr lang="en-DE" sz="4000" dirty="0">
              <a:latin typeface="Patrick Hand" pitchFamily="2" charset="77"/>
            </a:endParaRPr>
          </a:p>
        </p:txBody>
      </p:sp>
      <p:cxnSp>
        <p:nvCxnSpPr>
          <p:cNvPr id="17" name="Straight Connector 16">
            <a:extLst>
              <a:ext uri="{FF2B5EF4-FFF2-40B4-BE49-F238E27FC236}">
                <a16:creationId xmlns:a16="http://schemas.microsoft.com/office/drawing/2014/main" id="{37A0EC55-6918-894A-527C-6A7222C04E32}"/>
              </a:ext>
            </a:extLst>
          </p:cNvPr>
          <p:cNvCxnSpPr>
            <a:cxnSpLocks/>
          </p:cNvCxnSpPr>
          <p:nvPr/>
        </p:nvCxnSpPr>
        <p:spPr>
          <a:xfrm>
            <a:off x="223579" y="1031930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D3791C2A-331F-9DF3-9F0C-661BDA71097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700733" y="11395343"/>
            <a:ext cx="914400" cy="914400"/>
          </a:xfrm>
          <a:prstGeom prst="rect">
            <a:avLst/>
          </a:prstGeom>
        </p:spPr>
      </p:pic>
      <p:pic>
        <p:nvPicPr>
          <p:cNvPr id="19" name="Graphic 18" descr="Close with solid fill">
            <a:extLst>
              <a:ext uri="{FF2B5EF4-FFF2-40B4-BE49-F238E27FC236}">
                <a16:creationId xmlns:a16="http://schemas.microsoft.com/office/drawing/2014/main" id="{0F6E4447-33BF-BCE5-BC44-10826ACC2BA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700733" y="9040444"/>
            <a:ext cx="914400" cy="914400"/>
          </a:xfrm>
          <a:prstGeom prst="rect">
            <a:avLst/>
          </a:prstGeom>
        </p:spPr>
      </p:pic>
    </p:spTree>
    <p:extLst>
      <p:ext uri="{BB962C8B-B14F-4D97-AF65-F5344CB8AC3E}">
        <p14:creationId xmlns:p14="http://schemas.microsoft.com/office/powerpoint/2010/main" val="356580983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67B18B78-91D1-FDA0-9CF6-48E4AC8F003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E0ED6F7-32C9-2B97-4246-A7573BB5663E}"/>
              </a:ext>
            </a:extLst>
          </p:cNvPr>
          <p:cNvSpPr txBox="1"/>
          <p:nvPr/>
        </p:nvSpPr>
        <p:spPr>
          <a:xfrm>
            <a:off x="223306" y="4733191"/>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oAutofit/>
          </a:bodyPr>
          <a:lstStyle/>
          <a:p>
            <a:pPr marL="0" algn="ctr" defTabSz="457200" rtl="0" eaLnBrk="1" latinLnBrk="0" hangingPunct="1"/>
            <a:r>
              <a:rPr lang="en-US" sz="6000" b="1" dirty="0" err="1">
                <a:ln w="0"/>
                <a:solidFill>
                  <a:schemeClr val="tx1"/>
                </a:solidFill>
                <a:effectLst>
                  <a:outerShdw blurRad="38100" dist="19050" dir="2700000" algn="tl" rotWithShape="0">
                    <a:schemeClr val="dk1">
                      <a:alpha val="40000"/>
                    </a:schemeClr>
                  </a:outerShdw>
                </a:effectLst>
                <a:latin typeface="+mj-lt"/>
              </a:rPr>
              <a:t>dataclass</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BF001C73-DF35-30E5-356C-0F186FB087E7}"/>
              </a:ext>
            </a:extLst>
          </p:cNvPr>
          <p:cNvPicPr>
            <a:picLocks noChangeAspect="1"/>
          </p:cNvPicPr>
          <p:nvPr/>
        </p:nvPicPr>
        <p:blipFill>
          <a:blip r:embed="rId3"/>
          <a:stretch>
            <a:fillRect/>
          </a:stretch>
        </p:blipFill>
        <p:spPr>
          <a:xfrm>
            <a:off x="290127" y="4814930"/>
            <a:ext cx="1063167" cy="1063167"/>
          </a:xfrm>
          <a:prstGeom prst="rect">
            <a:avLst/>
          </a:prstGeom>
        </p:spPr>
      </p:pic>
      <p:sp>
        <p:nvSpPr>
          <p:cNvPr id="13" name="TextBox 12">
            <a:extLst>
              <a:ext uri="{FF2B5EF4-FFF2-40B4-BE49-F238E27FC236}">
                <a16:creationId xmlns:a16="http://schemas.microsoft.com/office/drawing/2014/main" id="{96F47210-119F-954D-1993-4CF2A6779D96}"/>
              </a:ext>
            </a:extLst>
          </p:cNvPr>
          <p:cNvSpPr txBox="1"/>
          <p:nvPr/>
        </p:nvSpPr>
        <p:spPr>
          <a:xfrm>
            <a:off x="318575" y="11866316"/>
            <a:ext cx="9648263" cy="1938992"/>
          </a:xfrm>
          <a:prstGeom prst="rect">
            <a:avLst/>
          </a:prstGeom>
          <a:noFill/>
        </p:spPr>
        <p:txBody>
          <a:bodyPr wrap="square" rtlCol="0">
            <a:sp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Using </a:t>
            </a:r>
            <a:r>
              <a:rPr lang="en-GB" sz="6000" dirty="0" err="1">
                <a:ln w="0"/>
                <a:effectLst>
                  <a:outerShdw blurRad="38100" dist="19050" dir="2700000" algn="tl" rotWithShape="0">
                    <a:schemeClr val="dk1">
                      <a:alpha val="40000"/>
                    </a:schemeClr>
                  </a:outerShdw>
                </a:effectLst>
                <a:latin typeface="Patrick Hand" pitchFamily="2" charset="77"/>
              </a:rPr>
              <a:t>dataclass</a:t>
            </a:r>
            <a:r>
              <a:rPr lang="en-GB" sz="6000" dirty="0">
                <a:ln w="0"/>
                <a:effectLst>
                  <a:outerShdw blurRad="38100" dist="19050" dir="2700000" algn="tl" rotWithShape="0">
                    <a:schemeClr val="dk1">
                      <a:alpha val="40000"/>
                    </a:schemeClr>
                  </a:outerShdw>
                </a:effectLst>
                <a:latin typeface="Patrick Hand" pitchFamily="2" charset="77"/>
              </a:rPr>
              <a:t> to manage structured data</a:t>
            </a:r>
            <a:endParaRPr lang="en-DE" sz="60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F92902BB-65E3-7B86-4B2A-65C9554F2171}"/>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8111D9AD-7775-54B2-F290-E96C7CE6222A}"/>
              </a:ext>
            </a:extLst>
          </p:cNvPr>
          <p:cNvPicPr>
            <a:picLocks noChangeAspect="1"/>
          </p:cNvPicPr>
          <p:nvPr/>
        </p:nvPicPr>
        <p:blipFill rotWithShape="1">
          <a:blip r:embed="rId4"/>
          <a:srcRect l="17537" t="25603" r="12337" b="16319"/>
          <a:stretch>
            <a:fillRect/>
          </a:stretch>
        </p:blipFill>
        <p:spPr>
          <a:xfrm>
            <a:off x="223306" y="6068289"/>
            <a:ext cx="9838800" cy="5651261"/>
          </a:xfrm>
          <a:prstGeom prst="rect">
            <a:avLst/>
          </a:prstGeom>
        </p:spPr>
      </p:pic>
    </p:spTree>
    <p:extLst>
      <p:ext uri="{BB962C8B-B14F-4D97-AF65-F5344CB8AC3E}">
        <p14:creationId xmlns:p14="http://schemas.microsoft.com/office/powerpoint/2010/main" val="68855279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pattFill prst="solidDmnd">
          <a:fgClr>
            <a:schemeClr val="bg2"/>
          </a:fgClr>
          <a:bgClr>
            <a:schemeClr val="bg1"/>
          </a:bgClr>
        </a:pattFill>
        <a:effectLst/>
      </p:bgPr>
    </p:bg>
    <p:spTree>
      <p:nvGrpSpPr>
        <p:cNvPr id="1" name="">
          <a:extLst>
            <a:ext uri="{FF2B5EF4-FFF2-40B4-BE49-F238E27FC236}">
              <a16:creationId xmlns:a16="http://schemas.microsoft.com/office/drawing/2014/main" id="{9CEDEF06-3490-6241-1F61-A4220455056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98E0008-9AB4-2A98-E8E5-B5D3D1A4C9B7}"/>
              </a:ext>
            </a:extLst>
          </p:cNvPr>
          <p:cNvSpPr txBox="1"/>
          <p:nvPr/>
        </p:nvSpPr>
        <p:spPr>
          <a:xfrm>
            <a:off x="225526" y="4800391"/>
            <a:ext cx="9838800" cy="1121395"/>
          </a:xfrm>
          <a:prstGeom prst="rect">
            <a:avLst/>
          </a:prstGeom>
          <a:ln/>
        </p:spPr>
        <p:style>
          <a:lnRef idx="1">
            <a:schemeClr val="accent2"/>
          </a:lnRef>
          <a:fillRef idx="2">
            <a:schemeClr val="accent2"/>
          </a:fillRef>
          <a:effectRef idx="1">
            <a:schemeClr val="accent2"/>
          </a:effectRef>
          <a:fontRef idx="minor">
            <a:schemeClr val="dk1"/>
          </a:fontRef>
        </p:style>
        <p:txBody>
          <a:bodyPr wrap="none" rtlCol="0">
            <a:noAutofit/>
            <a:scene3d>
              <a:camera prst="orthographicFront"/>
              <a:lightRig rig="harsh" dir="t"/>
            </a:scene3d>
            <a:sp3d extrusionH="57150" prstMaterial="matte">
              <a:bevelT w="63500" h="12700" prst="angle"/>
              <a:contourClr>
                <a:schemeClr val="bg1">
                  <a:lumMod val="65000"/>
                </a:schemeClr>
              </a:contourClr>
            </a:sp3d>
          </a:bodyPr>
          <a:lstStyle/>
          <a:p>
            <a:pPr marL="0" algn="ctr" defTabSz="457200" rtl="0" eaLnBrk="1" latinLnBrk="0" hangingPunct="1"/>
            <a:r>
              <a:rPr lang="en-US" sz="5400" b="1" dirty="0" err="1">
                <a:ln w="0"/>
                <a:solidFill>
                  <a:schemeClr val="tx1"/>
                </a:solidFill>
                <a:effectLst>
                  <a:outerShdw blurRad="38100" dist="19050" dir="2700000" algn="tl" rotWithShape="0">
                    <a:schemeClr val="dk1">
                      <a:alpha val="40000"/>
                    </a:schemeClr>
                  </a:outerShdw>
                </a:effectLst>
                <a:latin typeface="+mj-lt"/>
              </a:rPr>
              <a:t>defaultdict</a:t>
            </a:r>
            <a:r>
              <a:rPr lang="en-US" sz="5400" b="1" dirty="0">
                <a:ln w="0"/>
                <a:solidFill>
                  <a:schemeClr val="tx1"/>
                </a:solidFill>
                <a:effectLst>
                  <a:outerShdw blurRad="38100" dist="19050" dir="2700000" algn="tl" rotWithShape="0">
                    <a:schemeClr val="dk1">
                      <a:alpha val="40000"/>
                    </a:schemeClr>
                  </a:outerShdw>
                </a:effectLst>
                <a:latin typeface="+mj-lt"/>
              </a:rPr>
              <a:t> vs standard </a:t>
            </a:r>
            <a:r>
              <a:rPr lang="en-US" sz="5400" b="1" dirty="0" err="1">
                <a:ln w="0"/>
                <a:solidFill>
                  <a:schemeClr val="tx1"/>
                </a:solidFill>
                <a:effectLst>
                  <a:outerShdw blurRad="38100" dist="19050" dir="2700000" algn="tl" rotWithShape="0">
                    <a:schemeClr val="dk1">
                      <a:alpha val="40000"/>
                    </a:schemeClr>
                  </a:outerShdw>
                </a:effectLst>
                <a:latin typeface="+mj-lt"/>
              </a:rPr>
              <a:t>Dict</a:t>
            </a:r>
            <a:endParaRPr lang="en-GB" sz="14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96D17B3F-D238-2B0B-EC89-5F7DF89B7F7F}"/>
              </a:ext>
            </a:extLst>
          </p:cNvPr>
          <p:cNvPicPr>
            <a:picLocks noChangeAspect="1"/>
          </p:cNvPicPr>
          <p:nvPr/>
        </p:nvPicPr>
        <p:blipFill>
          <a:blip r:embed="rId3"/>
          <a:stretch>
            <a:fillRect/>
          </a:stretch>
        </p:blipFill>
        <p:spPr>
          <a:xfrm>
            <a:off x="264001" y="4834297"/>
            <a:ext cx="1063167" cy="1063167"/>
          </a:xfrm>
          <a:prstGeom prst="rect">
            <a:avLst/>
          </a:prstGeom>
        </p:spPr>
      </p:pic>
      <p:sp>
        <p:nvSpPr>
          <p:cNvPr id="7" name="TextBox 6">
            <a:extLst>
              <a:ext uri="{FF2B5EF4-FFF2-40B4-BE49-F238E27FC236}">
                <a16:creationId xmlns:a16="http://schemas.microsoft.com/office/drawing/2014/main" id="{82A83D46-1034-6666-755A-5BB815E6D643}"/>
              </a:ext>
            </a:extLst>
          </p:cNvPr>
          <p:cNvSpPr txBox="1"/>
          <p:nvPr/>
        </p:nvSpPr>
        <p:spPr>
          <a:xfrm>
            <a:off x="3239076" y="14657755"/>
            <a:ext cx="3807261" cy="830997"/>
          </a:xfrm>
          <a:prstGeom prst="rect">
            <a:avLst/>
          </a:prstGeom>
          <a:noFill/>
        </p:spPr>
        <p:txBody>
          <a:bodyPr wrap="none" rtlCol="0">
            <a:spAutoFit/>
          </a:bodyPr>
          <a:lstStyle/>
          <a:p>
            <a:r>
              <a:rPr lang="en-GB" sz="4800" b="1" dirty="0"/>
              <a:t>Elegant Logic:</a:t>
            </a:r>
            <a:r>
              <a:rPr lang="en-GB" sz="4800" dirty="0"/>
              <a:t> </a:t>
            </a:r>
            <a:endParaRPr lang="en-DE" sz="4800" dirty="0"/>
          </a:p>
        </p:txBody>
      </p:sp>
      <p:sp>
        <p:nvSpPr>
          <p:cNvPr id="11" name="TextBox 10">
            <a:extLst>
              <a:ext uri="{FF2B5EF4-FFF2-40B4-BE49-F238E27FC236}">
                <a16:creationId xmlns:a16="http://schemas.microsoft.com/office/drawing/2014/main" id="{AE8CD719-0BE7-56F8-0136-ADB67AE57FA3}"/>
              </a:ext>
            </a:extLst>
          </p:cNvPr>
          <p:cNvSpPr txBox="1"/>
          <p:nvPr/>
        </p:nvSpPr>
        <p:spPr>
          <a:xfrm>
            <a:off x="245874" y="15534245"/>
            <a:ext cx="9793665" cy="1938992"/>
          </a:xfrm>
          <a:prstGeom prst="rect">
            <a:avLst/>
          </a:prstGeom>
          <a:noFill/>
        </p:spPr>
        <p:txBody>
          <a:bodyPr wrap="square" rtlCol="0">
            <a:spAutoFit/>
          </a:bodyPr>
          <a:lstStyle/>
          <a:p>
            <a:pPr algn="ctr"/>
            <a:r>
              <a:rPr lang="en-GB" sz="6000" dirty="0">
                <a:latin typeface="Patrick Hand" pitchFamily="2" charset="77"/>
              </a:rPr>
              <a:t>Automatically handle missing keys without manual checks</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B7368A16-FFD4-42E9-93DD-F095D0771DAC}"/>
              </a:ext>
            </a:extLst>
          </p:cNvPr>
          <p:cNvCxnSpPr>
            <a:cxnSpLocks/>
          </p:cNvCxnSpPr>
          <p:nvPr/>
        </p:nvCxnSpPr>
        <p:spPr>
          <a:xfrm>
            <a:off x="223579" y="10122614"/>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EB4807D0-9F0F-5D16-75CA-7253269DE56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801805" y="11312088"/>
            <a:ext cx="914400" cy="914400"/>
          </a:xfrm>
          <a:prstGeom prst="rect">
            <a:avLst/>
          </a:prstGeom>
        </p:spPr>
      </p:pic>
      <p:pic>
        <p:nvPicPr>
          <p:cNvPr id="19" name="Graphic 18" descr="Close with solid fill">
            <a:extLst>
              <a:ext uri="{FF2B5EF4-FFF2-40B4-BE49-F238E27FC236}">
                <a16:creationId xmlns:a16="http://schemas.microsoft.com/office/drawing/2014/main" id="{46AA1765-F8D0-1254-85C9-AEF33D4A37D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801805" y="6972845"/>
            <a:ext cx="914400" cy="914400"/>
          </a:xfrm>
          <a:prstGeom prst="rect">
            <a:avLst/>
          </a:prstGeom>
        </p:spPr>
      </p:pic>
    </p:spTree>
    <p:extLst>
      <p:ext uri="{BB962C8B-B14F-4D97-AF65-F5344CB8AC3E}">
        <p14:creationId xmlns:p14="http://schemas.microsoft.com/office/powerpoint/2010/main" val="65041932"/>
      </p:ext>
    </p:extLst>
  </p:cSld>
  <p:clrMapOvr>
    <a:masterClrMapping/>
  </p:clrMapOvr>
  <p:extLst>
    <p:ext uri="{6950BFC3-D8DA-4A85-94F7-54DA5524770B}">
      <p188:commentRel xmlns:p188="http://schemas.microsoft.com/office/powerpoint/2018/8/main" r:id="rId2"/>
    </p:ext>
  </p:extLst>
</p:sld>
</file>

<file path=ppt/slides/slide11.xml><?xml version="1.0" encoding="utf-8"?>
<p:sld xmlns:a="http://schemas.openxmlformats.org/drawingml/2006/main" xmlns:r="http://schemas.openxmlformats.org/officeDocument/2006/relationships" xmlns:p="http://schemas.openxmlformats.org/presentationml/2006/main">
  <p:cSld>
    <p:bg>
      <p:bgPr>
        <a:pattFill prst="dotDmnd">
          <a:fgClr>
            <a:srgbClr val="00B0F0"/>
          </a:fgClr>
          <a:bgClr>
            <a:schemeClr val="bg1"/>
          </a:bgClr>
        </a:pattFill>
        <a:effectLst/>
      </p:bgPr>
    </p:bg>
    <p:spTree>
      <p:nvGrpSpPr>
        <p:cNvPr id="1" name="">
          <a:extLst>
            <a:ext uri="{FF2B5EF4-FFF2-40B4-BE49-F238E27FC236}">
              <a16:creationId xmlns:a16="http://schemas.microsoft.com/office/drawing/2014/main" id="{F24D53D7-C554-1761-5DCC-AC6EB34EA650}"/>
            </a:ext>
          </a:extLst>
        </p:cNvPr>
        <p:cNvGrpSpPr/>
        <p:nvPr/>
      </p:nvGrpSpPr>
      <p:grpSpPr>
        <a:xfrm>
          <a:off x="0" y="0"/>
          <a:ext cx="0" cy="0"/>
          <a:chOff x="0" y="0"/>
          <a:chExt cx="0" cy="0"/>
        </a:xfrm>
      </p:grpSpPr>
      <p:grpSp>
        <p:nvGrpSpPr>
          <p:cNvPr id="6" name="Group 5">
            <a:extLst>
              <a:ext uri="{FF2B5EF4-FFF2-40B4-BE49-F238E27FC236}">
                <a16:creationId xmlns:a16="http://schemas.microsoft.com/office/drawing/2014/main" id="{D2100239-D8B1-E60E-72B5-37811A07A7D1}"/>
              </a:ext>
            </a:extLst>
          </p:cNvPr>
          <p:cNvGrpSpPr/>
          <p:nvPr/>
        </p:nvGrpSpPr>
        <p:grpSpPr>
          <a:xfrm>
            <a:off x="223307" y="5019052"/>
            <a:ext cx="9838799" cy="1219682"/>
            <a:chOff x="223307" y="2872200"/>
            <a:chExt cx="9838799" cy="1219682"/>
          </a:xfrm>
        </p:grpSpPr>
        <p:sp>
          <p:nvSpPr>
            <p:cNvPr id="4" name="TextBox 3">
              <a:extLst>
                <a:ext uri="{FF2B5EF4-FFF2-40B4-BE49-F238E27FC236}">
                  <a16:creationId xmlns:a16="http://schemas.microsoft.com/office/drawing/2014/main" id="{40A32D35-09AC-080F-F4E8-3A489B3C72CF}"/>
                </a:ext>
              </a:extLst>
            </p:cNvPr>
            <p:cNvSpPr txBox="1"/>
            <p:nvPr/>
          </p:nvSpPr>
          <p:spPr>
            <a:xfrm>
              <a:off x="223307" y="2872200"/>
              <a:ext cx="9838799" cy="1219682"/>
            </a:xfrm>
            <a:prstGeom prst="rect">
              <a:avLst/>
            </a:prstGeom>
            <a:ln/>
          </p:spPr>
          <p:style>
            <a:lnRef idx="2">
              <a:schemeClr val="accent1">
                <a:shade val="15000"/>
              </a:schemeClr>
            </a:lnRef>
            <a:fillRef idx="1">
              <a:schemeClr val="accent1"/>
            </a:fillRef>
            <a:effectRef idx="0">
              <a:schemeClr val="accent1"/>
            </a:effectRef>
            <a:fontRef idx="minor">
              <a:schemeClr val="lt1"/>
            </a:fontRef>
          </p:style>
          <p:txBody>
            <a:bodyPr wrap="none" rtlCol="0">
              <a:noAutofit/>
            </a:bodyPr>
            <a:lstStyle/>
            <a:p>
              <a:pPr marL="0" algn="ctr" defTabSz="457200" rtl="0" eaLnBrk="1" latinLnBrk="0" hangingPunct="1"/>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Multiple Return Value</a:t>
              </a:r>
              <a:endParaRPr lang="en-GB" sz="2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pic>
          <p:nvPicPr>
            <p:cNvPr id="5" name="Picture 4">
              <a:extLst>
                <a:ext uri="{FF2B5EF4-FFF2-40B4-BE49-F238E27FC236}">
                  <a16:creationId xmlns:a16="http://schemas.microsoft.com/office/drawing/2014/main" id="{D2FF48D3-DFF0-E642-BAD8-3023BF00E2F0}"/>
                </a:ext>
              </a:extLst>
            </p:cNvPr>
            <p:cNvPicPr>
              <a:picLocks noChangeAspect="1"/>
            </p:cNvPicPr>
            <p:nvPr/>
          </p:nvPicPr>
          <p:blipFill>
            <a:blip r:embed="rId3"/>
            <a:stretch>
              <a:fillRect/>
            </a:stretch>
          </p:blipFill>
          <p:spPr>
            <a:xfrm>
              <a:off x="304696" y="2978294"/>
              <a:ext cx="1063167" cy="1063167"/>
            </a:xfrm>
            <a:prstGeom prst="rect">
              <a:avLst/>
            </a:prstGeom>
            <a:ln w="19050">
              <a:solidFill>
                <a:schemeClr val="bg1"/>
              </a:solidFill>
            </a:ln>
          </p:spPr>
        </p:pic>
      </p:grpSp>
      <p:sp>
        <p:nvSpPr>
          <p:cNvPr id="8" name="TextBox 7">
            <a:extLst>
              <a:ext uri="{FF2B5EF4-FFF2-40B4-BE49-F238E27FC236}">
                <a16:creationId xmlns:a16="http://schemas.microsoft.com/office/drawing/2014/main" id="{AEE03D9B-1535-30F4-8FCF-17698FBE3FB4}"/>
              </a:ext>
            </a:extLst>
          </p:cNvPr>
          <p:cNvSpPr txBox="1"/>
          <p:nvPr/>
        </p:nvSpPr>
        <p:spPr>
          <a:xfrm>
            <a:off x="2203568" y="11856891"/>
            <a:ext cx="5878276" cy="923330"/>
          </a:xfrm>
          <a:prstGeom prst="rect">
            <a:avLst/>
          </a:prstGeom>
          <a:noFill/>
        </p:spPr>
        <p:txBody>
          <a:bodyPr wrap="none" rtlCol="0">
            <a:spAutoFit/>
          </a:bodyPr>
          <a:lstStyle/>
          <a:p>
            <a:r>
              <a:rPr lang="en-GB" sz="5400" b="1" dirty="0"/>
              <a:t>Simple &amp; Powerful: </a:t>
            </a:r>
            <a:endParaRPr lang="en-DE" sz="5400" b="1" dirty="0"/>
          </a:p>
        </p:txBody>
      </p:sp>
      <p:sp>
        <p:nvSpPr>
          <p:cNvPr id="13" name="TextBox 12">
            <a:extLst>
              <a:ext uri="{FF2B5EF4-FFF2-40B4-BE49-F238E27FC236}">
                <a16:creationId xmlns:a16="http://schemas.microsoft.com/office/drawing/2014/main" id="{D7D543BA-0420-574A-E215-D1B9F98B2DBB}"/>
              </a:ext>
            </a:extLst>
          </p:cNvPr>
          <p:cNvSpPr txBox="1"/>
          <p:nvPr/>
        </p:nvSpPr>
        <p:spPr>
          <a:xfrm>
            <a:off x="318055" y="12921039"/>
            <a:ext cx="9649302" cy="1938992"/>
          </a:xfrm>
          <a:prstGeom prst="rect">
            <a:avLst/>
          </a:prstGeom>
          <a:noFill/>
        </p:spPr>
        <p:txBody>
          <a:bodyPr wrap="square" rtlCol="0">
            <a:spAutoFit/>
          </a:bodyPr>
          <a:lstStyle/>
          <a:p>
            <a:pPr algn="ctr"/>
            <a:r>
              <a:rPr lang="en-GB" sz="6000" dirty="0">
                <a:latin typeface="Patrick Hand" pitchFamily="2" charset="77"/>
              </a:rPr>
              <a:t>Return and unpack multiple results in one line</a:t>
            </a:r>
            <a:endParaRPr lang="en-DE" sz="6000" dirty="0">
              <a:latin typeface="Patrick Hand" pitchFamily="2" charset="77"/>
            </a:endParaRPr>
          </a:p>
        </p:txBody>
      </p:sp>
    </p:spTree>
    <p:extLst>
      <p:ext uri="{BB962C8B-B14F-4D97-AF65-F5344CB8AC3E}">
        <p14:creationId xmlns:p14="http://schemas.microsoft.com/office/powerpoint/2010/main" val="3792976105"/>
      </p:ext>
    </p:extLst>
  </p:cSld>
  <p:clrMapOvr>
    <a:masterClrMapping/>
  </p:clrMapOvr>
  <p:extLst>
    <p:ext uri="{6950BFC3-D8DA-4A85-94F7-54DA5524770B}">
      <p188:commentRel xmlns:p188="http://schemas.microsoft.com/office/powerpoint/2018/8/main" r:id="rId2"/>
    </p:ext>
  </p:extLst>
</p:sld>
</file>

<file path=ppt/slides/slide12.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9485E1F7-CF23-F6C8-A9F3-B052EC490A9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D2AAB60-408C-1685-06B6-CEFFA4819386}"/>
              </a:ext>
            </a:extLst>
          </p:cNvPr>
          <p:cNvSpPr txBox="1"/>
          <p:nvPr/>
        </p:nvSpPr>
        <p:spPr>
          <a:xfrm>
            <a:off x="223306" y="4740755"/>
            <a:ext cx="9838800" cy="1433029"/>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oAutofit/>
          </a:bodyPr>
          <a:lstStyle/>
          <a:p>
            <a:pPr marL="0" algn="ctr" defTabSz="457200" rtl="0" eaLnBrk="1" latinLnBrk="0" hangingPunct="1"/>
            <a:r>
              <a:rPr lang="en-US" sz="6600" b="1" spc="50" dirty="0">
                <a:ln w="0"/>
                <a:solidFill>
                  <a:schemeClr val="bg2"/>
                </a:solidFill>
                <a:effectLst>
                  <a:innerShdw blurRad="63500" dist="50800" dir="13500000">
                    <a:srgbClr val="000000">
                      <a:alpha val="50000"/>
                    </a:srgbClr>
                  </a:innerShdw>
                </a:effectLst>
                <a:latin typeface="Patrick Hand" pitchFamily="2" charset="77"/>
              </a:rPr>
              <a:t>Avoid </a:t>
            </a:r>
            <a:r>
              <a:rPr lang="en-US" sz="6600" b="1" spc="50" dirty="0" err="1">
                <a:ln w="0"/>
                <a:solidFill>
                  <a:schemeClr val="bg2"/>
                </a:solidFill>
                <a:effectLst>
                  <a:innerShdw blurRad="63500" dist="50800" dir="13500000">
                    <a:srgbClr val="000000">
                      <a:alpha val="50000"/>
                    </a:srgbClr>
                  </a:innerShdw>
                </a:effectLst>
                <a:latin typeface="Patrick Hand" pitchFamily="2" charset="77"/>
              </a:rPr>
              <a:t>KeyError</a:t>
            </a:r>
            <a:r>
              <a:rPr lang="en-US" sz="6600" b="1" spc="50" dirty="0">
                <a:ln w="0"/>
                <a:solidFill>
                  <a:schemeClr val="bg2"/>
                </a:solidFill>
                <a:effectLst>
                  <a:innerShdw blurRad="63500" dist="50800" dir="13500000">
                    <a:srgbClr val="000000">
                      <a:alpha val="50000"/>
                    </a:srgbClr>
                  </a:innerShdw>
                </a:effectLst>
                <a:latin typeface="Patrick Hand" pitchFamily="2" charset="77"/>
              </a:rPr>
              <a:t> with .get</a:t>
            </a:r>
            <a:endParaRPr lang="en-GB"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B5CAB263-ACE3-34CD-7C70-2104F2C312BA}"/>
              </a:ext>
            </a:extLst>
          </p:cNvPr>
          <p:cNvPicPr>
            <a:picLocks noChangeAspect="1"/>
          </p:cNvPicPr>
          <p:nvPr/>
        </p:nvPicPr>
        <p:blipFill>
          <a:blip r:embed="rId3"/>
          <a:stretch>
            <a:fillRect/>
          </a:stretch>
        </p:blipFill>
        <p:spPr>
          <a:xfrm>
            <a:off x="264001" y="4894976"/>
            <a:ext cx="1063167" cy="1063167"/>
          </a:xfrm>
          <a:prstGeom prst="rect">
            <a:avLst/>
          </a:prstGeom>
        </p:spPr>
      </p:pic>
      <p:sp>
        <p:nvSpPr>
          <p:cNvPr id="9" name="TextBox 8">
            <a:extLst>
              <a:ext uri="{FF2B5EF4-FFF2-40B4-BE49-F238E27FC236}">
                <a16:creationId xmlns:a16="http://schemas.microsoft.com/office/drawing/2014/main" id="{0A7AC106-07E4-D068-1578-18FAC0C9E102}"/>
              </a:ext>
            </a:extLst>
          </p:cNvPr>
          <p:cNvSpPr txBox="1"/>
          <p:nvPr/>
        </p:nvSpPr>
        <p:spPr>
          <a:xfrm>
            <a:off x="3238114" y="13874103"/>
            <a:ext cx="3809184" cy="923330"/>
          </a:xfrm>
          <a:prstGeom prst="rect">
            <a:avLst/>
          </a:prstGeom>
          <a:noFill/>
        </p:spPr>
        <p:txBody>
          <a:bodyPr wrap="none" rtlCol="0">
            <a:spAutoFit/>
          </a:bodyPr>
          <a:lstStyle/>
          <a:p>
            <a:r>
              <a:rPr lang="en-GB" sz="5400" b="1" dirty="0"/>
              <a:t>Safe Access: </a:t>
            </a:r>
            <a:endParaRPr lang="en-DE" sz="5400" b="1" dirty="0"/>
          </a:p>
        </p:txBody>
      </p:sp>
      <p:sp>
        <p:nvSpPr>
          <p:cNvPr id="13" name="TextBox 12">
            <a:extLst>
              <a:ext uri="{FF2B5EF4-FFF2-40B4-BE49-F238E27FC236}">
                <a16:creationId xmlns:a16="http://schemas.microsoft.com/office/drawing/2014/main" id="{9FD6638E-EA6F-32B1-4BFA-0CBD50D4D970}"/>
              </a:ext>
            </a:extLst>
          </p:cNvPr>
          <p:cNvSpPr txBox="1"/>
          <p:nvPr/>
        </p:nvSpPr>
        <p:spPr>
          <a:xfrm>
            <a:off x="1371052" y="15015453"/>
            <a:ext cx="7543309" cy="1938992"/>
          </a:xfrm>
          <a:prstGeom prst="rect">
            <a:avLst/>
          </a:prstGeom>
          <a:noFill/>
        </p:spPr>
        <p:txBody>
          <a:bodyPr wrap="square" rtlCol="0">
            <a:spAutoFit/>
          </a:bodyPr>
          <a:lstStyle/>
          <a:p>
            <a:pPr algn="ctr"/>
            <a:r>
              <a:rPr lang="en-GB" sz="6000" dirty="0">
                <a:latin typeface="Patrick Hand" pitchFamily="2" charset="77"/>
              </a:rPr>
              <a:t>Provide a default value if the key doesn’t exist</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51D7181F-DFC0-6417-899B-A5C5B0470C4D}"/>
              </a:ext>
            </a:extLst>
          </p:cNvPr>
          <p:cNvCxnSpPr>
            <a:cxnSpLocks/>
          </p:cNvCxnSpPr>
          <p:nvPr/>
        </p:nvCxnSpPr>
        <p:spPr>
          <a:xfrm>
            <a:off x="223579" y="1027954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7AD552ED-7D07-BDEF-9B15-300D0F875E1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018372" y="11444957"/>
            <a:ext cx="914400" cy="914400"/>
          </a:xfrm>
          <a:prstGeom prst="rect">
            <a:avLst/>
          </a:prstGeom>
        </p:spPr>
      </p:pic>
      <p:pic>
        <p:nvPicPr>
          <p:cNvPr id="19" name="Graphic 18" descr="Close with solid fill">
            <a:extLst>
              <a:ext uri="{FF2B5EF4-FFF2-40B4-BE49-F238E27FC236}">
                <a16:creationId xmlns:a16="http://schemas.microsoft.com/office/drawing/2014/main" id="{EB24EDD7-6205-82C4-2AD7-44A069C74F3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7018372" y="9030758"/>
            <a:ext cx="914400" cy="914400"/>
          </a:xfrm>
          <a:prstGeom prst="rect">
            <a:avLst/>
          </a:prstGeom>
        </p:spPr>
      </p:pic>
    </p:spTree>
    <p:extLst>
      <p:ext uri="{BB962C8B-B14F-4D97-AF65-F5344CB8AC3E}">
        <p14:creationId xmlns:p14="http://schemas.microsoft.com/office/powerpoint/2010/main" val="2644684110"/>
      </p:ext>
    </p:extLst>
  </p:cSld>
  <p:clrMapOvr>
    <a:masterClrMapping/>
  </p:clrMapOvr>
  <p:extLst>
    <p:ext uri="{6950BFC3-D8DA-4A85-94F7-54DA5524770B}">
      <p188:commentRel xmlns:p188="http://schemas.microsoft.com/office/powerpoint/2018/8/main" r:id="rId2"/>
    </p:ext>
  </p:extLst>
</p:sld>
</file>

<file path=ppt/slides/slide13.xml><?xml version="1.0" encoding="utf-8"?>
<p:sld xmlns:a="http://schemas.openxmlformats.org/drawingml/2006/main" xmlns:r="http://schemas.openxmlformats.org/officeDocument/2006/relationships" xmlns:p="http://schemas.openxmlformats.org/presentationml/2006/main">
  <p:cSld>
    <p:bg>
      <p:bgPr>
        <a:pattFill prst="dashVert">
          <a:fgClr>
            <a:srgbClr val="FFFF00"/>
          </a:fgClr>
          <a:bgClr>
            <a:schemeClr val="bg1"/>
          </a:bgClr>
        </a:pattFill>
        <a:effectLst/>
      </p:bgPr>
    </p:bg>
    <p:spTree>
      <p:nvGrpSpPr>
        <p:cNvPr id="1" name="">
          <a:extLst>
            <a:ext uri="{FF2B5EF4-FFF2-40B4-BE49-F238E27FC236}">
              <a16:creationId xmlns:a16="http://schemas.microsoft.com/office/drawing/2014/main" id="{F4540D2B-D30E-AF7F-284D-05472F22532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D3C74BE-8F9A-C3BA-F073-3F00A5C2D8DD}"/>
              </a:ext>
            </a:extLst>
          </p:cNvPr>
          <p:cNvSpPr txBox="1"/>
          <p:nvPr/>
        </p:nvSpPr>
        <p:spPr>
          <a:xfrm>
            <a:off x="223306" y="4882583"/>
            <a:ext cx="9838800" cy="1189726"/>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oAutofit/>
          </a:bodyPr>
          <a:lstStyle/>
          <a:p>
            <a:pPr marL="0" algn="ctr" defTabSz="457200" rtl="0" eaLnBrk="1" latinLnBrk="0" hangingPunct="1"/>
            <a:r>
              <a:rPr lang="en-US" sz="6000" b="1" dirty="0">
                <a:ln w="0"/>
                <a:solidFill>
                  <a:schemeClr val="tx1"/>
                </a:solidFill>
                <a:effectLst>
                  <a:outerShdw blurRad="38100" dist="19050" dir="2700000" algn="tl" rotWithShape="0">
                    <a:schemeClr val="dk1">
                      <a:alpha val="40000"/>
                    </a:schemeClr>
                  </a:outerShdw>
                </a:effectLst>
                <a:latin typeface="+mj-lt"/>
              </a:rPr>
              <a:t>Stop Nested If-Else</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AC23DFB8-9FCE-D144-E6CE-C62D8AA4E0EC}"/>
              </a:ext>
            </a:extLst>
          </p:cNvPr>
          <p:cNvPicPr>
            <a:picLocks noChangeAspect="1"/>
          </p:cNvPicPr>
          <p:nvPr/>
        </p:nvPicPr>
        <p:blipFill>
          <a:blip r:embed="rId2"/>
          <a:stretch>
            <a:fillRect/>
          </a:stretch>
        </p:blipFill>
        <p:spPr>
          <a:xfrm>
            <a:off x="290127" y="4945362"/>
            <a:ext cx="1063167" cy="1063167"/>
          </a:xfrm>
          <a:prstGeom prst="rect">
            <a:avLst/>
          </a:prstGeom>
        </p:spPr>
      </p:pic>
      <p:sp>
        <p:nvSpPr>
          <p:cNvPr id="13" name="TextBox 12">
            <a:extLst>
              <a:ext uri="{FF2B5EF4-FFF2-40B4-BE49-F238E27FC236}">
                <a16:creationId xmlns:a16="http://schemas.microsoft.com/office/drawing/2014/main" id="{B463719C-9432-1807-1F25-556F880A2BD6}"/>
              </a:ext>
            </a:extLst>
          </p:cNvPr>
          <p:cNvSpPr txBox="1"/>
          <p:nvPr/>
        </p:nvSpPr>
        <p:spPr>
          <a:xfrm>
            <a:off x="0" y="12736086"/>
            <a:ext cx="10285412" cy="1015663"/>
          </a:xfrm>
          <a:prstGeom prst="rect">
            <a:avLst/>
          </a:prstGeom>
          <a:noFill/>
        </p:spPr>
        <p:txBody>
          <a:bodyPr wrap="square" rtlCol="0">
            <a:spAutoFit/>
          </a:bodyPr>
          <a:lstStyle/>
          <a:p>
            <a:pPr algn="ctr"/>
            <a:r>
              <a:rPr lang="en-GB" sz="6000" dirty="0">
                <a:ln w="0"/>
                <a:solidFill>
                  <a:srgbClr val="C00000"/>
                </a:solidFill>
                <a:effectLst>
                  <a:outerShdw blurRad="38100" dist="19050" dir="2700000" algn="tl" rotWithShape="0">
                    <a:schemeClr val="dk1">
                      <a:alpha val="40000"/>
                    </a:schemeClr>
                  </a:outerShdw>
                </a:effectLst>
                <a:latin typeface="Patrick Hand" pitchFamily="2" charset="77"/>
              </a:rPr>
              <a:t>Flatten your code by returning early</a:t>
            </a:r>
            <a:endParaRPr lang="en-DE" sz="6000" dirty="0">
              <a:ln w="0"/>
              <a:solidFill>
                <a:srgbClr val="C00000"/>
              </a:solidFill>
              <a:effectLst>
                <a:outerShdw blurRad="38100" dist="19050" dir="2700000" algn="tl" rotWithShape="0">
                  <a:schemeClr val="dk1">
                    <a:alpha val="40000"/>
                  </a:schemeClr>
                </a:outerShdw>
              </a:effectLst>
              <a:latin typeface="Patrick Hand" pitchFamily="2" charset="77"/>
            </a:endParaRPr>
          </a:p>
        </p:txBody>
      </p:sp>
      <p:cxnSp>
        <p:nvCxnSpPr>
          <p:cNvPr id="17" name="Straight Connector 16">
            <a:extLst>
              <a:ext uri="{FF2B5EF4-FFF2-40B4-BE49-F238E27FC236}">
                <a16:creationId xmlns:a16="http://schemas.microsoft.com/office/drawing/2014/main" id="{343E6290-E5C8-7347-D5D0-0714FE10B5DE}"/>
              </a:ext>
            </a:extLst>
          </p:cNvPr>
          <p:cNvCxnSpPr>
            <a:cxnSpLocks/>
          </p:cNvCxnSpPr>
          <p:nvPr/>
        </p:nvCxnSpPr>
        <p:spPr>
          <a:xfrm>
            <a:off x="223579" y="12799866"/>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17958620-BA30-6ED6-B240-90AD09F25BB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689278" y="11191463"/>
            <a:ext cx="914400" cy="914400"/>
          </a:xfrm>
          <a:prstGeom prst="rect">
            <a:avLst/>
          </a:prstGeom>
        </p:spPr>
      </p:pic>
      <p:pic>
        <p:nvPicPr>
          <p:cNvPr id="19" name="Graphic 18" descr="Close with solid fill">
            <a:extLst>
              <a:ext uri="{FF2B5EF4-FFF2-40B4-BE49-F238E27FC236}">
                <a16:creationId xmlns:a16="http://schemas.microsoft.com/office/drawing/2014/main" id="{0557DAF4-C734-F793-943C-1105F2238B0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689278" y="8493978"/>
            <a:ext cx="914400" cy="914400"/>
          </a:xfrm>
          <a:prstGeom prst="rect">
            <a:avLst/>
          </a:prstGeom>
        </p:spPr>
      </p:pic>
    </p:spTree>
    <p:extLst>
      <p:ext uri="{BB962C8B-B14F-4D97-AF65-F5344CB8AC3E}">
        <p14:creationId xmlns:p14="http://schemas.microsoft.com/office/powerpoint/2010/main" val="359263760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a:extLst>
            <a:ext uri="{FF2B5EF4-FFF2-40B4-BE49-F238E27FC236}">
              <a16:creationId xmlns:a16="http://schemas.microsoft.com/office/drawing/2014/main" id="{656F2E0E-FFBE-6249-EF00-B6BD9872615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3411C09-F441-2209-3B70-426112066B8E}"/>
              </a:ext>
            </a:extLst>
          </p:cNvPr>
          <p:cNvSpPr txBox="1"/>
          <p:nvPr/>
        </p:nvSpPr>
        <p:spPr>
          <a:xfrm>
            <a:off x="223306" y="4691271"/>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oAutofit/>
          </a:bodyPr>
          <a:lstStyle/>
          <a:p>
            <a:pPr algn="ctr"/>
            <a:r>
              <a:rPr lang="en-GB" sz="6600" dirty="0">
                <a:ln w="0"/>
                <a:solidFill>
                  <a:schemeClr val="tx1"/>
                </a:solidFill>
                <a:effectLst>
                  <a:outerShdw blurRad="38100" dist="19050" dir="2700000" algn="tl" rotWithShape="0">
                    <a:schemeClr val="dk1">
                      <a:alpha val="40000"/>
                    </a:schemeClr>
                  </a:outerShdw>
                </a:effectLst>
                <a:latin typeface="Patrick Hand" pitchFamily="2" charset="77"/>
              </a:rPr>
              <a:t>Simplify Nested Access</a:t>
            </a:r>
            <a:endParaRPr lang="en-GB"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8" name="TextBox 7">
            <a:extLst>
              <a:ext uri="{FF2B5EF4-FFF2-40B4-BE49-F238E27FC236}">
                <a16:creationId xmlns:a16="http://schemas.microsoft.com/office/drawing/2014/main" id="{02929DF9-28B4-596B-3779-93529974DF88}"/>
              </a:ext>
            </a:extLst>
          </p:cNvPr>
          <p:cNvSpPr txBox="1"/>
          <p:nvPr/>
        </p:nvSpPr>
        <p:spPr>
          <a:xfrm>
            <a:off x="2372910" y="12785470"/>
            <a:ext cx="5539593" cy="1015663"/>
          </a:xfrm>
          <a:prstGeom prst="rect">
            <a:avLst/>
          </a:prstGeom>
          <a:noFill/>
        </p:spPr>
        <p:txBody>
          <a:bodyPr wrap="none" rtlCol="0">
            <a:spAutoFit/>
          </a:bodyPr>
          <a:lstStyle/>
          <a:p>
            <a:r>
              <a:rPr lang="en-GB" sz="6000" b="1" dirty="0"/>
              <a:t>Safe Navigation: </a:t>
            </a:r>
            <a:endParaRPr lang="en-DE" sz="6000" b="1" dirty="0"/>
          </a:p>
        </p:txBody>
      </p:sp>
      <p:sp>
        <p:nvSpPr>
          <p:cNvPr id="13" name="TextBox 12">
            <a:extLst>
              <a:ext uri="{FF2B5EF4-FFF2-40B4-BE49-F238E27FC236}">
                <a16:creationId xmlns:a16="http://schemas.microsoft.com/office/drawing/2014/main" id="{2FE2217F-C2F1-2F4F-83A7-73EBD6CE883E}"/>
              </a:ext>
            </a:extLst>
          </p:cNvPr>
          <p:cNvSpPr txBox="1"/>
          <p:nvPr/>
        </p:nvSpPr>
        <p:spPr>
          <a:xfrm>
            <a:off x="324721" y="13790373"/>
            <a:ext cx="9635971" cy="1015663"/>
          </a:xfrm>
          <a:prstGeom prst="rect">
            <a:avLst/>
          </a:prstGeom>
          <a:noFill/>
        </p:spPr>
        <p:txBody>
          <a:bodyPr wrap="none" rtlCol="0">
            <a:spAutoFit/>
          </a:bodyPr>
          <a:lstStyle/>
          <a:p>
            <a:r>
              <a:rPr lang="en-GB" sz="6000" dirty="0">
                <a:latin typeface="Patrick Hand" pitchFamily="2" charset="77"/>
              </a:rPr>
              <a:t>Access nested values line-by-line </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9AB62778-ADFC-8F9C-FB2F-C6552796C562}"/>
              </a:ext>
            </a:extLst>
          </p:cNvPr>
          <p:cNvCxnSpPr>
            <a:cxnSpLocks/>
          </p:cNvCxnSpPr>
          <p:nvPr/>
        </p:nvCxnSpPr>
        <p:spPr>
          <a:xfrm>
            <a:off x="223579" y="12132642"/>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7D45EB65-7112-0EB0-9B6E-C9CD15F47E6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247354" y="9981872"/>
            <a:ext cx="914400" cy="914400"/>
          </a:xfrm>
          <a:prstGeom prst="rect">
            <a:avLst/>
          </a:prstGeom>
        </p:spPr>
      </p:pic>
      <p:pic>
        <p:nvPicPr>
          <p:cNvPr id="19" name="Graphic 18" descr="Close with solid fill">
            <a:extLst>
              <a:ext uri="{FF2B5EF4-FFF2-40B4-BE49-F238E27FC236}">
                <a16:creationId xmlns:a16="http://schemas.microsoft.com/office/drawing/2014/main" id="{E309D260-B766-F1FF-6112-14AF040E356A}"/>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580859" y="10124358"/>
            <a:ext cx="914400" cy="914400"/>
          </a:xfrm>
          <a:prstGeom prst="rect">
            <a:avLst/>
          </a:prstGeom>
        </p:spPr>
      </p:pic>
      <p:pic>
        <p:nvPicPr>
          <p:cNvPr id="3" name="Picture 2">
            <a:extLst>
              <a:ext uri="{FF2B5EF4-FFF2-40B4-BE49-F238E27FC236}">
                <a16:creationId xmlns:a16="http://schemas.microsoft.com/office/drawing/2014/main" id="{632B8096-E902-961A-15A8-93FEB8CB072D}"/>
              </a:ext>
            </a:extLst>
          </p:cNvPr>
          <p:cNvPicPr>
            <a:picLocks noChangeAspect="1"/>
          </p:cNvPicPr>
          <p:nvPr/>
        </p:nvPicPr>
        <p:blipFill>
          <a:blip r:embed="rId7"/>
          <a:stretch>
            <a:fillRect/>
          </a:stretch>
        </p:blipFill>
        <p:spPr>
          <a:xfrm>
            <a:off x="295124" y="4786755"/>
            <a:ext cx="1062000" cy="1062000"/>
          </a:xfrm>
          <a:prstGeom prst="rect">
            <a:avLst/>
          </a:prstGeom>
        </p:spPr>
      </p:pic>
      <p:cxnSp>
        <p:nvCxnSpPr>
          <p:cNvPr id="20" name="Straight Connector 19">
            <a:extLst>
              <a:ext uri="{FF2B5EF4-FFF2-40B4-BE49-F238E27FC236}">
                <a16:creationId xmlns:a16="http://schemas.microsoft.com/office/drawing/2014/main" id="{9C2BEBA6-3540-099F-950A-DFE7B0760A09}"/>
              </a:ext>
            </a:extLst>
          </p:cNvPr>
          <p:cNvCxnSpPr>
            <a:cxnSpLocks/>
          </p:cNvCxnSpPr>
          <p:nvPr/>
        </p:nvCxnSpPr>
        <p:spPr>
          <a:xfrm>
            <a:off x="216954" y="9005127"/>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65848037"/>
      </p:ext>
    </p:extLst>
  </p:cSld>
  <p:clrMapOvr>
    <a:masterClrMapping/>
  </p:clrMapOvr>
  <p:extLst>
    <p:ext uri="{6950BFC3-D8DA-4A85-94F7-54DA5524770B}">
      <p188:commentRel xmlns:p188="http://schemas.microsoft.com/office/powerpoint/2018/8/main" r:id="rId2"/>
    </p:ext>
  </p:extLst>
</p:sld>
</file>

<file path=ppt/slides/slide15.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A7DFCB3F-DBDA-5E9F-CEE7-A29D2E947F6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E69985D-32A1-133A-560E-545071650182}"/>
              </a:ext>
            </a:extLst>
          </p:cNvPr>
          <p:cNvSpPr txBox="1"/>
          <p:nvPr/>
        </p:nvSpPr>
        <p:spPr>
          <a:xfrm>
            <a:off x="223306" y="4711150"/>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oAutofit/>
          </a:bodyPr>
          <a:lstStyle/>
          <a:p>
            <a:pPr algn="ctr"/>
            <a:r>
              <a:rPr lang="en-GB" sz="6600" dirty="0">
                <a:ln w="0"/>
                <a:solidFill>
                  <a:schemeClr val="tx1"/>
                </a:solidFill>
                <a:effectLst>
                  <a:outerShdw blurRad="38100" dist="19050" dir="2700000" algn="tl" rotWithShape="0">
                    <a:schemeClr val="dk1">
                      <a:alpha val="40000"/>
                    </a:schemeClr>
                  </a:outerShdw>
                </a:effectLst>
                <a:latin typeface="Patrick Hand" pitchFamily="2" charset="77"/>
              </a:rPr>
              <a:t>Proper Default Values</a:t>
            </a:r>
            <a:endParaRPr lang="en-GB"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8" name="TextBox 7">
            <a:extLst>
              <a:ext uri="{FF2B5EF4-FFF2-40B4-BE49-F238E27FC236}">
                <a16:creationId xmlns:a16="http://schemas.microsoft.com/office/drawing/2014/main" id="{0FB6466C-E2D3-5BB5-C081-E0B032E8D95E}"/>
              </a:ext>
            </a:extLst>
          </p:cNvPr>
          <p:cNvSpPr txBox="1"/>
          <p:nvPr/>
        </p:nvSpPr>
        <p:spPr>
          <a:xfrm>
            <a:off x="1994761" y="13143279"/>
            <a:ext cx="6295891" cy="1015663"/>
          </a:xfrm>
          <a:prstGeom prst="rect">
            <a:avLst/>
          </a:prstGeom>
          <a:noFill/>
        </p:spPr>
        <p:txBody>
          <a:bodyPr wrap="none" rtlCol="0">
            <a:spAutoFit/>
          </a:bodyPr>
          <a:lstStyle/>
          <a:p>
            <a:r>
              <a:rPr lang="en-GB" sz="6000" b="1" dirty="0"/>
              <a:t>Precision Defaults: </a:t>
            </a:r>
            <a:endParaRPr lang="en-DE" sz="6000" b="1" dirty="0"/>
          </a:p>
        </p:txBody>
      </p:sp>
      <p:sp>
        <p:nvSpPr>
          <p:cNvPr id="13" name="TextBox 12">
            <a:extLst>
              <a:ext uri="{FF2B5EF4-FFF2-40B4-BE49-F238E27FC236}">
                <a16:creationId xmlns:a16="http://schemas.microsoft.com/office/drawing/2014/main" id="{F3BD1735-8985-8256-67B3-05BD77A49ADA}"/>
              </a:ext>
            </a:extLst>
          </p:cNvPr>
          <p:cNvSpPr txBox="1"/>
          <p:nvPr/>
        </p:nvSpPr>
        <p:spPr>
          <a:xfrm>
            <a:off x="158008" y="14148182"/>
            <a:ext cx="9969396" cy="1015663"/>
          </a:xfrm>
          <a:prstGeom prst="rect">
            <a:avLst/>
          </a:prstGeom>
          <a:noFill/>
        </p:spPr>
        <p:txBody>
          <a:bodyPr wrap="none" rtlCol="0">
            <a:spAutoFit/>
          </a:bodyPr>
          <a:lstStyle/>
          <a:p>
            <a:r>
              <a:rPr lang="en-GB" sz="6000" dirty="0">
                <a:latin typeface="Patrick Hand" pitchFamily="2" charset="77"/>
              </a:rPr>
              <a:t>Use ?? To handle null and undefined</a:t>
            </a:r>
            <a:endParaRPr lang="en-DE" sz="6000" dirty="0">
              <a:latin typeface="Patrick Hand" pitchFamily="2" charset="77"/>
            </a:endParaRPr>
          </a:p>
        </p:txBody>
      </p:sp>
      <p:pic>
        <p:nvPicPr>
          <p:cNvPr id="18" name="Graphic 17" descr="Shield Tick with solid fill">
            <a:extLst>
              <a:ext uri="{FF2B5EF4-FFF2-40B4-BE49-F238E27FC236}">
                <a16:creationId xmlns:a16="http://schemas.microsoft.com/office/drawing/2014/main" id="{8CA46C9F-5635-B18F-C0D5-486A750B4AC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54048" y="9759930"/>
            <a:ext cx="914400" cy="914400"/>
          </a:xfrm>
          <a:prstGeom prst="rect">
            <a:avLst/>
          </a:prstGeom>
        </p:spPr>
      </p:pic>
      <p:pic>
        <p:nvPicPr>
          <p:cNvPr id="19" name="Graphic 18" descr="Close with solid fill">
            <a:extLst>
              <a:ext uri="{FF2B5EF4-FFF2-40B4-BE49-F238E27FC236}">
                <a16:creationId xmlns:a16="http://schemas.microsoft.com/office/drawing/2014/main" id="{E78D45BA-2387-8D65-95CD-92DA3F514E2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216966" y="9623125"/>
            <a:ext cx="914400" cy="914400"/>
          </a:xfrm>
          <a:prstGeom prst="rect">
            <a:avLst/>
          </a:prstGeom>
        </p:spPr>
      </p:pic>
      <p:pic>
        <p:nvPicPr>
          <p:cNvPr id="3" name="Picture 2">
            <a:extLst>
              <a:ext uri="{FF2B5EF4-FFF2-40B4-BE49-F238E27FC236}">
                <a16:creationId xmlns:a16="http://schemas.microsoft.com/office/drawing/2014/main" id="{265DA11A-38F0-02D1-8A40-0EC8D8F1B8C0}"/>
              </a:ext>
            </a:extLst>
          </p:cNvPr>
          <p:cNvPicPr>
            <a:picLocks noChangeAspect="1"/>
          </p:cNvPicPr>
          <p:nvPr/>
        </p:nvPicPr>
        <p:blipFill>
          <a:blip r:embed="rId8"/>
          <a:stretch>
            <a:fillRect/>
          </a:stretch>
        </p:blipFill>
        <p:spPr>
          <a:xfrm>
            <a:off x="295124" y="4806634"/>
            <a:ext cx="1062000" cy="1062000"/>
          </a:xfrm>
          <a:prstGeom prst="rect">
            <a:avLst/>
          </a:prstGeom>
        </p:spPr>
      </p:pic>
      <p:cxnSp>
        <p:nvCxnSpPr>
          <p:cNvPr id="20" name="Straight Connector 19">
            <a:extLst>
              <a:ext uri="{FF2B5EF4-FFF2-40B4-BE49-F238E27FC236}">
                <a16:creationId xmlns:a16="http://schemas.microsoft.com/office/drawing/2014/main" id="{4098081C-27D8-0BFB-DDFB-CCA6621438D0}"/>
              </a:ext>
            </a:extLst>
          </p:cNvPr>
          <p:cNvCxnSpPr>
            <a:cxnSpLocks/>
          </p:cNvCxnSpPr>
          <p:nvPr/>
        </p:nvCxnSpPr>
        <p:spPr>
          <a:xfrm>
            <a:off x="216954" y="9223788"/>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51649369"/>
      </p:ext>
    </p:extLst>
  </p:cSld>
  <p:clrMapOvr>
    <a:masterClrMapping/>
  </p:clrMapOvr>
  <p:extLst>
    <p:ext uri="{6950BFC3-D8DA-4A85-94F7-54DA5524770B}">
      <p188:commentRel xmlns:p188="http://schemas.microsoft.com/office/powerpoint/2018/8/main" r:id="rId2"/>
    </p:ext>
  </p:extLst>
</p:sld>
</file>

<file path=ppt/slides/slide16.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tile tx="0" ty="0" sx="100000" sy="100000" flip="none" algn="tl"/>
        </a:blipFill>
        <a:effectLst/>
      </p:bgPr>
    </p:bg>
    <p:spTree>
      <p:nvGrpSpPr>
        <p:cNvPr id="1" name="">
          <a:extLst>
            <a:ext uri="{FF2B5EF4-FFF2-40B4-BE49-F238E27FC236}">
              <a16:creationId xmlns:a16="http://schemas.microsoft.com/office/drawing/2014/main" id="{A218F880-590C-26F1-99BB-2A48DF80D1F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37098FD-4147-4F55-8BEF-B0FCC793F657}"/>
              </a:ext>
            </a:extLst>
          </p:cNvPr>
          <p:cNvSpPr txBox="1"/>
          <p:nvPr/>
        </p:nvSpPr>
        <p:spPr>
          <a:xfrm>
            <a:off x="223306" y="4810542"/>
            <a:ext cx="9838800" cy="1236996"/>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chorCtr="0">
            <a:noAutofit/>
          </a:bodyPr>
          <a:lstStyle/>
          <a:p>
            <a:pPr marL="0" algn="r" defTabSz="457200" rtl="0" eaLnBrk="1" latinLnBrk="0" hangingPunct="1"/>
            <a:r>
              <a:rPr lang="en-US" sz="5400" b="1" dirty="0">
                <a:ln w="0"/>
                <a:solidFill>
                  <a:schemeClr val="tx1"/>
                </a:solidFill>
                <a:effectLst>
                  <a:outerShdw blurRad="38100" dist="19050" dir="2700000" algn="tl" rotWithShape="0">
                    <a:schemeClr val="dk1">
                      <a:alpha val="40000"/>
                    </a:schemeClr>
                  </a:outerShdw>
                </a:effectLst>
                <a:latin typeface="+mj-lt"/>
              </a:rPr>
              <a:t>Interface: Open </a:t>
            </a:r>
            <a:r>
              <a:rPr lang="en-US" sz="5400" b="1"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latin typeface="+mj-lt"/>
              </a:rPr>
              <a:t>vs</a:t>
            </a:r>
            <a:r>
              <a:rPr lang="en-US" sz="5400" dirty="0">
                <a:ln w="0"/>
                <a:solidFill>
                  <a:schemeClr val="tx1"/>
                </a:solidFill>
                <a:effectLst>
                  <a:outerShdw blurRad="38100" dist="19050" dir="2700000" algn="tl" rotWithShape="0">
                    <a:schemeClr val="dk1">
                      <a:alpha val="40000"/>
                    </a:schemeClr>
                  </a:outerShdw>
                </a:effectLst>
                <a:latin typeface="+mj-lt"/>
              </a:rPr>
              <a:t> </a:t>
            </a:r>
            <a:r>
              <a:rPr lang="en-US" sz="5400" b="1" dirty="0">
                <a:ln w="0"/>
                <a:solidFill>
                  <a:schemeClr val="tx1"/>
                </a:solidFill>
                <a:effectLst>
                  <a:outerShdw blurRad="38100" dist="19050" dir="2700000" algn="tl" rotWithShape="0">
                    <a:schemeClr val="dk1">
                      <a:alpha val="40000"/>
                    </a:schemeClr>
                  </a:outerShdw>
                </a:effectLst>
                <a:latin typeface="+mj-lt"/>
              </a:rPr>
              <a:t>Type: Closed</a:t>
            </a:r>
            <a:endParaRPr lang="en-GB" sz="48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61CBFAA9-4023-9E23-F9CF-34BA937F076A}"/>
              </a:ext>
            </a:extLst>
          </p:cNvPr>
          <p:cNvSpPr txBox="1"/>
          <p:nvPr/>
        </p:nvSpPr>
        <p:spPr>
          <a:xfrm>
            <a:off x="223306" y="12057329"/>
            <a:ext cx="9838256" cy="1966526"/>
          </a:xfrm>
          <a:prstGeom prst="rect">
            <a:avLst/>
          </a:prstGeom>
          <a:noFill/>
        </p:spPr>
        <p:txBody>
          <a:bodyPr wrap="square" rtlCol="0">
            <a:noAutofit/>
          </a:bodyPr>
          <a:lstStyle/>
          <a:p>
            <a:pPr algn="ctr"/>
            <a:r>
              <a:rPr lang="en-GB" sz="6000" u="sng" dirty="0">
                <a:latin typeface="Patrick Hand" pitchFamily="2" charset="77"/>
              </a:rPr>
              <a:t>Interfaces</a:t>
            </a:r>
            <a:r>
              <a:rPr lang="en-GB" sz="6000" dirty="0">
                <a:latin typeface="Patrick Hand" pitchFamily="2" charset="77"/>
              </a:rPr>
              <a:t> are open to expansion, </a:t>
            </a:r>
            <a:r>
              <a:rPr lang="en-GB" sz="6000" u="sng" dirty="0">
                <a:latin typeface="Patrick Hand" pitchFamily="2" charset="77"/>
              </a:rPr>
              <a:t>Types</a:t>
            </a:r>
            <a:r>
              <a:rPr lang="en-GB" sz="6000" dirty="0">
                <a:latin typeface="Patrick Hand" pitchFamily="2" charset="77"/>
              </a:rPr>
              <a:t> are closed.</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E9368333-45B9-51BC-1E83-3F4D7D4C3812}"/>
              </a:ext>
            </a:extLst>
          </p:cNvPr>
          <p:cNvCxnSpPr>
            <a:cxnSpLocks/>
          </p:cNvCxnSpPr>
          <p:nvPr/>
        </p:nvCxnSpPr>
        <p:spPr>
          <a:xfrm>
            <a:off x="223307" y="9132826"/>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80689270-E209-C450-2549-F140E393E679}"/>
              </a:ext>
            </a:extLst>
          </p:cNvPr>
          <p:cNvPicPr>
            <a:picLocks noChangeAspect="1"/>
          </p:cNvPicPr>
          <p:nvPr/>
        </p:nvPicPr>
        <p:blipFill>
          <a:blip r:embed="rId4"/>
          <a:stretch>
            <a:fillRect/>
          </a:stretch>
        </p:blipFill>
        <p:spPr>
          <a:xfrm>
            <a:off x="232778" y="4906026"/>
            <a:ext cx="1062000" cy="1062000"/>
          </a:xfrm>
          <a:prstGeom prst="rect">
            <a:avLst/>
          </a:prstGeom>
        </p:spPr>
      </p:pic>
    </p:spTree>
    <p:extLst>
      <p:ext uri="{BB962C8B-B14F-4D97-AF65-F5344CB8AC3E}">
        <p14:creationId xmlns:p14="http://schemas.microsoft.com/office/powerpoint/2010/main" val="755062863"/>
      </p:ext>
    </p:extLst>
  </p:cSld>
  <p:clrMapOvr>
    <a:masterClrMapping/>
  </p:clrMapOvr>
  <p:extLst>
    <p:ext uri="{6950BFC3-D8DA-4A85-94F7-54DA5524770B}">
      <p188:commentRel xmlns:p188="http://schemas.microsoft.com/office/powerpoint/2018/8/main" r:id="rId2"/>
    </p:ext>
  </p:extLst>
</p:sld>
</file>

<file path=ppt/slides/slide17.xml><?xml version="1.0" encoding="utf-8"?>
<p:sld xmlns:a="http://schemas.openxmlformats.org/drawingml/2006/main" xmlns:r="http://schemas.openxmlformats.org/officeDocument/2006/relationships" xmlns:p="http://schemas.openxmlformats.org/presentationml/2006/main">
  <p:cSld>
    <p:bg>
      <p:bgPr>
        <a:pattFill prst="diagBrick">
          <a:fgClr>
            <a:schemeClr val="accent3"/>
          </a:fgClr>
          <a:bgClr>
            <a:schemeClr val="bg1"/>
          </a:bgClr>
        </a:pattFill>
        <a:effectLst/>
      </p:bgPr>
    </p:bg>
    <p:spTree>
      <p:nvGrpSpPr>
        <p:cNvPr id="1" name="">
          <a:extLst>
            <a:ext uri="{FF2B5EF4-FFF2-40B4-BE49-F238E27FC236}">
              <a16:creationId xmlns:a16="http://schemas.microsoft.com/office/drawing/2014/main" id="{C6F5C373-0FDD-19EF-6BF8-FCCB7265811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C70B594-D22D-ACB6-998B-6388692A6559}"/>
              </a:ext>
            </a:extLst>
          </p:cNvPr>
          <p:cNvSpPr txBox="1"/>
          <p:nvPr/>
        </p:nvSpPr>
        <p:spPr>
          <a:xfrm>
            <a:off x="223306" y="4673426"/>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marL="0" algn="ctr" defTabSz="457200" rtl="0" eaLnBrk="1" latinLnBrk="0" hangingPunct="1"/>
            <a:r>
              <a:rPr lang="en-US" sz="7200" b="1" dirty="0">
                <a:ln w="0"/>
                <a:solidFill>
                  <a:schemeClr val="tx1"/>
                </a:solidFill>
                <a:effectLst>
                  <a:outerShdw blurRad="38100" dist="19050" dir="2700000" algn="tl" rotWithShape="0">
                    <a:schemeClr val="dk1">
                      <a:alpha val="40000"/>
                    </a:schemeClr>
                  </a:outerShdw>
                </a:effectLst>
                <a:latin typeface="+mj-lt"/>
              </a:rPr>
              <a:t>Union Types</a:t>
            </a:r>
            <a:endParaRPr lang="en-GB" sz="66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5DB19DD8-CAE1-EED2-641D-73C2315F0895}"/>
              </a:ext>
            </a:extLst>
          </p:cNvPr>
          <p:cNvSpPr txBox="1"/>
          <p:nvPr/>
        </p:nvSpPr>
        <p:spPr>
          <a:xfrm>
            <a:off x="451219" y="11080552"/>
            <a:ext cx="9610887" cy="1966526"/>
          </a:xfrm>
          <a:prstGeom prst="rect">
            <a:avLst/>
          </a:prstGeom>
          <a:noFill/>
        </p:spPr>
        <p:txBody>
          <a:bodyPr wrap="square" rtlCol="0">
            <a:noAutofit/>
          </a:bodyPr>
          <a:lstStyle/>
          <a:p>
            <a:pPr algn="ctr"/>
            <a:r>
              <a:rPr lang="en-GB" sz="60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Restrict a variable to only specific allowed values</a:t>
            </a:r>
            <a:endParaRPr lang="en-DE" sz="60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pic>
        <p:nvPicPr>
          <p:cNvPr id="3" name="Picture 2">
            <a:extLst>
              <a:ext uri="{FF2B5EF4-FFF2-40B4-BE49-F238E27FC236}">
                <a16:creationId xmlns:a16="http://schemas.microsoft.com/office/drawing/2014/main" id="{14DD1110-638E-980C-71C6-C00001B8E77E}"/>
              </a:ext>
            </a:extLst>
          </p:cNvPr>
          <p:cNvPicPr>
            <a:picLocks noChangeAspect="1"/>
          </p:cNvPicPr>
          <p:nvPr/>
        </p:nvPicPr>
        <p:blipFill>
          <a:blip r:embed="rId3"/>
          <a:stretch>
            <a:fillRect/>
          </a:stretch>
        </p:blipFill>
        <p:spPr>
          <a:xfrm>
            <a:off x="321693" y="4768910"/>
            <a:ext cx="1062000" cy="1062000"/>
          </a:xfrm>
          <a:prstGeom prst="rect">
            <a:avLst/>
          </a:prstGeom>
        </p:spPr>
      </p:pic>
    </p:spTree>
    <p:extLst>
      <p:ext uri="{BB962C8B-B14F-4D97-AF65-F5344CB8AC3E}">
        <p14:creationId xmlns:p14="http://schemas.microsoft.com/office/powerpoint/2010/main" val="2890698737"/>
      </p:ext>
    </p:extLst>
  </p:cSld>
  <p:clrMapOvr>
    <a:masterClrMapping/>
  </p:clrMapOvr>
  <p:extLst>
    <p:ext uri="{6950BFC3-D8DA-4A85-94F7-54DA5524770B}">
      <p188:commentRel xmlns:p188="http://schemas.microsoft.com/office/powerpoint/2018/8/main" r:id="rId2"/>
    </p:ext>
  </p:extLst>
</p:sld>
</file>

<file path=ppt/slides/slide1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E4B702BD-0757-966A-536F-76E7476D421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320FBFD-F3C6-1494-EA76-D086BCED2656}"/>
              </a:ext>
            </a:extLst>
          </p:cNvPr>
          <p:cNvSpPr txBox="1"/>
          <p:nvPr/>
        </p:nvSpPr>
        <p:spPr>
          <a:xfrm>
            <a:off x="223306" y="4752938"/>
            <a:ext cx="98388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rtlCol="0" anchor="ctr" anchorCtr="0">
            <a:noAutofit/>
          </a:bodyPr>
          <a:lstStyle/>
          <a:p>
            <a:pPr marL="0" algn="r" defTabSz="457200" rtl="0" eaLnBrk="1" latinLnBrk="0" hangingPunct="1"/>
            <a:r>
              <a:rPr lang="en-US" sz="5400" b="1" dirty="0">
                <a:ln w="0"/>
                <a:solidFill>
                  <a:schemeClr val="tx1"/>
                </a:solidFill>
                <a:effectLst>
                  <a:outerShdw blurRad="38100" dist="19050" dir="2700000" algn="tl" rotWithShape="0">
                    <a:schemeClr val="dk1">
                      <a:alpha val="40000"/>
                    </a:schemeClr>
                  </a:outerShdw>
                </a:effectLst>
                <a:latin typeface="+mj-lt"/>
              </a:rPr>
              <a:t>Lock your Data With </a:t>
            </a:r>
            <a:r>
              <a:rPr lang="en-US" sz="5400" b="1" u="sng" dirty="0" err="1">
                <a:ln w="0"/>
                <a:solidFill>
                  <a:schemeClr val="tx1"/>
                </a:solidFill>
                <a:effectLst>
                  <a:outerShdw blurRad="38100" dist="19050" dir="2700000" algn="tl" rotWithShape="0">
                    <a:schemeClr val="dk1">
                      <a:alpha val="40000"/>
                    </a:schemeClr>
                  </a:outerShdw>
                </a:effectLst>
                <a:latin typeface="+mj-lt"/>
              </a:rPr>
              <a:t>readonly</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DA2E68E7-2083-C2A6-F130-5A7706C87C7B}"/>
              </a:ext>
            </a:extLst>
          </p:cNvPr>
          <p:cNvSpPr txBox="1"/>
          <p:nvPr/>
        </p:nvSpPr>
        <p:spPr>
          <a:xfrm>
            <a:off x="0" y="11240794"/>
            <a:ext cx="9610887" cy="1966526"/>
          </a:xfrm>
          <a:prstGeom prst="rect">
            <a:avLst/>
          </a:prstGeom>
          <a:noFill/>
        </p:spPr>
        <p:txBody>
          <a:bodyPr wrap="square" rtlCol="0">
            <a:noAutofit/>
          </a:bodyPr>
          <a:lstStyle/>
          <a:p>
            <a:pPr algn="ctr"/>
            <a:r>
              <a:rPr lang="en-GB" sz="60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Prevent accidental changes to critical object properties</a:t>
            </a:r>
            <a:endParaRPr lang="en-DE" sz="60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endParaRPr>
          </a:p>
        </p:txBody>
      </p:sp>
      <p:pic>
        <p:nvPicPr>
          <p:cNvPr id="3" name="Picture 2">
            <a:extLst>
              <a:ext uri="{FF2B5EF4-FFF2-40B4-BE49-F238E27FC236}">
                <a16:creationId xmlns:a16="http://schemas.microsoft.com/office/drawing/2014/main" id="{AF82BE81-68F0-9AE3-2EF2-8F7ACAFEA132}"/>
              </a:ext>
            </a:extLst>
          </p:cNvPr>
          <p:cNvPicPr>
            <a:picLocks noChangeAspect="1"/>
          </p:cNvPicPr>
          <p:nvPr/>
        </p:nvPicPr>
        <p:blipFill>
          <a:blip r:embed="rId2"/>
          <a:stretch>
            <a:fillRect/>
          </a:stretch>
        </p:blipFill>
        <p:spPr>
          <a:xfrm>
            <a:off x="321693" y="4848422"/>
            <a:ext cx="1062000" cy="1062000"/>
          </a:xfrm>
          <a:prstGeom prst="rect">
            <a:avLst/>
          </a:prstGeom>
        </p:spPr>
      </p:pic>
    </p:spTree>
    <p:extLst>
      <p:ext uri="{BB962C8B-B14F-4D97-AF65-F5344CB8AC3E}">
        <p14:creationId xmlns:p14="http://schemas.microsoft.com/office/powerpoint/2010/main" val="108155906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50000"/>
            <a:lum/>
          </a:blip>
          <a:srcRect/>
          <a:tile tx="0" ty="0" sx="100000" sy="100000" flip="none" algn="tl"/>
        </a:blipFill>
        <a:effectLst/>
      </p:bgPr>
    </p:bg>
    <p:spTree>
      <p:nvGrpSpPr>
        <p:cNvPr id="1" name="">
          <a:extLst>
            <a:ext uri="{FF2B5EF4-FFF2-40B4-BE49-F238E27FC236}">
              <a16:creationId xmlns:a16="http://schemas.microsoft.com/office/drawing/2014/main" id="{ACCAD94B-817E-A155-61D3-6891D2303A1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633A1C1-5BD8-6EA4-2916-2C36567F4C7A}"/>
              </a:ext>
            </a:extLst>
          </p:cNvPr>
          <p:cNvSpPr txBox="1"/>
          <p:nvPr/>
        </p:nvSpPr>
        <p:spPr>
          <a:xfrm>
            <a:off x="223306" y="5408921"/>
            <a:ext cx="9838800" cy="1236996"/>
          </a:xfrm>
          <a:prstGeom prst="rect">
            <a:avLst/>
          </a:prstGeom>
          <a:ln/>
        </p:spPr>
        <p:style>
          <a:lnRef idx="0">
            <a:schemeClr val="accent2"/>
          </a:lnRef>
          <a:fillRef idx="3">
            <a:schemeClr val="accent2"/>
          </a:fillRef>
          <a:effectRef idx="3">
            <a:schemeClr val="accent2"/>
          </a:effectRef>
          <a:fontRef idx="minor">
            <a:schemeClr val="lt1"/>
          </a:fontRef>
        </p:style>
        <p:txBody>
          <a:bodyPr wrap="square" rtlCol="0" anchor="ctr" anchorCtr="0">
            <a:noAutofit/>
          </a:bodyPr>
          <a:lstStyle/>
          <a:p>
            <a:pPr marL="0" algn="ctr" defTabSz="457200" rtl="0" eaLnBrk="1" latinLnBrk="0" hangingPunct="1"/>
            <a:r>
              <a:rPr lang="en-US" sz="5400" b="1" dirty="0">
                <a:ln w="0"/>
                <a:solidFill>
                  <a:schemeClr val="tx1"/>
                </a:solidFill>
                <a:effectLst>
                  <a:outerShdw blurRad="38100" dist="19050" dir="2700000" algn="tl" rotWithShape="0">
                    <a:schemeClr val="dk1">
                      <a:alpha val="40000"/>
                    </a:schemeClr>
                  </a:outerShdw>
                </a:effectLst>
                <a:latin typeface="+mj-lt"/>
              </a:rPr>
              <a:t>The Power of Partial&lt;T&gt;</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CD9B6027-BD01-9C18-5050-9867721F947E}"/>
              </a:ext>
            </a:extLst>
          </p:cNvPr>
          <p:cNvSpPr txBox="1"/>
          <p:nvPr/>
        </p:nvSpPr>
        <p:spPr>
          <a:xfrm>
            <a:off x="0" y="10609432"/>
            <a:ext cx="9610887" cy="1966526"/>
          </a:xfrm>
          <a:prstGeom prst="rect">
            <a:avLst/>
          </a:prstGeom>
          <a:noFill/>
        </p:spPr>
        <p:txBody>
          <a:bodyPr wrap="square" rtlCol="0">
            <a:noAutofit/>
          </a:bodyPr>
          <a:lstStyle/>
          <a:p>
            <a:pPr algn="ctr"/>
            <a:r>
              <a:rPr lang="en-GB" sz="7200" b="1" dirty="0">
                <a:ln w="22225">
                  <a:solidFill>
                    <a:schemeClr val="accent2"/>
                  </a:solidFill>
                  <a:prstDash val="solid"/>
                </a:ln>
                <a:solidFill>
                  <a:schemeClr val="accent2">
                    <a:lumMod val="40000"/>
                    <a:lumOff val="60000"/>
                  </a:schemeClr>
                </a:solidFill>
                <a:latin typeface="Patrick Hand" pitchFamily="2" charset="77"/>
              </a:rPr>
              <a:t>Make all properties in an interface optional</a:t>
            </a:r>
            <a:endParaRPr lang="en-DE" sz="7200" b="1" dirty="0">
              <a:ln w="22225">
                <a:solidFill>
                  <a:schemeClr val="accent2"/>
                </a:solidFill>
                <a:prstDash val="solid"/>
              </a:ln>
              <a:solidFill>
                <a:schemeClr val="accent2">
                  <a:lumMod val="40000"/>
                  <a:lumOff val="60000"/>
                </a:schemeClr>
              </a:solidFill>
              <a:latin typeface="Patrick Hand" pitchFamily="2" charset="77"/>
            </a:endParaRPr>
          </a:p>
        </p:txBody>
      </p:sp>
      <p:pic>
        <p:nvPicPr>
          <p:cNvPr id="3" name="Picture 2">
            <a:extLst>
              <a:ext uri="{FF2B5EF4-FFF2-40B4-BE49-F238E27FC236}">
                <a16:creationId xmlns:a16="http://schemas.microsoft.com/office/drawing/2014/main" id="{326B7D05-2BFC-7B0D-D597-F7A7B03126CF}"/>
              </a:ext>
            </a:extLst>
          </p:cNvPr>
          <p:cNvPicPr>
            <a:picLocks noChangeAspect="1"/>
          </p:cNvPicPr>
          <p:nvPr/>
        </p:nvPicPr>
        <p:blipFill>
          <a:blip r:embed="rId4"/>
          <a:stretch>
            <a:fillRect/>
          </a:stretch>
        </p:blipFill>
        <p:spPr>
          <a:xfrm>
            <a:off x="321693" y="5504405"/>
            <a:ext cx="1062000" cy="1062000"/>
          </a:xfrm>
          <a:prstGeom prst="rect">
            <a:avLst/>
          </a:prstGeom>
        </p:spPr>
      </p:pic>
    </p:spTree>
    <p:extLst>
      <p:ext uri="{BB962C8B-B14F-4D97-AF65-F5344CB8AC3E}">
        <p14:creationId xmlns:p14="http://schemas.microsoft.com/office/powerpoint/2010/main" val="3202284055"/>
      </p:ext>
    </p:extLst>
  </p:cSld>
  <p:clrMapOvr>
    <a:masterClrMapping/>
  </p:clrMapOvr>
  <p:extLst>
    <p:ext uri="{6950BFC3-D8DA-4A85-94F7-54DA5524770B}">
      <p188:commentRel xmlns:p188="http://schemas.microsoft.com/office/powerpoint/2018/8/main" r:id="rId2"/>
    </p:ext>
  </p:extLst>
</p:sld>
</file>

<file path=ppt/slides/slide20.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862DF4B5-F7DB-6126-41BF-D2BB7472934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E28C539-AD26-6326-DE64-8B3F986BF37E}"/>
              </a:ext>
            </a:extLst>
          </p:cNvPr>
          <p:cNvSpPr txBox="1"/>
          <p:nvPr/>
        </p:nvSpPr>
        <p:spPr>
          <a:xfrm>
            <a:off x="223306" y="4693304"/>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marL="0" algn="ctr" defTabSz="457200" rtl="0" eaLnBrk="1" latinLnBrk="0" hangingPunct="1"/>
            <a:r>
              <a:rPr lang="en-US" sz="54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Remove Fields with Omit</a:t>
            </a:r>
            <a:endParaRPr lang="en-GB" sz="48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
        <p:nvSpPr>
          <p:cNvPr id="13" name="TextBox 12">
            <a:extLst>
              <a:ext uri="{FF2B5EF4-FFF2-40B4-BE49-F238E27FC236}">
                <a16:creationId xmlns:a16="http://schemas.microsoft.com/office/drawing/2014/main" id="{77E812A5-8A0B-85E2-7244-08BC4E774722}"/>
              </a:ext>
            </a:extLst>
          </p:cNvPr>
          <p:cNvSpPr txBox="1"/>
          <p:nvPr/>
        </p:nvSpPr>
        <p:spPr>
          <a:xfrm>
            <a:off x="223306" y="10049621"/>
            <a:ext cx="9478800" cy="1966526"/>
          </a:xfrm>
          <a:prstGeom prst="rect">
            <a:avLst/>
          </a:prstGeom>
          <a:noFill/>
        </p:spPr>
        <p:txBody>
          <a:bodyPr wrap="square" rtlCol="0">
            <a:noAutofit/>
          </a:bodyPr>
          <a:lstStyle/>
          <a:p>
            <a:pPr algn="ctr"/>
            <a:r>
              <a:rPr lang="en-GB" sz="6600" b="1" dirty="0">
                <a:ln w="22225">
                  <a:solidFill>
                    <a:srgbClr val="7030A0"/>
                  </a:solidFill>
                  <a:prstDash val="solid"/>
                </a:ln>
                <a:solidFill>
                  <a:schemeClr val="accent2">
                    <a:lumMod val="40000"/>
                    <a:lumOff val="60000"/>
                  </a:schemeClr>
                </a:solidFill>
                <a:latin typeface="Patrick Hand" pitchFamily="2" charset="77"/>
              </a:rPr>
              <a:t>Create new models by excluding specific properties</a:t>
            </a:r>
            <a:endParaRPr lang="en-DE" sz="6600" b="1" dirty="0">
              <a:ln w="22225">
                <a:solidFill>
                  <a:srgbClr val="7030A0"/>
                </a:solidFill>
                <a:prstDash val="solid"/>
              </a:ln>
              <a:solidFill>
                <a:schemeClr val="accent2">
                  <a:lumMod val="40000"/>
                  <a:lumOff val="60000"/>
                </a:schemeClr>
              </a:solidFill>
              <a:latin typeface="Patrick Hand" pitchFamily="2" charset="77"/>
            </a:endParaRPr>
          </a:p>
        </p:txBody>
      </p:sp>
      <p:pic>
        <p:nvPicPr>
          <p:cNvPr id="3" name="Picture 2">
            <a:extLst>
              <a:ext uri="{FF2B5EF4-FFF2-40B4-BE49-F238E27FC236}">
                <a16:creationId xmlns:a16="http://schemas.microsoft.com/office/drawing/2014/main" id="{D4E8D533-A380-EB9B-7F61-2A4BBD14696E}"/>
              </a:ext>
            </a:extLst>
          </p:cNvPr>
          <p:cNvPicPr>
            <a:picLocks noChangeAspect="1"/>
          </p:cNvPicPr>
          <p:nvPr/>
        </p:nvPicPr>
        <p:blipFill>
          <a:blip r:embed="rId3"/>
          <a:stretch>
            <a:fillRect/>
          </a:stretch>
        </p:blipFill>
        <p:spPr>
          <a:xfrm>
            <a:off x="321693" y="4788788"/>
            <a:ext cx="1062000" cy="1062000"/>
          </a:xfrm>
          <a:prstGeom prst="rect">
            <a:avLst/>
          </a:prstGeom>
        </p:spPr>
      </p:pic>
    </p:spTree>
    <p:extLst>
      <p:ext uri="{BB962C8B-B14F-4D97-AF65-F5344CB8AC3E}">
        <p14:creationId xmlns:p14="http://schemas.microsoft.com/office/powerpoint/2010/main" val="369984233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tile tx="0" ty="0" sx="100000" sy="100000" flip="none" algn="tl"/>
        </a:blipFill>
        <a:effectLst/>
      </p:bgPr>
    </p:bg>
    <p:spTree>
      <p:nvGrpSpPr>
        <p:cNvPr id="1" name="">
          <a:extLst>
            <a:ext uri="{FF2B5EF4-FFF2-40B4-BE49-F238E27FC236}">
              <a16:creationId xmlns:a16="http://schemas.microsoft.com/office/drawing/2014/main" id="{36EF0AC1-B289-95A9-B889-FE115C6DD1E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331AA02-2652-E0D7-4EDB-07645D7BC375}"/>
              </a:ext>
            </a:extLst>
          </p:cNvPr>
          <p:cNvSpPr txBox="1"/>
          <p:nvPr/>
        </p:nvSpPr>
        <p:spPr>
          <a:xfrm>
            <a:off x="223306" y="4911964"/>
            <a:ext cx="9838800" cy="1236996"/>
          </a:xfrm>
          <a:prstGeom prst="rect">
            <a:avLst/>
          </a:prstGeom>
          <a:gradFill flip="none" rotWithShape="1">
            <a:gsLst>
              <a:gs pos="0">
                <a:schemeClr val="accent6">
                  <a:lumMod val="5000"/>
                  <a:lumOff val="95000"/>
                </a:schemeClr>
              </a:gs>
              <a:gs pos="74000">
                <a:schemeClr val="accent6">
                  <a:lumMod val="45000"/>
                  <a:lumOff val="55000"/>
                </a:schemeClr>
              </a:gs>
              <a:gs pos="35000">
                <a:schemeClr val="accent6">
                  <a:lumMod val="45000"/>
                  <a:lumOff val="55000"/>
                </a:schemeClr>
              </a:gs>
              <a:gs pos="100000">
                <a:schemeClr val="accent6">
                  <a:lumMod val="30000"/>
                  <a:lumOff val="70000"/>
                </a:schemeClr>
              </a:gs>
            </a:gsLst>
            <a:lin ang="5400000" scaled="1"/>
            <a:tileRec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marL="0" algn="ctr" defTabSz="457200" rtl="0" eaLnBrk="1" latinLnBrk="0" hangingPunct="1"/>
            <a:r>
              <a:rPr lang="en-GB" sz="6600" b="1" dirty="0">
                <a:ln w="0"/>
                <a:solidFill>
                  <a:schemeClr val="tx1"/>
                </a:solidFill>
                <a:effectLst>
                  <a:outerShdw blurRad="38100" dist="19050" dir="2700000" algn="tl" rotWithShape="0">
                    <a:schemeClr val="dk1">
                      <a:alpha val="40000"/>
                    </a:schemeClr>
                  </a:outerShdw>
                </a:effectLst>
                <a:latin typeface="+mj-lt"/>
              </a:rPr>
              <a:t>Pick what you need</a:t>
            </a:r>
          </a:p>
        </p:txBody>
      </p:sp>
      <p:sp>
        <p:nvSpPr>
          <p:cNvPr id="13" name="TextBox 12">
            <a:extLst>
              <a:ext uri="{FF2B5EF4-FFF2-40B4-BE49-F238E27FC236}">
                <a16:creationId xmlns:a16="http://schemas.microsoft.com/office/drawing/2014/main" id="{B3A8D337-E247-3880-F5F2-CBDD34E1EF8A}"/>
              </a:ext>
            </a:extLst>
          </p:cNvPr>
          <p:cNvSpPr txBox="1"/>
          <p:nvPr/>
        </p:nvSpPr>
        <p:spPr>
          <a:xfrm>
            <a:off x="0" y="11327846"/>
            <a:ext cx="9478800" cy="2189373"/>
          </a:xfrm>
          <a:prstGeom prst="rect">
            <a:avLst/>
          </a:prstGeom>
          <a:noFill/>
        </p:spPr>
        <p:txBody>
          <a:bodyPr wrap="square" rtlCol="0">
            <a:noAutofit/>
          </a:bodyPr>
          <a:lstStyle/>
          <a:p>
            <a:pPr algn="ctr"/>
            <a:r>
              <a:rPr lang="en-GB" sz="4800" dirty="0">
                <a:ln w="0"/>
                <a:effectLst>
                  <a:outerShdw blurRad="38100" dist="19050" dir="2700000" algn="tl" rotWithShape="0">
                    <a:schemeClr val="dk1">
                      <a:alpha val="40000"/>
                    </a:schemeClr>
                  </a:outerShdw>
                </a:effectLst>
              </a:rPr>
              <a:t>Create a new Type by selecting specific fields from an interface</a:t>
            </a:r>
            <a:endParaRPr lang="en-DE" sz="4800" dirty="0">
              <a:ln w="0"/>
              <a:effectLst>
                <a:outerShdw blurRad="38100" dist="19050" dir="2700000" algn="tl" rotWithShape="0">
                  <a:schemeClr val="dk1">
                    <a:alpha val="40000"/>
                  </a:schemeClr>
                </a:outerShdw>
              </a:effectLst>
            </a:endParaRPr>
          </a:p>
        </p:txBody>
      </p:sp>
      <p:pic>
        <p:nvPicPr>
          <p:cNvPr id="3" name="Picture 2">
            <a:extLst>
              <a:ext uri="{FF2B5EF4-FFF2-40B4-BE49-F238E27FC236}">
                <a16:creationId xmlns:a16="http://schemas.microsoft.com/office/drawing/2014/main" id="{8F3ECDF2-CF01-A1CC-47DD-F27F0E485058}"/>
              </a:ext>
            </a:extLst>
          </p:cNvPr>
          <p:cNvPicPr>
            <a:picLocks noChangeAspect="1"/>
          </p:cNvPicPr>
          <p:nvPr/>
        </p:nvPicPr>
        <p:blipFill>
          <a:blip r:embed="rId3"/>
          <a:stretch>
            <a:fillRect/>
          </a:stretch>
        </p:blipFill>
        <p:spPr>
          <a:xfrm>
            <a:off x="321693" y="5007448"/>
            <a:ext cx="1062000" cy="1062000"/>
          </a:xfrm>
          <a:prstGeom prst="rect">
            <a:avLst/>
          </a:prstGeom>
        </p:spPr>
      </p:pic>
    </p:spTree>
    <p:extLst>
      <p:ext uri="{BB962C8B-B14F-4D97-AF65-F5344CB8AC3E}">
        <p14:creationId xmlns:p14="http://schemas.microsoft.com/office/powerpoint/2010/main" val="262335339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pattFill prst="dashHorz">
          <a:fgClr>
            <a:schemeClr val="accent3"/>
          </a:fgClr>
          <a:bgClr>
            <a:schemeClr val="bg1"/>
          </a:bgClr>
        </a:pattFill>
        <a:effectLst/>
      </p:bgPr>
    </p:bg>
    <p:spTree>
      <p:nvGrpSpPr>
        <p:cNvPr id="1" name="">
          <a:extLst>
            <a:ext uri="{FF2B5EF4-FFF2-40B4-BE49-F238E27FC236}">
              <a16:creationId xmlns:a16="http://schemas.microsoft.com/office/drawing/2014/main" id="{00372228-5C20-1A3D-7531-7B77BC78F29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2903D5B-5472-9279-A8D3-052C328D0F14}"/>
              </a:ext>
            </a:extLst>
          </p:cNvPr>
          <p:cNvSpPr txBox="1"/>
          <p:nvPr/>
        </p:nvSpPr>
        <p:spPr>
          <a:xfrm>
            <a:off x="223306" y="471318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marL="0" algn="ctr" defTabSz="457200" rtl="0" eaLnBrk="1" latinLnBrk="0" hangingPunct="1"/>
            <a:r>
              <a:rPr lang="en-US" sz="6000" b="1" dirty="0">
                <a:ln w="0"/>
                <a:solidFill>
                  <a:schemeClr val="tx1"/>
                </a:solidFill>
                <a:effectLst>
                  <a:outerShdw blurRad="38100" dist="19050" dir="2700000" algn="tl" rotWithShape="0">
                    <a:schemeClr val="dk1">
                      <a:alpha val="40000"/>
                    </a:schemeClr>
                  </a:outerShdw>
                </a:effectLst>
                <a:latin typeface="+mj-lt"/>
              </a:rPr>
              <a:t>Quick Maps with Record</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424BC52E-C5C1-17BD-977B-3EF9D2E6D1D8}"/>
              </a:ext>
            </a:extLst>
          </p:cNvPr>
          <p:cNvSpPr txBox="1"/>
          <p:nvPr/>
        </p:nvSpPr>
        <p:spPr>
          <a:xfrm>
            <a:off x="337263" y="13426961"/>
            <a:ext cx="9610887" cy="2767913"/>
          </a:xfrm>
          <a:prstGeom prst="rect">
            <a:avLst/>
          </a:prstGeom>
          <a:noFill/>
        </p:spPr>
        <p:txBody>
          <a:bodyPr wrap="square" rtlCol="0">
            <a:noAutofit/>
          </a:bodyPr>
          <a:lstStyle/>
          <a:p>
            <a:pPr algn="ctr"/>
            <a:r>
              <a:rPr lang="en-GB" sz="80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Define Key-Value pairs with specific types</a:t>
            </a:r>
            <a:endParaRPr lang="en-DE" sz="80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pic>
        <p:nvPicPr>
          <p:cNvPr id="3" name="Picture 2">
            <a:extLst>
              <a:ext uri="{FF2B5EF4-FFF2-40B4-BE49-F238E27FC236}">
                <a16:creationId xmlns:a16="http://schemas.microsoft.com/office/drawing/2014/main" id="{1A05A3AE-9C15-3C93-F300-FBBC4983AB1A}"/>
              </a:ext>
            </a:extLst>
          </p:cNvPr>
          <p:cNvPicPr>
            <a:picLocks noChangeAspect="1"/>
          </p:cNvPicPr>
          <p:nvPr/>
        </p:nvPicPr>
        <p:blipFill>
          <a:blip r:embed="rId2"/>
          <a:stretch>
            <a:fillRect/>
          </a:stretch>
        </p:blipFill>
        <p:spPr>
          <a:xfrm>
            <a:off x="321693" y="4808666"/>
            <a:ext cx="1062000" cy="1062000"/>
          </a:xfrm>
          <a:prstGeom prst="rect">
            <a:avLst/>
          </a:prstGeom>
        </p:spPr>
      </p:pic>
    </p:spTree>
    <p:extLst>
      <p:ext uri="{BB962C8B-B14F-4D97-AF65-F5344CB8AC3E}">
        <p14:creationId xmlns:p14="http://schemas.microsoft.com/office/powerpoint/2010/main" val="287555579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pattFill prst="pct40">
          <a:fgClr>
            <a:schemeClr val="accent3"/>
          </a:fgClr>
          <a:bgClr>
            <a:schemeClr val="bg1"/>
          </a:bgClr>
        </a:pattFill>
        <a:effectLst/>
      </p:bgPr>
    </p:bg>
    <p:spTree>
      <p:nvGrpSpPr>
        <p:cNvPr id="1" name="">
          <a:extLst>
            <a:ext uri="{FF2B5EF4-FFF2-40B4-BE49-F238E27FC236}">
              <a16:creationId xmlns:a16="http://schemas.microsoft.com/office/drawing/2014/main" id="{475D75AF-C942-2167-03F2-2A4DE861955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FDA9D54-B6ED-5D3A-1625-877E1E8F9F35}"/>
              </a:ext>
            </a:extLst>
          </p:cNvPr>
          <p:cNvSpPr txBox="1"/>
          <p:nvPr/>
        </p:nvSpPr>
        <p:spPr>
          <a:xfrm>
            <a:off x="223306" y="481257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Dynamic String Types</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13" name="TextBox 12">
            <a:extLst>
              <a:ext uri="{FF2B5EF4-FFF2-40B4-BE49-F238E27FC236}">
                <a16:creationId xmlns:a16="http://schemas.microsoft.com/office/drawing/2014/main" id="{00075860-7859-F036-1C60-6CB0F75A71BF}"/>
              </a:ext>
            </a:extLst>
          </p:cNvPr>
          <p:cNvSpPr txBox="1"/>
          <p:nvPr/>
        </p:nvSpPr>
        <p:spPr>
          <a:xfrm>
            <a:off x="223306" y="11308584"/>
            <a:ext cx="9610887" cy="2767913"/>
          </a:xfrm>
          <a:prstGeom prst="rect">
            <a:avLst/>
          </a:prstGeom>
          <a:noFill/>
        </p:spPr>
        <p:txBody>
          <a:bodyPr wrap="square" rtlCol="0">
            <a:noAutofit/>
          </a:bodyPr>
          <a:lstStyle/>
          <a:p>
            <a:pPr algn="ctr"/>
            <a:r>
              <a:rPr lang="en-GB" sz="8000" dirty="0">
                <a:ln w="0"/>
                <a:effectLst>
                  <a:outerShdw blurRad="38100" dist="19050" dir="2700000" algn="tl" rotWithShape="0">
                    <a:schemeClr val="dk1">
                      <a:alpha val="40000"/>
                    </a:schemeClr>
                  </a:outerShdw>
                </a:effectLst>
                <a:latin typeface="Patrick Hand" pitchFamily="2" charset="77"/>
              </a:rPr>
              <a:t>Combine multiple types into new string formats</a:t>
            </a:r>
            <a:endParaRPr lang="en-DE" sz="8000" dirty="0">
              <a:ln w="0"/>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D34D1018-82F4-7719-B5E1-7B2D130C7438}"/>
              </a:ext>
            </a:extLst>
          </p:cNvPr>
          <p:cNvPicPr>
            <a:picLocks noChangeAspect="1"/>
          </p:cNvPicPr>
          <p:nvPr/>
        </p:nvPicPr>
        <p:blipFill>
          <a:blip r:embed="rId2"/>
          <a:stretch>
            <a:fillRect/>
          </a:stretch>
        </p:blipFill>
        <p:spPr>
          <a:xfrm>
            <a:off x="321693" y="4908056"/>
            <a:ext cx="1062000" cy="1062000"/>
          </a:xfrm>
          <a:prstGeom prst="rect">
            <a:avLst/>
          </a:prstGeom>
        </p:spPr>
      </p:pic>
    </p:spTree>
    <p:extLst>
      <p:ext uri="{BB962C8B-B14F-4D97-AF65-F5344CB8AC3E}">
        <p14:creationId xmlns:p14="http://schemas.microsoft.com/office/powerpoint/2010/main" val="214489993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pattFill prst="pct40">
          <a:fgClr>
            <a:schemeClr val="accent3"/>
          </a:fgClr>
          <a:bgClr>
            <a:schemeClr val="bg1"/>
          </a:bgClr>
        </a:pattFill>
        <a:effectLst/>
      </p:bgPr>
    </p:bg>
    <p:spTree>
      <p:nvGrpSpPr>
        <p:cNvPr id="1" name="">
          <a:extLst>
            <a:ext uri="{FF2B5EF4-FFF2-40B4-BE49-F238E27FC236}">
              <a16:creationId xmlns:a16="http://schemas.microsoft.com/office/drawing/2014/main" id="{2F2C6F44-8BCF-666F-26ED-F3F125E69A9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2DF8666-1EF2-6DA3-56C6-1E271437269A}"/>
              </a:ext>
            </a:extLst>
          </p:cNvPr>
          <p:cNvSpPr txBox="1"/>
          <p:nvPr/>
        </p:nvSpPr>
        <p:spPr>
          <a:xfrm>
            <a:off x="223306" y="240730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44EA632D-0D94-CF0B-CD75-30ABE2A5C8A5}"/>
              </a:ext>
            </a:extLst>
          </p:cNvPr>
          <p:cNvSpPr txBox="1"/>
          <p:nvPr/>
        </p:nvSpPr>
        <p:spPr>
          <a:xfrm>
            <a:off x="-7857400" y="2527667"/>
            <a:ext cx="2566728"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rt_001_te</a:t>
            </a:r>
            <a:endParaRPr lang="en-DE" sz="4800" dirty="0">
              <a:solidFill>
                <a:srgbClr val="FF0000"/>
              </a:solidFill>
              <a:latin typeface="Patrick Hand" pitchFamily="2" charset="77"/>
            </a:endParaRPr>
          </a:p>
        </p:txBody>
      </p:sp>
      <p:pic>
        <p:nvPicPr>
          <p:cNvPr id="5" name="Picture 4">
            <a:extLst>
              <a:ext uri="{FF2B5EF4-FFF2-40B4-BE49-F238E27FC236}">
                <a16:creationId xmlns:a16="http://schemas.microsoft.com/office/drawing/2014/main" id="{4F7F5860-C93F-2D02-1BD0-C31979E398A5}"/>
              </a:ext>
            </a:extLst>
          </p:cNvPr>
          <p:cNvPicPr>
            <a:picLocks noChangeAspect="1"/>
          </p:cNvPicPr>
          <p:nvPr/>
        </p:nvPicPr>
        <p:blipFill>
          <a:blip r:embed="rId2"/>
          <a:stretch>
            <a:fillRect/>
          </a:stretch>
        </p:blipFill>
        <p:spPr>
          <a:xfrm>
            <a:off x="397482" y="2494800"/>
            <a:ext cx="1062000" cy="1062000"/>
          </a:xfrm>
          <a:prstGeom prst="rect">
            <a:avLst/>
          </a:prstGeom>
        </p:spPr>
      </p:pic>
    </p:spTree>
    <p:extLst>
      <p:ext uri="{BB962C8B-B14F-4D97-AF65-F5344CB8AC3E}">
        <p14:creationId xmlns:p14="http://schemas.microsoft.com/office/powerpoint/2010/main" val="83948437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B09B00A6-2E00-8851-1166-8590FA9169E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BBD37CC-A2D3-22DA-18D5-9CF7619A4CA7}"/>
              </a:ext>
            </a:extLst>
          </p:cNvPr>
          <p:cNvSpPr txBox="1"/>
          <p:nvPr/>
        </p:nvSpPr>
        <p:spPr>
          <a:xfrm>
            <a:off x="223306" y="240730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Test Your Code with </a:t>
            </a:r>
            <a:r>
              <a:rPr lang="en-US" sz="5400" b="1" dirty="0" err="1">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Vitest</a:t>
            </a:r>
            <a:endParaRPr lang="en-GB" sz="4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E8F438F7-3DC4-B4BA-AFA9-1D607DE8A6EF}"/>
              </a:ext>
            </a:extLst>
          </p:cNvPr>
          <p:cNvSpPr txBox="1"/>
          <p:nvPr/>
        </p:nvSpPr>
        <p:spPr>
          <a:xfrm>
            <a:off x="-10475910" y="2463702"/>
            <a:ext cx="8132354"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Image: vitest_001_test_your_code</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A5BCF53F-215D-5821-FC84-D51E9FF75C4B}"/>
              </a:ext>
            </a:extLst>
          </p:cNvPr>
          <p:cNvPicPr>
            <a:picLocks noChangeAspect="1"/>
          </p:cNvPicPr>
          <p:nvPr/>
        </p:nvPicPr>
        <p:blipFill>
          <a:blip r:embed="rId3"/>
          <a:stretch>
            <a:fillRect/>
          </a:stretch>
        </p:blipFill>
        <p:spPr>
          <a:xfrm>
            <a:off x="405750" y="2494800"/>
            <a:ext cx="1062000" cy="1062000"/>
          </a:xfrm>
          <a:prstGeom prst="rect">
            <a:avLst/>
          </a:prstGeom>
        </p:spPr>
      </p:pic>
      <p:pic>
        <p:nvPicPr>
          <p:cNvPr id="6" name="Picture 5">
            <a:extLst>
              <a:ext uri="{FF2B5EF4-FFF2-40B4-BE49-F238E27FC236}">
                <a16:creationId xmlns:a16="http://schemas.microsoft.com/office/drawing/2014/main" id="{4F141445-E983-3417-D33D-BD55AD12D97D}"/>
              </a:ext>
            </a:extLst>
          </p:cNvPr>
          <p:cNvPicPr>
            <a:picLocks noChangeAspect="1"/>
          </p:cNvPicPr>
          <p:nvPr/>
        </p:nvPicPr>
        <p:blipFill rotWithShape="1">
          <a:blip r:embed="rId4"/>
          <a:srcRect l="17267" t="26132" r="10243" b="13448"/>
          <a:stretch>
            <a:fillRect/>
          </a:stretch>
        </p:blipFill>
        <p:spPr>
          <a:xfrm>
            <a:off x="253100" y="3731796"/>
            <a:ext cx="9779213" cy="6465149"/>
          </a:xfrm>
          <a:prstGeom prst="rect">
            <a:avLst/>
          </a:prstGeom>
        </p:spPr>
      </p:pic>
      <p:sp>
        <p:nvSpPr>
          <p:cNvPr id="8" name="TextBox 7">
            <a:extLst>
              <a:ext uri="{FF2B5EF4-FFF2-40B4-BE49-F238E27FC236}">
                <a16:creationId xmlns:a16="http://schemas.microsoft.com/office/drawing/2014/main" id="{BF9EBB26-480D-81A5-EB25-5123070257B3}"/>
              </a:ext>
            </a:extLst>
          </p:cNvPr>
          <p:cNvSpPr txBox="1"/>
          <p:nvPr/>
        </p:nvSpPr>
        <p:spPr>
          <a:xfrm>
            <a:off x="337263" y="10758618"/>
            <a:ext cx="9610887" cy="2767913"/>
          </a:xfrm>
          <a:prstGeom prst="rect">
            <a:avLst/>
          </a:prstGeom>
          <a:noFill/>
        </p:spPr>
        <p:txBody>
          <a:bodyPr wrap="square" rtlCol="0">
            <a:noAutofit/>
          </a:bodyPr>
          <a:lstStyle/>
          <a:p>
            <a:pPr algn="ctr"/>
            <a:r>
              <a:rPr lang="en-GB" sz="8000" dirty="0">
                <a:latin typeface="Patrick Hand" pitchFamily="2" charset="77"/>
              </a:rPr>
              <a:t>Unit Testing Your TypeScript with </a:t>
            </a:r>
            <a:r>
              <a:rPr lang="en-GB" sz="8000" dirty="0" err="1">
                <a:latin typeface="Patrick Hand" pitchFamily="2" charset="77"/>
              </a:rPr>
              <a:t>Vitest</a:t>
            </a:r>
            <a:endParaRPr lang="en-DE" sz="80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3681877129"/>
      </p:ext>
    </p:extLst>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w="31750">
          <a:solidFill>
            <a:schemeClr val="accent1">
              <a:shade val="15000"/>
            </a:schemeClr>
          </a:solidFill>
        </a:ln>
      </a:spPr>
      <a:bodyPr rtlCol="0" anchor="ctr"/>
      <a:lstStyle>
        <a:defPPr marL="0" algn="ctr" defTabSz="457200" rtl="0" eaLnBrk="1" latinLnBrk="0" hangingPunct="1">
          <a:defRPr dirty="0">
            <a:latin typeface="Patrick Hand" pitchFamily="2" charset="77"/>
          </a:defRPr>
        </a:defPPr>
      </a:lstStyle>
      <a:style>
        <a:lnRef idx="2">
          <a:schemeClr val="accent1">
            <a:shade val="15000"/>
          </a:schemeClr>
        </a:lnRef>
        <a:fillRef idx="1">
          <a:schemeClr val="accent1"/>
        </a:fillRef>
        <a:effectRef idx="0">
          <a:schemeClr val="accent1"/>
        </a:effectRef>
        <a:fontRef idx="minor">
          <a:schemeClr val="lt1"/>
        </a:fontRef>
      </a:style>
    </a:spDef>
    <a:lnDef>
      <a:spPr>
        <a:ln w="31750">
          <a:solidFill>
            <a:schemeClr val="tx1"/>
          </a:solidFill>
          <a:headEnd type="none"/>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lgn="l">
          <a:defRPr sz="4000" dirty="0" smtClean="0">
            <a:latin typeface="Patrick Hand" pitchFamily="2" charset="77"/>
          </a:defRPr>
        </a:defPPr>
      </a:lstStyle>
    </a:txDef>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b1c9b508-7c6e-42bd-bedf-808292653d6c}" enabled="1" method="Standard" siteId="{2882be50-2012-4d88-ac86-544124e120c8}" contentBits="3" removed="0"/>
</clbl:labelList>
</file>

<file path=docProps/app.xml><?xml version="1.0" encoding="utf-8"?>
<Properties xmlns="http://schemas.openxmlformats.org/officeDocument/2006/extended-properties" xmlns:vt="http://schemas.openxmlformats.org/officeDocument/2006/docPropsVTypes">
  <Template>Office 2013 - 2022 Theme</Template>
  <TotalTime>45194</TotalTime>
  <Words>374</Words>
  <Application>Microsoft Macintosh PowerPoint</Application>
  <PresentationFormat>Custom</PresentationFormat>
  <Paragraphs>79</Paragraphs>
  <Slides>25</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25</vt:i4>
      </vt:variant>
    </vt:vector>
  </HeadingPairs>
  <TitlesOfParts>
    <vt:vector size="31" baseType="lpstr">
      <vt:lpstr>Aptos</vt:lpstr>
      <vt:lpstr>Arial</vt:lpstr>
      <vt:lpstr>Calibri</vt:lpstr>
      <vt:lpstr>Calibri Light</vt:lpstr>
      <vt:lpstr>Patrick Hand</vt:lpstr>
      <vt:lpstr>Office 2013 - 2022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Salehi Oshtorjani, Ebrahim (K-DACT/F)</dc:creator>
  <cp:lastModifiedBy>Salehi Oshtorjani, Ebrahim (K-DACT/F)</cp:lastModifiedBy>
  <cp:revision>528</cp:revision>
  <cp:lastPrinted>2025-12-17T08:49:37Z</cp:lastPrinted>
  <dcterms:created xsi:type="dcterms:W3CDTF">2025-12-17T08:13:25Z</dcterms:created>
  <dcterms:modified xsi:type="dcterms:W3CDTF">2026-01-20T21:44:23Z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Atlas:8</vt:lpwstr>
  </property>
  <property fmtid="{D5CDD505-2E9C-101B-9397-08002B2CF9AE}" pid="3" name="ClassificationContentMarkingFooterText">
    <vt:lpwstr>INTERNAL</vt:lpwstr>
  </property>
</Properties>
</file>