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omments/modernComment_116_9D718DED.xml" ContentType="application/vnd.ms-powerpoint.comment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omments/modernComment_118_626EC4B9.xml" ContentType="application/vnd.ms-powerpoint.comments+xml"/>
  <Override PartName="/ppt/comments/modernComment_120_FA024C04.xml" ContentType="application/vnd.ms-powerpoint.comments+xml"/>
  <Override PartName="/ppt/comments/modernComment_122_9A36DA00.xml" ContentType="application/vnd.ms-powerpoint.comments+xml"/>
  <Override PartName="/ppt/notesSlides/notesSlide4.xml" ContentType="application/vnd.openxmlformats-officedocument.presentationml.notesSlide+xml"/>
  <Override PartName="/ppt/comments/modernComment_124_3E0760C.xml" ContentType="application/vnd.ms-powerpoint.comments+xml"/>
  <Override PartName="/ppt/comments/modernComment_125_E21438E9.xml" ContentType="application/vnd.ms-powerpoint.comments+xml"/>
  <Override PartName="/ppt/comments/modernComment_126_9DA2AD4E.xml" ContentType="application/vnd.ms-powerpoint.comments+xml"/>
  <Override PartName="/ppt/comments/modernComment_128_2DA5E9E5.xml" ContentType="application/vnd.ms-powerpoint.comments+xml"/>
  <Override PartName="/ppt/comments/modernComment_129_FD6B0559.xml" ContentType="application/vnd.ms-powerpoint.comments+xml"/>
  <Override PartName="/ppt/comments/modernComment_12A_2D01584F.xml" ContentType="application/vnd.ms-powerpoint.comments+xml"/>
  <Override PartName="/ppt/comments/modernComment_12B_AC4C8FF1.xml" ContentType="application/vnd.ms-powerpoint.comments+xml"/>
  <Override PartName="/ppt/comments/modernComment_12D_BEDEFA17.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32" r:id="rId1"/>
  </p:sldMasterIdLst>
  <p:notesMasterIdLst>
    <p:notesMasterId r:id="rId80"/>
  </p:notesMasterIdLst>
  <p:handoutMasterIdLst>
    <p:handoutMasterId r:id="rId81"/>
  </p:handoutMasterIdLst>
  <p:sldIdLst>
    <p:sldId id="278" r:id="rId2"/>
    <p:sldId id="279" r:id="rId3"/>
    <p:sldId id="311" r:id="rId4"/>
    <p:sldId id="312" r:id="rId5"/>
    <p:sldId id="313" r:id="rId6"/>
    <p:sldId id="280" r:id="rId7"/>
    <p:sldId id="281" r:id="rId8"/>
    <p:sldId id="288" r:id="rId9"/>
    <p:sldId id="339" r:id="rId10"/>
    <p:sldId id="340" r:id="rId11"/>
    <p:sldId id="290" r:id="rId12"/>
    <p:sldId id="289" r:id="rId13"/>
    <p:sldId id="314" r:id="rId14"/>
    <p:sldId id="315" r:id="rId15"/>
    <p:sldId id="343" r:id="rId16"/>
    <p:sldId id="344" r:id="rId17"/>
    <p:sldId id="345" r:id="rId18"/>
    <p:sldId id="346" r:id="rId19"/>
    <p:sldId id="350" r:id="rId20"/>
    <p:sldId id="351" r:id="rId21"/>
    <p:sldId id="352" r:id="rId22"/>
    <p:sldId id="291" r:id="rId23"/>
    <p:sldId id="336" r:id="rId24"/>
    <p:sldId id="337" r:id="rId25"/>
    <p:sldId id="338" r:id="rId26"/>
    <p:sldId id="309" r:id="rId27"/>
    <p:sldId id="292" r:id="rId28"/>
    <p:sldId id="333" r:id="rId29"/>
    <p:sldId id="334" r:id="rId30"/>
    <p:sldId id="335" r:id="rId31"/>
    <p:sldId id="293" r:id="rId32"/>
    <p:sldId id="327" r:id="rId33"/>
    <p:sldId id="294" r:id="rId34"/>
    <p:sldId id="306" r:id="rId35"/>
    <p:sldId id="321" r:id="rId36"/>
    <p:sldId id="322" r:id="rId37"/>
    <p:sldId id="318" r:id="rId38"/>
    <p:sldId id="330" r:id="rId39"/>
    <p:sldId id="347" r:id="rId40"/>
    <p:sldId id="348" r:id="rId41"/>
    <p:sldId id="296" r:id="rId42"/>
    <p:sldId id="297" r:id="rId43"/>
    <p:sldId id="298" r:id="rId44"/>
    <p:sldId id="331" r:id="rId45"/>
    <p:sldId id="332" r:id="rId46"/>
    <p:sldId id="341" r:id="rId47"/>
    <p:sldId id="342" r:id="rId48"/>
    <p:sldId id="299" r:id="rId49"/>
    <p:sldId id="300" r:id="rId50"/>
    <p:sldId id="301" r:id="rId51"/>
    <p:sldId id="324" r:id="rId52"/>
    <p:sldId id="325" r:id="rId53"/>
    <p:sldId id="326" r:id="rId54"/>
    <p:sldId id="302" r:id="rId55"/>
    <p:sldId id="303" r:id="rId56"/>
    <p:sldId id="319" r:id="rId57"/>
    <p:sldId id="320" r:id="rId58"/>
    <p:sldId id="304" r:id="rId59"/>
    <p:sldId id="316" r:id="rId60"/>
    <p:sldId id="317" r:id="rId61"/>
    <p:sldId id="310" r:id="rId62"/>
    <p:sldId id="305" r:id="rId63"/>
    <p:sldId id="328" r:id="rId64"/>
    <p:sldId id="329" r:id="rId65"/>
    <p:sldId id="349" r:id="rId66"/>
    <p:sldId id="307" r:id="rId67"/>
    <p:sldId id="323" r:id="rId68"/>
    <p:sldId id="308" r:id="rId69"/>
    <p:sldId id="353" r:id="rId70"/>
    <p:sldId id="354" r:id="rId71"/>
    <p:sldId id="355" r:id="rId72"/>
    <p:sldId id="356" r:id="rId73"/>
    <p:sldId id="357" r:id="rId74"/>
    <p:sldId id="359" r:id="rId75"/>
    <p:sldId id="360" r:id="rId76"/>
    <p:sldId id="358" r:id="rId77"/>
    <p:sldId id="361" r:id="rId78"/>
    <p:sldId id="362" r:id="rId79"/>
  </p:sldIdLst>
  <p:sldSz cx="10285413" cy="1828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737" userDrawn="1">
          <p15:clr>
            <a:srgbClr val="A4A3A4"/>
          </p15:clr>
        </p15:guide>
        <p15:guide id="2" pos="32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860045D-B334-310D-0A4E-9E20AA0B149E}" name="Salehi Oshtorjani, Ebrahim (K-DACT/F)" initials="SOE(D" userId="S::ebrahim.salehi.oshtorjani1@volkswagen.de::56f2298d-f17e-4b85-9b58-413b9e2aed6c"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798"/>
    <p:restoredTop sz="96149"/>
  </p:normalViewPr>
  <p:slideViewPr>
    <p:cSldViewPr snapToGrid="0">
      <p:cViewPr>
        <p:scale>
          <a:sx n="55" d="100"/>
          <a:sy n="55" d="100"/>
        </p:scale>
        <p:origin x="3328" y="144"/>
      </p:cViewPr>
      <p:guideLst>
        <p:guide orient="horz" pos="5737"/>
        <p:guide pos="3240"/>
      </p:guideLst>
    </p:cSldViewPr>
  </p:slideViewPr>
  <p:notesTextViewPr>
    <p:cViewPr>
      <p:scale>
        <a:sx n="1" d="1"/>
        <a:sy n="1" d="1"/>
      </p:scale>
      <p:origin x="0" y="0"/>
    </p:cViewPr>
  </p:notesTextViewPr>
  <p:notesViewPr>
    <p:cSldViewPr snapToGrid="0">
      <p:cViewPr varScale="1">
        <p:scale>
          <a:sx n="110" d="100"/>
          <a:sy n="110" d="100"/>
        </p:scale>
        <p:origin x="3336" y="192"/>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notesMaster" Target="notesMasters/notesMaster1.xml"/><Relationship Id="rId85"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handoutMaster" Target="handoutMasters/handoutMaster1.xml"/><Relationship Id="rId86" Type="http://schemas.microsoft.com/office/2018/10/relationships/authors" Target="author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presProps" Target="presProps.xml"/></Relationships>
</file>

<file path=ppt/comments/modernComment_12A_2D01584F.xml><?xml version="1.0" encoding="utf-8"?>
<p188:cmLst xmlns:a="http://schemas.openxmlformats.org/drawingml/2006/main" xmlns:r="http://schemas.openxmlformats.org/officeDocument/2006/relationships" xmlns:p188="http://schemas.microsoft.com/office/powerpoint/2018/8/main">
  <p188:cm id="{BCB7BE59-BE70-664A-B52B-07C7AC57743A}" authorId="{8860045D-B334-310D-0A4E-9E20AA0B149E}" created="2026-01-06T02:21:22.727">
    <pc:sldMkLst xmlns:pc="http://schemas.microsoft.com/office/powerpoint/2013/main/command">
      <pc:docMk/>
      <pc:sldMk cId="755062863" sldId="298"/>
    </pc:sldMkLst>
    <p188:txBody>
      <a:bodyPr/>
      <a:lstStyle/>
      <a:p>
        <a:r>
          <a:rPr lang="en-DE"/>
          <a:t>Interface vs Type: Which one to choose? ⚔️
Confused between interface and type? Here is the biggest difference! 🤯
Interfaces are "extensible." If you declare the same interface twice, TypeScript merges them into one. This is great for plugins! Types, however, are unique. Once defined, you cannot declare them again.
#TypeScript #WebDevelopment #ProgrammingTips #CodeWithEbrahim #SoftwareEngineering #CleanCode #shorts #تایپ_اسکریپت #برنامه_نویسی✨</a:t>
        </a:r>
      </a:p>
    </p188:txBody>
  </p188:cm>
</p188:cmLst>
</file>

<file path=ppt/comments/modernComment_12B_AC4C8FF1.xml><?xml version="1.0" encoding="utf-8"?>
<p188:cmLst xmlns:a="http://schemas.openxmlformats.org/drawingml/2006/main" xmlns:r="http://schemas.openxmlformats.org/officeDocument/2006/relationships" xmlns:p188="http://schemas.microsoft.com/office/powerpoint/2018/8/main">
  <p188:cm id="{7CDB7C17-68E6-3546-9EDF-C588652CFDB1}" authorId="{8860045D-B334-310D-0A4E-9E20AA0B149E}" created="2026-01-06T10:20:57.833">
    <pc:sldMkLst xmlns:pc="http://schemas.microsoft.com/office/powerpoint/2013/main/command">
      <pc:docMk/>
      <pc:sldMk cId="2890698737" sldId="299"/>
    </pc:sldMkLst>
    <p188:txBody>
      <a:bodyPr/>
      <a:lstStyle/>
      <a:p>
        <a:r>
          <a:rPr lang="en-DE"/>
          <a:t>Headline:
Tired of unpredictable strings? Use Union Types! 🔀✨
Caption:
Why allow any string when you only need three? Union Types in TypeScript allow you to define a list of exact values a variable can hold.
It’s like having a dropdown menu for your code! If you try to use a value that isn't in your list, TypeScript catches the error before you even run the app. 🛡️
#TypeScript #CodingLife #WebDevelopment #CleanCode #CodeWithEbrahim #تایپ_اسکریپت #برنامه_نویسی</a:t>
        </a:r>
      </a:p>
    </p188:txBody>
  </p188:cm>
</p188:cmLst>
</file>

<file path=ppt/comments/modernComment_12D_BEDEFA17.xml><?xml version="1.0" encoding="utf-8"?>
<p188:cmLst xmlns:a="http://schemas.openxmlformats.org/drawingml/2006/main" xmlns:r="http://schemas.openxmlformats.org/officeDocument/2006/relationships" xmlns:p188="http://schemas.microsoft.com/office/powerpoint/2018/8/main">
  <p188:cm id="{7BC66CD6-2936-4942-8702-B4DEFB5CE232}" authorId="{8860045D-B334-310D-0A4E-9E20AA0B149E}" created="2026-01-06T13:12:59.785">
    <pc:sldMkLst xmlns:pc="http://schemas.microsoft.com/office/powerpoint/2013/main/command">
      <pc:docMk/>
      <pc:sldMk cId="3202284055" sldId="301"/>
    </pc:sldMkLst>
    <p188:txBody>
      <a:bodyPr/>
      <a:lstStyle/>
      <a:p>
        <a:r>
          <a:rPr lang="en-DE"/>
          <a:t>Headline:
Update Objects Easily with Partial! 🧩✨
Caption:
Ever had an interface with 10 properties, but you only wanted to update one? 🧐
Instead of creating a new interface, use Partial&lt;T&gt;! It automatically makes every property in your existing interface optional, saving you from writing redundant code. 🚀
#TypeScript #CleanCode #ProgrammingHacks #WebDevelopment #CodeWithEbrahim #SoftwareEngineering #تایپ_اسکریپت</a:t>
        </a:r>
      </a:p>
    </p188:txBody>
  </p188:cm>
</p188:cmLst>
</file>

<file path=ppt/comments/modernComment_116_9D718DED.xml><?xml version="1.0" encoding="utf-8"?>
<p188:cmLst xmlns:a="http://schemas.openxmlformats.org/drawingml/2006/main" xmlns:r="http://schemas.openxmlformats.org/officeDocument/2006/relationships" xmlns:p188="http://schemas.microsoft.com/office/powerpoint/2018/8/main">
  <p188:cm id="{4624A432-E714-704A-91D8-E4A8019E62C5}" authorId="{8860045D-B334-310D-0A4E-9E20AA0B149E}" created="2026-01-02T21:09:18.585">
    <pc:sldMkLst xmlns:pc="http://schemas.microsoft.com/office/powerpoint/2013/main/command">
      <pc:docMk/>
      <pc:sldMk cId="2641464813" sldId="278"/>
    </pc:sldMkLst>
    <p188:txBody>
      <a:bodyPr/>
      <a:lstStyle/>
      <a:p>
        <a:r>
          <a:rPr lang="en-DE"/>
          <a:t>Subscribe for more Clean Code tips!
</a:t>
        </a:r>
      </a:p>
    </p188:txBody>
  </p188:cm>
  <p188:cm id="{BD450650-0826-3F40-866F-BB5FA42A6E60}" authorId="{8860045D-B334-310D-0A4E-9E20AA0B149E}" created="2026-01-03T02:36:43.451">
    <pc:sldMkLst xmlns:pc="http://schemas.microsoft.com/office/powerpoint/2013/main/command">
      <pc:docMk/>
      <pc:sldMk cId="2641464813" sldId="278"/>
    </pc:sldMkLst>
    <p188:txBody>
      <a:bodyPr/>
      <a:lstStyle/>
      <a:p>
        <a:r>
          <a:rPr lang="en-DE"/>
          <a:t>Youtube
Ever wondered what those double underscores (Dunders) actually do in Python? 🐍
1️⃣ name: Tells you if the script is running directly or being imported.
2️⃣ file: Gives you the exact location of your script on your computer. 
3️⃣ package: Helps you understand where your module lives in a project.
🇺🇸 Level up your Python skills! 🇩🇪 Python-Variablen einfach erklärt!
#Python #CodingTips #Backend #SoftwareEngineering #Germany #USA #Deutschland #Programming #CodeWithEbrahim</a:t>
        </a:r>
      </a:p>
    </p188:txBody>
  </p188:cm>
</p188:cmLst>
</file>

<file path=ppt/comments/modernComment_118_626EC4B9.xml><?xml version="1.0" encoding="utf-8"?>
<p188:cmLst xmlns:a="http://schemas.openxmlformats.org/drawingml/2006/main" xmlns:r="http://schemas.openxmlformats.org/officeDocument/2006/relationships" xmlns:p188="http://schemas.microsoft.com/office/powerpoint/2018/8/main">
  <p188:cm id="{F289ECDD-2FC4-B843-90C4-2BBA8C3E356B}" authorId="{8860045D-B334-310D-0A4E-9E20AA0B149E}" created="2026-01-03T21:59:30.244">
    <pc:sldMkLst xmlns:pc="http://schemas.microsoft.com/office/powerpoint/2013/main/command">
      <pc:docMk/>
      <pc:sldMk cId="1651426489" sldId="280"/>
    </pc:sldMkLst>
    <p188:txBody>
      <a:bodyPr/>
      <a:lstStyle/>
      <a:p>
        <a:r>
          <a:rPr lang="en-DE"/>
          <a:t>Title: Pythonic If-Statements: Use Truthiness! 🐍
Why write more code when Python does it for you? Using Truthiness makes your scripts cleaner and more efficient. 🚀
🇺🇸 Learn the Pythonic way! 🇩🇪 Python-Code sauberer schreiben!
#Python #CleanCode #Pythonic #ProgrammingTips #Coding #SoftwareEngineering #USA #Germany #CodeWithEbrahim
</a:t>
        </a:r>
      </a:p>
    </p188:txBody>
  </p188:cm>
</p188:cmLst>
</file>

<file path=ppt/comments/modernComment_120_FA024C04.xml><?xml version="1.0" encoding="utf-8"?>
<p188:cmLst xmlns:a="http://schemas.openxmlformats.org/drawingml/2006/main" xmlns:r="http://schemas.openxmlformats.org/officeDocument/2006/relationships" xmlns:p188="http://schemas.microsoft.com/office/powerpoint/2018/8/main">
  <p188:cm id="{2D904378-B2C9-5241-A08B-375F4FC6B280}" authorId="{8860045D-B334-310D-0A4E-9E20AA0B149E}" created="2026-01-04T06:33:22.990">
    <pc:sldMkLst xmlns:pc="http://schemas.microsoft.com/office/powerpoint/2013/main/command">
      <pc:docMk/>
      <pc:sldMk cId="4194454532" sldId="288"/>
    </pc:sldMkLst>
    <p188:txBody>
      <a:bodyPr/>
      <a:lstStyle/>
      <a:p>
        <a:r>
          <a:rPr lang="en-DE"/>
          <a:t>Title: Python 'with' Statement: Resource Management Made Easy! 🛡️
Tired of forgetting to close your files or database connections? The with statement in Python is your clean code superpower!
🇺🇸 Keep your Python code safe and clean! 🇩🇪 Python: Ressourcen sicher verwalten!
#Python #CleanCode #ProgrammingTips #ContextManager #FileHandling #CodeWithEbrahim</a:t>
        </a:r>
      </a:p>
    </p188:txBody>
  </p188:cm>
</p188:cmLst>
</file>

<file path=ppt/comments/modernComment_122_9A36DA00.xml><?xml version="1.0" encoding="utf-8"?>
<p188:cmLst xmlns:a="http://schemas.openxmlformats.org/drawingml/2006/main" xmlns:r="http://schemas.openxmlformats.org/officeDocument/2006/relationships" xmlns:p188="http://schemas.microsoft.com/office/powerpoint/2018/8/main">
  <p188:cm id="{62DADDA2-3D15-FC44-A576-7980490464C2}" authorId="{8860045D-B334-310D-0A4E-9E20AA0B149E}" created="2026-01-05T00:38:35.625">
    <pc:sldMkLst xmlns:pc="http://schemas.microsoft.com/office/powerpoint/2013/main/command">
      <pc:docMk/>
      <pc:sldMk cId="2587286016" sldId="290"/>
    </pc:sldMkLst>
    <p188:txBody>
      <a:bodyPr/>
      <a:lstStyle/>
      <a:p>
        <a:r>
          <a:rPr lang="en-DE"/>
          <a:t>Python f-Strings: The Faster &amp; Cleaner Way 🐍
Are you still using % or .format() to handle strings in Python? It’s time to upgrade! 🐍✨
f-Strings are not just more readable; they are also faster because they're evaluated
#Python #CleanCode #ProgrammingTips #fstrings #Python3 #CodeWithEbrahim #CodingLife</a:t>
        </a:r>
      </a:p>
    </p188:txBody>
  </p188:cm>
</p188:cmLst>
</file>

<file path=ppt/comments/modernComment_124_3E0760C.xml><?xml version="1.0" encoding="utf-8"?>
<p188:cmLst xmlns:a="http://schemas.openxmlformats.org/drawingml/2006/main" xmlns:r="http://schemas.openxmlformats.org/officeDocument/2006/relationships" xmlns:p188="http://schemas.microsoft.com/office/powerpoint/2018/8/main">
  <p188:cm id="{088181D5-5BED-2047-99D7-3799AF364966}" authorId="{8860045D-B334-310D-0A4E-9E20AA0B149E}" created="2026-01-05T02:39:46.343">
    <pc:sldMkLst xmlns:pc="http://schemas.microsoft.com/office/powerpoint/2013/main/command">
      <pc:docMk/>
      <pc:sldMk cId="65041932" sldId="292"/>
    </pc:sldMkLst>
    <p188:txBody>
      <a:bodyPr/>
      <a:lstStyle/>
      <a:p>
        <a:r>
          <a:rPr lang="en-DE"/>
          <a:t>Stop writing unnecessary "if" checks! 🐍✨
Using defaultdict from the collections module makes your code cleaner and prevents the famous KeyError. It automatically initializes keys with a default value (like an empty list).
#PythonTips #CleanCode #PythonProgramming #CodeWithEbrahim #SoftwareDevelopment #Python3</a:t>
        </a:r>
      </a:p>
    </p188:txBody>
  </p188:cm>
</p188:cmLst>
</file>

<file path=ppt/comments/modernComment_125_E21438E9.xml><?xml version="1.0" encoding="utf-8"?>
<p188:cmLst xmlns:a="http://schemas.openxmlformats.org/drawingml/2006/main" xmlns:r="http://schemas.openxmlformats.org/officeDocument/2006/relationships" xmlns:p188="http://schemas.microsoft.com/office/powerpoint/2018/8/main">
  <p188:cm id="{1D4420A9-55BE-024F-A9FE-476F72618FC0}" authorId="{8860045D-B334-310D-0A4E-9E20AA0B149E}" created="2026-01-05T03:19:53.551">
    <pc:sldMkLst xmlns:pc="http://schemas.microsoft.com/office/powerpoint/2013/main/command">
      <pc:docMk/>
      <pc:sldMk cId="3792976105" sldId="293"/>
    </pc:sldMkLst>
    <p188:txBody>
      <a:bodyPr/>
      <a:lstStyle/>
      <a:p>
        <a:r>
          <a:rPr lang="en-DE"/>
          <a:t>Did you know Python can return multiple values at once? 🤯🐍
In many languages, you need a class or an array to return more than one value. In Python, you just use a comma! It’s called "Tuple Unpacking" and it makes your
#PythonTips #CleanCode #ProgrammingLife #CodeWithEbrahim #PythonHacks #BackendDev</a:t>
        </a:r>
      </a:p>
    </p188:txBody>
  </p188:cm>
</p188:cmLst>
</file>

<file path=ppt/comments/modernComment_126_9DA2AD4E.xml><?xml version="1.0" encoding="utf-8"?>
<p188:cmLst xmlns:a="http://schemas.openxmlformats.org/drawingml/2006/main" xmlns:r="http://schemas.openxmlformats.org/officeDocument/2006/relationships" xmlns:p188="http://schemas.microsoft.com/office/powerpoint/2018/8/main">
  <p188:cm id="{538865AF-136D-2642-923A-35928BA76FED}" authorId="{8860045D-B334-310D-0A4E-9E20AA0B149E}" created="2026-01-05T04:08:30.372">
    <pc:sldMkLst xmlns:pc="http://schemas.microsoft.com/office/powerpoint/2013/main/command">
      <pc:docMk/>
      <pc:sldMk cId="2644684110" sldId="294"/>
    </pc:sldMkLst>
    <p188:txBody>
      <a:bodyPr/>
      <a:lstStyle/>
      <a:p>
        <a:r>
          <a:rPr lang="en-DE"/>
          <a:t>Stop crashing your app with KeyErrors! 🛡️🐍
Tired of seeing KeyError in your logs? Accessing dictionary values with [] is risky because if the key is missing, your code breaks.
The .get() method is your best friend. It allows you to provide a default value so your program keeps running smoothly no matter what.
#PythonTips #CleanCode #ErrorHandling #PythonDeveloper #ProgrammingLife #CodeWithEbrahim</a:t>
        </a:r>
      </a:p>
    </p188:txBody>
  </p188:cm>
</p188:cmLst>
</file>

<file path=ppt/comments/modernComment_128_2DA5E9E5.xml><?xml version="1.0" encoding="utf-8"?>
<p188:cmLst xmlns:a="http://schemas.openxmlformats.org/drawingml/2006/main" xmlns:r="http://schemas.openxmlformats.org/officeDocument/2006/relationships" xmlns:p188="http://schemas.microsoft.com/office/powerpoint/2018/8/main">
  <p188:cm id="{2ACBA615-6F93-FE4D-AF24-4DC16D768C38}" authorId="{8860045D-B334-310D-0A4E-9E20AA0B149E}" created="2026-01-05T14:00:03.636">
    <pc:sldMkLst xmlns:pc="http://schemas.microsoft.com/office/powerpoint/2013/main/command">
      <pc:docMk/>
      <pc:sldMk cId="765848037" sldId="296"/>
    </pc:sldMkLst>
    <p188:txBody>
      <a:bodyPr/>
      <a:lstStyle/>
      <a:p>
        <a:r>
          <a:rPr lang="en-DE"/>
          <a:t>Master TypeScript: Cleaner Code in Seconds! ✨
Caption:
Stop struggling with long if chains! 🛑
In TypeScript, you can break down complex object access into clean, readable lines using ?.. It makes your code look professional and prevents "Undefined" errors.
#TypeScript #CleanCode #WebDevelopment #Programming #CodeWithEbrahim 
</a:t>
        </a:r>
      </a:p>
    </p188:txBody>
  </p188:cm>
</p188:cmLst>
</file>

<file path=ppt/comments/modernComment_129_FD6B0559.xml><?xml version="1.0" encoding="utf-8"?>
<p188:cmLst xmlns:a="http://schemas.openxmlformats.org/drawingml/2006/main" xmlns:r="http://schemas.openxmlformats.org/officeDocument/2006/relationships" xmlns:p188="http://schemas.microsoft.com/office/powerpoint/2018/8/main">
  <p188:cm id="{309E6CEA-BF3D-9F42-AECA-91EFCE7151E0}" authorId="{8860045D-B334-310D-0A4E-9E20AA0B149E}" created="2026-01-06T01:33:22.454">
    <pc:sldMkLst xmlns:pc="http://schemas.microsoft.com/office/powerpoint/2013/main/command">
      <pc:docMk/>
      <pc:sldMk cId="4251649369" sldId="297"/>
    </pc:sldMkLst>
    <p188:txBody>
      <a:bodyPr/>
      <a:lstStyle/>
      <a:p>
        <a:r>
          <a:rPr lang="en-DE"/>
          <a:t>Stop treating "0" as "False"! 🛑✨
In JavaScript, the || operator can be tricky because it treats 0 or "" as falsy values. This leads to bugs!
TypeScript's Nullish Coalescing (??) solves this. It only uses the default value if the original one is strictly null or undefined.
#TypeScript #CodingTips #WebDev #CleanCode #Programming #CodeWithEbrahim #shorts</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4FBA138-3D39-3B30-0B84-FAA5665F8EA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DE"/>
          </a:p>
        </p:txBody>
      </p:sp>
      <p:sp>
        <p:nvSpPr>
          <p:cNvPr id="3" name="Date Placeholder 2">
            <a:extLst>
              <a:ext uri="{FF2B5EF4-FFF2-40B4-BE49-F238E27FC236}">
                <a16:creationId xmlns:a16="http://schemas.microsoft.com/office/drawing/2014/main" id="{6F92B506-9A65-D569-B170-CDF1433B9C0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559BA52-1DBC-1C4E-9ABF-5B2EAE6EADF0}" type="datetimeFigureOut">
              <a:rPr lang="en-DE" smtClean="0"/>
              <a:t>04.04.26</a:t>
            </a:fld>
            <a:endParaRPr lang="en-DE"/>
          </a:p>
        </p:txBody>
      </p:sp>
      <p:sp>
        <p:nvSpPr>
          <p:cNvPr id="4" name="Footer Placeholder 3">
            <a:extLst>
              <a:ext uri="{FF2B5EF4-FFF2-40B4-BE49-F238E27FC236}">
                <a16:creationId xmlns:a16="http://schemas.microsoft.com/office/drawing/2014/main" id="{5EA30CE9-E183-7FD9-8EC8-49815C30351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DE"/>
          </a:p>
        </p:txBody>
      </p:sp>
      <p:sp>
        <p:nvSpPr>
          <p:cNvPr id="5" name="Slide Number Placeholder 4">
            <a:extLst>
              <a:ext uri="{FF2B5EF4-FFF2-40B4-BE49-F238E27FC236}">
                <a16:creationId xmlns:a16="http://schemas.microsoft.com/office/drawing/2014/main" id="{95A5A13E-4492-6DBF-56B6-056C8FAE849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2B1CD73-A6E1-4043-855A-1C917EBFABEB}" type="slidenum">
              <a:rPr lang="en-DE" smtClean="0"/>
              <a:t>‹#›</a:t>
            </a:fld>
            <a:endParaRPr lang="en-DE"/>
          </a:p>
        </p:txBody>
      </p:sp>
    </p:spTree>
    <p:extLst>
      <p:ext uri="{BB962C8B-B14F-4D97-AF65-F5344CB8AC3E}">
        <p14:creationId xmlns:p14="http://schemas.microsoft.com/office/powerpoint/2010/main" val="137700110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D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F57384-5D6E-7E42-90C4-560B39EF53DD}" type="datetimeFigureOut">
              <a:rPr lang="en-DE" smtClean="0"/>
              <a:t>04.04.26</a:t>
            </a:fld>
            <a:endParaRPr lang="en-DE"/>
          </a:p>
        </p:txBody>
      </p:sp>
      <p:sp>
        <p:nvSpPr>
          <p:cNvPr id="4" name="Slide Image Placeholder 3"/>
          <p:cNvSpPr>
            <a:spLocks noGrp="1" noRot="1" noChangeAspect="1"/>
          </p:cNvSpPr>
          <p:nvPr>
            <p:ph type="sldImg" idx="2"/>
          </p:nvPr>
        </p:nvSpPr>
        <p:spPr>
          <a:xfrm>
            <a:off x="2560638" y="1143000"/>
            <a:ext cx="1736725" cy="3086100"/>
          </a:xfrm>
          <a:prstGeom prst="rect">
            <a:avLst/>
          </a:prstGeom>
          <a:noFill/>
          <a:ln w="12700">
            <a:solidFill>
              <a:prstClr val="black"/>
            </a:solidFill>
          </a:ln>
        </p:spPr>
        <p:txBody>
          <a:bodyPr vert="horz" lIns="91440" tIns="45720" rIns="91440" bIns="45720" rtlCol="0" anchor="ctr"/>
          <a:lstStyle/>
          <a:p>
            <a:endParaRPr lang="en-D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D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46D1A58-C582-AC49-9010-037E894CD422}" type="slidenum">
              <a:rPr lang="en-DE" smtClean="0"/>
              <a:t>‹#›</a:t>
            </a:fld>
            <a:endParaRPr lang="en-DE"/>
          </a:p>
        </p:txBody>
      </p:sp>
    </p:spTree>
    <p:extLst>
      <p:ext uri="{BB962C8B-B14F-4D97-AF65-F5344CB8AC3E}">
        <p14:creationId xmlns:p14="http://schemas.microsoft.com/office/powerpoint/2010/main" val="35564076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Video 011</a:t>
            </a:r>
            <a:br>
              <a:rPr lang="en-GB" dirty="0"/>
            </a:br>
            <a:r>
              <a:rPr lang="en-GB" dirty="0"/>
              <a:t>F</a:t>
            </a:r>
            <a:r>
              <a:rPr lang="en-DE" dirty="0"/>
              <a:t>older: </a:t>
            </a:r>
            <a:r>
              <a:rPr lang="en-GB" dirty="0"/>
              <a:t>py_011_pathlib</a:t>
            </a:r>
            <a:endParaRPr lang="en-DE" dirty="0"/>
          </a:p>
        </p:txBody>
      </p:sp>
      <p:sp>
        <p:nvSpPr>
          <p:cNvPr id="4" name="Slide Number Placeholder 3"/>
          <p:cNvSpPr>
            <a:spLocks noGrp="1"/>
          </p:cNvSpPr>
          <p:nvPr>
            <p:ph type="sldNum" sz="quarter" idx="5"/>
          </p:nvPr>
        </p:nvSpPr>
        <p:spPr/>
        <p:txBody>
          <a:bodyPr/>
          <a:lstStyle/>
          <a:p>
            <a:fld id="{B46D1A58-C582-AC49-9010-037E894CD422}" type="slidenum">
              <a:rPr lang="en-DE" smtClean="0"/>
              <a:t>2</a:t>
            </a:fld>
            <a:endParaRPr lang="en-DE"/>
          </a:p>
        </p:txBody>
      </p:sp>
    </p:spTree>
    <p:extLst>
      <p:ext uri="{BB962C8B-B14F-4D97-AF65-F5344CB8AC3E}">
        <p14:creationId xmlns:p14="http://schemas.microsoft.com/office/powerpoint/2010/main" val="26713721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D69F1D-9FBB-36F5-9FE7-3423D7915E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3AB02F-394F-A51C-04FD-DDAAF17A3F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64D174-8DE6-FFDC-EF78-0644121E83C8}"/>
              </a:ext>
            </a:extLst>
          </p:cNvPr>
          <p:cNvSpPr>
            <a:spLocks noGrp="1"/>
          </p:cNvSpPr>
          <p:nvPr>
            <p:ph type="body" idx="1"/>
          </p:nvPr>
        </p:nvSpPr>
        <p:spPr/>
        <p:txBody>
          <a:bodyPr/>
          <a:lstStyle/>
          <a:p>
            <a:r>
              <a:rPr lang="en-GB"/>
              <a:t>Video 011</a:t>
            </a:r>
            <a:br>
              <a:rPr lang="en-GB"/>
            </a:br>
            <a:r>
              <a:rPr lang="en-GB"/>
              <a:t>F</a:t>
            </a:r>
            <a:r>
              <a:rPr lang="en-DE"/>
              <a:t>older: </a:t>
            </a:r>
            <a:r>
              <a:rPr lang="en-GB"/>
              <a:t>py_011_pathlib</a:t>
            </a:r>
            <a:endParaRPr lang="en-DE" dirty="0"/>
          </a:p>
        </p:txBody>
      </p:sp>
      <p:sp>
        <p:nvSpPr>
          <p:cNvPr id="4" name="Slide Number Placeholder 3">
            <a:extLst>
              <a:ext uri="{FF2B5EF4-FFF2-40B4-BE49-F238E27FC236}">
                <a16:creationId xmlns:a16="http://schemas.microsoft.com/office/drawing/2014/main" id="{69ADF59E-F413-6C42-6CF8-5D5734372A6E}"/>
              </a:ext>
            </a:extLst>
          </p:cNvPr>
          <p:cNvSpPr>
            <a:spLocks noGrp="1"/>
          </p:cNvSpPr>
          <p:nvPr>
            <p:ph type="sldNum" sz="quarter" idx="5"/>
          </p:nvPr>
        </p:nvSpPr>
        <p:spPr/>
        <p:txBody>
          <a:bodyPr/>
          <a:lstStyle/>
          <a:p>
            <a:fld id="{B46D1A58-C582-AC49-9010-037E894CD422}" type="slidenum">
              <a:rPr lang="en-DE" smtClean="0"/>
              <a:t>4</a:t>
            </a:fld>
            <a:endParaRPr lang="en-DE"/>
          </a:p>
        </p:txBody>
      </p:sp>
    </p:spTree>
    <p:extLst>
      <p:ext uri="{BB962C8B-B14F-4D97-AF65-F5344CB8AC3E}">
        <p14:creationId xmlns:p14="http://schemas.microsoft.com/office/powerpoint/2010/main" val="32922084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8269F-2611-C21E-D603-35F4483587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B802A2-D304-467F-5231-1474C6DA80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672D1D-3D2B-97AD-F1A7-28961E1E3418}"/>
              </a:ext>
            </a:extLst>
          </p:cNvPr>
          <p:cNvSpPr>
            <a:spLocks noGrp="1"/>
          </p:cNvSpPr>
          <p:nvPr>
            <p:ph type="body" idx="1"/>
          </p:nvPr>
        </p:nvSpPr>
        <p:spPr/>
        <p:txBody>
          <a:bodyPr/>
          <a:lstStyle/>
          <a:p>
            <a:r>
              <a:rPr lang="en-GB" dirty="0"/>
              <a:t>Video 011</a:t>
            </a:r>
            <a:br>
              <a:rPr lang="en-GB" dirty="0"/>
            </a:br>
            <a:r>
              <a:rPr lang="en-GB" dirty="0"/>
              <a:t>F</a:t>
            </a:r>
            <a:r>
              <a:rPr lang="en-DE" dirty="0"/>
              <a:t>older: </a:t>
            </a:r>
            <a:r>
              <a:rPr lang="en-GB" dirty="0"/>
              <a:t>py_011_pathlib</a:t>
            </a:r>
            <a:endParaRPr lang="en-DE" dirty="0"/>
          </a:p>
        </p:txBody>
      </p:sp>
      <p:sp>
        <p:nvSpPr>
          <p:cNvPr id="4" name="Slide Number Placeholder 3">
            <a:extLst>
              <a:ext uri="{FF2B5EF4-FFF2-40B4-BE49-F238E27FC236}">
                <a16:creationId xmlns:a16="http://schemas.microsoft.com/office/drawing/2014/main" id="{5C60CA1E-2B55-4A0A-872E-5D61174F86F8}"/>
              </a:ext>
            </a:extLst>
          </p:cNvPr>
          <p:cNvSpPr>
            <a:spLocks noGrp="1"/>
          </p:cNvSpPr>
          <p:nvPr>
            <p:ph type="sldNum" sz="quarter" idx="5"/>
          </p:nvPr>
        </p:nvSpPr>
        <p:spPr/>
        <p:txBody>
          <a:bodyPr/>
          <a:lstStyle/>
          <a:p>
            <a:fld id="{B46D1A58-C582-AC49-9010-037E894CD422}" type="slidenum">
              <a:rPr lang="en-DE" smtClean="0"/>
              <a:t>5</a:t>
            </a:fld>
            <a:endParaRPr lang="en-DE"/>
          </a:p>
        </p:txBody>
      </p:sp>
    </p:spTree>
    <p:extLst>
      <p:ext uri="{BB962C8B-B14F-4D97-AF65-F5344CB8AC3E}">
        <p14:creationId xmlns:p14="http://schemas.microsoft.com/office/powerpoint/2010/main" val="12724481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C732FD-D9E9-AAE3-0DFD-25C6A5879A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F65AD2-BF8F-55A2-6C49-4C74899FC2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E244BB-A6D8-1077-F5B9-623B75F9D79E}"/>
              </a:ext>
            </a:extLst>
          </p:cNvPr>
          <p:cNvSpPr>
            <a:spLocks noGrp="1"/>
          </p:cNvSpPr>
          <p:nvPr>
            <p:ph type="body" idx="1"/>
          </p:nvPr>
        </p:nvSpPr>
        <p:spPr/>
        <p:txBody>
          <a:bodyPr/>
          <a:lstStyle/>
          <a:p>
            <a:r>
              <a:rPr lang="en-GB" dirty="0"/>
              <a:t>Video 011</a:t>
            </a:r>
            <a:br>
              <a:rPr lang="en-GB" dirty="0"/>
            </a:br>
            <a:r>
              <a:rPr lang="en-GB" dirty="0"/>
              <a:t>F</a:t>
            </a:r>
            <a:r>
              <a:rPr lang="en-DE" dirty="0"/>
              <a:t>older: </a:t>
            </a:r>
            <a:r>
              <a:rPr lang="en-GB" dirty="0"/>
              <a:t>py_011_pathlib</a:t>
            </a:r>
            <a:endParaRPr lang="en-DE" dirty="0"/>
          </a:p>
        </p:txBody>
      </p:sp>
      <p:sp>
        <p:nvSpPr>
          <p:cNvPr id="4" name="Slide Number Placeholder 3">
            <a:extLst>
              <a:ext uri="{FF2B5EF4-FFF2-40B4-BE49-F238E27FC236}">
                <a16:creationId xmlns:a16="http://schemas.microsoft.com/office/drawing/2014/main" id="{A9999D23-2291-E2AF-4349-FDA5EB6F07AD}"/>
              </a:ext>
            </a:extLst>
          </p:cNvPr>
          <p:cNvSpPr>
            <a:spLocks noGrp="1"/>
          </p:cNvSpPr>
          <p:nvPr>
            <p:ph type="sldNum" sz="quarter" idx="5"/>
          </p:nvPr>
        </p:nvSpPr>
        <p:spPr/>
        <p:txBody>
          <a:bodyPr/>
          <a:lstStyle/>
          <a:p>
            <a:fld id="{B46D1A58-C582-AC49-9010-037E894CD422}" type="slidenum">
              <a:rPr lang="en-DE" smtClean="0"/>
              <a:t>12</a:t>
            </a:fld>
            <a:endParaRPr lang="en-DE"/>
          </a:p>
        </p:txBody>
      </p:sp>
    </p:spTree>
    <p:extLst>
      <p:ext uri="{BB962C8B-B14F-4D97-AF65-F5344CB8AC3E}">
        <p14:creationId xmlns:p14="http://schemas.microsoft.com/office/powerpoint/2010/main" val="18322365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71406" y="2992968"/>
            <a:ext cx="8742601" cy="6366933"/>
          </a:xfrm>
        </p:spPr>
        <p:txBody>
          <a:bodyPr anchor="b"/>
          <a:lstStyle>
            <a:lvl1pPr algn="ctr">
              <a:defRPr sz="6749"/>
            </a:lvl1pPr>
          </a:lstStyle>
          <a:p>
            <a:r>
              <a:rPr lang="en-GB"/>
              <a:t>Click to edit Master title style</a:t>
            </a:r>
            <a:endParaRPr lang="en-US" dirty="0"/>
          </a:p>
        </p:txBody>
      </p:sp>
      <p:sp>
        <p:nvSpPr>
          <p:cNvPr id="3" name="Subtitle 2"/>
          <p:cNvSpPr>
            <a:spLocks noGrp="1"/>
          </p:cNvSpPr>
          <p:nvPr>
            <p:ph type="subTitle" idx="1"/>
          </p:nvPr>
        </p:nvSpPr>
        <p:spPr>
          <a:xfrm>
            <a:off x="1285677" y="9605435"/>
            <a:ext cx="7714060" cy="4415365"/>
          </a:xfrm>
        </p:spPr>
        <p:txBody>
          <a:bodyPr/>
          <a:lstStyle>
            <a:lvl1pPr marL="0" indent="0" algn="ctr">
              <a:buNone/>
              <a:defRPr sz="2700"/>
            </a:lvl1pPr>
            <a:lvl2pPr marL="514259" indent="0" algn="ctr">
              <a:buNone/>
              <a:defRPr sz="2250"/>
            </a:lvl2pPr>
            <a:lvl3pPr marL="1028517" indent="0" algn="ctr">
              <a:buNone/>
              <a:defRPr sz="2025"/>
            </a:lvl3pPr>
            <a:lvl4pPr marL="1542776" indent="0" algn="ctr">
              <a:buNone/>
              <a:defRPr sz="1800"/>
            </a:lvl4pPr>
            <a:lvl5pPr marL="2057034" indent="0" algn="ctr">
              <a:buNone/>
              <a:defRPr sz="1800"/>
            </a:lvl5pPr>
            <a:lvl6pPr marL="2571293" indent="0" algn="ctr">
              <a:buNone/>
              <a:defRPr sz="1800"/>
            </a:lvl6pPr>
            <a:lvl7pPr marL="3085551" indent="0" algn="ctr">
              <a:buNone/>
              <a:defRPr sz="1800"/>
            </a:lvl7pPr>
            <a:lvl8pPr marL="3599810" indent="0" algn="ctr">
              <a:buNone/>
              <a:defRPr sz="1800"/>
            </a:lvl8pPr>
            <a:lvl9pPr marL="4114068" indent="0" algn="ctr">
              <a:buNone/>
              <a:defRPr sz="18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pPr/>
              <a:t>4/4/26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720936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582B4725-F1EC-C0BF-28F1-5FBD00F89475}"/>
              </a:ext>
            </a:extLst>
          </p:cNvPr>
          <p:cNvSpPr txBox="1"/>
          <p:nvPr userDrawn="1"/>
        </p:nvSpPr>
        <p:spPr>
          <a:xfrm>
            <a:off x="2170229" y="2296714"/>
            <a:ext cx="5944954" cy="923330"/>
          </a:xfrm>
          <a:prstGeom prst="rect">
            <a:avLst/>
          </a:prstGeom>
          <a:noFill/>
        </p:spPr>
        <p:txBody>
          <a:bodyPr wrap="square" rtlCol="0">
            <a:spAutoFit/>
          </a:bodyPr>
          <a:lstStyle/>
          <a:p>
            <a:pPr algn="ctr"/>
            <a:r>
              <a:rPr lang="en-GB" sz="5400" b="1" dirty="0">
                <a:ln/>
                <a:latin typeface="+mj-lt"/>
              </a:rPr>
              <a:t>@</a:t>
            </a:r>
            <a:r>
              <a:rPr lang="en-GB" sz="5400" b="1" dirty="0" err="1">
                <a:ln/>
                <a:latin typeface="+mj-lt"/>
              </a:rPr>
              <a:t>CodeWithEbrahim</a:t>
            </a:r>
            <a:endParaRPr lang="en-GB" sz="5400" b="1" dirty="0">
              <a:ln/>
              <a:latin typeface="+mj-lt"/>
            </a:endParaRPr>
          </a:p>
        </p:txBody>
      </p:sp>
      <p:grpSp>
        <p:nvGrpSpPr>
          <p:cNvPr id="8" name="Group 7">
            <a:extLst>
              <a:ext uri="{FF2B5EF4-FFF2-40B4-BE49-F238E27FC236}">
                <a16:creationId xmlns:a16="http://schemas.microsoft.com/office/drawing/2014/main" id="{58E2B3C5-12FB-9052-C5A5-A819EAF27AC1}"/>
              </a:ext>
            </a:extLst>
          </p:cNvPr>
          <p:cNvGrpSpPr/>
          <p:nvPr userDrawn="1"/>
        </p:nvGrpSpPr>
        <p:grpSpPr>
          <a:xfrm>
            <a:off x="4153139" y="1475527"/>
            <a:ext cx="1979135" cy="925200"/>
            <a:chOff x="4315976" y="15244200"/>
            <a:chExt cx="1979135" cy="925200"/>
          </a:xfrm>
        </p:grpSpPr>
        <p:pic>
          <p:nvPicPr>
            <p:cNvPr id="9" name="Picture 8">
              <a:extLst>
                <a:ext uri="{FF2B5EF4-FFF2-40B4-BE49-F238E27FC236}">
                  <a16:creationId xmlns:a16="http://schemas.microsoft.com/office/drawing/2014/main" id="{34524E7D-1D75-8F90-E72A-A01BE2ADDFE0}"/>
                </a:ext>
              </a:extLst>
            </p:cNvPr>
            <p:cNvPicPr>
              <a:picLocks noChangeAspect="1"/>
            </p:cNvPicPr>
            <p:nvPr/>
          </p:nvPicPr>
          <p:blipFill>
            <a:blip r:embed="rId2"/>
            <a:stretch>
              <a:fillRect/>
            </a:stretch>
          </p:blipFill>
          <p:spPr>
            <a:xfrm>
              <a:off x="5369911" y="15244200"/>
              <a:ext cx="925200" cy="925200"/>
            </a:xfrm>
            <a:prstGeom prst="rect">
              <a:avLst/>
            </a:prstGeom>
          </p:spPr>
        </p:pic>
        <p:pic>
          <p:nvPicPr>
            <p:cNvPr id="10" name="Picture 9">
              <a:extLst>
                <a:ext uri="{FF2B5EF4-FFF2-40B4-BE49-F238E27FC236}">
                  <a16:creationId xmlns:a16="http://schemas.microsoft.com/office/drawing/2014/main" id="{A3FF6CE8-F094-62A9-F577-CE8ADDA4349A}"/>
                </a:ext>
              </a:extLst>
            </p:cNvPr>
            <p:cNvPicPr>
              <a:picLocks noChangeAspect="1"/>
            </p:cNvPicPr>
            <p:nvPr/>
          </p:nvPicPr>
          <p:blipFill>
            <a:blip r:embed="rId3"/>
            <a:stretch>
              <a:fillRect/>
            </a:stretch>
          </p:blipFill>
          <p:spPr>
            <a:xfrm>
              <a:off x="4315976" y="15244200"/>
              <a:ext cx="925200" cy="925200"/>
            </a:xfrm>
            <a:prstGeom prst="rect">
              <a:avLst/>
            </a:prstGeom>
          </p:spPr>
        </p:pic>
      </p:grpSp>
      <p:sp>
        <p:nvSpPr>
          <p:cNvPr id="12" name="Date Placeholder 11">
            <a:extLst>
              <a:ext uri="{FF2B5EF4-FFF2-40B4-BE49-F238E27FC236}">
                <a16:creationId xmlns:a16="http://schemas.microsoft.com/office/drawing/2014/main" id="{B184EB1F-481A-B6D2-1817-1F871BD06A73}"/>
              </a:ext>
            </a:extLst>
          </p:cNvPr>
          <p:cNvSpPr>
            <a:spLocks noGrp="1"/>
          </p:cNvSpPr>
          <p:nvPr>
            <p:ph type="dt" sz="half" idx="10"/>
          </p:nvPr>
        </p:nvSpPr>
        <p:spPr/>
        <p:txBody>
          <a:bodyPr/>
          <a:lstStyle/>
          <a:p>
            <a:fld id="{48A87A34-81AB-432B-8DAE-1953F412C126}" type="datetimeFigureOut">
              <a:rPr lang="en-US" smtClean="0"/>
              <a:pPr/>
              <a:t>4/4/26</a:t>
            </a:fld>
            <a:endParaRPr lang="en-US" dirty="0"/>
          </a:p>
        </p:txBody>
      </p:sp>
      <p:sp>
        <p:nvSpPr>
          <p:cNvPr id="13" name="Footer Placeholder 12">
            <a:extLst>
              <a:ext uri="{FF2B5EF4-FFF2-40B4-BE49-F238E27FC236}">
                <a16:creationId xmlns:a16="http://schemas.microsoft.com/office/drawing/2014/main" id="{B97F9027-CC07-7360-7ADD-A8D8CE9A1E52}"/>
              </a:ext>
            </a:extLst>
          </p:cNvPr>
          <p:cNvSpPr>
            <a:spLocks noGrp="1"/>
          </p:cNvSpPr>
          <p:nvPr>
            <p:ph type="ftr" sz="quarter" idx="11"/>
          </p:nvPr>
        </p:nvSpPr>
        <p:spPr/>
        <p:txBody>
          <a:bodyPr/>
          <a:lstStyle/>
          <a:p>
            <a:endParaRPr lang="en-US" dirty="0"/>
          </a:p>
        </p:txBody>
      </p:sp>
      <p:sp>
        <p:nvSpPr>
          <p:cNvPr id="14" name="Slide Number Placeholder 13">
            <a:extLst>
              <a:ext uri="{FF2B5EF4-FFF2-40B4-BE49-F238E27FC236}">
                <a16:creationId xmlns:a16="http://schemas.microsoft.com/office/drawing/2014/main" id="{025924C7-C2EA-D319-9523-271865881EE9}"/>
              </a:ext>
            </a:extLst>
          </p:cNvPr>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875218026"/>
      </p:ext>
    </p:extLst>
  </p:cSld>
  <p:clrMapOvr>
    <a:masterClrMapping/>
  </p:clrMapOvr>
  <p:extLst>
    <p:ext uri="{DCECCB84-F9BA-43D5-87BE-67443E8EF086}">
      <p15:sldGuideLst xmlns:p15="http://schemas.microsoft.com/office/powerpoint/2012/main">
        <p15:guide id="1" orient="horz" pos="5760" userDrawn="1">
          <p15:clr>
            <a:srgbClr val="FBAE40"/>
          </p15:clr>
        </p15:guide>
        <p15:guide id="2" pos="3239"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01766" y="4559305"/>
            <a:ext cx="8871169" cy="7607299"/>
          </a:xfrm>
        </p:spPr>
        <p:txBody>
          <a:bodyPr anchor="b"/>
          <a:lstStyle>
            <a:lvl1pPr>
              <a:defRPr sz="6749"/>
            </a:lvl1pPr>
          </a:lstStyle>
          <a:p>
            <a:r>
              <a:rPr lang="en-GB"/>
              <a:t>Click to edit Master title style</a:t>
            </a:r>
            <a:endParaRPr lang="en-US" dirty="0"/>
          </a:p>
        </p:txBody>
      </p:sp>
      <p:sp>
        <p:nvSpPr>
          <p:cNvPr id="3" name="Text Placeholder 2"/>
          <p:cNvSpPr>
            <a:spLocks noGrp="1"/>
          </p:cNvSpPr>
          <p:nvPr>
            <p:ph type="body" idx="1"/>
          </p:nvPr>
        </p:nvSpPr>
        <p:spPr>
          <a:xfrm>
            <a:off x="701766" y="12238572"/>
            <a:ext cx="8871169" cy="4000499"/>
          </a:xfrm>
        </p:spPr>
        <p:txBody>
          <a:bodyPr/>
          <a:lstStyle>
            <a:lvl1pPr marL="0" indent="0">
              <a:buNone/>
              <a:defRPr sz="2700">
                <a:solidFill>
                  <a:schemeClr val="tx1"/>
                </a:solidFill>
              </a:defRPr>
            </a:lvl1pPr>
            <a:lvl2pPr marL="514259" indent="0">
              <a:buNone/>
              <a:defRPr sz="2250">
                <a:solidFill>
                  <a:schemeClr val="tx1">
                    <a:tint val="75000"/>
                  </a:schemeClr>
                </a:solidFill>
              </a:defRPr>
            </a:lvl2pPr>
            <a:lvl3pPr marL="1028517" indent="0">
              <a:buNone/>
              <a:defRPr sz="2025">
                <a:solidFill>
                  <a:schemeClr val="tx1">
                    <a:tint val="75000"/>
                  </a:schemeClr>
                </a:solidFill>
              </a:defRPr>
            </a:lvl3pPr>
            <a:lvl4pPr marL="1542776" indent="0">
              <a:buNone/>
              <a:defRPr sz="1800">
                <a:solidFill>
                  <a:schemeClr val="tx1">
                    <a:tint val="75000"/>
                  </a:schemeClr>
                </a:solidFill>
              </a:defRPr>
            </a:lvl4pPr>
            <a:lvl5pPr marL="2057034" indent="0">
              <a:buNone/>
              <a:defRPr sz="1800">
                <a:solidFill>
                  <a:schemeClr val="tx1">
                    <a:tint val="75000"/>
                  </a:schemeClr>
                </a:solidFill>
              </a:defRPr>
            </a:lvl5pPr>
            <a:lvl6pPr marL="2571293" indent="0">
              <a:buNone/>
              <a:defRPr sz="1800">
                <a:solidFill>
                  <a:schemeClr val="tx1">
                    <a:tint val="75000"/>
                  </a:schemeClr>
                </a:solidFill>
              </a:defRPr>
            </a:lvl6pPr>
            <a:lvl7pPr marL="3085551" indent="0">
              <a:buNone/>
              <a:defRPr sz="1800">
                <a:solidFill>
                  <a:schemeClr val="tx1">
                    <a:tint val="75000"/>
                  </a:schemeClr>
                </a:solidFill>
              </a:defRPr>
            </a:lvl7pPr>
            <a:lvl8pPr marL="3599810" indent="0">
              <a:buNone/>
              <a:defRPr sz="1800">
                <a:solidFill>
                  <a:schemeClr val="tx1">
                    <a:tint val="75000"/>
                  </a:schemeClr>
                </a:solidFill>
              </a:defRPr>
            </a:lvl8pPr>
            <a:lvl9pPr marL="4114068" indent="0">
              <a:buNone/>
              <a:defRPr sz="18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t>4/4/26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2484873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707122" y="4868333"/>
            <a:ext cx="4371301" cy="1160356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5206990" y="4868333"/>
            <a:ext cx="4371301" cy="1160356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4/4/26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277871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708462" y="973670"/>
            <a:ext cx="8871169" cy="3534835"/>
          </a:xfrm>
        </p:spPr>
        <p:txBody>
          <a:bodyPr/>
          <a:lstStyle/>
          <a:p>
            <a:r>
              <a:rPr lang="en-GB"/>
              <a:t>Click to edit Master title style</a:t>
            </a:r>
            <a:endParaRPr lang="en-US" dirty="0"/>
          </a:p>
        </p:txBody>
      </p:sp>
      <p:sp>
        <p:nvSpPr>
          <p:cNvPr id="3" name="Text Placeholder 2"/>
          <p:cNvSpPr>
            <a:spLocks noGrp="1"/>
          </p:cNvSpPr>
          <p:nvPr>
            <p:ph type="body" idx="1"/>
          </p:nvPr>
        </p:nvSpPr>
        <p:spPr>
          <a:xfrm>
            <a:off x="708463" y="4483101"/>
            <a:ext cx="4351211" cy="2197099"/>
          </a:xfrm>
        </p:spPr>
        <p:txBody>
          <a:bodyPr anchor="b"/>
          <a:lstStyle>
            <a:lvl1pPr marL="0" indent="0">
              <a:buNone/>
              <a:defRPr sz="2700" b="1"/>
            </a:lvl1pPr>
            <a:lvl2pPr marL="514259" indent="0">
              <a:buNone/>
              <a:defRPr sz="2250" b="1"/>
            </a:lvl2pPr>
            <a:lvl3pPr marL="1028517" indent="0">
              <a:buNone/>
              <a:defRPr sz="2025" b="1"/>
            </a:lvl3pPr>
            <a:lvl4pPr marL="1542776" indent="0">
              <a:buNone/>
              <a:defRPr sz="1800" b="1"/>
            </a:lvl4pPr>
            <a:lvl5pPr marL="2057034" indent="0">
              <a:buNone/>
              <a:defRPr sz="1800" b="1"/>
            </a:lvl5pPr>
            <a:lvl6pPr marL="2571293" indent="0">
              <a:buNone/>
              <a:defRPr sz="1800" b="1"/>
            </a:lvl6pPr>
            <a:lvl7pPr marL="3085551" indent="0">
              <a:buNone/>
              <a:defRPr sz="1800" b="1"/>
            </a:lvl7pPr>
            <a:lvl8pPr marL="3599810" indent="0">
              <a:buNone/>
              <a:defRPr sz="1800" b="1"/>
            </a:lvl8pPr>
            <a:lvl9pPr marL="4114068" indent="0">
              <a:buNone/>
              <a:defRPr sz="1800" b="1"/>
            </a:lvl9pPr>
          </a:lstStyle>
          <a:p>
            <a:pPr lvl="0"/>
            <a:r>
              <a:rPr lang="en-GB"/>
              <a:t>Click to edit Master text styles</a:t>
            </a:r>
          </a:p>
        </p:txBody>
      </p:sp>
      <p:sp>
        <p:nvSpPr>
          <p:cNvPr id="4" name="Content Placeholder 3"/>
          <p:cNvSpPr>
            <a:spLocks noGrp="1"/>
          </p:cNvSpPr>
          <p:nvPr>
            <p:ph sz="half" idx="2"/>
          </p:nvPr>
        </p:nvSpPr>
        <p:spPr>
          <a:xfrm>
            <a:off x="708463" y="6680200"/>
            <a:ext cx="4351211" cy="982556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5206991" y="4483101"/>
            <a:ext cx="4372640" cy="2197099"/>
          </a:xfrm>
        </p:spPr>
        <p:txBody>
          <a:bodyPr anchor="b"/>
          <a:lstStyle>
            <a:lvl1pPr marL="0" indent="0">
              <a:buNone/>
              <a:defRPr sz="2700" b="1"/>
            </a:lvl1pPr>
            <a:lvl2pPr marL="514259" indent="0">
              <a:buNone/>
              <a:defRPr sz="2250" b="1"/>
            </a:lvl2pPr>
            <a:lvl3pPr marL="1028517" indent="0">
              <a:buNone/>
              <a:defRPr sz="2025" b="1"/>
            </a:lvl3pPr>
            <a:lvl4pPr marL="1542776" indent="0">
              <a:buNone/>
              <a:defRPr sz="1800" b="1"/>
            </a:lvl4pPr>
            <a:lvl5pPr marL="2057034" indent="0">
              <a:buNone/>
              <a:defRPr sz="1800" b="1"/>
            </a:lvl5pPr>
            <a:lvl6pPr marL="2571293" indent="0">
              <a:buNone/>
              <a:defRPr sz="1800" b="1"/>
            </a:lvl6pPr>
            <a:lvl7pPr marL="3085551" indent="0">
              <a:buNone/>
              <a:defRPr sz="1800" b="1"/>
            </a:lvl7pPr>
            <a:lvl8pPr marL="3599810" indent="0">
              <a:buNone/>
              <a:defRPr sz="1800" b="1"/>
            </a:lvl8pPr>
            <a:lvl9pPr marL="4114068" indent="0">
              <a:buNone/>
              <a:defRPr sz="1800" b="1"/>
            </a:lvl9pPr>
          </a:lstStyle>
          <a:p>
            <a:pPr lvl="0"/>
            <a:r>
              <a:rPr lang="en-GB"/>
              <a:t>Click to edit Master text styles</a:t>
            </a:r>
          </a:p>
        </p:txBody>
      </p:sp>
      <p:sp>
        <p:nvSpPr>
          <p:cNvPr id="6" name="Content Placeholder 5"/>
          <p:cNvSpPr>
            <a:spLocks noGrp="1"/>
          </p:cNvSpPr>
          <p:nvPr>
            <p:ph sz="quarter" idx="4"/>
          </p:nvPr>
        </p:nvSpPr>
        <p:spPr>
          <a:xfrm>
            <a:off x="5206991" y="6680200"/>
            <a:ext cx="4372640" cy="982556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4/4/26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3029076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4/4/26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2947287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4/4/26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7537280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462" y="1219200"/>
            <a:ext cx="3317313" cy="4267200"/>
          </a:xfrm>
        </p:spPr>
        <p:txBody>
          <a:bodyPr anchor="b"/>
          <a:lstStyle>
            <a:lvl1pPr>
              <a:defRPr sz="3599"/>
            </a:lvl1pPr>
          </a:lstStyle>
          <a:p>
            <a:r>
              <a:rPr lang="en-GB"/>
              <a:t>Click to edit Master title style</a:t>
            </a:r>
            <a:endParaRPr lang="en-US" dirty="0"/>
          </a:p>
        </p:txBody>
      </p:sp>
      <p:sp>
        <p:nvSpPr>
          <p:cNvPr id="3" name="Content Placeholder 2"/>
          <p:cNvSpPr>
            <a:spLocks noGrp="1"/>
          </p:cNvSpPr>
          <p:nvPr>
            <p:ph idx="1"/>
          </p:nvPr>
        </p:nvSpPr>
        <p:spPr>
          <a:xfrm>
            <a:off x="4372640" y="2633137"/>
            <a:ext cx="5206990" cy="12996333"/>
          </a:xfrm>
        </p:spPr>
        <p:txBody>
          <a:bodyPr/>
          <a:lstStyle>
            <a:lvl1pPr>
              <a:defRPr sz="3599"/>
            </a:lvl1pPr>
            <a:lvl2pPr>
              <a:defRPr sz="3149"/>
            </a:lvl2pPr>
            <a:lvl3pPr>
              <a:defRPr sz="2700"/>
            </a:lvl3pPr>
            <a:lvl4pPr>
              <a:defRPr sz="2250"/>
            </a:lvl4pPr>
            <a:lvl5pPr>
              <a:defRPr sz="2250"/>
            </a:lvl5pPr>
            <a:lvl6pPr>
              <a:defRPr sz="2250"/>
            </a:lvl6pPr>
            <a:lvl7pPr>
              <a:defRPr sz="2250"/>
            </a:lvl7pPr>
            <a:lvl8pPr>
              <a:defRPr sz="2250"/>
            </a:lvl8pPr>
            <a:lvl9pPr>
              <a:defRPr sz="225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708462" y="5486400"/>
            <a:ext cx="3317313" cy="10164235"/>
          </a:xfrm>
        </p:spPr>
        <p:txBody>
          <a:bodyPr/>
          <a:lstStyle>
            <a:lvl1pPr marL="0" indent="0">
              <a:buNone/>
              <a:defRPr sz="1800"/>
            </a:lvl1pPr>
            <a:lvl2pPr marL="514259" indent="0">
              <a:buNone/>
              <a:defRPr sz="1575"/>
            </a:lvl2pPr>
            <a:lvl3pPr marL="1028517" indent="0">
              <a:buNone/>
              <a:defRPr sz="1350"/>
            </a:lvl3pPr>
            <a:lvl4pPr marL="1542776" indent="0">
              <a:buNone/>
              <a:defRPr sz="1125"/>
            </a:lvl4pPr>
            <a:lvl5pPr marL="2057034" indent="0">
              <a:buNone/>
              <a:defRPr sz="1125"/>
            </a:lvl5pPr>
            <a:lvl6pPr marL="2571293" indent="0">
              <a:buNone/>
              <a:defRPr sz="1125"/>
            </a:lvl6pPr>
            <a:lvl7pPr marL="3085551" indent="0">
              <a:buNone/>
              <a:defRPr sz="1125"/>
            </a:lvl7pPr>
            <a:lvl8pPr marL="3599810" indent="0">
              <a:buNone/>
              <a:defRPr sz="1125"/>
            </a:lvl8pPr>
            <a:lvl9pPr marL="4114068" indent="0">
              <a:buNone/>
              <a:defRPr sz="1125"/>
            </a:lvl9pPr>
          </a:lstStyle>
          <a:p>
            <a:pPr lvl="0"/>
            <a:r>
              <a:rPr lang="en-GB"/>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4/4/26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3002895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462" y="1219200"/>
            <a:ext cx="3317313" cy="4267200"/>
          </a:xfrm>
        </p:spPr>
        <p:txBody>
          <a:bodyPr anchor="b"/>
          <a:lstStyle>
            <a:lvl1pPr>
              <a:defRPr sz="3599"/>
            </a:lvl1pPr>
          </a:lstStyle>
          <a:p>
            <a:r>
              <a:rPr lang="en-GB"/>
              <a:t>Click to edit Master title style</a:t>
            </a:r>
            <a:endParaRPr lang="en-US" dirty="0"/>
          </a:p>
        </p:txBody>
      </p:sp>
      <p:sp>
        <p:nvSpPr>
          <p:cNvPr id="3" name="Picture Placeholder 2"/>
          <p:cNvSpPr>
            <a:spLocks noGrp="1" noChangeAspect="1"/>
          </p:cNvSpPr>
          <p:nvPr>
            <p:ph type="pic" idx="1"/>
          </p:nvPr>
        </p:nvSpPr>
        <p:spPr>
          <a:xfrm>
            <a:off x="4372640" y="2633137"/>
            <a:ext cx="5206990" cy="12996333"/>
          </a:xfrm>
        </p:spPr>
        <p:txBody>
          <a:bodyPr anchor="t"/>
          <a:lstStyle>
            <a:lvl1pPr marL="0" indent="0">
              <a:buNone/>
              <a:defRPr sz="3599"/>
            </a:lvl1pPr>
            <a:lvl2pPr marL="514259" indent="0">
              <a:buNone/>
              <a:defRPr sz="3149"/>
            </a:lvl2pPr>
            <a:lvl3pPr marL="1028517" indent="0">
              <a:buNone/>
              <a:defRPr sz="2700"/>
            </a:lvl3pPr>
            <a:lvl4pPr marL="1542776" indent="0">
              <a:buNone/>
              <a:defRPr sz="2250"/>
            </a:lvl4pPr>
            <a:lvl5pPr marL="2057034" indent="0">
              <a:buNone/>
              <a:defRPr sz="2250"/>
            </a:lvl5pPr>
            <a:lvl6pPr marL="2571293" indent="0">
              <a:buNone/>
              <a:defRPr sz="2250"/>
            </a:lvl6pPr>
            <a:lvl7pPr marL="3085551" indent="0">
              <a:buNone/>
              <a:defRPr sz="2250"/>
            </a:lvl7pPr>
            <a:lvl8pPr marL="3599810" indent="0">
              <a:buNone/>
              <a:defRPr sz="2250"/>
            </a:lvl8pPr>
            <a:lvl9pPr marL="4114068" indent="0">
              <a:buNone/>
              <a:defRPr sz="2250"/>
            </a:lvl9pPr>
          </a:lstStyle>
          <a:p>
            <a:r>
              <a:rPr lang="en-GB"/>
              <a:t>Click icon to add picture</a:t>
            </a:r>
            <a:endParaRPr lang="en-US" dirty="0"/>
          </a:p>
        </p:txBody>
      </p:sp>
      <p:sp>
        <p:nvSpPr>
          <p:cNvPr id="4" name="Text Placeholder 3"/>
          <p:cNvSpPr>
            <a:spLocks noGrp="1"/>
          </p:cNvSpPr>
          <p:nvPr>
            <p:ph type="body" sz="half" idx="2"/>
          </p:nvPr>
        </p:nvSpPr>
        <p:spPr>
          <a:xfrm>
            <a:off x="708462" y="5486400"/>
            <a:ext cx="3317313" cy="10164235"/>
          </a:xfrm>
        </p:spPr>
        <p:txBody>
          <a:bodyPr/>
          <a:lstStyle>
            <a:lvl1pPr marL="0" indent="0">
              <a:buNone/>
              <a:defRPr sz="1800"/>
            </a:lvl1pPr>
            <a:lvl2pPr marL="514259" indent="0">
              <a:buNone/>
              <a:defRPr sz="1575"/>
            </a:lvl2pPr>
            <a:lvl3pPr marL="1028517" indent="0">
              <a:buNone/>
              <a:defRPr sz="1350"/>
            </a:lvl3pPr>
            <a:lvl4pPr marL="1542776" indent="0">
              <a:buNone/>
              <a:defRPr sz="1125"/>
            </a:lvl4pPr>
            <a:lvl5pPr marL="2057034" indent="0">
              <a:buNone/>
              <a:defRPr sz="1125"/>
            </a:lvl5pPr>
            <a:lvl6pPr marL="2571293" indent="0">
              <a:buNone/>
              <a:defRPr sz="1125"/>
            </a:lvl6pPr>
            <a:lvl7pPr marL="3085551" indent="0">
              <a:buNone/>
              <a:defRPr sz="1125"/>
            </a:lvl7pPr>
            <a:lvl8pPr marL="3599810" indent="0">
              <a:buNone/>
              <a:defRPr sz="1125"/>
            </a:lvl8pPr>
            <a:lvl9pPr marL="4114068" indent="0">
              <a:buNone/>
              <a:defRPr sz="1125"/>
            </a:lvl9pPr>
          </a:lstStyle>
          <a:p>
            <a:pPr lvl="0"/>
            <a:r>
              <a:rPr lang="en-GB"/>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4/4/26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2301486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4/4/26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3226946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60499" y="973666"/>
            <a:ext cx="2217792" cy="15498235"/>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707123" y="973666"/>
            <a:ext cx="6524809" cy="15498235"/>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4/4/26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0039854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07122" y="973670"/>
            <a:ext cx="8871169" cy="3534835"/>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707122" y="4868333"/>
            <a:ext cx="8871169" cy="1160356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707122" y="16950271"/>
            <a:ext cx="2314218" cy="973667"/>
          </a:xfrm>
          <a:prstGeom prst="rect">
            <a:avLst/>
          </a:prstGeom>
        </p:spPr>
        <p:txBody>
          <a:bodyPr vert="horz" lIns="91440" tIns="45720" rIns="91440" bIns="45720" rtlCol="0" anchor="ctr"/>
          <a:lstStyle>
            <a:lvl1pPr algn="l">
              <a:defRPr sz="1350">
                <a:solidFill>
                  <a:schemeClr val="tx1">
                    <a:tint val="75000"/>
                  </a:schemeClr>
                </a:solidFill>
              </a:defRPr>
            </a:lvl1pPr>
          </a:lstStyle>
          <a:p>
            <a:fld id="{48A87A34-81AB-432B-8DAE-1953F412C126}" type="datetimeFigureOut">
              <a:rPr lang="en-US" smtClean="0"/>
              <a:pPr/>
              <a:t>4/4/26</a:t>
            </a:fld>
            <a:endParaRPr lang="en-US" dirty="0"/>
          </a:p>
        </p:txBody>
      </p:sp>
      <p:sp>
        <p:nvSpPr>
          <p:cNvPr id="5" name="Footer Placeholder 4"/>
          <p:cNvSpPr>
            <a:spLocks noGrp="1"/>
          </p:cNvSpPr>
          <p:nvPr>
            <p:ph type="ftr" sz="quarter" idx="3"/>
          </p:nvPr>
        </p:nvSpPr>
        <p:spPr>
          <a:xfrm>
            <a:off x="3407043" y="16950271"/>
            <a:ext cx="3471327" cy="973667"/>
          </a:xfrm>
          <a:prstGeom prst="rect">
            <a:avLst/>
          </a:prstGeom>
        </p:spPr>
        <p:txBody>
          <a:bodyPr vert="horz" lIns="91440" tIns="45720" rIns="91440" bIns="45720" rtlCol="0" anchor="ctr"/>
          <a:lstStyle>
            <a:lvl1pPr algn="ctr">
              <a:defRPr sz="135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7264073" y="16950271"/>
            <a:ext cx="2314218" cy="973667"/>
          </a:xfrm>
          <a:prstGeom prst="rect">
            <a:avLst/>
          </a:prstGeom>
        </p:spPr>
        <p:txBody>
          <a:bodyPr vert="horz" lIns="91440" tIns="45720" rIns="91440" bIns="45720" rtlCol="0" anchor="ctr"/>
          <a:lstStyle>
            <a:lvl1pPr algn="r">
              <a:defRPr sz="1350">
                <a:solidFill>
                  <a:schemeClr val="tx1">
                    <a:tint val="75000"/>
                  </a:schemeClr>
                </a:solidFill>
              </a:defRPr>
            </a:lvl1pPr>
          </a:lstStyle>
          <a:p>
            <a:fld id="{6D22F896-40B5-4ADD-8801-0D06FADFA095}" type="slidenum">
              <a:rPr lang="en-US" smtClean="0"/>
              <a:pPr/>
              <a:t>‹#›</a:t>
            </a:fld>
            <a:endParaRPr lang="en-US" dirty="0"/>
          </a:p>
        </p:txBody>
      </p:sp>
      <p:sp>
        <p:nvSpPr>
          <p:cNvPr id="7" name="TextBox 6">
            <a:extLst>
              <a:ext uri="{FF2B5EF4-FFF2-40B4-BE49-F238E27FC236}">
                <a16:creationId xmlns:a16="http://schemas.microsoft.com/office/drawing/2014/main" id="{9B8A1E25-E09E-9B11-3FEC-A3FD03A7A6C3}"/>
              </a:ext>
            </a:extLst>
          </p:cNvPr>
          <p:cNvSpPr txBox="1"/>
          <p:nvPr userDrawn="1">
            <p:extLst>
              <p:ext uri="{1162E1C5-73C7-4A58-AE30-91384D911F3F}">
                <p184:classification xmlns:p184="http://schemas.microsoft.com/office/powerpoint/2018/4/main" val="ftr"/>
              </p:ext>
            </p:extLst>
          </p:nvPr>
        </p:nvSpPr>
        <p:spPr>
          <a:xfrm>
            <a:off x="53571" y="17793550"/>
            <a:ext cx="448648" cy="103875"/>
          </a:xfrm>
          <a:prstGeom prst="rect">
            <a:avLst/>
          </a:prstGeom>
        </p:spPr>
        <p:txBody>
          <a:bodyPr horzOverflow="overflow" lIns="0" tIns="0" rIns="0" bIns="0">
            <a:spAutoFit/>
          </a:bodyPr>
          <a:lstStyle/>
          <a:p>
            <a:pPr algn="l"/>
            <a:r>
              <a:rPr lang="en-DE" sz="675">
                <a:solidFill>
                  <a:srgbClr val="000000">
                    <a:alpha val="50000"/>
                  </a:srgbClr>
                </a:solidFill>
                <a:latin typeface="Arial" panose="020B0604020202020204" pitchFamily="34" charset="0"/>
                <a:cs typeface="Arial" panose="020B0604020202020204" pitchFamily="34" charset="0"/>
              </a:rPr>
              <a:t>INTERNAL</a:t>
            </a:r>
          </a:p>
        </p:txBody>
      </p:sp>
    </p:spTree>
    <p:extLst>
      <p:ext uri="{BB962C8B-B14F-4D97-AF65-F5344CB8AC3E}">
        <p14:creationId xmlns:p14="http://schemas.microsoft.com/office/powerpoint/2010/main" val="1140142845"/>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xStyles>
    <p:titleStyle>
      <a:lvl1pPr algn="l" defTabSz="1028517" rtl="0" eaLnBrk="1" latinLnBrk="0" hangingPunct="1">
        <a:lnSpc>
          <a:spcPct val="90000"/>
        </a:lnSpc>
        <a:spcBef>
          <a:spcPct val="0"/>
        </a:spcBef>
        <a:buNone/>
        <a:defRPr sz="4949" kern="1200">
          <a:solidFill>
            <a:schemeClr val="tx1"/>
          </a:solidFill>
          <a:latin typeface="+mj-lt"/>
          <a:ea typeface="+mj-ea"/>
          <a:cs typeface="+mj-cs"/>
        </a:defRPr>
      </a:lvl1pPr>
    </p:titleStyle>
    <p:bodyStyle>
      <a:lvl1pPr marL="257129" indent="-257129" algn="l" defTabSz="1028517" rtl="0" eaLnBrk="1" latinLnBrk="0" hangingPunct="1">
        <a:lnSpc>
          <a:spcPct val="90000"/>
        </a:lnSpc>
        <a:spcBef>
          <a:spcPts val="1125"/>
        </a:spcBef>
        <a:buFont typeface="Arial" panose="020B0604020202020204" pitchFamily="34" charset="0"/>
        <a:buChar char="•"/>
        <a:defRPr sz="3149" kern="1200">
          <a:solidFill>
            <a:schemeClr val="tx1"/>
          </a:solidFill>
          <a:latin typeface="+mn-lt"/>
          <a:ea typeface="+mn-ea"/>
          <a:cs typeface="+mn-cs"/>
        </a:defRPr>
      </a:lvl1pPr>
      <a:lvl2pPr marL="771388" indent="-257129" algn="l" defTabSz="1028517" rtl="0" eaLnBrk="1" latinLnBrk="0" hangingPunct="1">
        <a:lnSpc>
          <a:spcPct val="90000"/>
        </a:lnSpc>
        <a:spcBef>
          <a:spcPts val="562"/>
        </a:spcBef>
        <a:buFont typeface="Arial" panose="020B0604020202020204" pitchFamily="34" charset="0"/>
        <a:buChar char="•"/>
        <a:defRPr sz="2700" kern="1200">
          <a:solidFill>
            <a:schemeClr val="tx1"/>
          </a:solidFill>
          <a:latin typeface="+mn-lt"/>
          <a:ea typeface="+mn-ea"/>
          <a:cs typeface="+mn-cs"/>
        </a:defRPr>
      </a:lvl2pPr>
      <a:lvl3pPr marL="1285646" indent="-257129" algn="l" defTabSz="1028517" rtl="0" eaLnBrk="1" latinLnBrk="0" hangingPunct="1">
        <a:lnSpc>
          <a:spcPct val="90000"/>
        </a:lnSpc>
        <a:spcBef>
          <a:spcPts val="562"/>
        </a:spcBef>
        <a:buFont typeface="Arial" panose="020B0604020202020204" pitchFamily="34" charset="0"/>
        <a:buChar char="•"/>
        <a:defRPr sz="2250" kern="1200">
          <a:solidFill>
            <a:schemeClr val="tx1"/>
          </a:solidFill>
          <a:latin typeface="+mn-lt"/>
          <a:ea typeface="+mn-ea"/>
          <a:cs typeface="+mn-cs"/>
        </a:defRPr>
      </a:lvl3pPr>
      <a:lvl4pPr marL="1799905" indent="-257129" algn="l" defTabSz="1028517" rtl="0" eaLnBrk="1" latinLnBrk="0" hangingPunct="1">
        <a:lnSpc>
          <a:spcPct val="90000"/>
        </a:lnSpc>
        <a:spcBef>
          <a:spcPts val="562"/>
        </a:spcBef>
        <a:buFont typeface="Arial" panose="020B0604020202020204" pitchFamily="34" charset="0"/>
        <a:buChar char="•"/>
        <a:defRPr sz="2025" kern="1200">
          <a:solidFill>
            <a:schemeClr val="tx1"/>
          </a:solidFill>
          <a:latin typeface="+mn-lt"/>
          <a:ea typeface="+mn-ea"/>
          <a:cs typeface="+mn-cs"/>
        </a:defRPr>
      </a:lvl4pPr>
      <a:lvl5pPr marL="2314164" indent="-257129" algn="l" defTabSz="1028517" rtl="0" eaLnBrk="1" latinLnBrk="0" hangingPunct="1">
        <a:lnSpc>
          <a:spcPct val="90000"/>
        </a:lnSpc>
        <a:spcBef>
          <a:spcPts val="562"/>
        </a:spcBef>
        <a:buFont typeface="Arial" panose="020B0604020202020204" pitchFamily="34" charset="0"/>
        <a:buChar char="•"/>
        <a:defRPr sz="2025" kern="1200">
          <a:solidFill>
            <a:schemeClr val="tx1"/>
          </a:solidFill>
          <a:latin typeface="+mn-lt"/>
          <a:ea typeface="+mn-ea"/>
          <a:cs typeface="+mn-cs"/>
        </a:defRPr>
      </a:lvl5pPr>
      <a:lvl6pPr marL="2828422" indent="-257129" algn="l" defTabSz="1028517" rtl="0" eaLnBrk="1" latinLnBrk="0" hangingPunct="1">
        <a:lnSpc>
          <a:spcPct val="90000"/>
        </a:lnSpc>
        <a:spcBef>
          <a:spcPts val="562"/>
        </a:spcBef>
        <a:buFont typeface="Arial" panose="020B0604020202020204" pitchFamily="34" charset="0"/>
        <a:buChar char="•"/>
        <a:defRPr sz="2025" kern="1200">
          <a:solidFill>
            <a:schemeClr val="tx1"/>
          </a:solidFill>
          <a:latin typeface="+mn-lt"/>
          <a:ea typeface="+mn-ea"/>
          <a:cs typeface="+mn-cs"/>
        </a:defRPr>
      </a:lvl6pPr>
      <a:lvl7pPr marL="3342681" indent="-257129" algn="l" defTabSz="1028517" rtl="0" eaLnBrk="1" latinLnBrk="0" hangingPunct="1">
        <a:lnSpc>
          <a:spcPct val="90000"/>
        </a:lnSpc>
        <a:spcBef>
          <a:spcPts val="562"/>
        </a:spcBef>
        <a:buFont typeface="Arial" panose="020B0604020202020204" pitchFamily="34" charset="0"/>
        <a:buChar char="•"/>
        <a:defRPr sz="2025" kern="1200">
          <a:solidFill>
            <a:schemeClr val="tx1"/>
          </a:solidFill>
          <a:latin typeface="+mn-lt"/>
          <a:ea typeface="+mn-ea"/>
          <a:cs typeface="+mn-cs"/>
        </a:defRPr>
      </a:lvl7pPr>
      <a:lvl8pPr marL="3856939" indent="-257129" algn="l" defTabSz="1028517" rtl="0" eaLnBrk="1" latinLnBrk="0" hangingPunct="1">
        <a:lnSpc>
          <a:spcPct val="90000"/>
        </a:lnSpc>
        <a:spcBef>
          <a:spcPts val="562"/>
        </a:spcBef>
        <a:buFont typeface="Arial" panose="020B0604020202020204" pitchFamily="34" charset="0"/>
        <a:buChar char="•"/>
        <a:defRPr sz="2025" kern="1200">
          <a:solidFill>
            <a:schemeClr val="tx1"/>
          </a:solidFill>
          <a:latin typeface="+mn-lt"/>
          <a:ea typeface="+mn-ea"/>
          <a:cs typeface="+mn-cs"/>
        </a:defRPr>
      </a:lvl8pPr>
      <a:lvl9pPr marL="4371198" indent="-257129" algn="l" defTabSz="1028517" rtl="0" eaLnBrk="1" latinLnBrk="0" hangingPunct="1">
        <a:lnSpc>
          <a:spcPct val="90000"/>
        </a:lnSpc>
        <a:spcBef>
          <a:spcPts val="562"/>
        </a:spcBef>
        <a:buFont typeface="Arial" panose="020B0604020202020204" pitchFamily="34" charset="0"/>
        <a:buChar char="•"/>
        <a:defRPr sz="2025" kern="1200">
          <a:solidFill>
            <a:schemeClr val="tx1"/>
          </a:solidFill>
          <a:latin typeface="+mn-lt"/>
          <a:ea typeface="+mn-ea"/>
          <a:cs typeface="+mn-cs"/>
        </a:defRPr>
      </a:lvl9pPr>
    </p:bodyStyle>
    <p:otherStyle>
      <a:defPPr>
        <a:defRPr lang="en-US"/>
      </a:defPPr>
      <a:lvl1pPr marL="0" algn="l" defTabSz="1028517" rtl="0" eaLnBrk="1" latinLnBrk="0" hangingPunct="1">
        <a:defRPr sz="2025" kern="1200">
          <a:solidFill>
            <a:schemeClr val="tx1"/>
          </a:solidFill>
          <a:latin typeface="+mn-lt"/>
          <a:ea typeface="+mn-ea"/>
          <a:cs typeface="+mn-cs"/>
        </a:defRPr>
      </a:lvl1pPr>
      <a:lvl2pPr marL="514259" algn="l" defTabSz="1028517" rtl="0" eaLnBrk="1" latinLnBrk="0" hangingPunct="1">
        <a:defRPr sz="2025" kern="1200">
          <a:solidFill>
            <a:schemeClr val="tx1"/>
          </a:solidFill>
          <a:latin typeface="+mn-lt"/>
          <a:ea typeface="+mn-ea"/>
          <a:cs typeface="+mn-cs"/>
        </a:defRPr>
      </a:lvl2pPr>
      <a:lvl3pPr marL="1028517" algn="l" defTabSz="1028517" rtl="0" eaLnBrk="1" latinLnBrk="0" hangingPunct="1">
        <a:defRPr sz="2025" kern="1200">
          <a:solidFill>
            <a:schemeClr val="tx1"/>
          </a:solidFill>
          <a:latin typeface="+mn-lt"/>
          <a:ea typeface="+mn-ea"/>
          <a:cs typeface="+mn-cs"/>
        </a:defRPr>
      </a:lvl3pPr>
      <a:lvl4pPr marL="1542776" algn="l" defTabSz="1028517" rtl="0" eaLnBrk="1" latinLnBrk="0" hangingPunct="1">
        <a:defRPr sz="2025" kern="1200">
          <a:solidFill>
            <a:schemeClr val="tx1"/>
          </a:solidFill>
          <a:latin typeface="+mn-lt"/>
          <a:ea typeface="+mn-ea"/>
          <a:cs typeface="+mn-cs"/>
        </a:defRPr>
      </a:lvl4pPr>
      <a:lvl5pPr marL="2057034" algn="l" defTabSz="1028517" rtl="0" eaLnBrk="1" latinLnBrk="0" hangingPunct="1">
        <a:defRPr sz="2025" kern="1200">
          <a:solidFill>
            <a:schemeClr val="tx1"/>
          </a:solidFill>
          <a:latin typeface="+mn-lt"/>
          <a:ea typeface="+mn-ea"/>
          <a:cs typeface="+mn-cs"/>
        </a:defRPr>
      </a:lvl5pPr>
      <a:lvl6pPr marL="2571293" algn="l" defTabSz="1028517" rtl="0" eaLnBrk="1" latinLnBrk="0" hangingPunct="1">
        <a:defRPr sz="2025" kern="1200">
          <a:solidFill>
            <a:schemeClr val="tx1"/>
          </a:solidFill>
          <a:latin typeface="+mn-lt"/>
          <a:ea typeface="+mn-ea"/>
          <a:cs typeface="+mn-cs"/>
        </a:defRPr>
      </a:lvl6pPr>
      <a:lvl7pPr marL="3085551" algn="l" defTabSz="1028517" rtl="0" eaLnBrk="1" latinLnBrk="0" hangingPunct="1">
        <a:defRPr sz="2025" kern="1200">
          <a:solidFill>
            <a:schemeClr val="tx1"/>
          </a:solidFill>
          <a:latin typeface="+mn-lt"/>
          <a:ea typeface="+mn-ea"/>
          <a:cs typeface="+mn-cs"/>
        </a:defRPr>
      </a:lvl7pPr>
      <a:lvl8pPr marL="3599810" algn="l" defTabSz="1028517" rtl="0" eaLnBrk="1" latinLnBrk="0" hangingPunct="1">
        <a:defRPr sz="2025" kern="1200">
          <a:solidFill>
            <a:schemeClr val="tx1"/>
          </a:solidFill>
          <a:latin typeface="+mn-lt"/>
          <a:ea typeface="+mn-ea"/>
          <a:cs typeface="+mn-cs"/>
        </a:defRPr>
      </a:lvl8pPr>
      <a:lvl9pPr marL="4114068" algn="l" defTabSz="1028517" rtl="0" eaLnBrk="1" latinLnBrk="0" hangingPunct="1">
        <a:defRPr sz="202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microsoft.com/office/2018/10/relationships/comments" Target="../comments/modernComment_116_9D718DED.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9.svg"/><Relationship Id="rId4" Type="http://schemas.openxmlformats.org/officeDocument/2006/relationships/image" Target="../media/image8.sv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9.svg"/><Relationship Id="rId2" Type="http://schemas.microsoft.com/office/2018/10/relationships/comments" Target="../comments/modernComment_118_626EC4B9.xml"/><Relationship Id="rId1" Type="http://schemas.openxmlformats.org/officeDocument/2006/relationships/slideLayout" Target="../slideLayouts/slideLayout2.xml"/><Relationship Id="rId6" Type="http://schemas.openxmlformats.org/officeDocument/2006/relationships/image" Target="../media/image8.svg"/><Relationship Id="rId5" Type="http://schemas.openxmlformats.org/officeDocument/2006/relationships/image" Target="../media/image3.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microsoft.com/office/2018/10/relationships/comments" Target="../comments/modernComment_120_FA024C04.xml"/><Relationship Id="rId1" Type="http://schemas.openxmlformats.org/officeDocument/2006/relationships/slideLayout" Target="../slideLayouts/slideLayout2.xml"/><Relationship Id="rId6" Type="http://schemas.openxmlformats.org/officeDocument/2006/relationships/image" Target="../media/image9.svg"/><Relationship Id="rId5" Type="http://schemas.openxmlformats.org/officeDocument/2006/relationships/image" Target="../media/image8.sv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microsoft.com/office/2018/10/relationships/comments" Target="../comments/modernComment_122_9A36DA0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sv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8.svg"/><Relationship Id="rId5" Type="http://schemas.openxmlformats.org/officeDocument/2006/relationships/image" Target="../media/image3.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9.svg"/><Relationship Id="rId4" Type="http://schemas.openxmlformats.org/officeDocument/2006/relationships/image" Target="../media/image8.sv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7.png"/><Relationship Id="rId1" Type="http://schemas.openxmlformats.org/officeDocument/2006/relationships/slideLayout" Target="../slideLayouts/slideLayout2.xml"/><Relationship Id="rId6" Type="http://schemas.openxmlformats.org/officeDocument/2006/relationships/image" Target="../media/image9.svg"/><Relationship Id="rId5" Type="http://schemas.openxmlformats.org/officeDocument/2006/relationships/image" Target="../media/image8.svg"/><Relationship Id="rId4" Type="http://schemas.openxmlformats.org/officeDocument/2006/relationships/image" Target="../media/image28.png"/></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9.svg"/><Relationship Id="rId4" Type="http://schemas.openxmlformats.org/officeDocument/2006/relationships/image" Target="../media/image8.svg"/></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3.png"/><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27.xml.rels><?xml version="1.0" encoding="UTF-8" standalone="yes"?>
<Relationships xmlns="http://schemas.openxmlformats.org/package/2006/relationships"><Relationship Id="rId3" Type="http://schemas.openxmlformats.org/officeDocument/2006/relationships/image" Target="../media/image35.png"/><Relationship Id="rId2" Type="http://schemas.microsoft.com/office/2018/10/relationships/comments" Target="../comments/modernComment_124_3E0760C.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6.png"/><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6.png"/><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6.png"/><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microsoft.com/office/2018/10/relationships/comments" Target="../comments/modernComment_125_E21438E9.xml"/><Relationship Id="rId1" Type="http://schemas.openxmlformats.org/officeDocument/2006/relationships/slideLayout" Target="../slideLayouts/slideLayout2.xml"/><Relationship Id="rId6" Type="http://schemas.openxmlformats.org/officeDocument/2006/relationships/image" Target="../media/image9.svg"/><Relationship Id="rId5" Type="http://schemas.openxmlformats.org/officeDocument/2006/relationships/image" Target="../media/image8.svg"/><Relationship Id="rId4" Type="http://schemas.openxmlformats.org/officeDocument/2006/relationships/image" Target="../media/image40.png"/></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microsoft.com/office/2018/10/relationships/comments" Target="../comments/modernComment_126_9DA2AD4E.xml"/><Relationship Id="rId1" Type="http://schemas.openxmlformats.org/officeDocument/2006/relationships/slideLayout" Target="../slideLayouts/slideLayout2.xml"/><Relationship Id="rId6" Type="http://schemas.openxmlformats.org/officeDocument/2006/relationships/image" Target="../media/image9.svg"/><Relationship Id="rId5" Type="http://schemas.openxmlformats.org/officeDocument/2006/relationships/image" Target="../media/image8.svg"/><Relationship Id="rId4" Type="http://schemas.openxmlformats.org/officeDocument/2006/relationships/image" Target="../media/image42.png"/></Relationships>
</file>

<file path=ppt/slides/_rels/slide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3.png"/><Relationship Id="rId1" Type="http://schemas.openxmlformats.org/officeDocument/2006/relationships/slideLayout" Target="../slideLayouts/slideLayout2.xml"/><Relationship Id="rId5" Type="http://schemas.openxmlformats.org/officeDocument/2006/relationships/image" Target="../media/image9.svg"/><Relationship Id="rId4" Type="http://schemas.openxmlformats.org/officeDocument/2006/relationships/image" Target="../media/image8.svg"/></Relationships>
</file>

<file path=ppt/slides/_rels/slide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4.png"/><Relationship Id="rId1" Type="http://schemas.openxmlformats.org/officeDocument/2006/relationships/slideLayout" Target="../slideLayouts/slideLayout2.xml"/><Relationship Id="rId4" Type="http://schemas.openxmlformats.org/officeDocument/2006/relationships/image" Target="../media/image9.svg"/></Relationships>
</file>

<file path=ppt/slides/_rels/slide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5.png"/><Relationship Id="rId1" Type="http://schemas.openxmlformats.org/officeDocument/2006/relationships/slideLayout" Target="../slideLayouts/slideLayout2.xml"/><Relationship Id="rId4" Type="http://schemas.openxmlformats.org/officeDocument/2006/relationships/image" Target="../media/image8.svg"/></Relationships>
</file>

<file path=ppt/slides/_rels/slide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6.png"/><Relationship Id="rId1" Type="http://schemas.openxmlformats.org/officeDocument/2006/relationships/slideLayout" Target="../slideLayouts/slideLayout2.xml"/><Relationship Id="rId5" Type="http://schemas.openxmlformats.org/officeDocument/2006/relationships/image" Target="../media/image9.svg"/><Relationship Id="rId4" Type="http://schemas.openxmlformats.org/officeDocument/2006/relationships/image" Target="../media/image8.svg"/></Relationships>
</file>

<file path=ppt/slides/_rels/slide3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3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9.svg"/><Relationship Id="rId4" Type="http://schemas.openxmlformats.org/officeDocument/2006/relationships/image" Target="../media/image8.svg"/></Relationships>
</file>

<file path=ppt/slides/_rels/slide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9.png"/><Relationship Id="rId1" Type="http://schemas.openxmlformats.org/officeDocument/2006/relationships/slideLayout" Target="../slideLayouts/slideLayout2.xml"/><Relationship Id="rId5" Type="http://schemas.openxmlformats.org/officeDocument/2006/relationships/image" Target="../media/image9.svg"/><Relationship Id="rId4" Type="http://schemas.openxmlformats.org/officeDocument/2006/relationships/image" Target="../media/image8.svg"/></Relationships>
</file>

<file path=ppt/slides/_rels/slide41.xml.rels><?xml version="1.0" encoding="UTF-8" standalone="yes"?>
<Relationships xmlns="http://schemas.openxmlformats.org/package/2006/relationships"><Relationship Id="rId3" Type="http://schemas.openxmlformats.org/officeDocument/2006/relationships/image" Target="../media/image50.png"/><Relationship Id="rId2" Type="http://schemas.microsoft.com/office/2018/10/relationships/comments" Target="../comments/modernComment_128_2DA5E9E5.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42.xml.rels><?xml version="1.0" encoding="UTF-8" standalone="yes"?>
<Relationships xmlns="http://schemas.openxmlformats.org/package/2006/relationships"><Relationship Id="rId3" Type="http://schemas.openxmlformats.org/officeDocument/2006/relationships/image" Target="../media/image27.png"/><Relationship Id="rId2" Type="http://schemas.microsoft.com/office/2018/10/relationships/comments" Target="../comments/modernComment_129_FD6B0559.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51.png"/></Relationships>
</file>

<file path=ppt/slides/_rels/slide43.xml.rels><?xml version="1.0" encoding="UTF-8" standalone="yes"?>
<Relationships xmlns="http://schemas.openxmlformats.org/package/2006/relationships"><Relationship Id="rId3" Type="http://schemas.openxmlformats.org/officeDocument/2006/relationships/image" Target="../media/image52.png"/><Relationship Id="rId2" Type="http://schemas.microsoft.com/office/2018/10/relationships/comments" Target="../comments/modernComment_12A_2D01584F.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53.png"/></Relationships>
</file>

<file path=ppt/slides/_rels/slide4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54.png"/></Relationships>
</file>

<file path=ppt/slides/_rels/slide4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55.png"/></Relationships>
</file>

<file path=ppt/slides/_rels/slide46.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58.png"/><Relationship Id="rId2" Type="http://schemas.microsoft.com/office/2018/10/relationships/comments" Target="../comments/modernComment_12B_AC4C8FF1.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49.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9.svg"/><Relationship Id="rId4" Type="http://schemas.openxmlformats.org/officeDocument/2006/relationships/image" Target="../media/image8.svg"/></Relationships>
</file>

<file path=ppt/slides/_rels/slide50.xml.rels><?xml version="1.0" encoding="UTF-8" standalone="yes"?>
<Relationships xmlns="http://schemas.openxmlformats.org/package/2006/relationships"><Relationship Id="rId3" Type="http://schemas.openxmlformats.org/officeDocument/2006/relationships/image" Target="../media/image60.png"/><Relationship Id="rId7" Type="http://schemas.openxmlformats.org/officeDocument/2006/relationships/image" Target="../media/image9.svg"/><Relationship Id="rId2" Type="http://schemas.microsoft.com/office/2018/10/relationships/comments" Target="../comments/modernComment_12D_BEDEFA17.xml"/><Relationship Id="rId1" Type="http://schemas.openxmlformats.org/officeDocument/2006/relationships/slideLayout" Target="../slideLayouts/slideLayout2.xml"/><Relationship Id="rId6" Type="http://schemas.openxmlformats.org/officeDocument/2006/relationships/image" Target="../media/image8.svg"/><Relationship Id="rId5" Type="http://schemas.openxmlformats.org/officeDocument/2006/relationships/image" Target="../media/image61.png"/><Relationship Id="rId4" Type="http://schemas.openxmlformats.org/officeDocument/2006/relationships/image" Target="../media/image11.png"/></Relationships>
</file>

<file path=ppt/slides/_rels/slide5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4.png"/><Relationship Id="rId1" Type="http://schemas.openxmlformats.org/officeDocument/2006/relationships/slideLayout" Target="../slideLayouts/slideLayout2.xml"/><Relationship Id="rId6" Type="http://schemas.openxmlformats.org/officeDocument/2006/relationships/image" Target="../media/image9.svg"/><Relationship Id="rId5" Type="http://schemas.openxmlformats.org/officeDocument/2006/relationships/image" Target="../media/image8.svg"/><Relationship Id="rId4" Type="http://schemas.openxmlformats.org/officeDocument/2006/relationships/image" Target="../media/image65.png"/></Relationships>
</file>

<file path=ppt/slides/_rels/slide5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66.png"/></Relationships>
</file>

<file path=ppt/slides/_rels/slide56.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4.png"/><Relationship Id="rId1" Type="http://schemas.openxmlformats.org/officeDocument/2006/relationships/slideLayout" Target="../slideLayouts/slideLayout2.xml"/><Relationship Id="rId5" Type="http://schemas.openxmlformats.org/officeDocument/2006/relationships/image" Target="../media/image9.svg"/><Relationship Id="rId4" Type="http://schemas.openxmlformats.org/officeDocument/2006/relationships/image" Target="../media/image11.png"/></Relationships>
</file>

<file path=ppt/slides/_rels/slide5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4.png"/><Relationship Id="rId1" Type="http://schemas.openxmlformats.org/officeDocument/2006/relationships/slideLayout" Target="../slideLayouts/slideLayout2.xml"/><Relationship Id="rId5" Type="http://schemas.openxmlformats.org/officeDocument/2006/relationships/image" Target="../media/image68.png"/><Relationship Id="rId4" Type="http://schemas.openxmlformats.org/officeDocument/2006/relationships/image" Target="../media/image8.svg"/></Relationships>
</file>

<file path=ppt/slides/_rels/slide58.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70.png"/></Relationships>
</file>

<file path=ppt/slides/_rels/slide59.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60.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9.svg"/><Relationship Id="rId5" Type="http://schemas.openxmlformats.org/officeDocument/2006/relationships/image" Target="../media/image8.svg"/><Relationship Id="rId4" Type="http://schemas.openxmlformats.org/officeDocument/2006/relationships/image" Target="../media/image11.png"/></Relationships>
</file>

<file path=ppt/slides/_rels/slide61.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74.png"/></Relationships>
</file>

<file path=ppt/slides/_rels/slide6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75.png"/></Relationships>
</file>

<file path=ppt/slides/_rels/slide6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76.png"/></Relationships>
</file>

<file path=ppt/slides/_rels/slide65.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9.svg"/><Relationship Id="rId4" Type="http://schemas.openxmlformats.org/officeDocument/2006/relationships/image" Target="../media/image8.svg"/></Relationships>
</file>

<file path=ppt/slides/_rels/slide66.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80.png"/></Relationships>
</file>

<file path=ppt/slides/_rels/slide68.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81.png"/></Relationships>
</file>

<file path=ppt/slides/_rels/slide69.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22.png"/><Relationship Id="rId1" Type="http://schemas.openxmlformats.org/officeDocument/2006/relationships/slideLayout" Target="../slideLayouts/slideLayout2.xml"/><Relationship Id="rId6" Type="http://schemas.openxmlformats.org/officeDocument/2006/relationships/image" Target="../media/image9.svg"/><Relationship Id="rId5" Type="http://schemas.openxmlformats.org/officeDocument/2006/relationships/image" Target="../media/image8.svg"/><Relationship Id="rId4" Type="http://schemas.openxmlformats.org/officeDocument/2006/relationships/image" Target="../media/image82.png"/></Relationships>
</file>

<file path=ppt/slides/_rels/slide71.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22.png"/><Relationship Id="rId1" Type="http://schemas.openxmlformats.org/officeDocument/2006/relationships/slideLayout" Target="../slideLayouts/slideLayout2.xml"/><Relationship Id="rId6" Type="http://schemas.openxmlformats.org/officeDocument/2006/relationships/image" Target="../media/image9.svg"/><Relationship Id="rId5" Type="http://schemas.openxmlformats.org/officeDocument/2006/relationships/image" Target="../media/image8.svg"/><Relationship Id="rId4" Type="http://schemas.openxmlformats.org/officeDocument/2006/relationships/image" Target="../media/image82.png"/></Relationships>
</file>

<file path=ppt/slides/_rels/slide72.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5.png"/><Relationship Id="rId1" Type="http://schemas.openxmlformats.org/officeDocument/2006/relationships/slideLayout" Target="../slideLayouts/slideLayout2.xml"/><Relationship Id="rId4" Type="http://schemas.openxmlformats.org/officeDocument/2006/relationships/image" Target="../media/image86.png"/></Relationships>
</file>

<file path=ppt/slides/_rels/slide75.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85.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6.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27.png"/><Relationship Id="rId1" Type="http://schemas.openxmlformats.org/officeDocument/2006/relationships/slideLayout" Target="../slideLayouts/slideLayout2.xml"/><Relationship Id="rId6" Type="http://schemas.openxmlformats.org/officeDocument/2006/relationships/image" Target="../media/image9.svg"/><Relationship Id="rId5" Type="http://schemas.openxmlformats.org/officeDocument/2006/relationships/image" Target="../media/image8.svg"/><Relationship Id="rId4" Type="http://schemas.openxmlformats.org/officeDocument/2006/relationships/image" Target="../media/image88.png"/></Relationships>
</file>

<file path=ppt/slides/_rels/slide7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smConfetti">
          <a:fgClr>
            <a:schemeClr val="accent2"/>
          </a:fgClr>
          <a:bgClr>
            <a:schemeClr val="bg1"/>
          </a:bgClr>
        </a:pattFill>
        <a:effectLst/>
      </p:bgPr>
    </p:bg>
    <p:spTree>
      <p:nvGrpSpPr>
        <p:cNvPr id="1" name=""/>
        <p:cNvGrpSpPr/>
        <p:nvPr/>
      </p:nvGrpSpPr>
      <p:grpSpPr>
        <a:xfrm>
          <a:off x="0" y="0"/>
          <a:ext cx="0" cy="0"/>
          <a:chOff x="0" y="0"/>
          <a:chExt cx="0" cy="0"/>
        </a:xfrm>
      </p:grpSpPr>
      <p:sp>
        <p:nvSpPr>
          <p:cNvPr id="20" name="TextBox 19">
            <a:extLst>
              <a:ext uri="{FF2B5EF4-FFF2-40B4-BE49-F238E27FC236}">
                <a16:creationId xmlns:a16="http://schemas.microsoft.com/office/drawing/2014/main" id="{8959F1A2-B22C-5219-5969-65113B4369B8}"/>
              </a:ext>
            </a:extLst>
          </p:cNvPr>
          <p:cNvSpPr txBox="1"/>
          <p:nvPr/>
        </p:nvSpPr>
        <p:spPr>
          <a:xfrm>
            <a:off x="151141" y="4793921"/>
            <a:ext cx="9982800" cy="1107996"/>
          </a:xfrm>
          <a:prstGeom prst="rect">
            <a:avLst/>
          </a:prstGeom>
          <a:ln/>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pPr algn="ctr"/>
            <a:r>
              <a:rPr lang="en-DE" sz="6600" b="1" spc="50" dirty="0">
                <a:ln w="9525" cmpd="sng">
                  <a:solidFill>
                    <a:schemeClr val="accent1"/>
                  </a:solidFill>
                  <a:prstDash val="solid"/>
                </a:ln>
                <a:solidFill>
                  <a:srgbClr val="70AD47">
                    <a:tint val="1000"/>
                  </a:srgbClr>
                </a:solidFill>
                <a:effectLst>
                  <a:glow rad="38100">
                    <a:schemeClr val="accent1">
                      <a:alpha val="40000"/>
                    </a:schemeClr>
                  </a:glow>
                </a:effectLst>
                <a:latin typeface="Patrick Hand" pitchFamily="2" charset="77"/>
              </a:rPr>
              <a:t>+=  </a:t>
            </a:r>
            <a:r>
              <a:rPr lang="en-DE" sz="6600" dirty="0">
                <a:ln w="0"/>
                <a:solidFill>
                  <a:schemeClr val="tx1"/>
                </a:solidFill>
                <a:effectLst>
                  <a:outerShdw blurRad="38100" dist="19050" dir="2700000" algn="tl" rotWithShape="0">
                    <a:schemeClr val="dk1">
                      <a:alpha val="40000"/>
                    </a:schemeClr>
                  </a:outerShdw>
                </a:effectLst>
                <a:latin typeface="Patrick Hand" pitchFamily="2" charset="77"/>
              </a:rPr>
              <a:t>vs</a:t>
            </a:r>
            <a:r>
              <a:rPr lang="en-DE" sz="6600" b="1" spc="50" dirty="0">
                <a:ln w="9525" cmpd="sng">
                  <a:solidFill>
                    <a:schemeClr val="accent1"/>
                  </a:solidFill>
                  <a:prstDash val="solid"/>
                </a:ln>
                <a:solidFill>
                  <a:srgbClr val="70AD47">
                    <a:tint val="1000"/>
                  </a:srgbClr>
                </a:solidFill>
                <a:effectLst>
                  <a:glow rad="38100">
                    <a:schemeClr val="accent1">
                      <a:alpha val="40000"/>
                    </a:schemeClr>
                  </a:glow>
                </a:effectLst>
                <a:latin typeface="Patrick Hand" pitchFamily="2" charset="77"/>
              </a:rPr>
              <a:t>  extend()</a:t>
            </a:r>
          </a:p>
        </p:txBody>
      </p:sp>
      <p:sp>
        <p:nvSpPr>
          <p:cNvPr id="22" name="TextBox 21">
            <a:extLst>
              <a:ext uri="{FF2B5EF4-FFF2-40B4-BE49-F238E27FC236}">
                <a16:creationId xmlns:a16="http://schemas.microsoft.com/office/drawing/2014/main" id="{7A649A9D-2FA9-D9EC-895D-62F1C7539235}"/>
              </a:ext>
            </a:extLst>
          </p:cNvPr>
          <p:cNvSpPr txBox="1"/>
          <p:nvPr/>
        </p:nvSpPr>
        <p:spPr>
          <a:xfrm>
            <a:off x="-8753367" y="2826600"/>
            <a:ext cx="7603363" cy="830997"/>
          </a:xfrm>
          <a:prstGeom prst="rect">
            <a:avLst/>
          </a:prstGeom>
        </p:spPr>
        <p:style>
          <a:lnRef idx="1">
            <a:schemeClr val="accent6"/>
          </a:lnRef>
          <a:fillRef idx="2">
            <a:schemeClr val="accent6"/>
          </a:fillRef>
          <a:effectRef idx="1">
            <a:schemeClr val="accent6"/>
          </a:effectRef>
          <a:fontRef idx="minor">
            <a:schemeClr val="dk1"/>
          </a:fontRef>
        </p:style>
        <p:txBody>
          <a:bodyPr wrap="none" rtlCol="0">
            <a:spAutoFit/>
          </a:bodyPr>
          <a:lstStyle/>
          <a:p>
            <a:r>
              <a:rPr lang="en-US" sz="4800" dirty="0">
                <a:ln w="0"/>
                <a:solidFill>
                  <a:schemeClr val="tx1"/>
                </a:solidFill>
                <a:effectLst>
                  <a:outerShdw blurRad="38100" dist="19050" dir="2700000" algn="tl" rotWithShape="0">
                    <a:schemeClr val="dk1">
                      <a:alpha val="40000"/>
                    </a:schemeClr>
                  </a:outerShdw>
                </a:effectLst>
                <a:latin typeface="Patrick Hand" pitchFamily="2" charset="77"/>
              </a:rPr>
              <a:t>py_010_special_variable_names</a:t>
            </a:r>
            <a:endParaRPr lang="en-DE" sz="4800" dirty="0">
              <a:ln w="0"/>
              <a:solidFill>
                <a:schemeClr val="tx1"/>
              </a:solidFill>
              <a:effectLst>
                <a:outerShdw blurRad="38100" dist="19050" dir="2700000" algn="tl" rotWithShape="0">
                  <a:schemeClr val="dk1">
                    <a:alpha val="40000"/>
                  </a:schemeClr>
                </a:outerShdw>
              </a:effectLst>
              <a:latin typeface="Patrick Hand" pitchFamily="2" charset="77"/>
            </a:endParaRPr>
          </a:p>
        </p:txBody>
      </p:sp>
      <p:pic>
        <p:nvPicPr>
          <p:cNvPr id="10" name="Picture 9">
            <a:extLst>
              <a:ext uri="{FF2B5EF4-FFF2-40B4-BE49-F238E27FC236}">
                <a16:creationId xmlns:a16="http://schemas.microsoft.com/office/drawing/2014/main" id="{D6102011-F70E-143B-2E74-E8E55F0FBD0D}"/>
              </a:ext>
            </a:extLst>
          </p:cNvPr>
          <p:cNvPicPr>
            <a:picLocks noChangeAspect="1"/>
          </p:cNvPicPr>
          <p:nvPr/>
        </p:nvPicPr>
        <p:blipFill>
          <a:blip r:embed="rId3"/>
          <a:stretch>
            <a:fillRect/>
          </a:stretch>
        </p:blipFill>
        <p:spPr>
          <a:xfrm>
            <a:off x="235271" y="4834077"/>
            <a:ext cx="1063167" cy="1063167"/>
          </a:xfrm>
          <a:prstGeom prst="rect">
            <a:avLst/>
          </a:prstGeom>
        </p:spPr>
      </p:pic>
      <p:pic>
        <p:nvPicPr>
          <p:cNvPr id="2" name="Picture 1">
            <a:extLst>
              <a:ext uri="{FF2B5EF4-FFF2-40B4-BE49-F238E27FC236}">
                <a16:creationId xmlns:a16="http://schemas.microsoft.com/office/drawing/2014/main" id="{EB4CE257-8D6D-8055-9B32-F34222BC8230}"/>
              </a:ext>
            </a:extLst>
          </p:cNvPr>
          <p:cNvPicPr>
            <a:picLocks noChangeAspect="1"/>
          </p:cNvPicPr>
          <p:nvPr/>
        </p:nvPicPr>
        <p:blipFill rotWithShape="1">
          <a:blip r:embed="rId4"/>
          <a:srcRect l="21185" t="23909" r="15652" b="12589"/>
          <a:stretch>
            <a:fillRect/>
          </a:stretch>
        </p:blipFill>
        <p:spPr>
          <a:xfrm>
            <a:off x="149506" y="6112042"/>
            <a:ext cx="9986400" cy="9321097"/>
          </a:xfrm>
          <a:prstGeom prst="rect">
            <a:avLst/>
          </a:prstGeom>
        </p:spPr>
      </p:pic>
    </p:spTree>
    <p:extLst>
      <p:ext uri="{BB962C8B-B14F-4D97-AF65-F5344CB8AC3E}">
        <p14:creationId xmlns:p14="http://schemas.microsoft.com/office/powerpoint/2010/main" val="2641464813"/>
      </p:ext>
    </p:extLst>
  </p:cSld>
  <p:clrMapOvr>
    <a:masterClrMapping/>
  </p:clrMapOvr>
  <p:extLst>
    <p:ext uri="{6950BFC3-D8DA-4A85-94F7-54DA5524770B}">
      <p188:commentRel xmlns:p188="http://schemas.microsoft.com/office/powerpoint/2018/8/main" r:id="rId2"/>
    </p:ext>
  </p:extLst>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182B4FA4-54CE-F8EF-9FE8-9B59817B4D24}"/>
              </a:ext>
            </a:extLst>
          </p:cNvPr>
          <p:cNvSpPr txBox="1"/>
          <p:nvPr/>
        </p:nvSpPr>
        <p:spPr>
          <a:xfrm>
            <a:off x="223306" y="4873439"/>
            <a:ext cx="9838800" cy="1200329"/>
          </a:xfrm>
          <a:prstGeom prst="rect">
            <a:avLst/>
          </a:prstGeom>
          <a:ln/>
        </p:spPr>
        <p:style>
          <a:lnRef idx="0">
            <a:schemeClr val="dk1"/>
          </a:lnRef>
          <a:fillRef idx="3">
            <a:schemeClr val="dk1"/>
          </a:fillRef>
          <a:effectRef idx="3">
            <a:schemeClr val="dk1"/>
          </a:effectRef>
          <a:fontRef idx="minor">
            <a:schemeClr val="lt1"/>
          </a:fontRef>
        </p:style>
        <p:txBody>
          <a:bodyPr wrap="square" rtlCol="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GB" sz="7200" b="1" dirty="0">
                <a:ln w="6600">
                  <a:solidFill>
                    <a:schemeClr val="accent2"/>
                  </a:solidFill>
                  <a:prstDash val="solid"/>
                </a:ln>
                <a:solidFill>
                  <a:srgbClr val="FFFFFF"/>
                </a:solidFill>
                <a:effectLst>
                  <a:outerShdw dist="38100" dir="2700000" algn="tl" rotWithShape="0">
                    <a:schemeClr val="accent2"/>
                  </a:outerShdw>
                </a:effectLst>
                <a:latin typeface="+mj-lt"/>
              </a:rPr>
              <a:t>t</a:t>
            </a:r>
            <a:r>
              <a:rPr lang="en-DE" sz="7200" b="1" dirty="0">
                <a:ln w="6600">
                  <a:solidFill>
                    <a:schemeClr val="accent2"/>
                  </a:solidFill>
                  <a:prstDash val="solid"/>
                </a:ln>
                <a:solidFill>
                  <a:srgbClr val="FFFFFF"/>
                </a:solidFill>
                <a:effectLst>
                  <a:outerShdw dist="38100" dir="2700000" algn="tl" rotWithShape="0">
                    <a:schemeClr val="accent2"/>
                  </a:outerShdw>
                </a:effectLst>
                <a:latin typeface="+mj-lt"/>
              </a:rPr>
              <a:t>ype()</a:t>
            </a:r>
            <a:endParaRPr lang="en-DE" sz="7200" dirty="0">
              <a:ln w="0"/>
              <a:effectLst>
                <a:outerShdw blurRad="38100" dist="19050" dir="2700000" algn="tl" rotWithShape="0">
                  <a:schemeClr val="dk1">
                    <a:alpha val="40000"/>
                  </a:schemeClr>
                </a:outerShdw>
              </a:effectLst>
              <a:latin typeface="+mj-lt"/>
            </a:endParaRPr>
          </a:p>
        </p:txBody>
      </p:sp>
      <p:pic>
        <p:nvPicPr>
          <p:cNvPr id="13" name="Picture 12">
            <a:extLst>
              <a:ext uri="{FF2B5EF4-FFF2-40B4-BE49-F238E27FC236}">
                <a16:creationId xmlns:a16="http://schemas.microsoft.com/office/drawing/2014/main" id="{68147BC7-63E8-F552-FAF5-1E8EA5F3D04B}"/>
              </a:ext>
            </a:extLst>
          </p:cNvPr>
          <p:cNvPicPr>
            <a:picLocks noChangeAspect="1"/>
          </p:cNvPicPr>
          <p:nvPr/>
        </p:nvPicPr>
        <p:blipFill>
          <a:blip r:embed="rId4"/>
          <a:stretch>
            <a:fillRect/>
          </a:stretch>
        </p:blipFill>
        <p:spPr>
          <a:xfrm>
            <a:off x="271852" y="4899389"/>
            <a:ext cx="1063167" cy="1063167"/>
          </a:xfrm>
          <a:prstGeom prst="rect">
            <a:avLst/>
          </a:prstGeom>
        </p:spPr>
      </p:pic>
      <p:pic>
        <p:nvPicPr>
          <p:cNvPr id="3" name="Picture 2">
            <a:extLst>
              <a:ext uri="{FF2B5EF4-FFF2-40B4-BE49-F238E27FC236}">
                <a16:creationId xmlns:a16="http://schemas.microsoft.com/office/drawing/2014/main" id="{5AEC6DC4-7CE8-6BA0-8C15-EC7F128FBAD8}"/>
              </a:ext>
            </a:extLst>
          </p:cNvPr>
          <p:cNvPicPr>
            <a:picLocks noChangeAspect="1"/>
          </p:cNvPicPr>
          <p:nvPr/>
        </p:nvPicPr>
        <p:blipFill rotWithShape="1">
          <a:blip r:embed="rId5"/>
          <a:srcRect l="16861" t="20373" r="23923" b="14691"/>
          <a:stretch>
            <a:fillRect/>
          </a:stretch>
        </p:blipFill>
        <p:spPr>
          <a:xfrm>
            <a:off x="223306" y="6135709"/>
            <a:ext cx="9838800" cy="8549356"/>
          </a:xfrm>
          <a:prstGeom prst="rect">
            <a:avLst/>
          </a:prstGeom>
        </p:spPr>
      </p:pic>
    </p:spTree>
    <p:extLst>
      <p:ext uri="{BB962C8B-B14F-4D97-AF65-F5344CB8AC3E}">
        <p14:creationId xmlns:p14="http://schemas.microsoft.com/office/powerpoint/2010/main" val="13952705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pattFill prst="smConfetti">
          <a:fgClr>
            <a:schemeClr val="accent2"/>
          </a:fgClr>
          <a:bgClr>
            <a:schemeClr val="bg1"/>
          </a:bgClr>
        </a:pattFill>
        <a:effectLst/>
      </p:bgPr>
    </p:bg>
    <p:spTree>
      <p:nvGrpSpPr>
        <p:cNvPr id="1" name="">
          <a:extLst>
            <a:ext uri="{FF2B5EF4-FFF2-40B4-BE49-F238E27FC236}">
              <a16:creationId xmlns:a16="http://schemas.microsoft.com/office/drawing/2014/main" id="{24749E08-71C2-6880-1BD8-5D7039C979C0}"/>
            </a:ext>
          </a:extLst>
        </p:cNvPr>
        <p:cNvGrpSpPr/>
        <p:nvPr/>
      </p:nvGrpSpPr>
      <p:grpSpPr>
        <a:xfrm>
          <a:off x="0" y="0"/>
          <a:ext cx="0" cy="0"/>
          <a:chOff x="0" y="0"/>
          <a:chExt cx="0" cy="0"/>
        </a:xfrm>
      </p:grpSpPr>
      <p:sp>
        <p:nvSpPr>
          <p:cNvPr id="20" name="TextBox 19">
            <a:extLst>
              <a:ext uri="{FF2B5EF4-FFF2-40B4-BE49-F238E27FC236}">
                <a16:creationId xmlns:a16="http://schemas.microsoft.com/office/drawing/2014/main" id="{88221EFB-910E-F5D5-06DA-B080A5F2674A}"/>
              </a:ext>
            </a:extLst>
          </p:cNvPr>
          <p:cNvSpPr txBox="1"/>
          <p:nvPr/>
        </p:nvSpPr>
        <p:spPr>
          <a:xfrm>
            <a:off x="149506" y="3138109"/>
            <a:ext cx="9986400" cy="1200329"/>
          </a:xfrm>
          <a:prstGeom prst="rect">
            <a:avLst/>
          </a:prstGeom>
          <a:ln/>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pPr algn="ctr"/>
            <a:r>
              <a:rPr lang="en-DE" sz="7200" b="1" spc="50" dirty="0">
                <a:ln w="9525" cmpd="sng">
                  <a:solidFill>
                    <a:schemeClr val="accent1"/>
                  </a:solidFill>
                  <a:prstDash val="solid"/>
                </a:ln>
                <a:solidFill>
                  <a:srgbClr val="70AD47">
                    <a:tint val="1000"/>
                  </a:srgbClr>
                </a:solidFill>
                <a:effectLst>
                  <a:glow rad="38100">
                    <a:schemeClr val="accent1">
                      <a:alpha val="40000"/>
                    </a:schemeClr>
                  </a:glow>
                </a:effectLst>
                <a:latin typeface="Patrick Hand" pitchFamily="2" charset="77"/>
              </a:rPr>
              <a:t>Custom Exceptions</a:t>
            </a:r>
          </a:p>
        </p:txBody>
      </p:sp>
      <p:sp>
        <p:nvSpPr>
          <p:cNvPr id="22" name="TextBox 21">
            <a:extLst>
              <a:ext uri="{FF2B5EF4-FFF2-40B4-BE49-F238E27FC236}">
                <a16:creationId xmlns:a16="http://schemas.microsoft.com/office/drawing/2014/main" id="{92DD6A70-2186-CFE5-2A8E-1B0875E1CAE3}"/>
              </a:ext>
            </a:extLst>
          </p:cNvPr>
          <p:cNvSpPr txBox="1"/>
          <p:nvPr/>
        </p:nvSpPr>
        <p:spPr>
          <a:xfrm>
            <a:off x="-8753367" y="2826600"/>
            <a:ext cx="6659195" cy="830997"/>
          </a:xfrm>
          <a:prstGeom prst="rect">
            <a:avLst/>
          </a:prstGeom>
        </p:spPr>
        <p:style>
          <a:lnRef idx="1">
            <a:schemeClr val="accent6"/>
          </a:lnRef>
          <a:fillRef idx="2">
            <a:schemeClr val="accent6"/>
          </a:fillRef>
          <a:effectRef idx="1">
            <a:schemeClr val="accent6"/>
          </a:effectRef>
          <a:fontRef idx="minor">
            <a:schemeClr val="dk1"/>
          </a:fontRef>
        </p:style>
        <p:txBody>
          <a:bodyPr wrap="none" rtlCol="0">
            <a:spAutoFit/>
          </a:bodyPr>
          <a:lstStyle/>
          <a:p>
            <a:r>
              <a:rPr lang="en-US" sz="4800" dirty="0">
                <a:ln w="0"/>
                <a:solidFill>
                  <a:schemeClr val="tx1"/>
                </a:solidFill>
                <a:effectLst>
                  <a:outerShdw blurRad="38100" dist="19050" dir="2700000" algn="tl" rotWithShape="0">
                    <a:schemeClr val="dk1">
                      <a:alpha val="40000"/>
                    </a:schemeClr>
                  </a:outerShdw>
                </a:effectLst>
                <a:latin typeface="Patrick Hand" pitchFamily="2" charset="77"/>
              </a:rPr>
              <a:t>py_013_ </a:t>
            </a:r>
            <a:r>
              <a:rPr lang="en-US" sz="4800" dirty="0" err="1">
                <a:ln w="0"/>
                <a:solidFill>
                  <a:schemeClr val="tx1"/>
                </a:solidFill>
                <a:effectLst>
                  <a:outerShdw blurRad="38100" dist="19050" dir="2700000" algn="tl" rotWithShape="0">
                    <a:schemeClr val="dk1">
                      <a:alpha val="40000"/>
                    </a:schemeClr>
                  </a:outerShdw>
                </a:effectLst>
                <a:latin typeface="Patrick Hand" pitchFamily="2" charset="77"/>
              </a:rPr>
              <a:t>custom_exceptions</a:t>
            </a:r>
            <a:endParaRPr lang="en-DE" sz="4800" dirty="0">
              <a:ln w="0"/>
              <a:solidFill>
                <a:schemeClr val="tx1"/>
              </a:solidFill>
              <a:effectLst>
                <a:outerShdw blurRad="38100" dist="19050" dir="2700000" algn="tl" rotWithShape="0">
                  <a:schemeClr val="dk1">
                    <a:alpha val="40000"/>
                  </a:schemeClr>
                </a:outerShdw>
              </a:effectLst>
              <a:latin typeface="Patrick Hand" pitchFamily="2" charset="77"/>
            </a:endParaRPr>
          </a:p>
        </p:txBody>
      </p:sp>
      <p:pic>
        <p:nvPicPr>
          <p:cNvPr id="10" name="Picture 9">
            <a:extLst>
              <a:ext uri="{FF2B5EF4-FFF2-40B4-BE49-F238E27FC236}">
                <a16:creationId xmlns:a16="http://schemas.microsoft.com/office/drawing/2014/main" id="{BB81E0B3-71BE-60BA-8DDA-A980F240882F}"/>
              </a:ext>
            </a:extLst>
          </p:cNvPr>
          <p:cNvPicPr>
            <a:picLocks noChangeAspect="1"/>
          </p:cNvPicPr>
          <p:nvPr/>
        </p:nvPicPr>
        <p:blipFill>
          <a:blip r:embed="rId2"/>
          <a:stretch>
            <a:fillRect/>
          </a:stretch>
        </p:blipFill>
        <p:spPr>
          <a:xfrm>
            <a:off x="235271" y="3178265"/>
            <a:ext cx="1063167" cy="1063167"/>
          </a:xfrm>
          <a:prstGeom prst="rect">
            <a:avLst/>
          </a:prstGeom>
        </p:spPr>
      </p:pic>
      <p:pic>
        <p:nvPicPr>
          <p:cNvPr id="3" name="Picture 2">
            <a:extLst>
              <a:ext uri="{FF2B5EF4-FFF2-40B4-BE49-F238E27FC236}">
                <a16:creationId xmlns:a16="http://schemas.microsoft.com/office/drawing/2014/main" id="{3311FF87-4A6F-AA5B-528C-4EEA506ED75F}"/>
              </a:ext>
            </a:extLst>
          </p:cNvPr>
          <p:cNvPicPr>
            <a:picLocks noChangeAspect="1"/>
          </p:cNvPicPr>
          <p:nvPr/>
        </p:nvPicPr>
        <p:blipFill rotWithShape="1">
          <a:blip r:embed="rId3"/>
          <a:srcRect l="13587" t="17494" r="10412" b="11332"/>
          <a:stretch>
            <a:fillRect/>
          </a:stretch>
        </p:blipFill>
        <p:spPr>
          <a:xfrm>
            <a:off x="149506" y="4454586"/>
            <a:ext cx="9986400" cy="7644311"/>
          </a:xfrm>
          <a:prstGeom prst="rect">
            <a:avLst/>
          </a:prstGeom>
        </p:spPr>
      </p:pic>
      <p:sp>
        <p:nvSpPr>
          <p:cNvPr id="4" name="TextBox 3">
            <a:extLst>
              <a:ext uri="{FF2B5EF4-FFF2-40B4-BE49-F238E27FC236}">
                <a16:creationId xmlns:a16="http://schemas.microsoft.com/office/drawing/2014/main" id="{F53B4733-BC4E-98DF-515E-10181B657EE7}"/>
              </a:ext>
            </a:extLst>
          </p:cNvPr>
          <p:cNvSpPr txBox="1"/>
          <p:nvPr/>
        </p:nvSpPr>
        <p:spPr>
          <a:xfrm>
            <a:off x="496566" y="12183759"/>
            <a:ext cx="9292281" cy="2862322"/>
          </a:xfrm>
          <a:prstGeom prst="rect">
            <a:avLst/>
          </a:prstGeom>
          <a:noFill/>
        </p:spPr>
        <p:txBody>
          <a:bodyPr wrap="square" rtlCol="0">
            <a:spAutoFit/>
          </a:bodyPr>
          <a:lstStyle/>
          <a:p>
            <a:pPr algn="ctr"/>
            <a:r>
              <a:rPr lang="en-GB" sz="6000" b="1" dirty="0">
                <a:latin typeface="Patrick Hand" pitchFamily="2" charset="77"/>
              </a:rPr>
              <a:t>Stop Raising Generic Errors: Build Clean Custom Exceptions in Python</a:t>
            </a:r>
            <a:endParaRPr lang="en-DE" sz="6000" b="1" dirty="0">
              <a:latin typeface="Patrick Hand" pitchFamily="2" charset="77"/>
            </a:endParaRPr>
          </a:p>
        </p:txBody>
      </p:sp>
      <p:cxnSp>
        <p:nvCxnSpPr>
          <p:cNvPr id="5" name="Straight Connector 4">
            <a:extLst>
              <a:ext uri="{FF2B5EF4-FFF2-40B4-BE49-F238E27FC236}">
                <a16:creationId xmlns:a16="http://schemas.microsoft.com/office/drawing/2014/main" id="{BCA292DB-F49B-5900-2057-16A67289D869}"/>
              </a:ext>
            </a:extLst>
          </p:cNvPr>
          <p:cNvCxnSpPr>
            <a:cxnSpLocks/>
          </p:cNvCxnSpPr>
          <p:nvPr/>
        </p:nvCxnSpPr>
        <p:spPr>
          <a:xfrm>
            <a:off x="223579" y="6512034"/>
            <a:ext cx="9838255" cy="0"/>
          </a:xfrm>
          <a:prstGeom prst="line">
            <a:avLst/>
          </a:prstGeom>
          <a:ln w="38100">
            <a:solidFill>
              <a:schemeClr val="bg1"/>
            </a:solidFill>
            <a:headEnd type="none"/>
            <a:tailEnd type="none" w="lg" len="lg"/>
          </a:ln>
        </p:spPr>
        <p:style>
          <a:lnRef idx="1">
            <a:schemeClr val="accent1"/>
          </a:lnRef>
          <a:fillRef idx="0">
            <a:schemeClr val="accent1"/>
          </a:fillRef>
          <a:effectRef idx="0">
            <a:schemeClr val="accent1"/>
          </a:effectRef>
          <a:fontRef idx="minor">
            <a:schemeClr val="tx1"/>
          </a:fontRef>
        </p:style>
      </p:cxnSp>
      <p:pic>
        <p:nvPicPr>
          <p:cNvPr id="6" name="Graphic 5" descr="Shield Tick with solid fill">
            <a:extLst>
              <a:ext uri="{FF2B5EF4-FFF2-40B4-BE49-F238E27FC236}">
                <a16:creationId xmlns:a16="http://schemas.microsoft.com/office/drawing/2014/main" id="{ECB1BE94-3FAE-58FE-94D8-31CBA29F1E1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654817" y="9205659"/>
            <a:ext cx="914400" cy="914400"/>
          </a:xfrm>
          <a:prstGeom prst="rect">
            <a:avLst/>
          </a:prstGeom>
        </p:spPr>
      </p:pic>
      <p:pic>
        <p:nvPicPr>
          <p:cNvPr id="7" name="Graphic 6" descr="Close with solid fill">
            <a:extLst>
              <a:ext uri="{FF2B5EF4-FFF2-40B4-BE49-F238E27FC236}">
                <a16:creationId xmlns:a16="http://schemas.microsoft.com/office/drawing/2014/main" id="{8CFDED51-9E54-7C83-66D0-87639A90F71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654817" y="5481692"/>
            <a:ext cx="914400" cy="914400"/>
          </a:xfrm>
          <a:prstGeom prst="rect">
            <a:avLst/>
          </a:prstGeom>
        </p:spPr>
      </p:pic>
    </p:spTree>
    <p:extLst>
      <p:ext uri="{BB962C8B-B14F-4D97-AF65-F5344CB8AC3E}">
        <p14:creationId xmlns:p14="http://schemas.microsoft.com/office/powerpoint/2010/main" val="21776515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
          <a:extLst>
            <a:ext uri="{FF2B5EF4-FFF2-40B4-BE49-F238E27FC236}">
              <a16:creationId xmlns:a16="http://schemas.microsoft.com/office/drawing/2014/main" id="{481666EA-937A-BA02-5676-8DF1D4408345}"/>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75DC637D-2687-BAEC-1CAA-35981DB8C7E9}"/>
              </a:ext>
            </a:extLst>
          </p:cNvPr>
          <p:cNvSpPr txBox="1"/>
          <p:nvPr/>
        </p:nvSpPr>
        <p:spPr>
          <a:xfrm>
            <a:off x="223306" y="3143489"/>
            <a:ext cx="9838800" cy="1200329"/>
          </a:xfrm>
          <a:prstGeom prst="rect">
            <a:avLst/>
          </a:prstGeom>
          <a:ln/>
        </p:spPr>
        <p:style>
          <a:lnRef idx="0">
            <a:schemeClr val="dk1"/>
          </a:lnRef>
          <a:fillRef idx="3">
            <a:schemeClr val="dk1"/>
          </a:fillRef>
          <a:effectRef idx="3">
            <a:schemeClr val="dk1"/>
          </a:effectRef>
          <a:fontRef idx="minor">
            <a:schemeClr val="lt1"/>
          </a:fontRef>
        </p:style>
        <p:txBody>
          <a:bodyPr wrap="square" rtlCol="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7200" b="1" dirty="0">
                <a:ln w="6600">
                  <a:solidFill>
                    <a:schemeClr val="accent2"/>
                  </a:solidFill>
                  <a:prstDash val="solid"/>
                </a:ln>
                <a:solidFill>
                  <a:srgbClr val="FFFFFF"/>
                </a:solidFill>
                <a:effectLst>
                  <a:outerShdw dist="38100" dir="2700000" algn="tl" rotWithShape="0">
                    <a:schemeClr val="accent2"/>
                  </a:outerShdw>
                </a:effectLst>
                <a:latin typeface="+mj-lt"/>
              </a:rPr>
              <a:t>spread</a:t>
            </a:r>
            <a:endParaRPr lang="en-DE" sz="7200" dirty="0">
              <a:ln w="0"/>
              <a:effectLst>
                <a:outerShdw blurRad="38100" dist="19050" dir="2700000" algn="tl" rotWithShape="0">
                  <a:schemeClr val="dk1">
                    <a:alpha val="40000"/>
                  </a:schemeClr>
                </a:outerShdw>
              </a:effectLst>
              <a:latin typeface="+mj-lt"/>
            </a:endParaRPr>
          </a:p>
        </p:txBody>
      </p:sp>
      <p:pic>
        <p:nvPicPr>
          <p:cNvPr id="2" name="Picture 1">
            <a:extLst>
              <a:ext uri="{FF2B5EF4-FFF2-40B4-BE49-F238E27FC236}">
                <a16:creationId xmlns:a16="http://schemas.microsoft.com/office/drawing/2014/main" id="{720014C2-D995-7E5B-038B-460030A90BD8}"/>
              </a:ext>
            </a:extLst>
          </p:cNvPr>
          <p:cNvPicPr>
            <a:picLocks noChangeAspect="1"/>
          </p:cNvPicPr>
          <p:nvPr/>
        </p:nvPicPr>
        <p:blipFill rotWithShape="1">
          <a:blip r:embed="rId4"/>
          <a:srcRect l="18076" t="20103" r="9332" b="10590"/>
          <a:stretch>
            <a:fillRect/>
          </a:stretch>
        </p:blipFill>
        <p:spPr>
          <a:xfrm>
            <a:off x="223306" y="4473145"/>
            <a:ext cx="9838800" cy="8511073"/>
          </a:xfrm>
          <a:prstGeom prst="rect">
            <a:avLst/>
          </a:prstGeom>
        </p:spPr>
      </p:pic>
      <p:sp>
        <p:nvSpPr>
          <p:cNvPr id="4" name="Right Arrow 3">
            <a:extLst>
              <a:ext uri="{FF2B5EF4-FFF2-40B4-BE49-F238E27FC236}">
                <a16:creationId xmlns:a16="http://schemas.microsoft.com/office/drawing/2014/main" id="{5427EA68-1906-8DA4-12C0-D18B1781D252}"/>
              </a:ext>
            </a:extLst>
          </p:cNvPr>
          <p:cNvSpPr/>
          <p:nvPr/>
        </p:nvSpPr>
        <p:spPr>
          <a:xfrm>
            <a:off x="2505154" y="16014356"/>
            <a:ext cx="5263978" cy="1334530"/>
          </a:xfrm>
          <a:prstGeom prst="rightArrow">
            <a:avLst/>
          </a:prstGeom>
          <a:solidFill>
            <a:srgbClr val="FFFF00"/>
          </a:solidFill>
          <a:ln w="31750">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457200" rtl="0" eaLnBrk="1" latinLnBrk="0" hangingPunct="1"/>
            <a:r>
              <a:rPr lang="en-DE" sz="4000" dirty="0">
                <a:ln w="0"/>
                <a:solidFill>
                  <a:schemeClr val="tx1"/>
                </a:solidFill>
                <a:effectLst>
                  <a:outerShdw blurRad="38100" dist="19050" dir="2700000" algn="tl" rotWithShape="0">
                    <a:schemeClr val="dk1">
                      <a:alpha val="40000"/>
                    </a:schemeClr>
                  </a:outerShdw>
                </a:effectLst>
                <a:latin typeface="Patrick Hand" pitchFamily="2" charset="77"/>
              </a:rPr>
              <a:t>Next</a:t>
            </a:r>
            <a:endParaRPr lang="en-DE" sz="4000" dirty="0">
              <a:latin typeface="Patrick Hand" pitchFamily="2" charset="77"/>
            </a:endParaRPr>
          </a:p>
        </p:txBody>
      </p:sp>
      <p:sp>
        <p:nvSpPr>
          <p:cNvPr id="10" name="TextBox 9">
            <a:extLst>
              <a:ext uri="{FF2B5EF4-FFF2-40B4-BE49-F238E27FC236}">
                <a16:creationId xmlns:a16="http://schemas.microsoft.com/office/drawing/2014/main" id="{1262A051-0A0B-7D31-4A07-549D54A3DF56}"/>
              </a:ext>
            </a:extLst>
          </p:cNvPr>
          <p:cNvSpPr txBox="1"/>
          <p:nvPr/>
        </p:nvSpPr>
        <p:spPr>
          <a:xfrm>
            <a:off x="223306" y="13437458"/>
            <a:ext cx="9838800" cy="2123658"/>
          </a:xfrm>
          <a:prstGeom prst="rect">
            <a:avLst/>
          </a:prstGeom>
          <a:noFill/>
        </p:spPr>
        <p:txBody>
          <a:bodyPr wrap="square" rtlCol="0">
            <a:spAutoFit/>
          </a:bodyPr>
          <a:lstStyle/>
          <a:p>
            <a:pPr algn="ctr"/>
            <a:r>
              <a:rPr lang="en-GB" sz="6600" b="1" dirty="0">
                <a:latin typeface="Patrick Hand" pitchFamily="2" charset="77"/>
              </a:rPr>
              <a:t>Spread vs Rest in TypeScript: Same ..., Different Job</a:t>
            </a:r>
            <a:endParaRPr lang="en-DE" sz="6600" b="1" dirty="0">
              <a:latin typeface="Patrick Hand" pitchFamily="2" charset="77"/>
            </a:endParaRPr>
          </a:p>
        </p:txBody>
      </p:sp>
      <p:pic>
        <p:nvPicPr>
          <p:cNvPr id="11" name="Picture 10">
            <a:extLst>
              <a:ext uri="{FF2B5EF4-FFF2-40B4-BE49-F238E27FC236}">
                <a16:creationId xmlns:a16="http://schemas.microsoft.com/office/drawing/2014/main" id="{A4C46D8A-01A6-1F75-38E3-605256354E9E}"/>
              </a:ext>
            </a:extLst>
          </p:cNvPr>
          <p:cNvPicPr>
            <a:picLocks noChangeAspect="1"/>
          </p:cNvPicPr>
          <p:nvPr/>
        </p:nvPicPr>
        <p:blipFill>
          <a:blip r:embed="rId5"/>
          <a:stretch>
            <a:fillRect/>
          </a:stretch>
        </p:blipFill>
        <p:spPr>
          <a:xfrm>
            <a:off x="344552" y="3229794"/>
            <a:ext cx="1062000" cy="1062000"/>
          </a:xfrm>
          <a:prstGeom prst="rect">
            <a:avLst/>
          </a:prstGeom>
        </p:spPr>
      </p:pic>
    </p:spTree>
    <p:extLst>
      <p:ext uri="{BB962C8B-B14F-4D97-AF65-F5344CB8AC3E}">
        <p14:creationId xmlns:p14="http://schemas.microsoft.com/office/powerpoint/2010/main" val="14498383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
          <a:extLst>
            <a:ext uri="{FF2B5EF4-FFF2-40B4-BE49-F238E27FC236}">
              <a16:creationId xmlns:a16="http://schemas.microsoft.com/office/drawing/2014/main" id="{F6815F90-8783-D7B0-216C-EA633FDE421C}"/>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196CD64D-FC73-629A-3F5F-2F8AE080DF19}"/>
              </a:ext>
            </a:extLst>
          </p:cNvPr>
          <p:cNvSpPr txBox="1"/>
          <p:nvPr/>
        </p:nvSpPr>
        <p:spPr>
          <a:xfrm>
            <a:off x="223306" y="3143489"/>
            <a:ext cx="9838800" cy="1200329"/>
          </a:xfrm>
          <a:prstGeom prst="rect">
            <a:avLst/>
          </a:prstGeom>
          <a:ln/>
        </p:spPr>
        <p:style>
          <a:lnRef idx="0">
            <a:schemeClr val="dk1"/>
          </a:lnRef>
          <a:fillRef idx="3">
            <a:schemeClr val="dk1"/>
          </a:fillRef>
          <a:effectRef idx="3">
            <a:schemeClr val="dk1"/>
          </a:effectRef>
          <a:fontRef idx="minor">
            <a:schemeClr val="lt1"/>
          </a:fontRef>
        </p:style>
        <p:txBody>
          <a:bodyPr wrap="square" rtlCol="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7200" b="1" dirty="0">
                <a:ln w="6600">
                  <a:solidFill>
                    <a:schemeClr val="accent2"/>
                  </a:solidFill>
                  <a:prstDash val="solid"/>
                </a:ln>
                <a:solidFill>
                  <a:srgbClr val="FFFFFF"/>
                </a:solidFill>
                <a:effectLst>
                  <a:outerShdw dist="38100" dir="2700000" algn="tl" rotWithShape="0">
                    <a:schemeClr val="accent2"/>
                  </a:outerShdw>
                </a:effectLst>
                <a:latin typeface="+mj-lt"/>
              </a:rPr>
              <a:t>rest</a:t>
            </a:r>
            <a:endParaRPr lang="en-DE" sz="7200" dirty="0">
              <a:ln w="0"/>
              <a:effectLst>
                <a:outerShdw blurRad="38100" dist="19050" dir="2700000" algn="tl" rotWithShape="0">
                  <a:schemeClr val="dk1">
                    <a:alpha val="40000"/>
                  </a:schemeClr>
                </a:outerShdw>
              </a:effectLst>
              <a:latin typeface="+mj-lt"/>
            </a:endParaRPr>
          </a:p>
        </p:txBody>
      </p:sp>
      <p:pic>
        <p:nvPicPr>
          <p:cNvPr id="7" name="Picture 6">
            <a:extLst>
              <a:ext uri="{FF2B5EF4-FFF2-40B4-BE49-F238E27FC236}">
                <a16:creationId xmlns:a16="http://schemas.microsoft.com/office/drawing/2014/main" id="{F2814F2D-EE7A-8888-1920-798F1FF226E5}"/>
              </a:ext>
            </a:extLst>
          </p:cNvPr>
          <p:cNvPicPr preferRelativeResize="0">
            <a:picLocks/>
          </p:cNvPicPr>
          <p:nvPr/>
        </p:nvPicPr>
        <p:blipFill rotWithShape="1">
          <a:blip r:embed="rId4"/>
          <a:srcRect l="19834" t="19773" r="12847" b="11528"/>
          <a:stretch>
            <a:fillRect/>
          </a:stretch>
        </p:blipFill>
        <p:spPr>
          <a:xfrm>
            <a:off x="223306" y="4474800"/>
            <a:ext cx="9838800" cy="8510400"/>
          </a:xfrm>
          <a:prstGeom prst="rect">
            <a:avLst/>
          </a:prstGeom>
        </p:spPr>
      </p:pic>
      <p:sp>
        <p:nvSpPr>
          <p:cNvPr id="11" name="TextBox 10">
            <a:extLst>
              <a:ext uri="{FF2B5EF4-FFF2-40B4-BE49-F238E27FC236}">
                <a16:creationId xmlns:a16="http://schemas.microsoft.com/office/drawing/2014/main" id="{DE722491-7635-8958-B847-B99395A9EC98}"/>
              </a:ext>
            </a:extLst>
          </p:cNvPr>
          <p:cNvSpPr txBox="1"/>
          <p:nvPr/>
        </p:nvSpPr>
        <p:spPr>
          <a:xfrm>
            <a:off x="223306" y="13437458"/>
            <a:ext cx="9838800" cy="2123658"/>
          </a:xfrm>
          <a:prstGeom prst="rect">
            <a:avLst/>
          </a:prstGeom>
          <a:noFill/>
        </p:spPr>
        <p:txBody>
          <a:bodyPr wrap="square" rtlCol="0">
            <a:spAutoFit/>
          </a:bodyPr>
          <a:lstStyle/>
          <a:p>
            <a:pPr algn="ctr"/>
            <a:r>
              <a:rPr lang="en-GB" sz="6600" b="1" dirty="0">
                <a:latin typeface="Patrick Hand" pitchFamily="2" charset="77"/>
              </a:rPr>
              <a:t>Spread vs Rest in TypeScript: Same ..., Different Job</a:t>
            </a:r>
            <a:endParaRPr lang="en-DE" sz="6600" b="1" dirty="0">
              <a:latin typeface="Patrick Hand" pitchFamily="2" charset="77"/>
            </a:endParaRPr>
          </a:p>
        </p:txBody>
      </p:sp>
      <p:pic>
        <p:nvPicPr>
          <p:cNvPr id="12" name="Picture 11">
            <a:extLst>
              <a:ext uri="{FF2B5EF4-FFF2-40B4-BE49-F238E27FC236}">
                <a16:creationId xmlns:a16="http://schemas.microsoft.com/office/drawing/2014/main" id="{79E6ED59-A915-84A2-F5AA-DDB5E1B3DC24}"/>
              </a:ext>
            </a:extLst>
          </p:cNvPr>
          <p:cNvPicPr>
            <a:picLocks noChangeAspect="1"/>
          </p:cNvPicPr>
          <p:nvPr/>
        </p:nvPicPr>
        <p:blipFill>
          <a:blip r:embed="rId5"/>
          <a:stretch>
            <a:fillRect/>
          </a:stretch>
        </p:blipFill>
        <p:spPr>
          <a:xfrm>
            <a:off x="344552" y="3229794"/>
            <a:ext cx="1062000" cy="1062000"/>
          </a:xfrm>
          <a:prstGeom prst="rect">
            <a:avLst/>
          </a:prstGeom>
        </p:spPr>
      </p:pic>
    </p:spTree>
    <p:extLst>
      <p:ext uri="{BB962C8B-B14F-4D97-AF65-F5344CB8AC3E}">
        <p14:creationId xmlns:p14="http://schemas.microsoft.com/office/powerpoint/2010/main" val="28054175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18CD963-890F-C0FB-2CEA-0581E4029033}"/>
              </a:ext>
            </a:extLst>
          </p:cNvPr>
          <p:cNvPicPr>
            <a:picLocks noChangeAspect="1"/>
          </p:cNvPicPr>
          <p:nvPr/>
        </p:nvPicPr>
        <p:blipFill rotWithShape="1">
          <a:blip r:embed="rId4"/>
          <a:srcRect l="13860" t="15730" r="9843" b="9716"/>
          <a:stretch>
            <a:fillRect/>
          </a:stretch>
        </p:blipFill>
        <p:spPr>
          <a:xfrm>
            <a:off x="223306" y="6012973"/>
            <a:ext cx="9838800" cy="8340750"/>
          </a:xfrm>
          <a:prstGeom prst="rect">
            <a:avLst/>
          </a:prstGeom>
          <a:ln w="25400">
            <a:solidFill>
              <a:schemeClr val="bg1"/>
            </a:solidFill>
          </a:ln>
        </p:spPr>
      </p:pic>
      <p:sp>
        <p:nvSpPr>
          <p:cNvPr id="38" name="TextBox 37">
            <a:extLst>
              <a:ext uri="{FF2B5EF4-FFF2-40B4-BE49-F238E27FC236}">
                <a16:creationId xmlns:a16="http://schemas.microsoft.com/office/drawing/2014/main" id="{02F516FD-316D-B719-C21B-68F85C795F3C}"/>
              </a:ext>
            </a:extLst>
          </p:cNvPr>
          <p:cNvSpPr txBox="1"/>
          <p:nvPr/>
        </p:nvSpPr>
        <p:spPr>
          <a:xfrm>
            <a:off x="223306" y="4820274"/>
            <a:ext cx="9838800" cy="1107996"/>
          </a:xfrm>
          <a:prstGeom prst="rect">
            <a:avLst/>
          </a:prstGeom>
          <a:ln w="25400">
            <a:solidFill>
              <a:schemeClr val="bg1"/>
            </a:solidFill>
          </a:ln>
        </p:spPr>
        <p:style>
          <a:lnRef idx="0">
            <a:schemeClr val="accent2"/>
          </a:lnRef>
          <a:fillRef idx="3">
            <a:schemeClr val="accent2"/>
          </a:fillRef>
          <a:effectRef idx="3">
            <a:schemeClr val="accent2"/>
          </a:effectRef>
          <a:fontRef idx="minor">
            <a:schemeClr val="lt1"/>
          </a:fontRef>
        </p:style>
        <p:txBody>
          <a:bodyPr wrap="square" rtlCol="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GB" sz="6600" b="1" dirty="0">
                <a:ln w="0"/>
                <a:solidFill>
                  <a:schemeClr val="accent1"/>
                </a:solidFill>
                <a:effectLst>
                  <a:outerShdw blurRad="38100" dist="25400" dir="5400000" algn="ctr" rotWithShape="0">
                    <a:srgbClr val="6E747A">
                      <a:alpha val="43000"/>
                    </a:srgbClr>
                  </a:outerShdw>
                </a:effectLst>
                <a:latin typeface="Patrick Hand" pitchFamily="2" charset="77"/>
              </a:rPr>
              <a:t>Palindrome Hack</a:t>
            </a:r>
            <a:endParaRPr lang="en-GB" b="1" dirty="0">
              <a:ln w="0"/>
              <a:solidFill>
                <a:schemeClr val="accent1"/>
              </a:solidFill>
              <a:effectLst>
                <a:outerShdw blurRad="38100" dist="25400" dir="5400000" algn="ctr" rotWithShape="0">
                  <a:srgbClr val="6E747A">
                    <a:alpha val="43000"/>
                  </a:srgbClr>
                </a:outerShdw>
              </a:effectLst>
              <a:latin typeface="Patrick Hand" pitchFamily="2" charset="77"/>
            </a:endParaRPr>
          </a:p>
        </p:txBody>
      </p:sp>
      <p:pic>
        <p:nvPicPr>
          <p:cNvPr id="39" name="Picture 38">
            <a:extLst>
              <a:ext uri="{FF2B5EF4-FFF2-40B4-BE49-F238E27FC236}">
                <a16:creationId xmlns:a16="http://schemas.microsoft.com/office/drawing/2014/main" id="{CF25CE73-8562-EA92-101F-278FE6E68DFC}"/>
              </a:ext>
            </a:extLst>
          </p:cNvPr>
          <p:cNvPicPr>
            <a:picLocks noChangeAspect="1"/>
          </p:cNvPicPr>
          <p:nvPr/>
        </p:nvPicPr>
        <p:blipFill>
          <a:blip r:embed="rId5"/>
          <a:stretch>
            <a:fillRect/>
          </a:stretch>
        </p:blipFill>
        <p:spPr>
          <a:xfrm>
            <a:off x="264001" y="4854179"/>
            <a:ext cx="1063167" cy="1063167"/>
          </a:xfrm>
          <a:prstGeom prst="rect">
            <a:avLst/>
          </a:prstGeom>
        </p:spPr>
      </p:pic>
      <p:cxnSp>
        <p:nvCxnSpPr>
          <p:cNvPr id="40" name="Straight Connector 39">
            <a:extLst>
              <a:ext uri="{FF2B5EF4-FFF2-40B4-BE49-F238E27FC236}">
                <a16:creationId xmlns:a16="http://schemas.microsoft.com/office/drawing/2014/main" id="{E0DA8088-06F2-94B5-C3F4-15954706D4EF}"/>
              </a:ext>
            </a:extLst>
          </p:cNvPr>
          <p:cNvCxnSpPr>
            <a:cxnSpLocks/>
          </p:cNvCxnSpPr>
          <p:nvPr/>
        </p:nvCxnSpPr>
        <p:spPr>
          <a:xfrm>
            <a:off x="223579" y="11751310"/>
            <a:ext cx="9838255" cy="0"/>
          </a:xfrm>
          <a:prstGeom prst="line">
            <a:avLst/>
          </a:prstGeom>
          <a:ln w="38100">
            <a:solidFill>
              <a:schemeClr val="bg1"/>
            </a:solidFill>
            <a:headEnd type="none"/>
            <a:tailEnd type="none" w="lg" len="lg"/>
          </a:ln>
        </p:spPr>
        <p:style>
          <a:lnRef idx="1">
            <a:schemeClr val="accent1"/>
          </a:lnRef>
          <a:fillRef idx="0">
            <a:schemeClr val="accent1"/>
          </a:fillRef>
          <a:effectRef idx="0">
            <a:schemeClr val="accent1"/>
          </a:effectRef>
          <a:fontRef idx="minor">
            <a:schemeClr val="tx1"/>
          </a:fontRef>
        </p:style>
      </p:cxnSp>
      <p:pic>
        <p:nvPicPr>
          <p:cNvPr id="41" name="Graphic 40" descr="Shield Tick with solid fill">
            <a:extLst>
              <a:ext uri="{FF2B5EF4-FFF2-40B4-BE49-F238E27FC236}">
                <a16:creationId xmlns:a16="http://schemas.microsoft.com/office/drawing/2014/main" id="{01510C08-436C-82D7-D02A-80A605474E8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668075" y="12838552"/>
            <a:ext cx="914400" cy="914400"/>
          </a:xfrm>
          <a:prstGeom prst="rect">
            <a:avLst/>
          </a:prstGeom>
        </p:spPr>
      </p:pic>
      <p:pic>
        <p:nvPicPr>
          <p:cNvPr id="42" name="Graphic 41" descr="Close with solid fill">
            <a:extLst>
              <a:ext uri="{FF2B5EF4-FFF2-40B4-BE49-F238E27FC236}">
                <a16:creationId xmlns:a16="http://schemas.microsoft.com/office/drawing/2014/main" id="{F9E50DDB-5369-3F10-6CE1-B12F3117D414}"/>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668075" y="9114585"/>
            <a:ext cx="914400" cy="914400"/>
          </a:xfrm>
          <a:prstGeom prst="rect">
            <a:avLst/>
          </a:prstGeom>
        </p:spPr>
      </p:pic>
    </p:spTree>
    <p:extLst>
      <p:ext uri="{BB962C8B-B14F-4D97-AF65-F5344CB8AC3E}">
        <p14:creationId xmlns:p14="http://schemas.microsoft.com/office/powerpoint/2010/main" val="1651426489"/>
      </p:ext>
    </p:extLst>
  </p:cSld>
  <p:clrMapOvr>
    <a:masterClrMapping/>
  </p:clrMapOvr>
  <p:extLst>
    <p:ext uri="{6950BFC3-D8DA-4A85-94F7-54DA5524770B}">
      <p188:commentRel xmlns:p188="http://schemas.microsoft.com/office/powerpoint/2018/8/main" r:id="rId2"/>
    </p:ext>
  </p:extLst>
</p:sld>
</file>

<file path=ppt/slides/slide7.xml><?xml version="1.0" encoding="utf-8"?>
<p:sld xmlns:a="http://schemas.openxmlformats.org/drawingml/2006/main" xmlns:r="http://schemas.openxmlformats.org/officeDocument/2006/relationships" xmlns:p="http://schemas.openxmlformats.org/presentationml/2006/main">
  <p:cSld>
    <p:bg>
      <p:bgPr>
        <a:pattFill prst="dotGrid">
          <a:fgClr>
            <a:srgbClr val="92D050"/>
          </a:fgClr>
          <a:bgClr>
            <a:schemeClr val="bg1"/>
          </a:bgClr>
        </a:pattFill>
        <a:effectLst/>
      </p:bgPr>
    </p:bg>
    <p:spTree>
      <p:nvGrpSpPr>
        <p:cNvPr id="1" name=""/>
        <p:cNvGrpSpPr/>
        <p:nvPr/>
      </p:nvGrpSpPr>
      <p:grpSpPr>
        <a:xfrm>
          <a:off x="0" y="0"/>
          <a:ext cx="0" cy="0"/>
          <a:chOff x="0" y="0"/>
          <a:chExt cx="0" cy="0"/>
        </a:xfrm>
      </p:grpSpPr>
      <p:grpSp>
        <p:nvGrpSpPr>
          <p:cNvPr id="23" name="Group 22">
            <a:extLst>
              <a:ext uri="{FF2B5EF4-FFF2-40B4-BE49-F238E27FC236}">
                <a16:creationId xmlns:a16="http://schemas.microsoft.com/office/drawing/2014/main" id="{77507D99-36CB-6227-152C-9190E799B830}"/>
              </a:ext>
            </a:extLst>
          </p:cNvPr>
          <p:cNvGrpSpPr/>
          <p:nvPr/>
        </p:nvGrpSpPr>
        <p:grpSpPr>
          <a:xfrm>
            <a:off x="223306" y="5138326"/>
            <a:ext cx="9838800" cy="1107996"/>
            <a:chOff x="223306" y="2872200"/>
            <a:chExt cx="9838800" cy="1107996"/>
          </a:xfrm>
        </p:grpSpPr>
        <p:sp>
          <p:nvSpPr>
            <p:cNvPr id="4" name="TextBox 3">
              <a:extLst>
                <a:ext uri="{FF2B5EF4-FFF2-40B4-BE49-F238E27FC236}">
                  <a16:creationId xmlns:a16="http://schemas.microsoft.com/office/drawing/2014/main" id="{2D6272F5-EA5E-8E54-DAF0-417836251F1B}"/>
                </a:ext>
              </a:extLst>
            </p:cNvPr>
            <p:cNvSpPr txBox="1"/>
            <p:nvPr/>
          </p:nvSpPr>
          <p:spPr>
            <a:xfrm>
              <a:off x="223306" y="2872200"/>
              <a:ext cx="9838800" cy="1107996"/>
            </a:xfrm>
            <a:prstGeom prst="rect">
              <a:avLst/>
            </a:prstGeom>
            <a:ln/>
          </p:spPr>
          <p:style>
            <a:lnRef idx="1">
              <a:schemeClr val="accent6"/>
            </a:lnRef>
            <a:fillRef idx="2">
              <a:schemeClr val="accent6"/>
            </a:fillRef>
            <a:effectRef idx="1">
              <a:schemeClr val="accent6"/>
            </a:effectRef>
            <a:fontRef idx="minor">
              <a:schemeClr val="dk1"/>
            </a:fontRef>
          </p:style>
          <p:txBody>
            <a:bodyPr wrap="square" rtlCol="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GB" sz="6600" dirty="0"/>
                <a:t>String Slicing Basics</a:t>
              </a:r>
              <a:endParaRPr lang="en-GB" b="1" dirty="0">
                <a:ln w="0"/>
                <a:solidFill>
                  <a:schemeClr val="tx1"/>
                </a:solidFill>
                <a:effectLst>
                  <a:outerShdw blurRad="38100" dist="25400" dir="5400000" algn="ctr" rotWithShape="0">
                    <a:srgbClr val="6E747A">
                      <a:alpha val="43000"/>
                    </a:srgbClr>
                  </a:outerShdw>
                </a:effectLst>
                <a:latin typeface="Patrick Hand" pitchFamily="2" charset="77"/>
              </a:endParaRPr>
            </a:p>
          </p:txBody>
        </p:sp>
        <p:pic>
          <p:nvPicPr>
            <p:cNvPr id="5" name="Picture 4">
              <a:extLst>
                <a:ext uri="{FF2B5EF4-FFF2-40B4-BE49-F238E27FC236}">
                  <a16:creationId xmlns:a16="http://schemas.microsoft.com/office/drawing/2014/main" id="{A749827E-2E74-ACEC-8444-637079C18620}"/>
                </a:ext>
              </a:extLst>
            </p:cNvPr>
            <p:cNvPicPr>
              <a:picLocks noChangeAspect="1"/>
            </p:cNvPicPr>
            <p:nvPr/>
          </p:nvPicPr>
          <p:blipFill>
            <a:blip r:embed="rId2"/>
            <a:stretch>
              <a:fillRect/>
            </a:stretch>
          </p:blipFill>
          <p:spPr>
            <a:xfrm>
              <a:off x="264001" y="2906105"/>
              <a:ext cx="1063167" cy="1063167"/>
            </a:xfrm>
            <a:prstGeom prst="rect">
              <a:avLst/>
            </a:prstGeom>
          </p:spPr>
        </p:pic>
      </p:grpSp>
      <p:cxnSp>
        <p:nvCxnSpPr>
          <p:cNvPr id="17" name="Straight Connector 16">
            <a:extLst>
              <a:ext uri="{FF2B5EF4-FFF2-40B4-BE49-F238E27FC236}">
                <a16:creationId xmlns:a16="http://schemas.microsoft.com/office/drawing/2014/main" id="{4B53DAC6-803E-6E54-0AFE-08E92D625C58}"/>
              </a:ext>
            </a:extLst>
          </p:cNvPr>
          <p:cNvCxnSpPr>
            <a:cxnSpLocks/>
          </p:cNvCxnSpPr>
          <p:nvPr/>
        </p:nvCxnSpPr>
        <p:spPr>
          <a:xfrm>
            <a:off x="223579" y="10677115"/>
            <a:ext cx="9838255" cy="0"/>
          </a:xfrm>
          <a:prstGeom prst="line">
            <a:avLst/>
          </a:prstGeom>
          <a:ln w="38100">
            <a:solidFill>
              <a:schemeClr val="bg1"/>
            </a:solidFill>
            <a:headEnd type="none"/>
            <a:tailEnd type="none" w="lg" len="lg"/>
          </a:ln>
        </p:spPr>
        <p:style>
          <a:lnRef idx="1">
            <a:schemeClr val="accent1"/>
          </a:lnRef>
          <a:fillRef idx="0">
            <a:schemeClr val="accent1"/>
          </a:fillRef>
          <a:effectRef idx="0">
            <a:schemeClr val="accent1"/>
          </a:effectRef>
          <a:fontRef idx="minor">
            <a:schemeClr val="tx1"/>
          </a:fontRef>
        </p:style>
      </p:cxnSp>
      <p:graphicFrame>
        <p:nvGraphicFramePr>
          <p:cNvPr id="2" name="Table 1">
            <a:extLst>
              <a:ext uri="{FF2B5EF4-FFF2-40B4-BE49-F238E27FC236}">
                <a16:creationId xmlns:a16="http://schemas.microsoft.com/office/drawing/2014/main" id="{AFFCB3D2-5FF9-D262-2045-1017C7DFA743}"/>
              </a:ext>
            </a:extLst>
          </p:cNvPr>
          <p:cNvGraphicFramePr>
            <a:graphicFrameLocks noGrp="1"/>
          </p:cNvGraphicFramePr>
          <p:nvPr>
            <p:extLst>
              <p:ext uri="{D42A27DB-BD31-4B8C-83A1-F6EECF244321}">
                <p14:modId xmlns:p14="http://schemas.microsoft.com/office/powerpoint/2010/main" val="1187538916"/>
              </p:ext>
            </p:extLst>
          </p:nvPr>
        </p:nvGraphicFramePr>
        <p:xfrm>
          <a:off x="1845733" y="6385692"/>
          <a:ext cx="7707580" cy="914400"/>
        </p:xfrm>
        <a:graphic>
          <a:graphicData uri="http://schemas.openxmlformats.org/drawingml/2006/table">
            <a:tbl>
              <a:tblPr firstRow="1" bandRow="1">
                <a:tableStyleId>{5C22544A-7EE6-4342-B048-85BDC9FD1C3A}</a:tableStyleId>
              </a:tblPr>
              <a:tblGrid>
                <a:gridCol w="1926895">
                  <a:extLst>
                    <a:ext uri="{9D8B030D-6E8A-4147-A177-3AD203B41FA5}">
                      <a16:colId xmlns:a16="http://schemas.microsoft.com/office/drawing/2014/main" val="2355591543"/>
                    </a:ext>
                  </a:extLst>
                </a:gridCol>
                <a:gridCol w="1926895">
                  <a:extLst>
                    <a:ext uri="{9D8B030D-6E8A-4147-A177-3AD203B41FA5}">
                      <a16:colId xmlns:a16="http://schemas.microsoft.com/office/drawing/2014/main" val="1690173566"/>
                    </a:ext>
                  </a:extLst>
                </a:gridCol>
                <a:gridCol w="1926895">
                  <a:extLst>
                    <a:ext uri="{9D8B030D-6E8A-4147-A177-3AD203B41FA5}">
                      <a16:colId xmlns:a16="http://schemas.microsoft.com/office/drawing/2014/main" val="434348016"/>
                    </a:ext>
                  </a:extLst>
                </a:gridCol>
                <a:gridCol w="1926895">
                  <a:extLst>
                    <a:ext uri="{9D8B030D-6E8A-4147-A177-3AD203B41FA5}">
                      <a16:colId xmlns:a16="http://schemas.microsoft.com/office/drawing/2014/main" val="1805346127"/>
                    </a:ext>
                  </a:extLst>
                </a:gridCol>
              </a:tblGrid>
              <a:tr h="370840">
                <a:tc>
                  <a:txBody>
                    <a:bodyPr/>
                    <a:lstStyle/>
                    <a:p>
                      <a:pPr algn="ctr"/>
                      <a:r>
                        <a:rPr lang="en-DE" sz="2400" b="1" i="0" dirty="0">
                          <a:latin typeface="Arial Narrow" panose="020B0604020202020204" pitchFamily="34" charset="0"/>
                          <a:cs typeface="Arial Narrow" panose="020B0604020202020204" pitchFamily="34" charset="0"/>
                        </a:rPr>
                        <a:t>0</a:t>
                      </a:r>
                    </a:p>
                  </a:txBody>
                  <a:tcPr/>
                </a:tc>
                <a:tc>
                  <a:txBody>
                    <a:bodyPr/>
                    <a:lstStyle/>
                    <a:p>
                      <a:pPr algn="ctr"/>
                      <a:r>
                        <a:rPr lang="en-DE" sz="2400" b="1" i="0" dirty="0">
                          <a:latin typeface="Arial Narrow" panose="020B0604020202020204" pitchFamily="34" charset="0"/>
                          <a:cs typeface="Arial Narrow" panose="020B0604020202020204" pitchFamily="34" charset="0"/>
                        </a:rPr>
                        <a:t>1</a:t>
                      </a:r>
                    </a:p>
                  </a:txBody>
                  <a:tcPr/>
                </a:tc>
                <a:tc>
                  <a:txBody>
                    <a:bodyPr/>
                    <a:lstStyle/>
                    <a:p>
                      <a:pPr algn="ctr"/>
                      <a:r>
                        <a:rPr lang="en-DE" sz="2400" b="1" i="0" dirty="0">
                          <a:latin typeface="Arial Narrow" panose="020B0604020202020204" pitchFamily="34" charset="0"/>
                          <a:cs typeface="Arial Narrow" panose="020B0604020202020204" pitchFamily="34" charset="0"/>
                        </a:rPr>
                        <a:t>2</a:t>
                      </a:r>
                    </a:p>
                  </a:txBody>
                  <a:tcPr/>
                </a:tc>
                <a:tc>
                  <a:txBody>
                    <a:bodyPr/>
                    <a:lstStyle/>
                    <a:p>
                      <a:pPr algn="ctr"/>
                      <a:r>
                        <a:rPr lang="en-DE" sz="2400" b="1" i="0" dirty="0">
                          <a:latin typeface="Arial Narrow" panose="020B0604020202020204" pitchFamily="34" charset="0"/>
                          <a:cs typeface="Arial Narrow" panose="020B0604020202020204" pitchFamily="34" charset="0"/>
                        </a:rPr>
                        <a:t>3</a:t>
                      </a:r>
                    </a:p>
                  </a:txBody>
                  <a:tcPr/>
                </a:tc>
                <a:extLst>
                  <a:ext uri="{0D108BD9-81ED-4DB2-BD59-A6C34878D82A}">
                    <a16:rowId xmlns:a16="http://schemas.microsoft.com/office/drawing/2014/main" val="3813841085"/>
                  </a:ext>
                </a:extLst>
              </a:tr>
              <a:tr h="370840">
                <a:tc>
                  <a:txBody>
                    <a:bodyPr/>
                    <a:lstStyle/>
                    <a:p>
                      <a:pPr algn="ctr"/>
                      <a:r>
                        <a:rPr lang="en-DE" sz="2400" b="1" i="0" dirty="0">
                          <a:latin typeface="Arial Narrow" panose="020B0604020202020204" pitchFamily="34" charset="0"/>
                          <a:cs typeface="Arial Narrow" panose="020B0604020202020204" pitchFamily="34" charset="0"/>
                        </a:rPr>
                        <a:t>a</a:t>
                      </a:r>
                    </a:p>
                  </a:txBody>
                  <a:tcPr>
                    <a:solidFill>
                      <a:schemeClr val="accent6"/>
                    </a:solidFill>
                  </a:tcPr>
                </a:tc>
                <a:tc>
                  <a:txBody>
                    <a:bodyPr/>
                    <a:lstStyle/>
                    <a:p>
                      <a:pPr algn="ctr"/>
                      <a:r>
                        <a:rPr lang="en-DE" sz="2400" b="1" i="0" dirty="0">
                          <a:latin typeface="Arial Narrow" panose="020B0604020202020204" pitchFamily="34" charset="0"/>
                          <a:cs typeface="Arial Narrow" panose="020B0604020202020204" pitchFamily="34" charset="0"/>
                        </a:rPr>
                        <a:t>b</a:t>
                      </a:r>
                    </a:p>
                  </a:txBody>
                  <a:tcPr>
                    <a:solidFill>
                      <a:schemeClr val="accent6"/>
                    </a:solidFill>
                  </a:tcPr>
                </a:tc>
                <a:tc>
                  <a:txBody>
                    <a:bodyPr/>
                    <a:lstStyle/>
                    <a:p>
                      <a:pPr algn="ctr"/>
                      <a:r>
                        <a:rPr lang="en-DE" sz="2400" b="1" i="0" dirty="0">
                          <a:latin typeface="Arial Narrow" panose="020B0604020202020204" pitchFamily="34" charset="0"/>
                          <a:cs typeface="Arial Narrow" panose="020B0604020202020204" pitchFamily="34" charset="0"/>
                        </a:rPr>
                        <a:t>c</a:t>
                      </a:r>
                    </a:p>
                  </a:txBody>
                  <a:tcPr>
                    <a:solidFill>
                      <a:schemeClr val="accent6"/>
                    </a:solidFill>
                  </a:tcPr>
                </a:tc>
                <a:tc>
                  <a:txBody>
                    <a:bodyPr/>
                    <a:lstStyle/>
                    <a:p>
                      <a:pPr algn="ctr"/>
                      <a:r>
                        <a:rPr lang="en-DE" sz="2400" b="1" i="0" dirty="0">
                          <a:latin typeface="Arial Narrow" panose="020B0604020202020204" pitchFamily="34" charset="0"/>
                          <a:cs typeface="Arial Narrow" panose="020B0604020202020204" pitchFamily="34" charset="0"/>
                        </a:rPr>
                        <a:t>d</a:t>
                      </a:r>
                    </a:p>
                  </a:txBody>
                  <a:tcPr>
                    <a:solidFill>
                      <a:schemeClr val="accent6"/>
                    </a:solidFill>
                  </a:tcPr>
                </a:tc>
                <a:extLst>
                  <a:ext uri="{0D108BD9-81ED-4DB2-BD59-A6C34878D82A}">
                    <a16:rowId xmlns:a16="http://schemas.microsoft.com/office/drawing/2014/main" val="2392955628"/>
                  </a:ext>
                </a:extLst>
              </a:tr>
            </a:tbl>
          </a:graphicData>
        </a:graphic>
      </p:graphicFrame>
      <p:sp>
        <p:nvSpPr>
          <p:cNvPr id="3" name="TextBox 2">
            <a:extLst>
              <a:ext uri="{FF2B5EF4-FFF2-40B4-BE49-F238E27FC236}">
                <a16:creationId xmlns:a16="http://schemas.microsoft.com/office/drawing/2014/main" id="{9EC7C18B-40B8-CB03-83D0-6EF76086C752}"/>
              </a:ext>
            </a:extLst>
          </p:cNvPr>
          <p:cNvSpPr txBox="1"/>
          <p:nvPr/>
        </p:nvSpPr>
        <p:spPr>
          <a:xfrm>
            <a:off x="264001" y="6385692"/>
            <a:ext cx="385042" cy="707886"/>
          </a:xfrm>
          <a:prstGeom prst="rect">
            <a:avLst/>
          </a:prstGeom>
          <a:noFill/>
        </p:spPr>
        <p:txBody>
          <a:bodyPr wrap="none" rtlCol="0">
            <a:spAutoFit/>
          </a:bodyPr>
          <a:lstStyle>
            <a:defPPr>
              <a:defRPr lang="en-US"/>
            </a:defPPr>
            <a:lvl1pPr>
              <a:defRPr sz="4000"/>
            </a:lvl1pPr>
          </a:lstStyle>
          <a:p>
            <a:r>
              <a:rPr lang="en-DE" dirty="0"/>
              <a:t>s</a:t>
            </a:r>
          </a:p>
        </p:txBody>
      </p:sp>
      <p:graphicFrame>
        <p:nvGraphicFramePr>
          <p:cNvPr id="6" name="Table 5">
            <a:extLst>
              <a:ext uri="{FF2B5EF4-FFF2-40B4-BE49-F238E27FC236}">
                <a16:creationId xmlns:a16="http://schemas.microsoft.com/office/drawing/2014/main" id="{5EA12227-B0D3-4EAD-2455-E46D187DE5F0}"/>
              </a:ext>
            </a:extLst>
          </p:cNvPr>
          <p:cNvGraphicFramePr>
            <a:graphicFrameLocks noGrp="1"/>
          </p:cNvGraphicFramePr>
          <p:nvPr>
            <p:extLst>
              <p:ext uri="{D42A27DB-BD31-4B8C-83A1-F6EECF244321}">
                <p14:modId xmlns:p14="http://schemas.microsoft.com/office/powerpoint/2010/main" val="673093885"/>
              </p:ext>
            </p:extLst>
          </p:nvPr>
        </p:nvGraphicFramePr>
        <p:xfrm>
          <a:off x="1811867" y="8293877"/>
          <a:ext cx="7707580" cy="914400"/>
        </p:xfrm>
        <a:graphic>
          <a:graphicData uri="http://schemas.openxmlformats.org/drawingml/2006/table">
            <a:tbl>
              <a:tblPr firstRow="1" bandRow="1">
                <a:tableStyleId>{5C22544A-7EE6-4342-B048-85BDC9FD1C3A}</a:tableStyleId>
              </a:tblPr>
              <a:tblGrid>
                <a:gridCol w="1926895">
                  <a:extLst>
                    <a:ext uri="{9D8B030D-6E8A-4147-A177-3AD203B41FA5}">
                      <a16:colId xmlns:a16="http://schemas.microsoft.com/office/drawing/2014/main" val="2355591543"/>
                    </a:ext>
                  </a:extLst>
                </a:gridCol>
                <a:gridCol w="1926895">
                  <a:extLst>
                    <a:ext uri="{9D8B030D-6E8A-4147-A177-3AD203B41FA5}">
                      <a16:colId xmlns:a16="http://schemas.microsoft.com/office/drawing/2014/main" val="1690173566"/>
                    </a:ext>
                  </a:extLst>
                </a:gridCol>
                <a:gridCol w="1926895">
                  <a:extLst>
                    <a:ext uri="{9D8B030D-6E8A-4147-A177-3AD203B41FA5}">
                      <a16:colId xmlns:a16="http://schemas.microsoft.com/office/drawing/2014/main" val="434348016"/>
                    </a:ext>
                  </a:extLst>
                </a:gridCol>
                <a:gridCol w="1926895">
                  <a:extLst>
                    <a:ext uri="{9D8B030D-6E8A-4147-A177-3AD203B41FA5}">
                      <a16:colId xmlns:a16="http://schemas.microsoft.com/office/drawing/2014/main" val="1805346127"/>
                    </a:ext>
                  </a:extLst>
                </a:gridCol>
              </a:tblGrid>
              <a:tr h="370840">
                <a:tc>
                  <a:txBody>
                    <a:bodyPr/>
                    <a:lstStyle/>
                    <a:p>
                      <a:pPr algn="ctr"/>
                      <a:r>
                        <a:rPr lang="en-DE" sz="2400" b="1" i="0" dirty="0">
                          <a:latin typeface="Arial Narrow" panose="020B0604020202020204" pitchFamily="34" charset="0"/>
                          <a:cs typeface="Arial Narrow" panose="020B0604020202020204" pitchFamily="34" charset="0"/>
                        </a:rPr>
                        <a:t>0</a:t>
                      </a:r>
                    </a:p>
                  </a:txBody>
                  <a:tcPr/>
                </a:tc>
                <a:tc>
                  <a:txBody>
                    <a:bodyPr/>
                    <a:lstStyle/>
                    <a:p>
                      <a:pPr algn="ctr"/>
                      <a:r>
                        <a:rPr lang="en-DE" sz="2400" b="1" i="0" dirty="0">
                          <a:latin typeface="Arial Narrow" panose="020B0604020202020204" pitchFamily="34" charset="0"/>
                          <a:cs typeface="Arial Narrow" panose="020B0604020202020204" pitchFamily="34" charset="0"/>
                        </a:rPr>
                        <a:t>1</a:t>
                      </a:r>
                    </a:p>
                  </a:txBody>
                  <a:tcPr/>
                </a:tc>
                <a:tc>
                  <a:txBody>
                    <a:bodyPr/>
                    <a:lstStyle/>
                    <a:p>
                      <a:pPr algn="ctr"/>
                      <a:r>
                        <a:rPr lang="en-DE" sz="2400" b="1" i="0" dirty="0">
                          <a:latin typeface="Arial Narrow" panose="020B0604020202020204" pitchFamily="34" charset="0"/>
                          <a:cs typeface="Arial Narrow" panose="020B0604020202020204" pitchFamily="34" charset="0"/>
                        </a:rPr>
                        <a:t>2</a:t>
                      </a:r>
                    </a:p>
                  </a:txBody>
                  <a:tcPr/>
                </a:tc>
                <a:tc>
                  <a:txBody>
                    <a:bodyPr/>
                    <a:lstStyle/>
                    <a:p>
                      <a:pPr algn="ctr"/>
                      <a:r>
                        <a:rPr lang="en-DE" sz="2400" b="1" i="0" dirty="0">
                          <a:latin typeface="Arial Narrow" panose="020B0604020202020204" pitchFamily="34" charset="0"/>
                          <a:cs typeface="Arial Narrow" panose="020B0604020202020204" pitchFamily="34" charset="0"/>
                        </a:rPr>
                        <a:t>3</a:t>
                      </a:r>
                    </a:p>
                  </a:txBody>
                  <a:tcPr/>
                </a:tc>
                <a:extLst>
                  <a:ext uri="{0D108BD9-81ED-4DB2-BD59-A6C34878D82A}">
                    <a16:rowId xmlns:a16="http://schemas.microsoft.com/office/drawing/2014/main" val="3813841085"/>
                  </a:ext>
                </a:extLst>
              </a:tr>
              <a:tr h="370840">
                <a:tc>
                  <a:txBody>
                    <a:bodyPr/>
                    <a:lstStyle/>
                    <a:p>
                      <a:pPr algn="ctr"/>
                      <a:r>
                        <a:rPr lang="en-DE" sz="2400" b="1" i="0" dirty="0">
                          <a:latin typeface="Arial Narrow" panose="020B0604020202020204" pitchFamily="34" charset="0"/>
                          <a:cs typeface="Arial Narrow" panose="020B0604020202020204" pitchFamily="34" charset="0"/>
                        </a:rPr>
                        <a:t>a</a:t>
                      </a:r>
                    </a:p>
                  </a:txBody>
                  <a:tcPr/>
                </a:tc>
                <a:tc>
                  <a:txBody>
                    <a:bodyPr/>
                    <a:lstStyle/>
                    <a:p>
                      <a:pPr algn="ctr"/>
                      <a:r>
                        <a:rPr lang="en-DE" sz="2400" b="1" i="0" dirty="0">
                          <a:latin typeface="Arial Narrow" panose="020B0604020202020204" pitchFamily="34" charset="0"/>
                          <a:cs typeface="Arial Narrow" panose="020B0604020202020204" pitchFamily="34" charset="0"/>
                        </a:rPr>
                        <a:t>b</a:t>
                      </a:r>
                    </a:p>
                  </a:txBody>
                  <a:tcPr>
                    <a:solidFill>
                      <a:schemeClr val="accent6"/>
                    </a:solidFill>
                  </a:tcPr>
                </a:tc>
                <a:tc>
                  <a:txBody>
                    <a:bodyPr/>
                    <a:lstStyle/>
                    <a:p>
                      <a:pPr algn="ctr"/>
                      <a:r>
                        <a:rPr lang="en-DE" sz="2400" b="1" i="0" dirty="0">
                          <a:latin typeface="Arial Narrow" panose="020B0604020202020204" pitchFamily="34" charset="0"/>
                          <a:cs typeface="Arial Narrow" panose="020B0604020202020204" pitchFamily="34" charset="0"/>
                        </a:rPr>
                        <a:t>c</a:t>
                      </a:r>
                    </a:p>
                  </a:txBody>
                  <a:tcPr>
                    <a:solidFill>
                      <a:schemeClr val="accent6"/>
                    </a:solidFill>
                  </a:tcPr>
                </a:tc>
                <a:tc>
                  <a:txBody>
                    <a:bodyPr/>
                    <a:lstStyle/>
                    <a:p>
                      <a:pPr algn="ctr"/>
                      <a:r>
                        <a:rPr lang="en-DE" sz="2400" b="1" i="0" dirty="0">
                          <a:latin typeface="Arial Narrow" panose="020B0604020202020204" pitchFamily="34" charset="0"/>
                          <a:cs typeface="Arial Narrow" panose="020B0604020202020204" pitchFamily="34" charset="0"/>
                        </a:rPr>
                        <a:t>d</a:t>
                      </a:r>
                    </a:p>
                  </a:txBody>
                  <a:tcPr>
                    <a:solidFill>
                      <a:schemeClr val="accent6"/>
                    </a:solidFill>
                  </a:tcPr>
                </a:tc>
                <a:extLst>
                  <a:ext uri="{0D108BD9-81ED-4DB2-BD59-A6C34878D82A}">
                    <a16:rowId xmlns:a16="http://schemas.microsoft.com/office/drawing/2014/main" val="2392955628"/>
                  </a:ext>
                </a:extLst>
              </a:tr>
            </a:tbl>
          </a:graphicData>
        </a:graphic>
      </p:graphicFrame>
      <p:sp>
        <p:nvSpPr>
          <p:cNvPr id="10" name="TextBox 9">
            <a:extLst>
              <a:ext uri="{FF2B5EF4-FFF2-40B4-BE49-F238E27FC236}">
                <a16:creationId xmlns:a16="http://schemas.microsoft.com/office/drawing/2014/main" id="{941E6B91-5F6A-233B-FDBA-EA6FC517D39C}"/>
              </a:ext>
            </a:extLst>
          </p:cNvPr>
          <p:cNvSpPr txBox="1"/>
          <p:nvPr/>
        </p:nvSpPr>
        <p:spPr>
          <a:xfrm>
            <a:off x="264001" y="8398026"/>
            <a:ext cx="1356462" cy="707886"/>
          </a:xfrm>
          <a:prstGeom prst="rect">
            <a:avLst/>
          </a:prstGeom>
          <a:noFill/>
        </p:spPr>
        <p:txBody>
          <a:bodyPr wrap="none" rtlCol="0">
            <a:spAutoFit/>
          </a:bodyPr>
          <a:lstStyle/>
          <a:p>
            <a:pPr algn="l"/>
            <a:r>
              <a:rPr lang="en-GB" sz="4000" dirty="0"/>
              <a:t>s</a:t>
            </a:r>
            <a:r>
              <a:rPr lang="en-DE" sz="4000" dirty="0"/>
              <a:t>[1:4]</a:t>
            </a:r>
          </a:p>
        </p:txBody>
      </p:sp>
      <p:graphicFrame>
        <p:nvGraphicFramePr>
          <p:cNvPr id="14" name="Table 13">
            <a:extLst>
              <a:ext uri="{FF2B5EF4-FFF2-40B4-BE49-F238E27FC236}">
                <a16:creationId xmlns:a16="http://schemas.microsoft.com/office/drawing/2014/main" id="{1A471107-A872-A42B-489F-E96C66AA901D}"/>
              </a:ext>
            </a:extLst>
          </p:cNvPr>
          <p:cNvGraphicFramePr>
            <a:graphicFrameLocks noGrp="1"/>
          </p:cNvGraphicFramePr>
          <p:nvPr>
            <p:extLst>
              <p:ext uri="{D42A27DB-BD31-4B8C-83A1-F6EECF244321}">
                <p14:modId xmlns:p14="http://schemas.microsoft.com/office/powerpoint/2010/main" val="4259096670"/>
              </p:ext>
            </p:extLst>
          </p:nvPr>
        </p:nvGraphicFramePr>
        <p:xfrm>
          <a:off x="1761066" y="10202062"/>
          <a:ext cx="7707580" cy="914400"/>
        </p:xfrm>
        <a:graphic>
          <a:graphicData uri="http://schemas.openxmlformats.org/drawingml/2006/table">
            <a:tbl>
              <a:tblPr firstRow="1" bandRow="1">
                <a:tableStyleId>{5C22544A-7EE6-4342-B048-85BDC9FD1C3A}</a:tableStyleId>
              </a:tblPr>
              <a:tblGrid>
                <a:gridCol w="1926895">
                  <a:extLst>
                    <a:ext uri="{9D8B030D-6E8A-4147-A177-3AD203B41FA5}">
                      <a16:colId xmlns:a16="http://schemas.microsoft.com/office/drawing/2014/main" val="2355591543"/>
                    </a:ext>
                  </a:extLst>
                </a:gridCol>
                <a:gridCol w="1926895">
                  <a:extLst>
                    <a:ext uri="{9D8B030D-6E8A-4147-A177-3AD203B41FA5}">
                      <a16:colId xmlns:a16="http://schemas.microsoft.com/office/drawing/2014/main" val="1690173566"/>
                    </a:ext>
                  </a:extLst>
                </a:gridCol>
                <a:gridCol w="1926895">
                  <a:extLst>
                    <a:ext uri="{9D8B030D-6E8A-4147-A177-3AD203B41FA5}">
                      <a16:colId xmlns:a16="http://schemas.microsoft.com/office/drawing/2014/main" val="434348016"/>
                    </a:ext>
                  </a:extLst>
                </a:gridCol>
                <a:gridCol w="1926895">
                  <a:extLst>
                    <a:ext uri="{9D8B030D-6E8A-4147-A177-3AD203B41FA5}">
                      <a16:colId xmlns:a16="http://schemas.microsoft.com/office/drawing/2014/main" val="1805346127"/>
                    </a:ext>
                  </a:extLst>
                </a:gridCol>
              </a:tblGrid>
              <a:tr h="370840">
                <a:tc>
                  <a:txBody>
                    <a:bodyPr/>
                    <a:lstStyle/>
                    <a:p>
                      <a:pPr algn="ctr"/>
                      <a:r>
                        <a:rPr lang="en-DE" sz="2400" b="1" i="0" dirty="0">
                          <a:latin typeface="Arial Narrow" panose="020B0604020202020204" pitchFamily="34" charset="0"/>
                          <a:cs typeface="Arial Narrow" panose="020B0604020202020204" pitchFamily="34" charset="0"/>
                        </a:rPr>
                        <a:t>0</a:t>
                      </a:r>
                    </a:p>
                  </a:txBody>
                  <a:tcPr/>
                </a:tc>
                <a:tc>
                  <a:txBody>
                    <a:bodyPr/>
                    <a:lstStyle/>
                    <a:p>
                      <a:pPr algn="ctr"/>
                      <a:r>
                        <a:rPr lang="en-DE" sz="2400" b="1" i="0" dirty="0">
                          <a:latin typeface="Arial Narrow" panose="020B0604020202020204" pitchFamily="34" charset="0"/>
                          <a:cs typeface="Arial Narrow" panose="020B0604020202020204" pitchFamily="34" charset="0"/>
                        </a:rPr>
                        <a:t>1</a:t>
                      </a:r>
                    </a:p>
                  </a:txBody>
                  <a:tcPr/>
                </a:tc>
                <a:tc>
                  <a:txBody>
                    <a:bodyPr/>
                    <a:lstStyle/>
                    <a:p>
                      <a:pPr algn="ctr"/>
                      <a:r>
                        <a:rPr lang="en-DE" sz="2400" b="1" i="0" dirty="0">
                          <a:latin typeface="Arial Narrow" panose="020B0604020202020204" pitchFamily="34" charset="0"/>
                          <a:cs typeface="Arial Narrow" panose="020B0604020202020204" pitchFamily="34" charset="0"/>
                        </a:rPr>
                        <a:t>2</a:t>
                      </a:r>
                    </a:p>
                  </a:txBody>
                  <a:tcPr/>
                </a:tc>
                <a:tc>
                  <a:txBody>
                    <a:bodyPr/>
                    <a:lstStyle/>
                    <a:p>
                      <a:pPr algn="ctr"/>
                      <a:r>
                        <a:rPr lang="en-DE" sz="2400" b="1" i="0" dirty="0">
                          <a:latin typeface="Arial Narrow" panose="020B0604020202020204" pitchFamily="34" charset="0"/>
                          <a:cs typeface="Arial Narrow" panose="020B0604020202020204" pitchFamily="34" charset="0"/>
                        </a:rPr>
                        <a:t>3</a:t>
                      </a:r>
                    </a:p>
                  </a:txBody>
                  <a:tcPr/>
                </a:tc>
                <a:extLst>
                  <a:ext uri="{0D108BD9-81ED-4DB2-BD59-A6C34878D82A}">
                    <a16:rowId xmlns:a16="http://schemas.microsoft.com/office/drawing/2014/main" val="3813841085"/>
                  </a:ext>
                </a:extLst>
              </a:tr>
              <a:tr h="370840">
                <a:tc>
                  <a:txBody>
                    <a:bodyPr/>
                    <a:lstStyle/>
                    <a:p>
                      <a:pPr algn="ctr"/>
                      <a:r>
                        <a:rPr lang="en-DE" sz="2400" b="1" i="0" dirty="0">
                          <a:latin typeface="Arial Narrow" panose="020B0604020202020204" pitchFamily="34" charset="0"/>
                          <a:cs typeface="Arial Narrow" panose="020B0604020202020204" pitchFamily="34" charset="0"/>
                        </a:rPr>
                        <a:t>a</a:t>
                      </a:r>
                    </a:p>
                  </a:txBody>
                  <a:tcPr>
                    <a:solidFill>
                      <a:schemeClr val="accent6"/>
                    </a:solidFill>
                  </a:tcPr>
                </a:tc>
                <a:tc>
                  <a:txBody>
                    <a:bodyPr/>
                    <a:lstStyle/>
                    <a:p>
                      <a:pPr algn="ctr"/>
                      <a:r>
                        <a:rPr lang="en-DE" sz="2400" b="1" i="0" dirty="0">
                          <a:latin typeface="Arial Narrow" panose="020B0604020202020204" pitchFamily="34" charset="0"/>
                          <a:cs typeface="Arial Narrow" panose="020B0604020202020204" pitchFamily="34" charset="0"/>
                        </a:rPr>
                        <a:t>b</a:t>
                      </a:r>
                    </a:p>
                  </a:txBody>
                  <a:tcPr>
                    <a:solidFill>
                      <a:schemeClr val="accent6"/>
                    </a:solidFill>
                  </a:tcPr>
                </a:tc>
                <a:tc>
                  <a:txBody>
                    <a:bodyPr/>
                    <a:lstStyle/>
                    <a:p>
                      <a:pPr algn="ctr"/>
                      <a:r>
                        <a:rPr lang="en-DE" sz="2400" b="1" i="0" dirty="0">
                          <a:latin typeface="Arial Narrow" panose="020B0604020202020204" pitchFamily="34" charset="0"/>
                          <a:cs typeface="Arial Narrow" panose="020B0604020202020204" pitchFamily="34" charset="0"/>
                        </a:rPr>
                        <a:t>c</a:t>
                      </a:r>
                    </a:p>
                  </a:txBody>
                  <a:tcPr>
                    <a:solidFill>
                      <a:schemeClr val="accent6"/>
                    </a:solidFill>
                  </a:tcPr>
                </a:tc>
                <a:tc>
                  <a:txBody>
                    <a:bodyPr/>
                    <a:lstStyle/>
                    <a:p>
                      <a:pPr algn="ctr"/>
                      <a:r>
                        <a:rPr lang="en-DE" sz="2400" b="1" i="0" dirty="0">
                          <a:latin typeface="Arial Narrow" panose="020B0604020202020204" pitchFamily="34" charset="0"/>
                          <a:cs typeface="Arial Narrow" panose="020B0604020202020204" pitchFamily="34" charset="0"/>
                        </a:rPr>
                        <a:t>d</a:t>
                      </a:r>
                    </a:p>
                  </a:txBody>
                  <a:tcPr/>
                </a:tc>
                <a:extLst>
                  <a:ext uri="{0D108BD9-81ED-4DB2-BD59-A6C34878D82A}">
                    <a16:rowId xmlns:a16="http://schemas.microsoft.com/office/drawing/2014/main" val="2392955628"/>
                  </a:ext>
                </a:extLst>
              </a:tr>
            </a:tbl>
          </a:graphicData>
        </a:graphic>
      </p:graphicFrame>
      <p:sp>
        <p:nvSpPr>
          <p:cNvPr id="15" name="TextBox 14">
            <a:extLst>
              <a:ext uri="{FF2B5EF4-FFF2-40B4-BE49-F238E27FC236}">
                <a16:creationId xmlns:a16="http://schemas.microsoft.com/office/drawing/2014/main" id="{036D95CF-C1B8-4D7B-AEC7-FC07FF6C3E70}"/>
              </a:ext>
            </a:extLst>
          </p:cNvPr>
          <p:cNvSpPr txBox="1"/>
          <p:nvPr/>
        </p:nvSpPr>
        <p:spPr>
          <a:xfrm>
            <a:off x="264001" y="10324973"/>
            <a:ext cx="1096775" cy="707886"/>
          </a:xfrm>
          <a:prstGeom prst="rect">
            <a:avLst/>
          </a:prstGeom>
          <a:noFill/>
        </p:spPr>
        <p:txBody>
          <a:bodyPr wrap="none" rtlCol="0">
            <a:spAutoFit/>
          </a:bodyPr>
          <a:lstStyle>
            <a:defPPr>
              <a:defRPr lang="en-US"/>
            </a:defPPr>
            <a:lvl1pPr>
              <a:defRPr sz="4000"/>
            </a:lvl1pPr>
          </a:lstStyle>
          <a:p>
            <a:r>
              <a:rPr lang="en-GB" dirty="0"/>
              <a:t>s[:3]</a:t>
            </a:r>
          </a:p>
        </p:txBody>
      </p:sp>
      <p:graphicFrame>
        <p:nvGraphicFramePr>
          <p:cNvPr id="16" name="Table 15">
            <a:extLst>
              <a:ext uri="{FF2B5EF4-FFF2-40B4-BE49-F238E27FC236}">
                <a16:creationId xmlns:a16="http://schemas.microsoft.com/office/drawing/2014/main" id="{029C5998-E146-9CFA-A09E-D1126D665C8D}"/>
              </a:ext>
            </a:extLst>
          </p:cNvPr>
          <p:cNvGraphicFramePr>
            <a:graphicFrameLocks noGrp="1"/>
          </p:cNvGraphicFramePr>
          <p:nvPr>
            <p:extLst>
              <p:ext uri="{D42A27DB-BD31-4B8C-83A1-F6EECF244321}">
                <p14:modId xmlns:p14="http://schemas.microsoft.com/office/powerpoint/2010/main" val="1356480996"/>
              </p:ext>
            </p:extLst>
          </p:nvPr>
        </p:nvGraphicFramePr>
        <p:xfrm>
          <a:off x="1761066" y="12110247"/>
          <a:ext cx="7707580" cy="914400"/>
        </p:xfrm>
        <a:graphic>
          <a:graphicData uri="http://schemas.openxmlformats.org/drawingml/2006/table">
            <a:tbl>
              <a:tblPr firstRow="1" bandRow="1">
                <a:tableStyleId>{5C22544A-7EE6-4342-B048-85BDC9FD1C3A}</a:tableStyleId>
              </a:tblPr>
              <a:tblGrid>
                <a:gridCol w="1926895">
                  <a:extLst>
                    <a:ext uri="{9D8B030D-6E8A-4147-A177-3AD203B41FA5}">
                      <a16:colId xmlns:a16="http://schemas.microsoft.com/office/drawing/2014/main" val="2355591543"/>
                    </a:ext>
                  </a:extLst>
                </a:gridCol>
                <a:gridCol w="1926895">
                  <a:extLst>
                    <a:ext uri="{9D8B030D-6E8A-4147-A177-3AD203B41FA5}">
                      <a16:colId xmlns:a16="http://schemas.microsoft.com/office/drawing/2014/main" val="1690173566"/>
                    </a:ext>
                  </a:extLst>
                </a:gridCol>
                <a:gridCol w="1926895">
                  <a:extLst>
                    <a:ext uri="{9D8B030D-6E8A-4147-A177-3AD203B41FA5}">
                      <a16:colId xmlns:a16="http://schemas.microsoft.com/office/drawing/2014/main" val="434348016"/>
                    </a:ext>
                  </a:extLst>
                </a:gridCol>
                <a:gridCol w="1926895">
                  <a:extLst>
                    <a:ext uri="{9D8B030D-6E8A-4147-A177-3AD203B41FA5}">
                      <a16:colId xmlns:a16="http://schemas.microsoft.com/office/drawing/2014/main" val="1805346127"/>
                    </a:ext>
                  </a:extLst>
                </a:gridCol>
              </a:tblGrid>
              <a:tr h="370840">
                <a:tc>
                  <a:txBody>
                    <a:bodyPr/>
                    <a:lstStyle/>
                    <a:p>
                      <a:pPr algn="ctr"/>
                      <a:r>
                        <a:rPr lang="en-DE" sz="2400" b="1" i="0" dirty="0">
                          <a:latin typeface="Arial Narrow" panose="020B0604020202020204" pitchFamily="34" charset="0"/>
                          <a:cs typeface="Arial Narrow" panose="020B0604020202020204" pitchFamily="34" charset="0"/>
                        </a:rPr>
                        <a:t>0</a:t>
                      </a:r>
                    </a:p>
                  </a:txBody>
                  <a:tcPr/>
                </a:tc>
                <a:tc>
                  <a:txBody>
                    <a:bodyPr/>
                    <a:lstStyle/>
                    <a:p>
                      <a:pPr algn="ctr"/>
                      <a:r>
                        <a:rPr lang="en-DE" sz="2400" b="1" i="0" dirty="0">
                          <a:latin typeface="Arial Narrow" panose="020B0604020202020204" pitchFamily="34" charset="0"/>
                          <a:cs typeface="Arial Narrow" panose="020B0604020202020204" pitchFamily="34" charset="0"/>
                        </a:rPr>
                        <a:t>1</a:t>
                      </a:r>
                    </a:p>
                  </a:txBody>
                  <a:tcPr/>
                </a:tc>
                <a:tc>
                  <a:txBody>
                    <a:bodyPr/>
                    <a:lstStyle/>
                    <a:p>
                      <a:pPr algn="ctr"/>
                      <a:r>
                        <a:rPr lang="en-DE" sz="2400" b="1" i="0" dirty="0">
                          <a:latin typeface="Arial Narrow" panose="020B0604020202020204" pitchFamily="34" charset="0"/>
                          <a:cs typeface="Arial Narrow" panose="020B0604020202020204" pitchFamily="34" charset="0"/>
                        </a:rPr>
                        <a:t>2</a:t>
                      </a:r>
                    </a:p>
                  </a:txBody>
                  <a:tcPr/>
                </a:tc>
                <a:tc>
                  <a:txBody>
                    <a:bodyPr/>
                    <a:lstStyle/>
                    <a:p>
                      <a:pPr algn="ctr"/>
                      <a:r>
                        <a:rPr lang="en-DE" sz="2400" b="1" i="0" dirty="0">
                          <a:latin typeface="Arial Narrow" panose="020B0604020202020204" pitchFamily="34" charset="0"/>
                          <a:cs typeface="Arial Narrow" panose="020B0604020202020204" pitchFamily="34" charset="0"/>
                        </a:rPr>
                        <a:t>3</a:t>
                      </a:r>
                    </a:p>
                  </a:txBody>
                  <a:tcPr/>
                </a:tc>
                <a:extLst>
                  <a:ext uri="{0D108BD9-81ED-4DB2-BD59-A6C34878D82A}">
                    <a16:rowId xmlns:a16="http://schemas.microsoft.com/office/drawing/2014/main" val="3813841085"/>
                  </a:ext>
                </a:extLst>
              </a:tr>
              <a:tr h="370840">
                <a:tc>
                  <a:txBody>
                    <a:bodyPr/>
                    <a:lstStyle/>
                    <a:p>
                      <a:pPr algn="ctr"/>
                      <a:r>
                        <a:rPr lang="en-DE" sz="2400" b="1" i="0" dirty="0">
                          <a:latin typeface="Arial Narrow" panose="020B0604020202020204" pitchFamily="34" charset="0"/>
                          <a:cs typeface="Arial Narrow" panose="020B0604020202020204" pitchFamily="34" charset="0"/>
                        </a:rPr>
                        <a:t>a</a:t>
                      </a:r>
                    </a:p>
                  </a:txBody>
                  <a:tcPr/>
                </a:tc>
                <a:tc>
                  <a:txBody>
                    <a:bodyPr/>
                    <a:lstStyle/>
                    <a:p>
                      <a:pPr algn="ctr"/>
                      <a:r>
                        <a:rPr lang="en-DE" sz="2400" b="1" i="0" dirty="0">
                          <a:latin typeface="Arial Narrow" panose="020B0604020202020204" pitchFamily="34" charset="0"/>
                          <a:cs typeface="Arial Narrow" panose="020B0604020202020204" pitchFamily="34" charset="0"/>
                        </a:rPr>
                        <a:t>b</a:t>
                      </a:r>
                    </a:p>
                  </a:txBody>
                  <a:tcPr/>
                </a:tc>
                <a:tc>
                  <a:txBody>
                    <a:bodyPr/>
                    <a:lstStyle/>
                    <a:p>
                      <a:pPr algn="ctr"/>
                      <a:r>
                        <a:rPr lang="en-DE" sz="2400" b="1" i="0" dirty="0">
                          <a:latin typeface="Arial Narrow" panose="020B0604020202020204" pitchFamily="34" charset="0"/>
                          <a:cs typeface="Arial Narrow" panose="020B0604020202020204" pitchFamily="34" charset="0"/>
                        </a:rPr>
                        <a:t>c</a:t>
                      </a:r>
                    </a:p>
                  </a:txBody>
                  <a:tcPr/>
                </a:tc>
                <a:tc>
                  <a:txBody>
                    <a:bodyPr/>
                    <a:lstStyle/>
                    <a:p>
                      <a:pPr algn="ctr"/>
                      <a:r>
                        <a:rPr lang="en-DE" sz="2400" b="1" i="0" dirty="0">
                          <a:latin typeface="Arial Narrow" panose="020B0604020202020204" pitchFamily="34" charset="0"/>
                          <a:cs typeface="Arial Narrow" panose="020B0604020202020204" pitchFamily="34" charset="0"/>
                        </a:rPr>
                        <a:t>d</a:t>
                      </a:r>
                    </a:p>
                  </a:txBody>
                  <a:tcPr>
                    <a:solidFill>
                      <a:schemeClr val="accent6"/>
                    </a:solidFill>
                  </a:tcPr>
                </a:tc>
                <a:extLst>
                  <a:ext uri="{0D108BD9-81ED-4DB2-BD59-A6C34878D82A}">
                    <a16:rowId xmlns:a16="http://schemas.microsoft.com/office/drawing/2014/main" val="2392955628"/>
                  </a:ext>
                </a:extLst>
              </a:tr>
            </a:tbl>
          </a:graphicData>
        </a:graphic>
      </p:graphicFrame>
      <p:sp>
        <p:nvSpPr>
          <p:cNvPr id="20" name="TextBox 19">
            <a:extLst>
              <a:ext uri="{FF2B5EF4-FFF2-40B4-BE49-F238E27FC236}">
                <a16:creationId xmlns:a16="http://schemas.microsoft.com/office/drawing/2014/main" id="{24D32C7C-558D-FC12-F2CF-5C8EF5D6F8AF}"/>
              </a:ext>
            </a:extLst>
          </p:cNvPr>
          <p:cNvSpPr txBox="1"/>
          <p:nvPr/>
        </p:nvSpPr>
        <p:spPr>
          <a:xfrm>
            <a:off x="264001" y="12223918"/>
            <a:ext cx="1096775" cy="707886"/>
          </a:xfrm>
          <a:prstGeom prst="rect">
            <a:avLst/>
          </a:prstGeom>
          <a:noFill/>
        </p:spPr>
        <p:txBody>
          <a:bodyPr wrap="none" rtlCol="0">
            <a:spAutoFit/>
          </a:bodyPr>
          <a:lstStyle>
            <a:defPPr>
              <a:defRPr lang="en-US"/>
            </a:defPPr>
            <a:lvl1pPr>
              <a:defRPr sz="4000"/>
            </a:lvl1pPr>
          </a:lstStyle>
          <a:p>
            <a:r>
              <a:rPr lang="en-GB" dirty="0"/>
              <a:t>s[3:]</a:t>
            </a:r>
          </a:p>
        </p:txBody>
      </p:sp>
      <p:graphicFrame>
        <p:nvGraphicFramePr>
          <p:cNvPr id="21" name="Table 20">
            <a:extLst>
              <a:ext uri="{FF2B5EF4-FFF2-40B4-BE49-F238E27FC236}">
                <a16:creationId xmlns:a16="http://schemas.microsoft.com/office/drawing/2014/main" id="{1E638342-6156-9971-60AF-11EF27422642}"/>
              </a:ext>
            </a:extLst>
          </p:cNvPr>
          <p:cNvGraphicFramePr>
            <a:graphicFrameLocks noGrp="1"/>
          </p:cNvGraphicFramePr>
          <p:nvPr>
            <p:extLst>
              <p:ext uri="{D42A27DB-BD31-4B8C-83A1-F6EECF244321}">
                <p14:modId xmlns:p14="http://schemas.microsoft.com/office/powerpoint/2010/main" val="1115857156"/>
              </p:ext>
            </p:extLst>
          </p:nvPr>
        </p:nvGraphicFramePr>
        <p:xfrm>
          <a:off x="1727200" y="14018433"/>
          <a:ext cx="7707580" cy="914400"/>
        </p:xfrm>
        <a:graphic>
          <a:graphicData uri="http://schemas.openxmlformats.org/drawingml/2006/table">
            <a:tbl>
              <a:tblPr firstRow="1" bandRow="1">
                <a:tableStyleId>{5C22544A-7EE6-4342-B048-85BDC9FD1C3A}</a:tableStyleId>
              </a:tblPr>
              <a:tblGrid>
                <a:gridCol w="1926895">
                  <a:extLst>
                    <a:ext uri="{9D8B030D-6E8A-4147-A177-3AD203B41FA5}">
                      <a16:colId xmlns:a16="http://schemas.microsoft.com/office/drawing/2014/main" val="2355591543"/>
                    </a:ext>
                  </a:extLst>
                </a:gridCol>
                <a:gridCol w="1926895">
                  <a:extLst>
                    <a:ext uri="{9D8B030D-6E8A-4147-A177-3AD203B41FA5}">
                      <a16:colId xmlns:a16="http://schemas.microsoft.com/office/drawing/2014/main" val="1690173566"/>
                    </a:ext>
                  </a:extLst>
                </a:gridCol>
                <a:gridCol w="1926895">
                  <a:extLst>
                    <a:ext uri="{9D8B030D-6E8A-4147-A177-3AD203B41FA5}">
                      <a16:colId xmlns:a16="http://schemas.microsoft.com/office/drawing/2014/main" val="434348016"/>
                    </a:ext>
                  </a:extLst>
                </a:gridCol>
                <a:gridCol w="1926895">
                  <a:extLst>
                    <a:ext uri="{9D8B030D-6E8A-4147-A177-3AD203B41FA5}">
                      <a16:colId xmlns:a16="http://schemas.microsoft.com/office/drawing/2014/main" val="1805346127"/>
                    </a:ext>
                  </a:extLst>
                </a:gridCol>
              </a:tblGrid>
              <a:tr h="370840">
                <a:tc>
                  <a:txBody>
                    <a:bodyPr/>
                    <a:lstStyle/>
                    <a:p>
                      <a:pPr algn="ctr"/>
                      <a:r>
                        <a:rPr lang="en-DE" sz="2400" b="1" i="0" dirty="0">
                          <a:latin typeface="Arial Narrow" panose="020B0604020202020204" pitchFamily="34" charset="0"/>
                          <a:cs typeface="Arial Narrow" panose="020B0604020202020204" pitchFamily="34" charset="0"/>
                        </a:rPr>
                        <a:t>0</a:t>
                      </a:r>
                    </a:p>
                  </a:txBody>
                  <a:tcPr/>
                </a:tc>
                <a:tc>
                  <a:txBody>
                    <a:bodyPr/>
                    <a:lstStyle/>
                    <a:p>
                      <a:pPr algn="ctr"/>
                      <a:r>
                        <a:rPr lang="en-DE" sz="2400" b="1" i="0" dirty="0">
                          <a:latin typeface="Arial Narrow" panose="020B0604020202020204" pitchFamily="34" charset="0"/>
                          <a:cs typeface="Arial Narrow" panose="020B0604020202020204" pitchFamily="34" charset="0"/>
                        </a:rPr>
                        <a:t>1</a:t>
                      </a:r>
                    </a:p>
                  </a:txBody>
                  <a:tcPr/>
                </a:tc>
                <a:tc>
                  <a:txBody>
                    <a:bodyPr/>
                    <a:lstStyle/>
                    <a:p>
                      <a:pPr algn="ctr"/>
                      <a:r>
                        <a:rPr lang="en-DE" sz="2400" b="1" i="0" dirty="0">
                          <a:latin typeface="Arial Narrow" panose="020B0604020202020204" pitchFamily="34" charset="0"/>
                          <a:cs typeface="Arial Narrow" panose="020B0604020202020204" pitchFamily="34" charset="0"/>
                        </a:rPr>
                        <a:t>2</a:t>
                      </a:r>
                    </a:p>
                  </a:txBody>
                  <a:tcPr/>
                </a:tc>
                <a:tc>
                  <a:txBody>
                    <a:bodyPr/>
                    <a:lstStyle/>
                    <a:p>
                      <a:pPr algn="ctr"/>
                      <a:r>
                        <a:rPr lang="en-DE" sz="2400" b="1" i="0" dirty="0">
                          <a:latin typeface="Arial Narrow" panose="020B0604020202020204" pitchFamily="34" charset="0"/>
                          <a:cs typeface="Arial Narrow" panose="020B0604020202020204" pitchFamily="34" charset="0"/>
                        </a:rPr>
                        <a:t>3</a:t>
                      </a:r>
                    </a:p>
                  </a:txBody>
                  <a:tcPr/>
                </a:tc>
                <a:extLst>
                  <a:ext uri="{0D108BD9-81ED-4DB2-BD59-A6C34878D82A}">
                    <a16:rowId xmlns:a16="http://schemas.microsoft.com/office/drawing/2014/main" val="3813841085"/>
                  </a:ext>
                </a:extLst>
              </a:tr>
              <a:tr h="370840">
                <a:tc>
                  <a:txBody>
                    <a:bodyPr/>
                    <a:lstStyle/>
                    <a:p>
                      <a:pPr algn="ctr"/>
                      <a:r>
                        <a:rPr lang="en-DE" sz="2400" b="1" i="0" dirty="0">
                          <a:latin typeface="Arial Narrow" panose="020B0604020202020204" pitchFamily="34" charset="0"/>
                          <a:cs typeface="Arial Narrow" panose="020B0604020202020204" pitchFamily="34" charset="0"/>
                        </a:rPr>
                        <a:t>d</a:t>
                      </a:r>
                    </a:p>
                  </a:txBody>
                  <a:tcPr>
                    <a:solidFill>
                      <a:schemeClr val="accent6"/>
                    </a:solidFill>
                  </a:tcPr>
                </a:tc>
                <a:tc>
                  <a:txBody>
                    <a:bodyPr/>
                    <a:lstStyle/>
                    <a:p>
                      <a:pPr algn="ctr"/>
                      <a:r>
                        <a:rPr lang="en-DE" sz="2400" b="1" i="0" dirty="0">
                          <a:latin typeface="Arial Narrow" panose="020B0604020202020204" pitchFamily="34" charset="0"/>
                          <a:cs typeface="Arial Narrow" panose="020B0604020202020204" pitchFamily="34" charset="0"/>
                        </a:rPr>
                        <a:t>c</a:t>
                      </a:r>
                    </a:p>
                  </a:txBody>
                  <a:tcPr>
                    <a:solidFill>
                      <a:schemeClr val="accent6"/>
                    </a:solidFill>
                  </a:tcPr>
                </a:tc>
                <a:tc>
                  <a:txBody>
                    <a:bodyPr/>
                    <a:lstStyle/>
                    <a:p>
                      <a:pPr algn="ctr"/>
                      <a:r>
                        <a:rPr lang="en-DE" sz="2400" b="1" i="0" dirty="0">
                          <a:latin typeface="Arial Narrow" panose="020B0604020202020204" pitchFamily="34" charset="0"/>
                          <a:cs typeface="Arial Narrow" panose="020B0604020202020204" pitchFamily="34" charset="0"/>
                        </a:rPr>
                        <a:t>b</a:t>
                      </a:r>
                    </a:p>
                  </a:txBody>
                  <a:tcPr>
                    <a:solidFill>
                      <a:schemeClr val="accent6"/>
                    </a:solidFill>
                  </a:tcPr>
                </a:tc>
                <a:tc>
                  <a:txBody>
                    <a:bodyPr/>
                    <a:lstStyle/>
                    <a:p>
                      <a:pPr algn="ctr"/>
                      <a:r>
                        <a:rPr lang="en-DE" sz="2400" b="1" i="0" dirty="0">
                          <a:latin typeface="Arial Narrow" panose="020B0604020202020204" pitchFamily="34" charset="0"/>
                          <a:cs typeface="Arial Narrow" panose="020B0604020202020204" pitchFamily="34" charset="0"/>
                        </a:rPr>
                        <a:t>a</a:t>
                      </a:r>
                    </a:p>
                  </a:txBody>
                  <a:tcPr>
                    <a:solidFill>
                      <a:schemeClr val="accent6"/>
                    </a:solidFill>
                  </a:tcPr>
                </a:tc>
                <a:extLst>
                  <a:ext uri="{0D108BD9-81ED-4DB2-BD59-A6C34878D82A}">
                    <a16:rowId xmlns:a16="http://schemas.microsoft.com/office/drawing/2014/main" val="2392955628"/>
                  </a:ext>
                </a:extLst>
              </a:tr>
            </a:tbl>
          </a:graphicData>
        </a:graphic>
      </p:graphicFrame>
      <p:sp>
        <p:nvSpPr>
          <p:cNvPr id="22" name="TextBox 21">
            <a:extLst>
              <a:ext uri="{FF2B5EF4-FFF2-40B4-BE49-F238E27FC236}">
                <a16:creationId xmlns:a16="http://schemas.microsoft.com/office/drawing/2014/main" id="{A1BCFE1C-E2BB-ABD4-3690-F433F76AC510}"/>
              </a:ext>
            </a:extLst>
          </p:cNvPr>
          <p:cNvSpPr txBox="1"/>
          <p:nvPr/>
        </p:nvSpPr>
        <p:spPr>
          <a:xfrm>
            <a:off x="264001" y="14111102"/>
            <a:ext cx="1391728" cy="707886"/>
          </a:xfrm>
          <a:prstGeom prst="rect">
            <a:avLst/>
          </a:prstGeom>
          <a:noFill/>
        </p:spPr>
        <p:txBody>
          <a:bodyPr wrap="none" rtlCol="0">
            <a:spAutoFit/>
          </a:bodyPr>
          <a:lstStyle>
            <a:defPPr>
              <a:defRPr lang="en-US"/>
            </a:defPPr>
            <a:lvl1pPr>
              <a:defRPr sz="4000"/>
            </a:lvl1pPr>
          </a:lstStyle>
          <a:p>
            <a:r>
              <a:rPr lang="en-GB" dirty="0"/>
              <a:t>s[::-1]</a:t>
            </a:r>
          </a:p>
        </p:txBody>
      </p:sp>
      <p:sp>
        <p:nvSpPr>
          <p:cNvPr id="24" name="TextBox 23">
            <a:extLst>
              <a:ext uri="{FF2B5EF4-FFF2-40B4-BE49-F238E27FC236}">
                <a16:creationId xmlns:a16="http://schemas.microsoft.com/office/drawing/2014/main" id="{E6820BAC-0F83-4AAA-C528-9DA90F473A90}"/>
              </a:ext>
            </a:extLst>
          </p:cNvPr>
          <p:cNvSpPr txBox="1"/>
          <p:nvPr/>
        </p:nvSpPr>
        <p:spPr>
          <a:xfrm>
            <a:off x="1825643" y="7591260"/>
            <a:ext cx="5815823" cy="707886"/>
          </a:xfrm>
          <a:prstGeom prst="rect">
            <a:avLst/>
          </a:prstGeom>
          <a:noFill/>
        </p:spPr>
        <p:txBody>
          <a:bodyPr wrap="none" rtlCol="0">
            <a:spAutoFit/>
          </a:bodyPr>
          <a:lstStyle>
            <a:defPPr>
              <a:defRPr lang="en-US"/>
            </a:defPPr>
            <a:lvl1pPr>
              <a:defRPr sz="4000"/>
            </a:lvl1pPr>
          </a:lstStyle>
          <a:p>
            <a:r>
              <a:rPr lang="en-GB" dirty="0"/>
              <a:t>character from index 1 to 3</a:t>
            </a:r>
          </a:p>
        </p:txBody>
      </p:sp>
      <p:sp>
        <p:nvSpPr>
          <p:cNvPr id="25" name="TextBox 24">
            <a:extLst>
              <a:ext uri="{FF2B5EF4-FFF2-40B4-BE49-F238E27FC236}">
                <a16:creationId xmlns:a16="http://schemas.microsoft.com/office/drawing/2014/main" id="{3BC5F93F-8742-1C94-A441-510A6D88A11B}"/>
              </a:ext>
            </a:extLst>
          </p:cNvPr>
          <p:cNvSpPr txBox="1"/>
          <p:nvPr/>
        </p:nvSpPr>
        <p:spPr>
          <a:xfrm>
            <a:off x="1754135" y="9489626"/>
            <a:ext cx="4434804" cy="707886"/>
          </a:xfrm>
          <a:prstGeom prst="rect">
            <a:avLst/>
          </a:prstGeom>
          <a:noFill/>
        </p:spPr>
        <p:txBody>
          <a:bodyPr wrap="none" rtlCol="0">
            <a:spAutoFit/>
          </a:bodyPr>
          <a:lstStyle>
            <a:defPPr>
              <a:defRPr lang="en-US"/>
            </a:defPPr>
            <a:lvl1pPr>
              <a:defRPr sz="4000"/>
            </a:lvl1pPr>
          </a:lstStyle>
          <a:p>
            <a:r>
              <a:rPr lang="en-GB" dirty="0"/>
              <a:t>from start to index 2</a:t>
            </a:r>
          </a:p>
        </p:txBody>
      </p:sp>
      <p:sp>
        <p:nvSpPr>
          <p:cNvPr id="26" name="TextBox 25">
            <a:extLst>
              <a:ext uri="{FF2B5EF4-FFF2-40B4-BE49-F238E27FC236}">
                <a16:creationId xmlns:a16="http://schemas.microsoft.com/office/drawing/2014/main" id="{2A06D8BD-30B6-E955-5FB7-258B187134A2}"/>
              </a:ext>
            </a:extLst>
          </p:cNvPr>
          <p:cNvSpPr txBox="1"/>
          <p:nvPr/>
        </p:nvSpPr>
        <p:spPr>
          <a:xfrm>
            <a:off x="1754138" y="11399421"/>
            <a:ext cx="4272132" cy="707886"/>
          </a:xfrm>
          <a:prstGeom prst="rect">
            <a:avLst/>
          </a:prstGeom>
          <a:noFill/>
        </p:spPr>
        <p:txBody>
          <a:bodyPr wrap="none" rtlCol="0">
            <a:spAutoFit/>
          </a:bodyPr>
          <a:lstStyle>
            <a:defPPr>
              <a:defRPr lang="en-US"/>
            </a:defPPr>
            <a:lvl1pPr>
              <a:defRPr sz="4000"/>
            </a:lvl1pPr>
          </a:lstStyle>
          <a:p>
            <a:r>
              <a:rPr lang="en-GB" dirty="0"/>
              <a:t>from index 3 to end</a:t>
            </a:r>
          </a:p>
        </p:txBody>
      </p:sp>
      <p:sp>
        <p:nvSpPr>
          <p:cNvPr id="27" name="TextBox 26">
            <a:extLst>
              <a:ext uri="{FF2B5EF4-FFF2-40B4-BE49-F238E27FC236}">
                <a16:creationId xmlns:a16="http://schemas.microsoft.com/office/drawing/2014/main" id="{37F8EF1E-6CA8-E825-363C-D85A60FA61B3}"/>
              </a:ext>
            </a:extLst>
          </p:cNvPr>
          <p:cNvSpPr txBox="1"/>
          <p:nvPr/>
        </p:nvSpPr>
        <p:spPr>
          <a:xfrm>
            <a:off x="1737207" y="13312488"/>
            <a:ext cx="3007618" cy="707886"/>
          </a:xfrm>
          <a:prstGeom prst="rect">
            <a:avLst/>
          </a:prstGeom>
          <a:noFill/>
        </p:spPr>
        <p:txBody>
          <a:bodyPr wrap="none" rtlCol="0">
            <a:spAutoFit/>
          </a:bodyPr>
          <a:lstStyle>
            <a:defPPr>
              <a:defRPr lang="en-US"/>
            </a:defPPr>
            <a:lvl1pPr>
              <a:defRPr sz="4000"/>
            </a:lvl1pPr>
          </a:lstStyle>
          <a:p>
            <a:r>
              <a:rPr lang="en-GB" dirty="0"/>
              <a:t>reverse string</a:t>
            </a:r>
          </a:p>
        </p:txBody>
      </p:sp>
      <p:sp>
        <p:nvSpPr>
          <p:cNvPr id="7" name="TextBox 6">
            <a:extLst>
              <a:ext uri="{FF2B5EF4-FFF2-40B4-BE49-F238E27FC236}">
                <a16:creationId xmlns:a16="http://schemas.microsoft.com/office/drawing/2014/main" id="{6831FAEE-955B-B8EA-0F49-BCDF9341F9F2}"/>
              </a:ext>
            </a:extLst>
          </p:cNvPr>
          <p:cNvSpPr txBox="1"/>
          <p:nvPr/>
        </p:nvSpPr>
        <p:spPr>
          <a:xfrm>
            <a:off x="-5510463" y="2935704"/>
            <a:ext cx="4645054" cy="707886"/>
          </a:xfrm>
          <a:prstGeom prst="rect">
            <a:avLst/>
          </a:prstGeom>
          <a:noFill/>
        </p:spPr>
        <p:txBody>
          <a:bodyPr wrap="none" rtlCol="0">
            <a:spAutoFit/>
          </a:bodyPr>
          <a:lstStyle/>
          <a:p>
            <a:r>
              <a:rPr lang="en-GB" sz="4000" b="1" dirty="0">
                <a:latin typeface="+mj-lt"/>
              </a:rPr>
              <a:t>py_005_string_slicing</a:t>
            </a:r>
            <a:endParaRPr lang="en-DE" sz="4000" b="1" dirty="0">
              <a:latin typeface="+mj-lt"/>
            </a:endParaRPr>
          </a:p>
        </p:txBody>
      </p:sp>
    </p:spTree>
    <p:extLst>
      <p:ext uri="{BB962C8B-B14F-4D97-AF65-F5344CB8AC3E}">
        <p14:creationId xmlns:p14="http://schemas.microsoft.com/office/powerpoint/2010/main" val="10735502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tileRect/>
        </a:gradFill>
        <a:effectLst/>
      </p:bgPr>
    </p:bg>
    <p:spTree>
      <p:nvGrpSpPr>
        <p:cNvPr id="1" name="">
          <a:extLst>
            <a:ext uri="{FF2B5EF4-FFF2-40B4-BE49-F238E27FC236}">
              <a16:creationId xmlns:a16="http://schemas.microsoft.com/office/drawing/2014/main" id="{263935C7-D76D-D8A9-B1A0-857B7FCF6699}"/>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12A42397-E50A-DF63-3760-9C9A97C7B3A5}"/>
              </a:ext>
            </a:extLst>
          </p:cNvPr>
          <p:cNvPicPr>
            <a:picLocks noChangeAspect="1"/>
          </p:cNvPicPr>
          <p:nvPr/>
        </p:nvPicPr>
        <p:blipFill rotWithShape="1">
          <a:blip r:embed="rId3"/>
          <a:srcRect l="12533" t="28553" r="8210" b="15149"/>
          <a:stretch>
            <a:fillRect/>
          </a:stretch>
        </p:blipFill>
        <p:spPr>
          <a:xfrm>
            <a:off x="223306" y="5899840"/>
            <a:ext cx="9838800" cy="3920149"/>
          </a:xfrm>
          <a:prstGeom prst="rect">
            <a:avLst/>
          </a:prstGeom>
        </p:spPr>
      </p:pic>
      <p:grpSp>
        <p:nvGrpSpPr>
          <p:cNvPr id="15" name="Group 14">
            <a:extLst>
              <a:ext uri="{FF2B5EF4-FFF2-40B4-BE49-F238E27FC236}">
                <a16:creationId xmlns:a16="http://schemas.microsoft.com/office/drawing/2014/main" id="{5E57E8F2-34E1-D30F-1E3C-9D9F815C62CE}"/>
              </a:ext>
            </a:extLst>
          </p:cNvPr>
          <p:cNvGrpSpPr/>
          <p:nvPr/>
        </p:nvGrpSpPr>
        <p:grpSpPr>
          <a:xfrm>
            <a:off x="223306" y="4625678"/>
            <a:ext cx="9838800" cy="1107996"/>
            <a:chOff x="223306" y="2872200"/>
            <a:chExt cx="9838800" cy="1107996"/>
          </a:xfrm>
        </p:grpSpPr>
        <p:sp>
          <p:nvSpPr>
            <p:cNvPr id="4" name="TextBox 3">
              <a:extLst>
                <a:ext uri="{FF2B5EF4-FFF2-40B4-BE49-F238E27FC236}">
                  <a16:creationId xmlns:a16="http://schemas.microsoft.com/office/drawing/2014/main" id="{D9811DF6-DCA6-5BA5-173D-D3A1AD21181A}"/>
                </a:ext>
              </a:extLst>
            </p:cNvPr>
            <p:cNvSpPr txBox="1"/>
            <p:nvPr/>
          </p:nvSpPr>
          <p:spPr>
            <a:xfrm>
              <a:off x="223306" y="2872200"/>
              <a:ext cx="9838800" cy="1107996"/>
            </a:xfrm>
            <a:prstGeom prst="rect">
              <a:avLst/>
            </a:prstGeom>
            <a:ln/>
          </p:spPr>
          <p:style>
            <a:lnRef idx="0">
              <a:schemeClr val="dk1"/>
            </a:lnRef>
            <a:fillRef idx="3">
              <a:schemeClr val="dk1"/>
            </a:fillRef>
            <a:effectRef idx="3">
              <a:schemeClr val="dk1"/>
            </a:effectRef>
            <a:fontRef idx="minor">
              <a:schemeClr val="lt1"/>
            </a:fontRef>
          </p:style>
          <p:txBody>
            <a:bodyPr wrap="square" rtlCol="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GB" sz="6600" b="1" dirty="0">
                  <a:latin typeface="+mj-lt"/>
                </a:rPr>
                <a:t>List Comprehensions</a:t>
              </a:r>
              <a:endParaRPr lang="en-GB" b="1" dirty="0">
                <a:ln w="0"/>
                <a:solidFill>
                  <a:schemeClr val="tx1"/>
                </a:solidFill>
                <a:effectLst>
                  <a:outerShdw blurRad="38100" dist="25400" dir="5400000" algn="ctr" rotWithShape="0">
                    <a:srgbClr val="6E747A">
                      <a:alpha val="43000"/>
                    </a:srgbClr>
                  </a:outerShdw>
                </a:effectLst>
                <a:latin typeface="+mj-lt"/>
              </a:endParaRPr>
            </a:p>
          </p:txBody>
        </p:sp>
        <p:pic>
          <p:nvPicPr>
            <p:cNvPr id="5" name="Picture 4">
              <a:extLst>
                <a:ext uri="{FF2B5EF4-FFF2-40B4-BE49-F238E27FC236}">
                  <a16:creationId xmlns:a16="http://schemas.microsoft.com/office/drawing/2014/main" id="{37B55E9B-ABE8-F7C9-F6DE-0B1F6CDFDDAF}"/>
                </a:ext>
              </a:extLst>
            </p:cNvPr>
            <p:cNvPicPr>
              <a:picLocks noChangeAspect="1"/>
            </p:cNvPicPr>
            <p:nvPr/>
          </p:nvPicPr>
          <p:blipFill>
            <a:blip r:embed="rId4"/>
            <a:stretch>
              <a:fillRect/>
            </a:stretch>
          </p:blipFill>
          <p:spPr>
            <a:xfrm>
              <a:off x="264001" y="2906105"/>
              <a:ext cx="1063167" cy="1063167"/>
            </a:xfrm>
            <a:prstGeom prst="rect">
              <a:avLst/>
            </a:prstGeom>
          </p:spPr>
        </p:pic>
      </p:grpSp>
      <p:sp>
        <p:nvSpPr>
          <p:cNvPr id="13" name="TextBox 12">
            <a:extLst>
              <a:ext uri="{FF2B5EF4-FFF2-40B4-BE49-F238E27FC236}">
                <a16:creationId xmlns:a16="http://schemas.microsoft.com/office/drawing/2014/main" id="{6AACDDF8-9461-833E-A5D0-B258E1311441}"/>
              </a:ext>
            </a:extLst>
          </p:cNvPr>
          <p:cNvSpPr txBox="1"/>
          <p:nvPr/>
        </p:nvSpPr>
        <p:spPr>
          <a:xfrm>
            <a:off x="86674" y="10244674"/>
            <a:ext cx="10112064" cy="923330"/>
          </a:xfrm>
          <a:prstGeom prst="rect">
            <a:avLst/>
          </a:prstGeom>
          <a:noFill/>
        </p:spPr>
        <p:txBody>
          <a:bodyPr wrap="none" rtlCol="0">
            <a:spAutoFit/>
          </a:bodyPr>
          <a:lstStyle/>
          <a:p>
            <a:r>
              <a:rPr lang="en-GB" sz="5400" dirty="0">
                <a:latin typeface="Patrick Hand" pitchFamily="2" charset="77"/>
              </a:rPr>
              <a:t>Prefer List Comprehensions Over Loops</a:t>
            </a:r>
            <a:endParaRPr lang="en-DE" sz="5400" dirty="0">
              <a:latin typeface="Patrick Hand" pitchFamily="2" charset="77"/>
            </a:endParaRPr>
          </a:p>
        </p:txBody>
      </p:sp>
      <p:cxnSp>
        <p:nvCxnSpPr>
          <p:cNvPr id="17" name="Straight Connector 16">
            <a:extLst>
              <a:ext uri="{FF2B5EF4-FFF2-40B4-BE49-F238E27FC236}">
                <a16:creationId xmlns:a16="http://schemas.microsoft.com/office/drawing/2014/main" id="{078A09D0-33BF-6B03-AE47-665AE3D0A683}"/>
              </a:ext>
            </a:extLst>
          </p:cNvPr>
          <p:cNvCxnSpPr>
            <a:cxnSpLocks/>
          </p:cNvCxnSpPr>
          <p:nvPr/>
        </p:nvCxnSpPr>
        <p:spPr>
          <a:xfrm>
            <a:off x="235460" y="8697791"/>
            <a:ext cx="9838255" cy="0"/>
          </a:xfrm>
          <a:prstGeom prst="line">
            <a:avLst/>
          </a:prstGeom>
          <a:ln w="38100">
            <a:solidFill>
              <a:schemeClr val="bg1"/>
            </a:solidFill>
            <a:headEnd type="none"/>
            <a:tailEnd type="none" w="lg" len="lg"/>
          </a:ln>
        </p:spPr>
        <p:style>
          <a:lnRef idx="1">
            <a:schemeClr val="accent1"/>
          </a:lnRef>
          <a:fillRef idx="0">
            <a:schemeClr val="accent1"/>
          </a:fillRef>
          <a:effectRef idx="0">
            <a:schemeClr val="accent1"/>
          </a:effectRef>
          <a:fontRef idx="minor">
            <a:schemeClr val="tx1"/>
          </a:fontRef>
        </p:style>
      </p:cxnSp>
      <p:pic>
        <p:nvPicPr>
          <p:cNvPr id="18" name="Graphic 17" descr="Shield Tick with solid fill">
            <a:extLst>
              <a:ext uri="{FF2B5EF4-FFF2-40B4-BE49-F238E27FC236}">
                <a16:creationId xmlns:a16="http://schemas.microsoft.com/office/drawing/2014/main" id="{5828BDD9-29EC-80B8-F9E0-00FC6D12F56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286312" y="8761584"/>
            <a:ext cx="914400" cy="914400"/>
          </a:xfrm>
          <a:prstGeom prst="rect">
            <a:avLst/>
          </a:prstGeom>
        </p:spPr>
      </p:pic>
      <p:pic>
        <p:nvPicPr>
          <p:cNvPr id="19" name="Graphic 18" descr="Close with solid fill">
            <a:extLst>
              <a:ext uri="{FF2B5EF4-FFF2-40B4-BE49-F238E27FC236}">
                <a16:creationId xmlns:a16="http://schemas.microsoft.com/office/drawing/2014/main" id="{A9BD8DFA-A234-2917-65AF-90E0E24DEF8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519055" y="6740024"/>
            <a:ext cx="914400" cy="914400"/>
          </a:xfrm>
          <a:prstGeom prst="rect">
            <a:avLst/>
          </a:prstGeom>
        </p:spPr>
      </p:pic>
      <p:sp>
        <p:nvSpPr>
          <p:cNvPr id="2" name="TextBox 1">
            <a:extLst>
              <a:ext uri="{FF2B5EF4-FFF2-40B4-BE49-F238E27FC236}">
                <a16:creationId xmlns:a16="http://schemas.microsoft.com/office/drawing/2014/main" id="{C6980289-6424-63AF-C0EC-C2EF73FE186B}"/>
              </a:ext>
            </a:extLst>
          </p:cNvPr>
          <p:cNvSpPr txBox="1"/>
          <p:nvPr/>
        </p:nvSpPr>
        <p:spPr>
          <a:xfrm>
            <a:off x="-6569242" y="3080083"/>
            <a:ext cx="6211509" cy="707886"/>
          </a:xfrm>
          <a:prstGeom prst="rect">
            <a:avLst/>
          </a:prstGeom>
          <a:noFill/>
        </p:spPr>
        <p:txBody>
          <a:bodyPr wrap="none" rtlCol="0">
            <a:spAutoFit/>
          </a:bodyPr>
          <a:lstStyle/>
          <a:p>
            <a:r>
              <a:rPr lang="en-GB" sz="4000" b="1" dirty="0">
                <a:latin typeface="+mj-lt"/>
              </a:rPr>
              <a:t>py_006_list_comprehensions</a:t>
            </a:r>
            <a:endParaRPr lang="en-DE" sz="4000" b="1" dirty="0">
              <a:latin typeface="+mj-lt"/>
            </a:endParaRPr>
          </a:p>
        </p:txBody>
      </p:sp>
    </p:spTree>
    <p:extLst>
      <p:ext uri="{BB962C8B-B14F-4D97-AF65-F5344CB8AC3E}">
        <p14:creationId xmlns:p14="http://schemas.microsoft.com/office/powerpoint/2010/main" val="4194454532"/>
      </p:ext>
    </p:extLst>
  </p:cSld>
  <p:clrMapOvr>
    <a:masterClrMapping/>
  </p:clrMapOvr>
  <p:extLst>
    <p:ext uri="{6950BFC3-D8DA-4A85-94F7-54DA5524770B}">
      <p188:commentRel xmlns:p188="http://schemas.microsoft.com/office/powerpoint/2018/8/main" r:id="rId2"/>
    </p:ext>
  </p:extLst>
</p:sld>
</file>

<file path=ppt/slides/slide9.xml><?xml version="1.0" encoding="utf-8"?>
<p:sld xmlns:a="http://schemas.openxmlformats.org/drawingml/2006/main" xmlns:r="http://schemas.openxmlformats.org/officeDocument/2006/relationships" xmlns:p="http://schemas.openxmlformats.org/presentationml/2006/main">
  <p:cSld>
    <p:bg>
      <p:bgPr>
        <a:pattFill prst="dotGrid">
          <a:fgClr>
            <a:srgbClr val="92D050"/>
          </a:fgClr>
          <a:bgClr>
            <a:schemeClr val="bg1"/>
          </a:bgClr>
        </a:pattFill>
        <a:effectLst/>
      </p:bgPr>
    </p:bg>
    <p:spTree>
      <p:nvGrpSpPr>
        <p:cNvPr id="1" name="">
          <a:extLst>
            <a:ext uri="{FF2B5EF4-FFF2-40B4-BE49-F238E27FC236}">
              <a16:creationId xmlns:a16="http://schemas.microsoft.com/office/drawing/2014/main" id="{29EA5746-4CA2-7F18-A479-AC6A5D40598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5DC900B-164F-FC29-9459-456AC455A3FE}"/>
              </a:ext>
            </a:extLst>
          </p:cNvPr>
          <p:cNvSpPr txBox="1"/>
          <p:nvPr/>
        </p:nvSpPr>
        <p:spPr>
          <a:xfrm>
            <a:off x="223306" y="3092552"/>
            <a:ext cx="9838800" cy="1201152"/>
          </a:xfrm>
          <a:prstGeom prst="rect">
            <a:avLst/>
          </a:prstGeom>
          <a:ln w="12700">
            <a:solidFill>
              <a:schemeClr val="tx1"/>
            </a:solidFill>
          </a:ln>
        </p:spPr>
        <p:style>
          <a:lnRef idx="1">
            <a:schemeClr val="accent6"/>
          </a:lnRef>
          <a:fillRef idx="2">
            <a:schemeClr val="accent6"/>
          </a:fillRef>
          <a:effectRef idx="1">
            <a:schemeClr val="accent6"/>
          </a:effectRef>
          <a:fontRef idx="minor">
            <a:schemeClr val="dk1"/>
          </a:fontRef>
        </p:style>
        <p:txBody>
          <a:bodyPr wrap="none" rtlCol="0" anchor="ctr">
            <a:noAutofit/>
            <a:scene3d>
              <a:camera prst="orthographicFront"/>
              <a:lightRig rig="harsh" dir="t"/>
            </a:scene3d>
            <a:sp3d extrusionH="57150" prstMaterial="matte">
              <a:bevelT w="63500" h="12700" prst="angle"/>
              <a:contourClr>
                <a:schemeClr val="bg1">
                  <a:lumMod val="65000"/>
                </a:schemeClr>
              </a:contourClr>
            </a:sp3d>
          </a:bodyPr>
          <a:lstStyle/>
          <a:p>
            <a:pPr algn="r"/>
            <a:r>
              <a:rPr lang="en-GB" sz="4800" dirty="0"/>
              <a:t>Transpose, Determinant, Inverse</a:t>
            </a:r>
            <a:endParaRPr lang="en-GB" sz="1200" b="1" dirty="0">
              <a:ln w="0"/>
              <a:solidFill>
                <a:schemeClr val="tx1"/>
              </a:solidFill>
              <a:effectLst>
                <a:outerShdw blurRad="38100" dist="25400" dir="5400000" algn="ctr" rotWithShape="0">
                  <a:srgbClr val="6E747A">
                    <a:alpha val="43000"/>
                  </a:srgbClr>
                </a:outerShdw>
              </a:effectLst>
              <a:latin typeface="Patrick Hand" pitchFamily="2" charset="77"/>
            </a:endParaRPr>
          </a:p>
        </p:txBody>
      </p:sp>
      <p:pic>
        <p:nvPicPr>
          <p:cNvPr id="5" name="Picture 4">
            <a:extLst>
              <a:ext uri="{FF2B5EF4-FFF2-40B4-BE49-F238E27FC236}">
                <a16:creationId xmlns:a16="http://schemas.microsoft.com/office/drawing/2014/main" id="{FF1E42BB-D9EC-10A8-903D-6BF740B6C82B}"/>
              </a:ext>
            </a:extLst>
          </p:cNvPr>
          <p:cNvPicPr>
            <a:picLocks noChangeAspect="1"/>
          </p:cNvPicPr>
          <p:nvPr/>
        </p:nvPicPr>
        <p:blipFill>
          <a:blip r:embed="rId2"/>
          <a:stretch>
            <a:fillRect/>
          </a:stretch>
        </p:blipFill>
        <p:spPr>
          <a:xfrm>
            <a:off x="290505" y="3166213"/>
            <a:ext cx="1063167" cy="1063167"/>
          </a:xfrm>
          <a:prstGeom prst="rect">
            <a:avLst/>
          </a:prstGeom>
        </p:spPr>
      </p:pic>
      <p:cxnSp>
        <p:nvCxnSpPr>
          <p:cNvPr id="17" name="Straight Connector 16">
            <a:extLst>
              <a:ext uri="{FF2B5EF4-FFF2-40B4-BE49-F238E27FC236}">
                <a16:creationId xmlns:a16="http://schemas.microsoft.com/office/drawing/2014/main" id="{E8F33130-30C1-CF29-4F19-0710F7074820}"/>
              </a:ext>
            </a:extLst>
          </p:cNvPr>
          <p:cNvCxnSpPr>
            <a:cxnSpLocks/>
          </p:cNvCxnSpPr>
          <p:nvPr/>
        </p:nvCxnSpPr>
        <p:spPr>
          <a:xfrm>
            <a:off x="223579" y="10677115"/>
            <a:ext cx="9838255" cy="0"/>
          </a:xfrm>
          <a:prstGeom prst="line">
            <a:avLst/>
          </a:prstGeom>
          <a:ln w="38100">
            <a:solidFill>
              <a:schemeClr val="bg1"/>
            </a:solidFill>
            <a:headEnd type="none"/>
            <a:tailEnd type="none" w="lg" len="lg"/>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954FCA99-4121-035B-A997-1C5F783EEA48}"/>
              </a:ext>
            </a:extLst>
          </p:cNvPr>
          <p:cNvSpPr txBox="1"/>
          <p:nvPr/>
        </p:nvSpPr>
        <p:spPr>
          <a:xfrm>
            <a:off x="-10467474" y="2985242"/>
            <a:ext cx="10109562" cy="707886"/>
          </a:xfrm>
          <a:prstGeom prst="rect">
            <a:avLst/>
          </a:prstGeom>
          <a:noFill/>
        </p:spPr>
        <p:txBody>
          <a:bodyPr wrap="none" rtlCol="0">
            <a:spAutoFit/>
          </a:bodyPr>
          <a:lstStyle/>
          <a:p>
            <a:r>
              <a:rPr lang="en-GB" sz="4000" b="1" dirty="0">
                <a:latin typeface="+mj-lt"/>
              </a:rPr>
              <a:t>py_020_matrix_transpose_determinant_inverse</a:t>
            </a:r>
            <a:endParaRPr lang="en-DE" sz="4000" b="1" dirty="0">
              <a:latin typeface="+mj-lt"/>
            </a:endParaRPr>
          </a:p>
        </p:txBody>
      </p:sp>
      <p:pic>
        <p:nvPicPr>
          <p:cNvPr id="28" name="Picture 27">
            <a:extLst>
              <a:ext uri="{FF2B5EF4-FFF2-40B4-BE49-F238E27FC236}">
                <a16:creationId xmlns:a16="http://schemas.microsoft.com/office/drawing/2014/main" id="{10148781-0096-5479-1154-E21B39EBCC45}"/>
              </a:ext>
            </a:extLst>
          </p:cNvPr>
          <p:cNvPicPr preferRelativeResize="0">
            <a:picLocks/>
          </p:cNvPicPr>
          <p:nvPr/>
        </p:nvPicPr>
        <p:blipFill rotWithShape="1">
          <a:blip r:embed="rId3"/>
          <a:srcRect l="21291" t="22608" r="15162" b="14033"/>
          <a:stretch>
            <a:fillRect/>
          </a:stretch>
        </p:blipFill>
        <p:spPr>
          <a:xfrm>
            <a:off x="223306" y="4444504"/>
            <a:ext cx="9838800" cy="7200000"/>
          </a:xfrm>
          <a:prstGeom prst="rect">
            <a:avLst/>
          </a:prstGeom>
        </p:spPr>
      </p:pic>
      <p:sp>
        <p:nvSpPr>
          <p:cNvPr id="29" name="Right Arrow 28">
            <a:extLst>
              <a:ext uri="{FF2B5EF4-FFF2-40B4-BE49-F238E27FC236}">
                <a16:creationId xmlns:a16="http://schemas.microsoft.com/office/drawing/2014/main" id="{B2452425-A657-B484-00CB-7B674C76C00A}"/>
              </a:ext>
            </a:extLst>
          </p:cNvPr>
          <p:cNvSpPr/>
          <p:nvPr/>
        </p:nvSpPr>
        <p:spPr>
          <a:xfrm>
            <a:off x="4113074" y="12546419"/>
            <a:ext cx="2059264" cy="935665"/>
          </a:xfrm>
          <a:prstGeom prst="rightArrow">
            <a:avLst/>
          </a:prstGeom>
          <a:ln w="12700">
            <a:solidFill>
              <a:schemeClr val="tx1"/>
            </a:solidFill>
          </a:ln>
        </p:spPr>
        <p:style>
          <a:lnRef idx="1">
            <a:schemeClr val="accent6"/>
          </a:lnRef>
          <a:fillRef idx="2">
            <a:schemeClr val="accent6"/>
          </a:fillRef>
          <a:effectRef idx="1">
            <a:schemeClr val="accent6"/>
          </a:effectRef>
          <a:fontRef idx="minor">
            <a:schemeClr val="dk1"/>
          </a:fontRef>
        </p:style>
        <p:txBody>
          <a:bodyPr wrap="none" rtlCol="0" anchor="ctr">
            <a:noAutofit/>
            <a:scene3d>
              <a:camera prst="orthographicFront"/>
              <a:lightRig rig="harsh" dir="t"/>
            </a:scene3d>
            <a:sp3d extrusionH="57150" prstMaterial="matte">
              <a:bevelT w="63500" h="12700" prst="angle"/>
              <a:contourClr>
                <a:schemeClr val="bg1">
                  <a:lumMod val="65000"/>
                </a:schemeClr>
              </a:contourClr>
            </a:sp3d>
          </a:bodyPr>
          <a:lstStyle/>
          <a:p>
            <a:pPr marL="0" algn="l" defTabSz="457200" rtl="0" eaLnBrk="1" latinLnBrk="0" hangingPunct="1"/>
            <a:endParaRPr lang="en-DE" sz="4800" dirty="0">
              <a:solidFill>
                <a:schemeClr val="dk1"/>
              </a:solidFill>
            </a:endParaRPr>
          </a:p>
        </p:txBody>
      </p:sp>
    </p:spTree>
    <p:extLst>
      <p:ext uri="{BB962C8B-B14F-4D97-AF65-F5344CB8AC3E}">
        <p14:creationId xmlns:p14="http://schemas.microsoft.com/office/powerpoint/2010/main" val="39677797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pattFill prst="dotGrid">
          <a:fgClr>
            <a:srgbClr val="92D050"/>
          </a:fgClr>
          <a:bgClr>
            <a:schemeClr val="bg1"/>
          </a:bgClr>
        </a:pattFill>
        <a:effectLst/>
      </p:bgPr>
    </p:bg>
    <p:spTree>
      <p:nvGrpSpPr>
        <p:cNvPr id="1" name="">
          <a:extLst>
            <a:ext uri="{FF2B5EF4-FFF2-40B4-BE49-F238E27FC236}">
              <a16:creationId xmlns:a16="http://schemas.microsoft.com/office/drawing/2014/main" id="{20A116EC-18E4-F6C7-62AD-CBB8038D83F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98024A7-8029-686B-CAF7-D329D64B3C78}"/>
              </a:ext>
            </a:extLst>
          </p:cNvPr>
          <p:cNvSpPr txBox="1"/>
          <p:nvPr/>
        </p:nvSpPr>
        <p:spPr>
          <a:xfrm>
            <a:off x="223306" y="3092552"/>
            <a:ext cx="9838800" cy="1201152"/>
          </a:xfrm>
          <a:prstGeom prst="rect">
            <a:avLst/>
          </a:prstGeom>
          <a:ln w="12700">
            <a:solidFill>
              <a:schemeClr val="tx1"/>
            </a:solidFill>
          </a:ln>
        </p:spPr>
        <p:style>
          <a:lnRef idx="1">
            <a:schemeClr val="accent6"/>
          </a:lnRef>
          <a:fillRef idx="2">
            <a:schemeClr val="accent6"/>
          </a:fillRef>
          <a:effectRef idx="1">
            <a:schemeClr val="accent6"/>
          </a:effectRef>
          <a:fontRef idx="minor">
            <a:schemeClr val="dk1"/>
          </a:fontRef>
        </p:style>
        <p:txBody>
          <a:bodyPr wrap="none" rtlCol="0" anchor="ctr">
            <a:noAutofit/>
            <a:scene3d>
              <a:camera prst="orthographicFront"/>
              <a:lightRig rig="harsh" dir="t"/>
            </a:scene3d>
            <a:sp3d extrusionH="57150" prstMaterial="matte">
              <a:bevelT w="63500" h="12700" prst="angle"/>
              <a:contourClr>
                <a:schemeClr val="bg1">
                  <a:lumMod val="65000"/>
                </a:schemeClr>
              </a:contourClr>
            </a:sp3d>
          </a:bodyPr>
          <a:lstStyle/>
          <a:p>
            <a:pPr algn="r"/>
            <a:r>
              <a:rPr lang="en-GB" sz="4800" dirty="0"/>
              <a:t>Transpose, Determinant, Inverse</a:t>
            </a:r>
            <a:endParaRPr lang="en-GB" sz="1200" b="1" dirty="0">
              <a:ln w="0"/>
              <a:solidFill>
                <a:schemeClr val="tx1"/>
              </a:solidFill>
              <a:effectLst>
                <a:outerShdw blurRad="38100" dist="25400" dir="5400000" algn="ctr" rotWithShape="0">
                  <a:srgbClr val="6E747A">
                    <a:alpha val="43000"/>
                  </a:srgbClr>
                </a:outerShdw>
              </a:effectLst>
              <a:latin typeface="Patrick Hand" pitchFamily="2" charset="77"/>
            </a:endParaRPr>
          </a:p>
        </p:txBody>
      </p:sp>
      <p:pic>
        <p:nvPicPr>
          <p:cNvPr id="5" name="Picture 4">
            <a:extLst>
              <a:ext uri="{FF2B5EF4-FFF2-40B4-BE49-F238E27FC236}">
                <a16:creationId xmlns:a16="http://schemas.microsoft.com/office/drawing/2014/main" id="{44002FBA-E8FC-E022-419B-BAD542B03CAC}"/>
              </a:ext>
            </a:extLst>
          </p:cNvPr>
          <p:cNvPicPr>
            <a:picLocks noChangeAspect="1"/>
          </p:cNvPicPr>
          <p:nvPr/>
        </p:nvPicPr>
        <p:blipFill>
          <a:blip r:embed="rId2"/>
          <a:stretch>
            <a:fillRect/>
          </a:stretch>
        </p:blipFill>
        <p:spPr>
          <a:xfrm>
            <a:off x="290505" y="3166213"/>
            <a:ext cx="1063167" cy="1063167"/>
          </a:xfrm>
          <a:prstGeom prst="rect">
            <a:avLst/>
          </a:prstGeom>
        </p:spPr>
      </p:pic>
      <p:cxnSp>
        <p:nvCxnSpPr>
          <p:cNvPr id="17" name="Straight Connector 16">
            <a:extLst>
              <a:ext uri="{FF2B5EF4-FFF2-40B4-BE49-F238E27FC236}">
                <a16:creationId xmlns:a16="http://schemas.microsoft.com/office/drawing/2014/main" id="{BCF2A538-535F-510E-6366-5199D7147795}"/>
              </a:ext>
            </a:extLst>
          </p:cNvPr>
          <p:cNvCxnSpPr>
            <a:cxnSpLocks/>
          </p:cNvCxnSpPr>
          <p:nvPr/>
        </p:nvCxnSpPr>
        <p:spPr>
          <a:xfrm>
            <a:off x="223579" y="10677115"/>
            <a:ext cx="9838255" cy="0"/>
          </a:xfrm>
          <a:prstGeom prst="line">
            <a:avLst/>
          </a:prstGeom>
          <a:ln w="38100">
            <a:solidFill>
              <a:schemeClr val="bg1"/>
            </a:solidFill>
            <a:headEnd type="none"/>
            <a:tailEnd type="none" w="lg" len="lg"/>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BD3B7DDB-BFA3-8712-7A19-00E83DD87C1A}"/>
              </a:ext>
            </a:extLst>
          </p:cNvPr>
          <p:cNvSpPr txBox="1"/>
          <p:nvPr/>
        </p:nvSpPr>
        <p:spPr>
          <a:xfrm>
            <a:off x="-10299032" y="2985242"/>
            <a:ext cx="10109562" cy="707886"/>
          </a:xfrm>
          <a:prstGeom prst="rect">
            <a:avLst/>
          </a:prstGeom>
          <a:noFill/>
        </p:spPr>
        <p:txBody>
          <a:bodyPr wrap="none" rtlCol="0">
            <a:spAutoFit/>
          </a:bodyPr>
          <a:lstStyle/>
          <a:p>
            <a:r>
              <a:rPr lang="en-GB" sz="4000" b="1" dirty="0">
                <a:latin typeface="+mj-lt"/>
              </a:rPr>
              <a:t>py_020_matrix_transpose_determinant_inverse</a:t>
            </a:r>
            <a:endParaRPr lang="en-DE" sz="4000" b="1" dirty="0">
              <a:latin typeface="+mj-lt"/>
            </a:endParaRPr>
          </a:p>
        </p:txBody>
      </p:sp>
      <p:pic>
        <p:nvPicPr>
          <p:cNvPr id="3" name="Picture 2">
            <a:extLst>
              <a:ext uri="{FF2B5EF4-FFF2-40B4-BE49-F238E27FC236}">
                <a16:creationId xmlns:a16="http://schemas.microsoft.com/office/drawing/2014/main" id="{5177E3B8-DC6D-0DB6-8CD8-F4FA7CE05AF8}"/>
              </a:ext>
            </a:extLst>
          </p:cNvPr>
          <p:cNvPicPr preferRelativeResize="0">
            <a:picLocks/>
          </p:cNvPicPr>
          <p:nvPr/>
        </p:nvPicPr>
        <p:blipFill rotWithShape="1">
          <a:blip r:embed="rId3"/>
          <a:srcRect l="20039" t="22126" r="13264" b="14462"/>
          <a:stretch>
            <a:fillRect/>
          </a:stretch>
        </p:blipFill>
        <p:spPr>
          <a:xfrm>
            <a:off x="223306" y="4451684"/>
            <a:ext cx="9838800" cy="7200000"/>
          </a:xfrm>
          <a:prstGeom prst="rect">
            <a:avLst/>
          </a:prstGeom>
        </p:spPr>
      </p:pic>
    </p:spTree>
    <p:extLst>
      <p:ext uri="{BB962C8B-B14F-4D97-AF65-F5344CB8AC3E}">
        <p14:creationId xmlns:p14="http://schemas.microsoft.com/office/powerpoint/2010/main" val="28986690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6">
                <a:lumMod val="5000"/>
                <a:lumOff val="95000"/>
              </a:schemeClr>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effectLst/>
      </p:bgPr>
    </p:bg>
    <p:spTree>
      <p:nvGrpSpPr>
        <p:cNvPr id="1" name="">
          <a:extLst>
            <a:ext uri="{FF2B5EF4-FFF2-40B4-BE49-F238E27FC236}">
              <a16:creationId xmlns:a16="http://schemas.microsoft.com/office/drawing/2014/main" id="{D8E99C58-5AF8-CF25-9DE3-F4ED5841DEEA}"/>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A37AA22C-DA9F-8DEB-92AB-F4257AA14F47}"/>
              </a:ext>
            </a:extLst>
          </p:cNvPr>
          <p:cNvPicPr>
            <a:picLocks noChangeAspect="1"/>
          </p:cNvPicPr>
          <p:nvPr/>
        </p:nvPicPr>
        <p:blipFill rotWithShape="1">
          <a:blip r:embed="rId3"/>
          <a:srcRect l="17920" t="21567" r="12998" b="14415"/>
          <a:stretch>
            <a:fillRect/>
          </a:stretch>
        </p:blipFill>
        <p:spPr>
          <a:xfrm>
            <a:off x="205353" y="5893036"/>
            <a:ext cx="9838800" cy="7531988"/>
          </a:xfrm>
          <a:prstGeom prst="rect">
            <a:avLst/>
          </a:prstGeom>
        </p:spPr>
      </p:pic>
      <p:sp>
        <p:nvSpPr>
          <p:cNvPr id="4" name="TextBox 3">
            <a:extLst>
              <a:ext uri="{FF2B5EF4-FFF2-40B4-BE49-F238E27FC236}">
                <a16:creationId xmlns:a16="http://schemas.microsoft.com/office/drawing/2014/main" id="{68103D25-9216-BAB2-ACB7-9FFD1936580E}"/>
              </a:ext>
            </a:extLst>
          </p:cNvPr>
          <p:cNvSpPr txBox="1"/>
          <p:nvPr/>
        </p:nvSpPr>
        <p:spPr>
          <a:xfrm>
            <a:off x="223306" y="4701000"/>
            <a:ext cx="9838255" cy="1097069"/>
          </a:xfrm>
          <a:prstGeom prst="rect">
            <a:avLst/>
          </a:prstGeom>
          <a:ln/>
        </p:spPr>
        <p:style>
          <a:lnRef idx="1">
            <a:schemeClr val="accent6"/>
          </a:lnRef>
          <a:fillRef idx="2">
            <a:schemeClr val="accent6"/>
          </a:fillRef>
          <a:effectRef idx="1">
            <a:schemeClr val="accent6"/>
          </a:effectRef>
          <a:fontRef idx="minor">
            <a:schemeClr val="dk1"/>
          </a:fontRef>
        </p:style>
        <p:txBody>
          <a:bodyPr wrap="square" rtlCol="0" anchor="ctr" anchorCtr="0">
            <a:noAutofit/>
            <a:scene3d>
              <a:camera prst="orthographicFront"/>
              <a:lightRig rig="harsh" dir="t"/>
            </a:scene3d>
            <a:sp3d extrusionH="57150" prstMaterial="matte">
              <a:bevelT w="63500" h="12700" prst="angle"/>
              <a:contourClr>
                <a:schemeClr val="bg1">
                  <a:lumMod val="65000"/>
                </a:schemeClr>
              </a:contourClr>
            </a:sp3d>
          </a:bodyPr>
          <a:lstStyle/>
          <a:p>
            <a:pPr algn="r"/>
            <a:r>
              <a:rPr lang="en-GB" sz="5400" b="1" dirty="0"/>
              <a:t>Understanding Tuples &amp; Lists</a:t>
            </a:r>
            <a:endParaRPr lang="en-GB" sz="1400" b="1" dirty="0">
              <a:ln w="0"/>
              <a:solidFill>
                <a:schemeClr val="tx1"/>
              </a:solidFill>
              <a:effectLst>
                <a:outerShdw blurRad="38100" dist="25400" dir="5400000" algn="ctr" rotWithShape="0">
                  <a:srgbClr val="6E747A">
                    <a:alpha val="43000"/>
                  </a:srgbClr>
                </a:outerShdw>
              </a:effectLst>
              <a:latin typeface="Patrick Hand" pitchFamily="2" charset="77"/>
            </a:endParaRPr>
          </a:p>
        </p:txBody>
      </p:sp>
      <p:pic>
        <p:nvPicPr>
          <p:cNvPr id="5" name="Picture 4">
            <a:extLst>
              <a:ext uri="{FF2B5EF4-FFF2-40B4-BE49-F238E27FC236}">
                <a16:creationId xmlns:a16="http://schemas.microsoft.com/office/drawing/2014/main" id="{2C4B819E-3D27-043B-A206-CB6B14345940}"/>
              </a:ext>
            </a:extLst>
          </p:cNvPr>
          <p:cNvPicPr>
            <a:picLocks noChangeAspect="1"/>
          </p:cNvPicPr>
          <p:nvPr/>
        </p:nvPicPr>
        <p:blipFill>
          <a:blip r:embed="rId4"/>
          <a:stretch>
            <a:fillRect/>
          </a:stretch>
        </p:blipFill>
        <p:spPr>
          <a:xfrm>
            <a:off x="264001" y="4734907"/>
            <a:ext cx="1063167" cy="1063167"/>
          </a:xfrm>
          <a:prstGeom prst="rect">
            <a:avLst/>
          </a:prstGeom>
        </p:spPr>
      </p:pic>
      <p:sp>
        <p:nvSpPr>
          <p:cNvPr id="13" name="TextBox 12">
            <a:extLst>
              <a:ext uri="{FF2B5EF4-FFF2-40B4-BE49-F238E27FC236}">
                <a16:creationId xmlns:a16="http://schemas.microsoft.com/office/drawing/2014/main" id="{52E6ABE3-1E92-6F86-7CA0-C6FADF7C5095}"/>
              </a:ext>
            </a:extLst>
          </p:cNvPr>
          <p:cNvSpPr txBox="1"/>
          <p:nvPr/>
        </p:nvSpPr>
        <p:spPr>
          <a:xfrm>
            <a:off x="205353" y="13692417"/>
            <a:ext cx="9838800" cy="707886"/>
          </a:xfrm>
          <a:prstGeom prst="rect">
            <a:avLst/>
          </a:prstGeom>
          <a:noFill/>
        </p:spPr>
        <p:txBody>
          <a:bodyPr wrap="square" rtlCol="0">
            <a:spAutoFit/>
          </a:bodyPr>
          <a:lstStyle/>
          <a:p>
            <a:pPr algn="ctr"/>
            <a:r>
              <a:rPr lang="en-GB" sz="4000" dirty="0">
                <a:latin typeface="Patrick Hand" pitchFamily="2" charset="77"/>
              </a:rPr>
              <a:t>Tuple vs List in Python - Spot the Difference!</a:t>
            </a:r>
            <a:endParaRPr lang="en-DE" sz="4000" dirty="0">
              <a:latin typeface="Patrick Hand" pitchFamily="2" charset="77"/>
            </a:endParaRPr>
          </a:p>
        </p:txBody>
      </p:sp>
      <p:cxnSp>
        <p:nvCxnSpPr>
          <p:cNvPr id="14" name="Straight Connector 13">
            <a:extLst>
              <a:ext uri="{FF2B5EF4-FFF2-40B4-BE49-F238E27FC236}">
                <a16:creationId xmlns:a16="http://schemas.microsoft.com/office/drawing/2014/main" id="{ADE21DD3-BC0C-FFAD-871E-662DE0033853}"/>
              </a:ext>
            </a:extLst>
          </p:cNvPr>
          <p:cNvCxnSpPr>
            <a:cxnSpLocks/>
          </p:cNvCxnSpPr>
          <p:nvPr/>
        </p:nvCxnSpPr>
        <p:spPr>
          <a:xfrm>
            <a:off x="232736" y="11474464"/>
            <a:ext cx="9838255" cy="0"/>
          </a:xfrm>
          <a:prstGeom prst="line">
            <a:avLst/>
          </a:prstGeom>
          <a:ln w="38100">
            <a:solidFill>
              <a:schemeClr val="bg1"/>
            </a:solidFill>
            <a:headEnd type="none"/>
            <a:tailEnd type="none" w="lg" len="lg"/>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66790796-F6C2-8B89-95FA-2E549CC68251}"/>
              </a:ext>
            </a:extLst>
          </p:cNvPr>
          <p:cNvCxnSpPr>
            <a:cxnSpLocks/>
          </p:cNvCxnSpPr>
          <p:nvPr/>
        </p:nvCxnSpPr>
        <p:spPr>
          <a:xfrm>
            <a:off x="210435" y="9107156"/>
            <a:ext cx="9838255" cy="0"/>
          </a:xfrm>
          <a:prstGeom prst="line">
            <a:avLst/>
          </a:prstGeom>
          <a:ln w="38100">
            <a:solidFill>
              <a:schemeClr val="bg1"/>
            </a:solidFill>
            <a:headEnd type="none"/>
            <a:tailEnd type="non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87286016"/>
      </p:ext>
    </p:extLst>
  </p:cSld>
  <p:clrMapOvr>
    <a:masterClrMapping/>
  </p:clrMapOvr>
  <p:extLst>
    <p:ext uri="{6950BFC3-D8DA-4A85-94F7-54DA5524770B}">
      <p188:commentRel xmlns:p188="http://schemas.microsoft.com/office/powerpoint/2018/8/main" r:id="rId2"/>
    </p:ext>
  </p:extLst>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
          <a:extLst>
            <a:ext uri="{FF2B5EF4-FFF2-40B4-BE49-F238E27FC236}">
              <a16:creationId xmlns:a16="http://schemas.microsoft.com/office/drawing/2014/main" id="{38D6513E-44C3-8C15-A7B0-E379B4EE782B}"/>
            </a:ext>
          </a:extLst>
        </p:cNvPr>
        <p:cNvGrpSpPr/>
        <p:nvPr/>
      </p:nvGrpSpPr>
      <p:grpSpPr>
        <a:xfrm>
          <a:off x="0" y="0"/>
          <a:ext cx="0" cy="0"/>
          <a:chOff x="0" y="0"/>
          <a:chExt cx="0" cy="0"/>
        </a:xfrm>
      </p:grpSpPr>
      <p:pic>
        <p:nvPicPr>
          <p:cNvPr id="28" name="Picture 27">
            <a:extLst>
              <a:ext uri="{FF2B5EF4-FFF2-40B4-BE49-F238E27FC236}">
                <a16:creationId xmlns:a16="http://schemas.microsoft.com/office/drawing/2014/main" id="{BC46E8B4-CAF7-41BA-F7C0-9507E381E539}"/>
              </a:ext>
            </a:extLst>
          </p:cNvPr>
          <p:cNvPicPr>
            <a:picLocks noChangeAspect="1"/>
          </p:cNvPicPr>
          <p:nvPr/>
        </p:nvPicPr>
        <p:blipFill rotWithShape="1">
          <a:blip r:embed="rId4"/>
          <a:srcRect l="21363" t="30504" r="11633" b="16598"/>
          <a:stretch>
            <a:fillRect/>
          </a:stretch>
        </p:blipFill>
        <p:spPr>
          <a:xfrm>
            <a:off x="410506" y="6143223"/>
            <a:ext cx="9464400" cy="5251469"/>
          </a:xfrm>
          <a:prstGeom prst="rect">
            <a:avLst/>
          </a:prstGeom>
        </p:spPr>
      </p:pic>
      <p:sp>
        <p:nvSpPr>
          <p:cNvPr id="9" name="TextBox 8">
            <a:extLst>
              <a:ext uri="{FF2B5EF4-FFF2-40B4-BE49-F238E27FC236}">
                <a16:creationId xmlns:a16="http://schemas.microsoft.com/office/drawing/2014/main" id="{9F05B7D4-F280-F06F-B39C-2F00BFC25F26}"/>
              </a:ext>
            </a:extLst>
          </p:cNvPr>
          <p:cNvSpPr txBox="1"/>
          <p:nvPr/>
        </p:nvSpPr>
        <p:spPr>
          <a:xfrm>
            <a:off x="412958" y="4920953"/>
            <a:ext cx="9459497" cy="1107996"/>
          </a:xfrm>
          <a:prstGeom prst="rect">
            <a:avLst/>
          </a:prstGeom>
          <a:ln/>
        </p:spPr>
        <p:style>
          <a:lnRef idx="0">
            <a:schemeClr val="dk1"/>
          </a:lnRef>
          <a:fillRef idx="3">
            <a:schemeClr val="dk1"/>
          </a:fillRef>
          <a:effectRef idx="3">
            <a:schemeClr val="dk1"/>
          </a:effectRef>
          <a:fontRef idx="minor">
            <a:schemeClr val="lt1"/>
          </a:fontRef>
        </p:style>
        <p:txBody>
          <a:bodyPr wrap="square" rtlCol="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GB" sz="6600" b="1" dirty="0">
                <a:ln w="6600">
                  <a:solidFill>
                    <a:schemeClr val="accent2"/>
                  </a:solidFill>
                  <a:prstDash val="solid"/>
                </a:ln>
                <a:solidFill>
                  <a:srgbClr val="FFFFFF"/>
                </a:solidFill>
                <a:effectLst>
                  <a:outerShdw dist="38100" dir="2700000" algn="tl" rotWithShape="0">
                    <a:schemeClr val="accent2"/>
                  </a:outerShdw>
                </a:effectLst>
                <a:latin typeface="+mj-lt"/>
              </a:rPr>
              <a:t>Range Checking</a:t>
            </a:r>
            <a:endParaRPr lang="en-DE" sz="6600" dirty="0">
              <a:ln w="0"/>
              <a:effectLst>
                <a:outerShdw blurRad="38100" dist="19050" dir="2700000" algn="tl" rotWithShape="0">
                  <a:schemeClr val="dk1">
                    <a:alpha val="40000"/>
                  </a:schemeClr>
                </a:outerShdw>
              </a:effectLst>
              <a:latin typeface="+mj-lt"/>
            </a:endParaRPr>
          </a:p>
        </p:txBody>
      </p:sp>
      <p:pic>
        <p:nvPicPr>
          <p:cNvPr id="13" name="Picture 12">
            <a:extLst>
              <a:ext uri="{FF2B5EF4-FFF2-40B4-BE49-F238E27FC236}">
                <a16:creationId xmlns:a16="http://schemas.microsoft.com/office/drawing/2014/main" id="{B0F0CA92-46F0-129E-D4FC-B71F8C1DEB31}"/>
              </a:ext>
            </a:extLst>
          </p:cNvPr>
          <p:cNvPicPr>
            <a:picLocks noChangeAspect="1"/>
          </p:cNvPicPr>
          <p:nvPr/>
        </p:nvPicPr>
        <p:blipFill>
          <a:blip r:embed="rId5"/>
          <a:stretch>
            <a:fillRect/>
          </a:stretch>
        </p:blipFill>
        <p:spPr>
          <a:xfrm>
            <a:off x="493928" y="4946903"/>
            <a:ext cx="1063167" cy="1063167"/>
          </a:xfrm>
          <a:prstGeom prst="rect">
            <a:avLst/>
          </a:prstGeom>
        </p:spPr>
      </p:pic>
      <p:cxnSp>
        <p:nvCxnSpPr>
          <p:cNvPr id="16" name="Straight Connector 15">
            <a:extLst>
              <a:ext uri="{FF2B5EF4-FFF2-40B4-BE49-F238E27FC236}">
                <a16:creationId xmlns:a16="http://schemas.microsoft.com/office/drawing/2014/main" id="{096EFBF3-9D7A-45C0-5825-529AF9B87540}"/>
              </a:ext>
            </a:extLst>
          </p:cNvPr>
          <p:cNvCxnSpPr>
            <a:cxnSpLocks/>
          </p:cNvCxnSpPr>
          <p:nvPr/>
        </p:nvCxnSpPr>
        <p:spPr>
          <a:xfrm>
            <a:off x="405785" y="9170743"/>
            <a:ext cx="9466670" cy="0"/>
          </a:xfrm>
          <a:prstGeom prst="line">
            <a:avLst/>
          </a:prstGeom>
          <a:ln w="38100">
            <a:solidFill>
              <a:schemeClr val="bg1"/>
            </a:solidFill>
            <a:headEnd type="none"/>
            <a:tailEnd type="none" w="lg" len="lg"/>
          </a:ln>
        </p:spPr>
        <p:style>
          <a:lnRef idx="1">
            <a:schemeClr val="accent1"/>
          </a:lnRef>
          <a:fillRef idx="0">
            <a:schemeClr val="accent1"/>
          </a:fillRef>
          <a:effectRef idx="0">
            <a:schemeClr val="accent1"/>
          </a:effectRef>
          <a:fontRef idx="minor">
            <a:schemeClr val="tx1"/>
          </a:fontRef>
        </p:style>
      </p:cxnSp>
      <p:pic>
        <p:nvPicPr>
          <p:cNvPr id="18" name="Graphic 17" descr="Shield Tick with solid fill">
            <a:extLst>
              <a:ext uri="{FF2B5EF4-FFF2-40B4-BE49-F238E27FC236}">
                <a16:creationId xmlns:a16="http://schemas.microsoft.com/office/drawing/2014/main" id="{1D3086D5-48CC-ED96-614E-18E795A99AF7}"/>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883882" y="9409047"/>
            <a:ext cx="914400" cy="914400"/>
          </a:xfrm>
          <a:prstGeom prst="rect">
            <a:avLst/>
          </a:prstGeom>
        </p:spPr>
      </p:pic>
      <p:pic>
        <p:nvPicPr>
          <p:cNvPr id="19" name="Graphic 18" descr="Close with solid fill">
            <a:extLst>
              <a:ext uri="{FF2B5EF4-FFF2-40B4-BE49-F238E27FC236}">
                <a16:creationId xmlns:a16="http://schemas.microsoft.com/office/drawing/2014/main" id="{B4714FB7-C189-E14C-AA62-67E825ED6B3D}"/>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883882" y="7244793"/>
            <a:ext cx="914400" cy="914400"/>
          </a:xfrm>
          <a:prstGeom prst="rect">
            <a:avLst/>
          </a:prstGeom>
        </p:spPr>
      </p:pic>
      <p:sp>
        <p:nvSpPr>
          <p:cNvPr id="21" name="TextBox 20">
            <a:extLst>
              <a:ext uri="{FF2B5EF4-FFF2-40B4-BE49-F238E27FC236}">
                <a16:creationId xmlns:a16="http://schemas.microsoft.com/office/drawing/2014/main" id="{4CC720A1-BB63-65E7-EAD2-2F645218BC30}"/>
              </a:ext>
            </a:extLst>
          </p:cNvPr>
          <p:cNvSpPr txBox="1"/>
          <p:nvPr/>
        </p:nvSpPr>
        <p:spPr>
          <a:xfrm>
            <a:off x="410506" y="11485362"/>
            <a:ext cx="9464400" cy="2554545"/>
          </a:xfrm>
          <a:prstGeom prst="rect">
            <a:avLst/>
          </a:prstGeom>
          <a:noFill/>
        </p:spPr>
        <p:txBody>
          <a:bodyPr wrap="square" rtlCol="0">
            <a:spAutoFit/>
          </a:bodyPr>
          <a:lstStyle/>
          <a:p>
            <a:pPr algn="ctr"/>
            <a:r>
              <a:rPr lang="en-GB" sz="8000" dirty="0">
                <a:latin typeface="Patrick Hand" pitchFamily="2" charset="77"/>
              </a:rPr>
              <a:t>Stop Using AND! Python's Secret Trick</a:t>
            </a:r>
            <a:endParaRPr lang="en-DE" sz="8000" dirty="0">
              <a:latin typeface="Patrick Hand" pitchFamily="2" charset="77"/>
            </a:endParaRPr>
          </a:p>
        </p:txBody>
      </p:sp>
    </p:spTree>
    <p:extLst>
      <p:ext uri="{BB962C8B-B14F-4D97-AF65-F5344CB8AC3E}">
        <p14:creationId xmlns:p14="http://schemas.microsoft.com/office/powerpoint/2010/main" val="22616114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6">
                <a:lumMod val="5000"/>
                <a:lumOff val="95000"/>
              </a:schemeClr>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effectLst/>
      </p:bgPr>
    </p:bg>
    <p:spTree>
      <p:nvGrpSpPr>
        <p:cNvPr id="1" name="">
          <a:extLst>
            <a:ext uri="{FF2B5EF4-FFF2-40B4-BE49-F238E27FC236}">
              <a16:creationId xmlns:a16="http://schemas.microsoft.com/office/drawing/2014/main" id="{889AC99C-E326-22AF-A647-FB81C057F94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F70213C-CD04-4AE6-D4F7-708234A72820}"/>
              </a:ext>
            </a:extLst>
          </p:cNvPr>
          <p:cNvPicPr>
            <a:picLocks noChangeAspect="1"/>
          </p:cNvPicPr>
          <p:nvPr/>
        </p:nvPicPr>
        <p:blipFill rotWithShape="1">
          <a:blip r:embed="rId2"/>
          <a:srcRect l="14295" t="18373" r="7588" b="10355"/>
          <a:stretch>
            <a:fillRect/>
          </a:stretch>
        </p:blipFill>
        <p:spPr>
          <a:xfrm>
            <a:off x="223306" y="4293050"/>
            <a:ext cx="9838800" cy="6877146"/>
          </a:xfrm>
          <a:prstGeom prst="rect">
            <a:avLst/>
          </a:prstGeom>
        </p:spPr>
      </p:pic>
      <p:sp>
        <p:nvSpPr>
          <p:cNvPr id="4" name="TextBox 3">
            <a:extLst>
              <a:ext uri="{FF2B5EF4-FFF2-40B4-BE49-F238E27FC236}">
                <a16:creationId xmlns:a16="http://schemas.microsoft.com/office/drawing/2014/main" id="{92F0583A-02E4-0D7B-D116-4D4AFAD1C15B}"/>
              </a:ext>
            </a:extLst>
          </p:cNvPr>
          <p:cNvSpPr txBox="1"/>
          <p:nvPr/>
        </p:nvSpPr>
        <p:spPr>
          <a:xfrm>
            <a:off x="223579" y="3104679"/>
            <a:ext cx="9838255" cy="1097069"/>
          </a:xfrm>
          <a:prstGeom prst="rect">
            <a:avLst/>
          </a:prstGeom>
          <a:ln/>
        </p:spPr>
        <p:style>
          <a:lnRef idx="1">
            <a:schemeClr val="accent6"/>
          </a:lnRef>
          <a:fillRef idx="2">
            <a:schemeClr val="accent6"/>
          </a:fillRef>
          <a:effectRef idx="1">
            <a:schemeClr val="accent6"/>
          </a:effectRef>
          <a:fontRef idx="minor">
            <a:schemeClr val="dk1"/>
          </a:fontRef>
        </p:style>
        <p:txBody>
          <a:bodyPr wrap="square" rtlCol="0" anchor="ctr" anchorCtr="0">
            <a:noAutofit/>
            <a:scene3d>
              <a:camera prst="orthographicFront"/>
              <a:lightRig rig="harsh" dir="t"/>
            </a:scene3d>
            <a:sp3d extrusionH="57150" prstMaterial="matte">
              <a:bevelT w="63500" h="12700" prst="angle"/>
              <a:contourClr>
                <a:schemeClr val="bg1">
                  <a:lumMod val="65000"/>
                </a:schemeClr>
              </a:contourClr>
            </a:sp3d>
          </a:bodyPr>
          <a:lstStyle/>
          <a:p>
            <a:pPr algn="ctr"/>
            <a:r>
              <a:rPr lang="en-GB" sz="6000" b="1" dirty="0"/>
              <a:t>Connect to PostgreSQL</a:t>
            </a:r>
            <a:endParaRPr lang="en-GB" sz="1600" b="1" dirty="0">
              <a:ln w="0"/>
              <a:solidFill>
                <a:schemeClr val="tx1"/>
              </a:solidFill>
              <a:effectLst>
                <a:outerShdw blurRad="38100" dist="25400" dir="5400000" algn="ctr" rotWithShape="0">
                  <a:srgbClr val="6E747A">
                    <a:alpha val="43000"/>
                  </a:srgbClr>
                </a:outerShdw>
              </a:effectLst>
              <a:latin typeface="Patrick Hand" pitchFamily="2" charset="77"/>
            </a:endParaRPr>
          </a:p>
        </p:txBody>
      </p:sp>
      <p:pic>
        <p:nvPicPr>
          <p:cNvPr id="5" name="Picture 4">
            <a:extLst>
              <a:ext uri="{FF2B5EF4-FFF2-40B4-BE49-F238E27FC236}">
                <a16:creationId xmlns:a16="http://schemas.microsoft.com/office/drawing/2014/main" id="{B67E0830-101E-5A9B-024A-AD8B673A4834}"/>
              </a:ext>
            </a:extLst>
          </p:cNvPr>
          <p:cNvPicPr>
            <a:picLocks noChangeAspect="1"/>
          </p:cNvPicPr>
          <p:nvPr/>
        </p:nvPicPr>
        <p:blipFill>
          <a:blip r:embed="rId3"/>
          <a:stretch>
            <a:fillRect/>
          </a:stretch>
        </p:blipFill>
        <p:spPr>
          <a:xfrm>
            <a:off x="279499" y="3138586"/>
            <a:ext cx="1063167" cy="1063167"/>
          </a:xfrm>
          <a:prstGeom prst="rect">
            <a:avLst/>
          </a:prstGeom>
        </p:spPr>
      </p:pic>
      <p:sp>
        <p:nvSpPr>
          <p:cNvPr id="13" name="TextBox 12">
            <a:extLst>
              <a:ext uri="{FF2B5EF4-FFF2-40B4-BE49-F238E27FC236}">
                <a16:creationId xmlns:a16="http://schemas.microsoft.com/office/drawing/2014/main" id="{913B624C-1EEA-3AC6-B68D-F5BF535BEE0C}"/>
              </a:ext>
            </a:extLst>
          </p:cNvPr>
          <p:cNvSpPr txBox="1"/>
          <p:nvPr/>
        </p:nvSpPr>
        <p:spPr>
          <a:xfrm>
            <a:off x="485466" y="11569149"/>
            <a:ext cx="9314481" cy="707886"/>
          </a:xfrm>
          <a:prstGeom prst="rect">
            <a:avLst/>
          </a:prstGeom>
          <a:noFill/>
        </p:spPr>
        <p:txBody>
          <a:bodyPr wrap="square" rtlCol="0">
            <a:spAutoFit/>
          </a:bodyPr>
          <a:lstStyle/>
          <a:p>
            <a:pPr algn="ctr"/>
            <a:r>
              <a:rPr lang="en-GB" sz="4000" dirty="0">
                <a:latin typeface="Patrick Hand" pitchFamily="2" charset="77"/>
              </a:rPr>
              <a:t>psycopg2.connect() with credentials</a:t>
            </a:r>
            <a:endParaRPr lang="en-DE" sz="4000" dirty="0">
              <a:latin typeface="Patrick Hand" pitchFamily="2" charset="77"/>
            </a:endParaRPr>
          </a:p>
        </p:txBody>
      </p:sp>
      <p:sp>
        <p:nvSpPr>
          <p:cNvPr id="10" name="Right Arrow 9">
            <a:extLst>
              <a:ext uri="{FF2B5EF4-FFF2-40B4-BE49-F238E27FC236}">
                <a16:creationId xmlns:a16="http://schemas.microsoft.com/office/drawing/2014/main" id="{77783B63-4072-FC1F-D84B-9FAE0AAD9041}"/>
              </a:ext>
            </a:extLst>
          </p:cNvPr>
          <p:cNvSpPr/>
          <p:nvPr/>
        </p:nvSpPr>
        <p:spPr>
          <a:xfrm>
            <a:off x="3449256" y="13623402"/>
            <a:ext cx="2696901" cy="671332"/>
          </a:xfrm>
          <a:prstGeom prst="rightArrow">
            <a:avLst/>
          </a:prstGeom>
          <a:solidFill>
            <a:srgbClr val="00B050"/>
          </a:solidFill>
          <a:ln w="31750">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457200" rtl="0" eaLnBrk="1" latinLnBrk="0" hangingPunct="1"/>
            <a:r>
              <a:rPr lang="en-DE" dirty="0">
                <a:latin typeface="Patrick Hand" pitchFamily="2" charset="77"/>
              </a:rPr>
              <a:t>Next</a:t>
            </a:r>
          </a:p>
        </p:txBody>
      </p:sp>
    </p:spTree>
    <p:extLst>
      <p:ext uri="{BB962C8B-B14F-4D97-AF65-F5344CB8AC3E}">
        <p14:creationId xmlns:p14="http://schemas.microsoft.com/office/powerpoint/2010/main" val="38346247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6">
                <a:lumMod val="5000"/>
                <a:lumOff val="95000"/>
              </a:schemeClr>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effectLst/>
      </p:bgPr>
    </p:bg>
    <p:spTree>
      <p:nvGrpSpPr>
        <p:cNvPr id="1" name="">
          <a:extLst>
            <a:ext uri="{FF2B5EF4-FFF2-40B4-BE49-F238E27FC236}">
              <a16:creationId xmlns:a16="http://schemas.microsoft.com/office/drawing/2014/main" id="{C7AEECF2-1D26-350E-64A5-655B45D37AB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C29BA40-05B7-B9EC-0886-4B8C6200A056}"/>
              </a:ext>
            </a:extLst>
          </p:cNvPr>
          <p:cNvSpPr txBox="1"/>
          <p:nvPr/>
        </p:nvSpPr>
        <p:spPr>
          <a:xfrm>
            <a:off x="223579" y="3104679"/>
            <a:ext cx="9838255" cy="1097069"/>
          </a:xfrm>
          <a:prstGeom prst="rect">
            <a:avLst/>
          </a:prstGeom>
          <a:ln/>
        </p:spPr>
        <p:style>
          <a:lnRef idx="1">
            <a:schemeClr val="accent6"/>
          </a:lnRef>
          <a:fillRef idx="2">
            <a:schemeClr val="accent6"/>
          </a:fillRef>
          <a:effectRef idx="1">
            <a:schemeClr val="accent6"/>
          </a:effectRef>
          <a:fontRef idx="minor">
            <a:schemeClr val="dk1"/>
          </a:fontRef>
        </p:style>
        <p:txBody>
          <a:bodyPr wrap="square" rtlCol="0" anchor="ctr" anchorCtr="0">
            <a:noAutofit/>
            <a:scene3d>
              <a:camera prst="orthographicFront"/>
              <a:lightRig rig="harsh" dir="t"/>
            </a:scene3d>
            <a:sp3d extrusionH="57150" prstMaterial="matte">
              <a:bevelT w="63500" h="12700" prst="angle"/>
              <a:contourClr>
                <a:schemeClr val="bg1">
                  <a:lumMod val="65000"/>
                </a:schemeClr>
              </a:contourClr>
            </a:sp3d>
          </a:bodyPr>
          <a:lstStyle/>
          <a:p>
            <a:pPr algn="ctr"/>
            <a:r>
              <a:rPr lang="en-GB" sz="6000" b="1" dirty="0"/>
              <a:t>Connect to PostgreSQL</a:t>
            </a:r>
            <a:endParaRPr lang="en-GB" sz="1600" b="1" dirty="0">
              <a:ln w="0"/>
              <a:solidFill>
                <a:schemeClr val="tx1"/>
              </a:solidFill>
              <a:effectLst>
                <a:outerShdw blurRad="38100" dist="25400" dir="5400000" algn="ctr" rotWithShape="0">
                  <a:srgbClr val="6E747A">
                    <a:alpha val="43000"/>
                  </a:srgbClr>
                </a:outerShdw>
              </a:effectLst>
              <a:latin typeface="Patrick Hand" pitchFamily="2" charset="77"/>
            </a:endParaRPr>
          </a:p>
        </p:txBody>
      </p:sp>
      <p:pic>
        <p:nvPicPr>
          <p:cNvPr id="5" name="Picture 4">
            <a:extLst>
              <a:ext uri="{FF2B5EF4-FFF2-40B4-BE49-F238E27FC236}">
                <a16:creationId xmlns:a16="http://schemas.microsoft.com/office/drawing/2014/main" id="{4E084F14-015E-B59A-F189-55AA65FEEA9B}"/>
              </a:ext>
            </a:extLst>
          </p:cNvPr>
          <p:cNvPicPr>
            <a:picLocks noChangeAspect="1"/>
          </p:cNvPicPr>
          <p:nvPr/>
        </p:nvPicPr>
        <p:blipFill>
          <a:blip r:embed="rId2"/>
          <a:stretch>
            <a:fillRect/>
          </a:stretch>
        </p:blipFill>
        <p:spPr>
          <a:xfrm>
            <a:off x="279499" y="3138586"/>
            <a:ext cx="1063167" cy="1063167"/>
          </a:xfrm>
          <a:prstGeom prst="rect">
            <a:avLst/>
          </a:prstGeom>
        </p:spPr>
      </p:pic>
      <p:pic>
        <p:nvPicPr>
          <p:cNvPr id="8" name="Picture 7">
            <a:extLst>
              <a:ext uri="{FF2B5EF4-FFF2-40B4-BE49-F238E27FC236}">
                <a16:creationId xmlns:a16="http://schemas.microsoft.com/office/drawing/2014/main" id="{6DF56886-202C-8FB9-79F0-4FC3A96E245F}"/>
              </a:ext>
            </a:extLst>
          </p:cNvPr>
          <p:cNvPicPr preferRelativeResize="0">
            <a:picLocks/>
          </p:cNvPicPr>
          <p:nvPr/>
        </p:nvPicPr>
        <p:blipFill rotWithShape="1">
          <a:blip r:embed="rId3"/>
          <a:srcRect l="22619" t="23207" r="8384" b="10060"/>
          <a:stretch>
            <a:fillRect/>
          </a:stretch>
        </p:blipFill>
        <p:spPr>
          <a:xfrm>
            <a:off x="223034" y="4294800"/>
            <a:ext cx="9838800" cy="6876000"/>
          </a:xfrm>
          <a:prstGeom prst="rect">
            <a:avLst/>
          </a:prstGeom>
        </p:spPr>
      </p:pic>
      <p:sp>
        <p:nvSpPr>
          <p:cNvPr id="2" name="TextBox 1">
            <a:extLst>
              <a:ext uri="{FF2B5EF4-FFF2-40B4-BE49-F238E27FC236}">
                <a16:creationId xmlns:a16="http://schemas.microsoft.com/office/drawing/2014/main" id="{94B3EF2A-BBE8-3339-9239-7073C350DB0E}"/>
              </a:ext>
            </a:extLst>
          </p:cNvPr>
          <p:cNvSpPr txBox="1"/>
          <p:nvPr/>
        </p:nvSpPr>
        <p:spPr>
          <a:xfrm>
            <a:off x="485466" y="11569149"/>
            <a:ext cx="9314481" cy="707886"/>
          </a:xfrm>
          <a:prstGeom prst="rect">
            <a:avLst/>
          </a:prstGeom>
          <a:noFill/>
        </p:spPr>
        <p:txBody>
          <a:bodyPr wrap="square" rtlCol="0">
            <a:spAutoFit/>
          </a:bodyPr>
          <a:lstStyle/>
          <a:p>
            <a:pPr algn="ctr"/>
            <a:r>
              <a:rPr lang="en-GB" sz="4000" dirty="0">
                <a:latin typeface="Patrick Hand" pitchFamily="2" charset="77"/>
              </a:rPr>
              <a:t>cursor, query execution &amp; error handling</a:t>
            </a:r>
            <a:endParaRPr lang="en-DE" sz="4000" dirty="0">
              <a:latin typeface="Patrick Hand" pitchFamily="2" charset="77"/>
            </a:endParaRPr>
          </a:p>
        </p:txBody>
      </p:sp>
    </p:spTree>
    <p:extLst>
      <p:ext uri="{BB962C8B-B14F-4D97-AF65-F5344CB8AC3E}">
        <p14:creationId xmlns:p14="http://schemas.microsoft.com/office/powerpoint/2010/main" val="14696143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a:extLst>
            <a:ext uri="{FF2B5EF4-FFF2-40B4-BE49-F238E27FC236}">
              <a16:creationId xmlns:a16="http://schemas.microsoft.com/office/drawing/2014/main" id="{A06FAFD4-F5F6-C12B-6E9B-15B62498FC5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C0807C0-2C79-D6DB-331C-2B703BDB9BC0}"/>
              </a:ext>
            </a:extLst>
          </p:cNvPr>
          <p:cNvSpPr txBox="1"/>
          <p:nvPr/>
        </p:nvSpPr>
        <p:spPr>
          <a:xfrm>
            <a:off x="223579" y="3104679"/>
            <a:ext cx="9838255" cy="1097069"/>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wrap="square" rtlCol="0" anchor="ctr" anchorCtr="0">
            <a:noAutofit/>
            <a:scene3d>
              <a:camera prst="orthographicFront"/>
              <a:lightRig rig="harsh" dir="t"/>
            </a:scene3d>
            <a:sp3d extrusionH="57150" prstMaterial="matte">
              <a:bevelT w="63500" h="12700" prst="angle"/>
              <a:contourClr>
                <a:schemeClr val="bg1">
                  <a:lumMod val="65000"/>
                </a:schemeClr>
              </a:contourClr>
            </a:sp3d>
          </a:bodyPr>
          <a:lstStyle/>
          <a:p>
            <a:pPr algn="r"/>
            <a:r>
              <a:rPr lang="en-GB" sz="5400" dirty="0">
                <a:ln w="0"/>
                <a:solidFill>
                  <a:schemeClr val="tx1"/>
                </a:solidFill>
                <a:effectLst>
                  <a:outerShdw blurRad="38100" dist="19050" dir="2700000" algn="tl" rotWithShape="0">
                    <a:schemeClr val="dk1">
                      <a:alpha val="40000"/>
                    </a:schemeClr>
                  </a:outerShdw>
                </a:effectLst>
              </a:rPr>
              <a:t>NumPy Matrix Multiplication</a:t>
            </a:r>
            <a:endParaRPr lang="en-GB" sz="1400" b="1" dirty="0">
              <a:ln w="0"/>
              <a:solidFill>
                <a:schemeClr val="tx1"/>
              </a:solidFill>
              <a:effectLst>
                <a:outerShdw blurRad="38100" dist="25400" dir="5400000" algn="ctr" rotWithShape="0">
                  <a:srgbClr val="6E747A">
                    <a:alpha val="43000"/>
                  </a:srgbClr>
                </a:outerShdw>
              </a:effectLst>
              <a:latin typeface="Patrick Hand" pitchFamily="2" charset="77"/>
            </a:endParaRPr>
          </a:p>
        </p:txBody>
      </p:sp>
      <p:pic>
        <p:nvPicPr>
          <p:cNvPr id="5" name="Picture 4">
            <a:extLst>
              <a:ext uri="{FF2B5EF4-FFF2-40B4-BE49-F238E27FC236}">
                <a16:creationId xmlns:a16="http://schemas.microsoft.com/office/drawing/2014/main" id="{75F4B03F-99EE-3E09-A45B-D50B8996D33F}"/>
              </a:ext>
            </a:extLst>
          </p:cNvPr>
          <p:cNvPicPr>
            <a:picLocks noChangeAspect="1"/>
          </p:cNvPicPr>
          <p:nvPr/>
        </p:nvPicPr>
        <p:blipFill>
          <a:blip r:embed="rId3"/>
          <a:stretch>
            <a:fillRect/>
          </a:stretch>
        </p:blipFill>
        <p:spPr>
          <a:xfrm>
            <a:off x="279499" y="3138586"/>
            <a:ext cx="1063167" cy="1063167"/>
          </a:xfrm>
          <a:prstGeom prst="rect">
            <a:avLst/>
          </a:prstGeom>
        </p:spPr>
      </p:pic>
      <p:sp>
        <p:nvSpPr>
          <p:cNvPr id="2" name="TextBox 1">
            <a:extLst>
              <a:ext uri="{FF2B5EF4-FFF2-40B4-BE49-F238E27FC236}">
                <a16:creationId xmlns:a16="http://schemas.microsoft.com/office/drawing/2014/main" id="{07BC8BF3-58ED-2079-1095-29046F58A5F6}"/>
              </a:ext>
            </a:extLst>
          </p:cNvPr>
          <p:cNvSpPr txBox="1"/>
          <p:nvPr/>
        </p:nvSpPr>
        <p:spPr>
          <a:xfrm>
            <a:off x="547157" y="10926693"/>
            <a:ext cx="1119360" cy="707886"/>
          </a:xfrm>
          <a:prstGeom prst="rect">
            <a:avLst/>
          </a:prstGeom>
          <a:noFill/>
        </p:spPr>
        <p:txBody>
          <a:bodyPr wrap="square" rtlCol="0">
            <a:spAutoFit/>
          </a:bodyPr>
          <a:lstStyle/>
          <a:p>
            <a:pPr algn="ctr"/>
            <a:r>
              <a:rPr lang="en-GB" sz="4000" dirty="0">
                <a:latin typeface="Patrick Hand" pitchFamily="2" charset="77"/>
              </a:rPr>
              <a:t>mat1</a:t>
            </a:r>
            <a:endParaRPr lang="en-DE" sz="4000" dirty="0">
              <a:latin typeface="Patrick Hand" pitchFamily="2" charset="77"/>
            </a:endParaRPr>
          </a:p>
        </p:txBody>
      </p:sp>
      <p:pic>
        <p:nvPicPr>
          <p:cNvPr id="3" name="Picture 2">
            <a:extLst>
              <a:ext uri="{FF2B5EF4-FFF2-40B4-BE49-F238E27FC236}">
                <a16:creationId xmlns:a16="http://schemas.microsoft.com/office/drawing/2014/main" id="{7641DFDB-1C55-66F2-801A-BDAA88320D5D}"/>
              </a:ext>
            </a:extLst>
          </p:cNvPr>
          <p:cNvPicPr>
            <a:picLocks/>
          </p:cNvPicPr>
          <p:nvPr/>
        </p:nvPicPr>
        <p:blipFill rotWithShape="1">
          <a:blip r:embed="rId4"/>
          <a:srcRect l="15093" t="29327" r="12045" b="18936"/>
          <a:stretch>
            <a:fillRect/>
          </a:stretch>
        </p:blipFill>
        <p:spPr>
          <a:xfrm>
            <a:off x="223306" y="4324349"/>
            <a:ext cx="9838800" cy="5400000"/>
          </a:xfrm>
          <a:prstGeom prst="rect">
            <a:avLst/>
          </a:prstGeom>
        </p:spPr>
      </p:pic>
      <p:sp>
        <p:nvSpPr>
          <p:cNvPr id="6" name="Double Bracket 5">
            <a:extLst>
              <a:ext uri="{FF2B5EF4-FFF2-40B4-BE49-F238E27FC236}">
                <a16:creationId xmlns:a16="http://schemas.microsoft.com/office/drawing/2014/main" id="{3604A4E8-0240-4921-7D16-393CEF8A083B}"/>
              </a:ext>
            </a:extLst>
          </p:cNvPr>
          <p:cNvSpPr/>
          <p:nvPr/>
        </p:nvSpPr>
        <p:spPr>
          <a:xfrm>
            <a:off x="1857016" y="10223361"/>
            <a:ext cx="2143484" cy="2114550"/>
          </a:xfrm>
          <a:prstGeom prst="bracketPair">
            <a:avLst/>
          </a:prstGeom>
          <a:ln w="31750">
            <a:solidFill>
              <a:schemeClr val="tx1"/>
            </a:solidFill>
            <a:headEnd type="none"/>
            <a:tailEnd type="arrow"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DE"/>
          </a:p>
        </p:txBody>
      </p:sp>
      <p:sp>
        <p:nvSpPr>
          <p:cNvPr id="7" name="TextBox 6">
            <a:extLst>
              <a:ext uri="{FF2B5EF4-FFF2-40B4-BE49-F238E27FC236}">
                <a16:creationId xmlns:a16="http://schemas.microsoft.com/office/drawing/2014/main" id="{DE7C9993-A5C8-9995-EE57-E4AC6B63E5BD}"/>
              </a:ext>
            </a:extLst>
          </p:cNvPr>
          <p:cNvSpPr txBox="1"/>
          <p:nvPr/>
        </p:nvSpPr>
        <p:spPr>
          <a:xfrm>
            <a:off x="2185606" y="10637966"/>
            <a:ext cx="1486304" cy="1323439"/>
          </a:xfrm>
          <a:prstGeom prst="rect">
            <a:avLst/>
          </a:prstGeom>
          <a:noFill/>
        </p:spPr>
        <p:txBody>
          <a:bodyPr wrap="none" rtlCol="0">
            <a:spAutoFit/>
          </a:bodyPr>
          <a:lstStyle/>
          <a:p>
            <a:pPr algn="l"/>
            <a:r>
              <a:rPr lang="en-GB" sz="4000" dirty="0">
                <a:latin typeface="Patrick Hand" pitchFamily="2" charset="77"/>
              </a:rPr>
              <a:t>1       0</a:t>
            </a:r>
          </a:p>
          <a:p>
            <a:pPr algn="l"/>
            <a:r>
              <a:rPr lang="en-GB" sz="4000" dirty="0">
                <a:latin typeface="Patrick Hand" pitchFamily="2" charset="77"/>
              </a:rPr>
              <a:t>0      1</a:t>
            </a:r>
            <a:endParaRPr lang="en-DE" sz="4000" dirty="0">
              <a:latin typeface="Patrick Hand" pitchFamily="2" charset="77"/>
            </a:endParaRPr>
          </a:p>
        </p:txBody>
      </p:sp>
      <p:sp>
        <p:nvSpPr>
          <p:cNvPr id="10" name="TextBox 9">
            <a:extLst>
              <a:ext uri="{FF2B5EF4-FFF2-40B4-BE49-F238E27FC236}">
                <a16:creationId xmlns:a16="http://schemas.microsoft.com/office/drawing/2014/main" id="{737E4E51-638E-5418-E38F-AC097AD27851}"/>
              </a:ext>
            </a:extLst>
          </p:cNvPr>
          <p:cNvSpPr txBox="1"/>
          <p:nvPr/>
        </p:nvSpPr>
        <p:spPr>
          <a:xfrm>
            <a:off x="4800600" y="10926693"/>
            <a:ext cx="1285517" cy="707886"/>
          </a:xfrm>
          <a:prstGeom prst="rect">
            <a:avLst/>
          </a:prstGeom>
          <a:noFill/>
        </p:spPr>
        <p:txBody>
          <a:bodyPr wrap="square" rtlCol="0">
            <a:spAutoFit/>
          </a:bodyPr>
          <a:lstStyle/>
          <a:p>
            <a:pPr algn="ctr"/>
            <a:r>
              <a:rPr lang="en-GB" sz="4000" dirty="0">
                <a:latin typeface="Patrick Hand" pitchFamily="2" charset="77"/>
              </a:rPr>
              <a:t>mat2</a:t>
            </a:r>
            <a:endParaRPr lang="en-DE" sz="4000" dirty="0">
              <a:latin typeface="Patrick Hand" pitchFamily="2" charset="77"/>
            </a:endParaRPr>
          </a:p>
        </p:txBody>
      </p:sp>
      <p:sp>
        <p:nvSpPr>
          <p:cNvPr id="11" name="Double Bracket 10">
            <a:extLst>
              <a:ext uri="{FF2B5EF4-FFF2-40B4-BE49-F238E27FC236}">
                <a16:creationId xmlns:a16="http://schemas.microsoft.com/office/drawing/2014/main" id="{D0944FD2-43B0-3A23-02FC-4997520AA61E}"/>
              </a:ext>
            </a:extLst>
          </p:cNvPr>
          <p:cNvSpPr/>
          <p:nvPr/>
        </p:nvSpPr>
        <p:spPr>
          <a:xfrm>
            <a:off x="6276616" y="10223361"/>
            <a:ext cx="2143484" cy="2114550"/>
          </a:xfrm>
          <a:prstGeom prst="bracketPair">
            <a:avLst/>
          </a:prstGeom>
          <a:ln w="31750">
            <a:solidFill>
              <a:schemeClr val="tx1"/>
            </a:solidFill>
            <a:headEnd type="none"/>
            <a:tailEnd type="arrow"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DE"/>
          </a:p>
        </p:txBody>
      </p:sp>
      <p:sp>
        <p:nvSpPr>
          <p:cNvPr id="12" name="TextBox 11">
            <a:extLst>
              <a:ext uri="{FF2B5EF4-FFF2-40B4-BE49-F238E27FC236}">
                <a16:creationId xmlns:a16="http://schemas.microsoft.com/office/drawing/2014/main" id="{A405B480-BE18-78F5-3C3B-AA01C64395A5}"/>
              </a:ext>
            </a:extLst>
          </p:cNvPr>
          <p:cNvSpPr txBox="1"/>
          <p:nvPr/>
        </p:nvSpPr>
        <p:spPr>
          <a:xfrm>
            <a:off x="6605206" y="10637966"/>
            <a:ext cx="1486304" cy="1323439"/>
          </a:xfrm>
          <a:prstGeom prst="rect">
            <a:avLst/>
          </a:prstGeom>
          <a:noFill/>
        </p:spPr>
        <p:txBody>
          <a:bodyPr wrap="none" rtlCol="0">
            <a:spAutoFit/>
          </a:bodyPr>
          <a:lstStyle/>
          <a:p>
            <a:pPr algn="l"/>
            <a:r>
              <a:rPr lang="en-GB" sz="4000" dirty="0">
                <a:latin typeface="Patrick Hand" pitchFamily="2" charset="77"/>
              </a:rPr>
              <a:t>5       6</a:t>
            </a:r>
          </a:p>
          <a:p>
            <a:pPr algn="l"/>
            <a:r>
              <a:rPr lang="en-GB" sz="4000" dirty="0">
                <a:latin typeface="Patrick Hand" pitchFamily="2" charset="77"/>
              </a:rPr>
              <a:t>7      8</a:t>
            </a:r>
            <a:endParaRPr lang="en-DE" sz="4000" dirty="0">
              <a:latin typeface="Patrick Hand" pitchFamily="2" charset="77"/>
            </a:endParaRPr>
          </a:p>
        </p:txBody>
      </p:sp>
    </p:spTree>
    <p:extLst>
      <p:ext uri="{BB962C8B-B14F-4D97-AF65-F5344CB8AC3E}">
        <p14:creationId xmlns:p14="http://schemas.microsoft.com/office/powerpoint/2010/main" val="15476704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a:extLst>
            <a:ext uri="{FF2B5EF4-FFF2-40B4-BE49-F238E27FC236}">
              <a16:creationId xmlns:a16="http://schemas.microsoft.com/office/drawing/2014/main" id="{173E1832-29C9-D816-2AFC-8ED79E1EE74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863E269-3916-C6D5-DDE8-4A1CCAC50739}"/>
              </a:ext>
            </a:extLst>
          </p:cNvPr>
          <p:cNvSpPr txBox="1"/>
          <p:nvPr/>
        </p:nvSpPr>
        <p:spPr>
          <a:xfrm>
            <a:off x="223579" y="3104679"/>
            <a:ext cx="9838255" cy="1097069"/>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wrap="square" rtlCol="0" anchor="ctr" anchorCtr="0">
            <a:noAutofit/>
            <a:scene3d>
              <a:camera prst="orthographicFront"/>
              <a:lightRig rig="harsh" dir="t"/>
            </a:scene3d>
            <a:sp3d extrusionH="57150" prstMaterial="matte">
              <a:bevelT w="63500" h="12700" prst="angle"/>
              <a:contourClr>
                <a:schemeClr val="bg1">
                  <a:lumMod val="65000"/>
                </a:schemeClr>
              </a:contourClr>
            </a:sp3d>
          </a:bodyPr>
          <a:lstStyle/>
          <a:p>
            <a:pPr algn="r"/>
            <a:r>
              <a:rPr lang="en-GB" sz="5400" dirty="0">
                <a:ln w="0"/>
                <a:solidFill>
                  <a:schemeClr val="tx1"/>
                </a:solidFill>
                <a:effectLst>
                  <a:outerShdw blurRad="38100" dist="19050" dir="2700000" algn="tl" rotWithShape="0">
                    <a:schemeClr val="dk1">
                      <a:alpha val="40000"/>
                    </a:schemeClr>
                  </a:outerShdw>
                </a:effectLst>
              </a:rPr>
              <a:t>NumPy Matrix Multiplication</a:t>
            </a:r>
            <a:endParaRPr lang="en-GB" sz="1400" b="1" dirty="0">
              <a:ln w="0"/>
              <a:solidFill>
                <a:schemeClr val="tx1"/>
              </a:solidFill>
              <a:effectLst>
                <a:outerShdw blurRad="38100" dist="25400" dir="5400000" algn="ctr" rotWithShape="0">
                  <a:srgbClr val="6E747A">
                    <a:alpha val="43000"/>
                  </a:srgbClr>
                </a:outerShdw>
              </a:effectLst>
              <a:latin typeface="Patrick Hand" pitchFamily="2" charset="77"/>
            </a:endParaRPr>
          </a:p>
        </p:txBody>
      </p:sp>
      <p:pic>
        <p:nvPicPr>
          <p:cNvPr id="5" name="Picture 4">
            <a:extLst>
              <a:ext uri="{FF2B5EF4-FFF2-40B4-BE49-F238E27FC236}">
                <a16:creationId xmlns:a16="http://schemas.microsoft.com/office/drawing/2014/main" id="{21E4CC30-AB61-FE07-6341-2832FA65911F}"/>
              </a:ext>
            </a:extLst>
          </p:cNvPr>
          <p:cNvPicPr>
            <a:picLocks noChangeAspect="1"/>
          </p:cNvPicPr>
          <p:nvPr/>
        </p:nvPicPr>
        <p:blipFill>
          <a:blip r:embed="rId3"/>
          <a:stretch>
            <a:fillRect/>
          </a:stretch>
        </p:blipFill>
        <p:spPr>
          <a:xfrm>
            <a:off x="279499" y="3138586"/>
            <a:ext cx="1063167" cy="1063167"/>
          </a:xfrm>
          <a:prstGeom prst="rect">
            <a:avLst/>
          </a:prstGeom>
        </p:spPr>
      </p:pic>
      <p:pic>
        <p:nvPicPr>
          <p:cNvPr id="6" name="Picture 5">
            <a:extLst>
              <a:ext uri="{FF2B5EF4-FFF2-40B4-BE49-F238E27FC236}">
                <a16:creationId xmlns:a16="http://schemas.microsoft.com/office/drawing/2014/main" id="{C2101CF4-889C-1C14-B8AE-5772AC3763CE}"/>
              </a:ext>
            </a:extLst>
          </p:cNvPr>
          <p:cNvPicPr preferRelativeResize="0">
            <a:picLocks/>
          </p:cNvPicPr>
          <p:nvPr/>
        </p:nvPicPr>
        <p:blipFill rotWithShape="1">
          <a:blip r:embed="rId4"/>
          <a:srcRect l="16394" t="24152" r="12341" b="15258"/>
          <a:stretch>
            <a:fillRect/>
          </a:stretch>
        </p:blipFill>
        <p:spPr>
          <a:xfrm>
            <a:off x="223034" y="4324349"/>
            <a:ext cx="9838800" cy="5400000"/>
          </a:xfrm>
          <a:prstGeom prst="rect">
            <a:avLst/>
          </a:prstGeom>
        </p:spPr>
      </p:pic>
      <p:sp>
        <p:nvSpPr>
          <p:cNvPr id="12" name="TextBox 11">
            <a:extLst>
              <a:ext uri="{FF2B5EF4-FFF2-40B4-BE49-F238E27FC236}">
                <a16:creationId xmlns:a16="http://schemas.microsoft.com/office/drawing/2014/main" id="{D4CF9064-4B2F-79EC-6A8B-6CEC0D54E5C1}"/>
              </a:ext>
            </a:extLst>
          </p:cNvPr>
          <p:cNvSpPr txBox="1"/>
          <p:nvPr/>
        </p:nvSpPr>
        <p:spPr>
          <a:xfrm>
            <a:off x="1961356" y="10221843"/>
            <a:ext cx="4028717" cy="1323439"/>
          </a:xfrm>
          <a:prstGeom prst="rect">
            <a:avLst/>
          </a:prstGeom>
          <a:noFill/>
        </p:spPr>
        <p:txBody>
          <a:bodyPr wrap="square" rtlCol="0">
            <a:spAutoFit/>
          </a:bodyPr>
          <a:lstStyle/>
          <a:p>
            <a:pPr algn="ctr"/>
            <a:r>
              <a:rPr lang="en-GB" sz="4000" dirty="0">
                <a:latin typeface="Patrick Hand" pitchFamily="2" charset="77"/>
              </a:rPr>
              <a:t>multiplication1</a:t>
            </a:r>
          </a:p>
          <a:p>
            <a:pPr algn="ctr"/>
            <a:r>
              <a:rPr lang="en-GB" sz="4000" dirty="0">
                <a:latin typeface="Patrick Hand" pitchFamily="2" charset="77"/>
              </a:rPr>
              <a:t>multiplication2</a:t>
            </a:r>
          </a:p>
        </p:txBody>
      </p:sp>
      <p:sp>
        <p:nvSpPr>
          <p:cNvPr id="13" name="Double Bracket 12">
            <a:extLst>
              <a:ext uri="{FF2B5EF4-FFF2-40B4-BE49-F238E27FC236}">
                <a16:creationId xmlns:a16="http://schemas.microsoft.com/office/drawing/2014/main" id="{3D73C771-62B0-4F9A-1677-D41FAAD1BD81}"/>
              </a:ext>
            </a:extLst>
          </p:cNvPr>
          <p:cNvSpPr/>
          <p:nvPr/>
        </p:nvSpPr>
        <p:spPr>
          <a:xfrm>
            <a:off x="6180572" y="9880461"/>
            <a:ext cx="2143484" cy="2114550"/>
          </a:xfrm>
          <a:prstGeom prst="bracketPair">
            <a:avLst/>
          </a:prstGeom>
          <a:ln w="31750">
            <a:solidFill>
              <a:schemeClr val="tx1"/>
            </a:solidFill>
            <a:headEnd type="none"/>
            <a:tailEnd type="arrow"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DE"/>
          </a:p>
        </p:txBody>
      </p:sp>
      <p:sp>
        <p:nvSpPr>
          <p:cNvPr id="14" name="TextBox 13">
            <a:extLst>
              <a:ext uri="{FF2B5EF4-FFF2-40B4-BE49-F238E27FC236}">
                <a16:creationId xmlns:a16="http://schemas.microsoft.com/office/drawing/2014/main" id="{3E830A40-53C6-756D-6B3B-A30123F981C3}"/>
              </a:ext>
            </a:extLst>
          </p:cNvPr>
          <p:cNvSpPr txBox="1"/>
          <p:nvPr/>
        </p:nvSpPr>
        <p:spPr>
          <a:xfrm>
            <a:off x="6509162" y="10295066"/>
            <a:ext cx="1486304" cy="1323439"/>
          </a:xfrm>
          <a:prstGeom prst="rect">
            <a:avLst/>
          </a:prstGeom>
          <a:noFill/>
        </p:spPr>
        <p:txBody>
          <a:bodyPr wrap="none" rtlCol="0">
            <a:spAutoFit/>
          </a:bodyPr>
          <a:lstStyle/>
          <a:p>
            <a:pPr algn="ctr"/>
            <a:r>
              <a:rPr lang="en-GB" sz="4000" dirty="0">
                <a:latin typeface="Patrick Hand" pitchFamily="2" charset="77"/>
              </a:rPr>
              <a:t>5       6</a:t>
            </a:r>
          </a:p>
          <a:p>
            <a:pPr algn="ctr"/>
            <a:r>
              <a:rPr lang="en-GB" sz="4000" dirty="0">
                <a:latin typeface="Patrick Hand" pitchFamily="2" charset="77"/>
              </a:rPr>
              <a:t>7      8</a:t>
            </a:r>
            <a:endParaRPr lang="en-DE" sz="4000" dirty="0">
              <a:latin typeface="Patrick Hand" pitchFamily="2" charset="77"/>
            </a:endParaRPr>
          </a:p>
        </p:txBody>
      </p:sp>
      <p:grpSp>
        <p:nvGrpSpPr>
          <p:cNvPr id="19" name="Group 18">
            <a:extLst>
              <a:ext uri="{FF2B5EF4-FFF2-40B4-BE49-F238E27FC236}">
                <a16:creationId xmlns:a16="http://schemas.microsoft.com/office/drawing/2014/main" id="{AA50E18C-1F43-9739-7A72-579F64E83C62}"/>
              </a:ext>
            </a:extLst>
          </p:cNvPr>
          <p:cNvGrpSpPr/>
          <p:nvPr/>
        </p:nvGrpSpPr>
        <p:grpSpPr>
          <a:xfrm>
            <a:off x="266700" y="12318861"/>
            <a:ext cx="8057356" cy="2114550"/>
            <a:chOff x="419100" y="12318861"/>
            <a:chExt cx="8057356" cy="2114550"/>
          </a:xfrm>
        </p:grpSpPr>
        <p:sp>
          <p:nvSpPr>
            <p:cNvPr id="16" name="TextBox 15">
              <a:extLst>
                <a:ext uri="{FF2B5EF4-FFF2-40B4-BE49-F238E27FC236}">
                  <a16:creationId xmlns:a16="http://schemas.microsoft.com/office/drawing/2014/main" id="{B6945A97-02AD-B5B2-46CC-C8944A7510E7}"/>
                </a:ext>
              </a:extLst>
            </p:cNvPr>
            <p:cNvSpPr txBox="1"/>
            <p:nvPr/>
          </p:nvSpPr>
          <p:spPr>
            <a:xfrm>
              <a:off x="419100" y="12660243"/>
              <a:ext cx="5723373" cy="707886"/>
            </a:xfrm>
            <a:prstGeom prst="rect">
              <a:avLst/>
            </a:prstGeom>
            <a:noFill/>
          </p:spPr>
          <p:txBody>
            <a:bodyPr wrap="square" rtlCol="0">
              <a:spAutoFit/>
            </a:bodyPr>
            <a:lstStyle/>
            <a:p>
              <a:pPr algn="ctr"/>
              <a:r>
                <a:rPr lang="en-GB" sz="4000" dirty="0" err="1">
                  <a:latin typeface="Patrick Hand" pitchFamily="2" charset="77"/>
                </a:rPr>
                <a:t>element_wise_multiplication</a:t>
              </a:r>
              <a:endParaRPr lang="en-GB" sz="4000" dirty="0">
                <a:latin typeface="Patrick Hand" pitchFamily="2" charset="77"/>
              </a:endParaRPr>
            </a:p>
          </p:txBody>
        </p:sp>
        <p:sp>
          <p:nvSpPr>
            <p:cNvPr id="17" name="Double Bracket 16">
              <a:extLst>
                <a:ext uri="{FF2B5EF4-FFF2-40B4-BE49-F238E27FC236}">
                  <a16:creationId xmlns:a16="http://schemas.microsoft.com/office/drawing/2014/main" id="{0CD5E1D3-E079-2748-5105-2054DBB702C4}"/>
                </a:ext>
              </a:extLst>
            </p:cNvPr>
            <p:cNvSpPr/>
            <p:nvPr/>
          </p:nvSpPr>
          <p:spPr>
            <a:xfrm>
              <a:off x="6332972" y="12318861"/>
              <a:ext cx="2143484" cy="2114550"/>
            </a:xfrm>
            <a:prstGeom prst="bracketPair">
              <a:avLst/>
            </a:prstGeom>
            <a:ln w="31750">
              <a:solidFill>
                <a:schemeClr val="tx1"/>
              </a:solidFill>
              <a:headEnd type="none"/>
              <a:tailEnd type="arrow"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DE"/>
            </a:p>
          </p:txBody>
        </p:sp>
        <p:sp>
          <p:nvSpPr>
            <p:cNvPr id="18" name="TextBox 17">
              <a:extLst>
                <a:ext uri="{FF2B5EF4-FFF2-40B4-BE49-F238E27FC236}">
                  <a16:creationId xmlns:a16="http://schemas.microsoft.com/office/drawing/2014/main" id="{A3A189EE-5A50-41F1-DE40-919E33FB4306}"/>
                </a:ext>
              </a:extLst>
            </p:cNvPr>
            <p:cNvSpPr txBox="1"/>
            <p:nvPr/>
          </p:nvSpPr>
          <p:spPr>
            <a:xfrm>
              <a:off x="6661562" y="12733466"/>
              <a:ext cx="1486304" cy="1323439"/>
            </a:xfrm>
            <a:prstGeom prst="rect">
              <a:avLst/>
            </a:prstGeom>
            <a:noFill/>
          </p:spPr>
          <p:txBody>
            <a:bodyPr wrap="none" rtlCol="0">
              <a:spAutoFit/>
            </a:bodyPr>
            <a:lstStyle/>
            <a:p>
              <a:pPr algn="ctr"/>
              <a:r>
                <a:rPr lang="en-GB" sz="4000" dirty="0">
                  <a:latin typeface="Patrick Hand" pitchFamily="2" charset="77"/>
                </a:rPr>
                <a:t>5       0</a:t>
              </a:r>
            </a:p>
            <a:p>
              <a:pPr algn="ctr"/>
              <a:r>
                <a:rPr lang="en-GB" sz="4000" dirty="0">
                  <a:latin typeface="Patrick Hand" pitchFamily="2" charset="77"/>
                </a:rPr>
                <a:t>0      8</a:t>
              </a:r>
              <a:endParaRPr lang="en-DE" sz="4000" dirty="0">
                <a:latin typeface="Patrick Hand" pitchFamily="2" charset="77"/>
              </a:endParaRPr>
            </a:p>
          </p:txBody>
        </p:sp>
      </p:grpSp>
    </p:spTree>
    <p:extLst>
      <p:ext uri="{BB962C8B-B14F-4D97-AF65-F5344CB8AC3E}">
        <p14:creationId xmlns:p14="http://schemas.microsoft.com/office/powerpoint/2010/main" val="1419818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effectLst/>
      </p:bgPr>
    </p:bg>
    <p:spTree>
      <p:nvGrpSpPr>
        <p:cNvPr id="1" name="">
          <a:extLst>
            <a:ext uri="{FF2B5EF4-FFF2-40B4-BE49-F238E27FC236}">
              <a16:creationId xmlns:a16="http://schemas.microsoft.com/office/drawing/2014/main" id="{7DB5F593-22A7-F7C6-F23D-6320A11735D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10C963E-2F72-2382-301F-E246F8CC0991}"/>
              </a:ext>
            </a:extLst>
          </p:cNvPr>
          <p:cNvSpPr txBox="1"/>
          <p:nvPr/>
        </p:nvSpPr>
        <p:spPr>
          <a:xfrm>
            <a:off x="223579" y="3104679"/>
            <a:ext cx="9838255" cy="1097069"/>
          </a:xfrm>
          <a:prstGeom prst="rect">
            <a:avLst/>
          </a:prstGeom>
          <a:ln w="25400">
            <a:solidFill>
              <a:schemeClr val="bg1"/>
            </a:solidFill>
          </a:ln>
        </p:spPr>
        <p:style>
          <a:lnRef idx="0">
            <a:schemeClr val="accent1"/>
          </a:lnRef>
          <a:fillRef idx="3">
            <a:schemeClr val="accent1"/>
          </a:fillRef>
          <a:effectRef idx="3">
            <a:schemeClr val="accent1"/>
          </a:effectRef>
          <a:fontRef idx="minor">
            <a:schemeClr val="lt1"/>
          </a:fontRef>
        </p:style>
        <p:txBody>
          <a:bodyPr wrap="square" rtlCol="0" anchor="ctr" anchorCtr="0">
            <a:noAutofit/>
            <a:scene3d>
              <a:camera prst="orthographicFront"/>
              <a:lightRig rig="soft" dir="t">
                <a:rot lat="0" lon="0" rev="15600000"/>
              </a:lightRig>
            </a:scene3d>
            <a:sp3d extrusionH="57150" prstMaterial="softEdge">
              <a:bevelT w="25400" h="38100"/>
            </a:sp3d>
          </a:bodyPr>
          <a:lstStyle/>
          <a:p>
            <a:pPr algn="ctr"/>
            <a:r>
              <a:rPr lang="en-GB" sz="5400" b="1">
                <a:ln/>
                <a:solidFill>
                  <a:schemeClr val="accent4"/>
                </a:solidFill>
              </a:rPr>
              <a:t>Neural Network Neuron</a:t>
            </a:r>
            <a:endParaRPr lang="en-GB" sz="1400" b="1" dirty="0">
              <a:ln/>
              <a:solidFill>
                <a:schemeClr val="accent4"/>
              </a:solidFill>
              <a:latin typeface="Patrick Hand" pitchFamily="2" charset="77"/>
            </a:endParaRPr>
          </a:p>
        </p:txBody>
      </p:sp>
      <p:pic>
        <p:nvPicPr>
          <p:cNvPr id="5" name="Picture 4">
            <a:extLst>
              <a:ext uri="{FF2B5EF4-FFF2-40B4-BE49-F238E27FC236}">
                <a16:creationId xmlns:a16="http://schemas.microsoft.com/office/drawing/2014/main" id="{9E52F5F7-D172-577A-5DA6-E0287F4FBC45}"/>
              </a:ext>
            </a:extLst>
          </p:cNvPr>
          <p:cNvPicPr>
            <a:picLocks noChangeAspect="1"/>
          </p:cNvPicPr>
          <p:nvPr/>
        </p:nvPicPr>
        <p:blipFill>
          <a:blip r:embed="rId2"/>
          <a:stretch>
            <a:fillRect/>
          </a:stretch>
        </p:blipFill>
        <p:spPr>
          <a:xfrm>
            <a:off x="291074" y="3127011"/>
            <a:ext cx="1063167" cy="1063167"/>
          </a:xfrm>
          <a:prstGeom prst="rect">
            <a:avLst/>
          </a:prstGeom>
        </p:spPr>
      </p:pic>
      <p:sp>
        <p:nvSpPr>
          <p:cNvPr id="7" name="TextBox 6">
            <a:extLst>
              <a:ext uri="{FF2B5EF4-FFF2-40B4-BE49-F238E27FC236}">
                <a16:creationId xmlns:a16="http://schemas.microsoft.com/office/drawing/2014/main" id="{1B5A4101-4D5E-685F-3D48-05D3473EA11A}"/>
              </a:ext>
            </a:extLst>
          </p:cNvPr>
          <p:cNvSpPr txBox="1"/>
          <p:nvPr/>
        </p:nvSpPr>
        <p:spPr>
          <a:xfrm>
            <a:off x="354856" y="5400675"/>
            <a:ext cx="1861407" cy="584775"/>
          </a:xfrm>
          <a:prstGeom prst="rect">
            <a:avLst/>
          </a:prstGeom>
          <a:noFill/>
        </p:spPr>
        <p:txBody>
          <a:bodyPr wrap="none" rtlCol="0">
            <a:spAutoFit/>
          </a:bodyPr>
          <a:lstStyle/>
          <a:p>
            <a:pPr algn="l"/>
            <a:r>
              <a:rPr lang="en-GB" sz="32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Patrick Hand" pitchFamily="2" charset="77"/>
              </a:rPr>
              <a:t>I</a:t>
            </a:r>
            <a:r>
              <a:rPr lang="en-DE" sz="32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Patrick Hand" pitchFamily="2" charset="77"/>
              </a:rPr>
              <a:t>nput_1 (1)</a:t>
            </a:r>
          </a:p>
        </p:txBody>
      </p:sp>
      <p:sp>
        <p:nvSpPr>
          <p:cNvPr id="8" name="TextBox 7">
            <a:extLst>
              <a:ext uri="{FF2B5EF4-FFF2-40B4-BE49-F238E27FC236}">
                <a16:creationId xmlns:a16="http://schemas.microsoft.com/office/drawing/2014/main" id="{30BDDEC7-07A9-4C1F-095E-F840C48C28C1}"/>
              </a:ext>
            </a:extLst>
          </p:cNvPr>
          <p:cNvSpPr txBox="1"/>
          <p:nvPr/>
        </p:nvSpPr>
        <p:spPr>
          <a:xfrm>
            <a:off x="354856" y="6381749"/>
            <a:ext cx="1947969" cy="584775"/>
          </a:xfrm>
          <a:prstGeom prst="rect">
            <a:avLst/>
          </a:prstGeom>
          <a:noFill/>
        </p:spPr>
        <p:txBody>
          <a:bodyPr wrap="none" rtlCol="0">
            <a:spAutoFit/>
          </a:bodyPr>
          <a:lstStyle/>
          <a:p>
            <a:pPr algn="l"/>
            <a:r>
              <a:rPr lang="en-GB" sz="32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Patrick Hand" pitchFamily="2" charset="77"/>
              </a:rPr>
              <a:t>I</a:t>
            </a:r>
            <a:r>
              <a:rPr lang="en-DE" sz="32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Patrick Hand" pitchFamily="2" charset="77"/>
              </a:rPr>
              <a:t>nput_2 (2)</a:t>
            </a:r>
          </a:p>
        </p:txBody>
      </p:sp>
      <p:sp>
        <p:nvSpPr>
          <p:cNvPr id="9" name="TextBox 8">
            <a:extLst>
              <a:ext uri="{FF2B5EF4-FFF2-40B4-BE49-F238E27FC236}">
                <a16:creationId xmlns:a16="http://schemas.microsoft.com/office/drawing/2014/main" id="{D5F95503-4F39-14C6-EC5B-2CB100E5B254}"/>
              </a:ext>
            </a:extLst>
          </p:cNvPr>
          <p:cNvSpPr txBox="1"/>
          <p:nvPr/>
        </p:nvSpPr>
        <p:spPr>
          <a:xfrm>
            <a:off x="354856" y="7362823"/>
            <a:ext cx="1931939" cy="584775"/>
          </a:xfrm>
          <a:prstGeom prst="rect">
            <a:avLst/>
          </a:prstGeom>
          <a:noFill/>
        </p:spPr>
        <p:txBody>
          <a:bodyPr wrap="none" rtlCol="0">
            <a:spAutoFit/>
          </a:bodyPr>
          <a:lstStyle/>
          <a:p>
            <a:pPr algn="l"/>
            <a:r>
              <a:rPr lang="en-GB" sz="32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Patrick Hand" pitchFamily="2" charset="77"/>
              </a:rPr>
              <a:t>I</a:t>
            </a:r>
            <a:r>
              <a:rPr lang="en-DE" sz="32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Patrick Hand" pitchFamily="2" charset="77"/>
              </a:rPr>
              <a:t>nput_3 (3)</a:t>
            </a:r>
          </a:p>
        </p:txBody>
      </p:sp>
      <p:sp>
        <p:nvSpPr>
          <p:cNvPr id="10" name="TextBox 9">
            <a:extLst>
              <a:ext uri="{FF2B5EF4-FFF2-40B4-BE49-F238E27FC236}">
                <a16:creationId xmlns:a16="http://schemas.microsoft.com/office/drawing/2014/main" id="{F7C649D4-DE2C-F795-4DB1-53DC1B32585B}"/>
              </a:ext>
            </a:extLst>
          </p:cNvPr>
          <p:cNvSpPr txBox="1"/>
          <p:nvPr/>
        </p:nvSpPr>
        <p:spPr>
          <a:xfrm>
            <a:off x="2903563" y="5400675"/>
            <a:ext cx="1136850" cy="584775"/>
          </a:xfrm>
          <a:prstGeom prst="rect">
            <a:avLst/>
          </a:prstGeom>
          <a:noFill/>
        </p:spPr>
        <p:txBody>
          <a:bodyPr wrap="none" rtlCol="0">
            <a:spAutoFit/>
          </a:bodyPr>
          <a:lstStyle/>
          <a:p>
            <a:pPr algn="l"/>
            <a:r>
              <a:rPr lang="en-US" sz="32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Patrick Hand" pitchFamily="2" charset="77"/>
              </a:rPr>
              <a:t>W=0.2</a:t>
            </a:r>
            <a:endParaRPr lang="en-DE" sz="32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Patrick Hand" pitchFamily="2" charset="77"/>
            </a:endParaRPr>
          </a:p>
        </p:txBody>
      </p:sp>
      <p:sp>
        <p:nvSpPr>
          <p:cNvPr id="11" name="TextBox 10">
            <a:extLst>
              <a:ext uri="{FF2B5EF4-FFF2-40B4-BE49-F238E27FC236}">
                <a16:creationId xmlns:a16="http://schemas.microsoft.com/office/drawing/2014/main" id="{D71766CC-D5F7-0298-B8C9-A8FEBC5996A5}"/>
              </a:ext>
            </a:extLst>
          </p:cNvPr>
          <p:cNvSpPr txBox="1"/>
          <p:nvPr/>
        </p:nvSpPr>
        <p:spPr>
          <a:xfrm>
            <a:off x="2903563" y="6381749"/>
            <a:ext cx="1122423" cy="584775"/>
          </a:xfrm>
          <a:prstGeom prst="rect">
            <a:avLst/>
          </a:prstGeom>
          <a:noFill/>
        </p:spPr>
        <p:txBody>
          <a:bodyPr wrap="none" rtlCol="0">
            <a:spAutoFit/>
          </a:bodyPr>
          <a:lstStyle/>
          <a:p>
            <a:pPr algn="l"/>
            <a:r>
              <a:rPr lang="en-US" sz="32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Patrick Hand" pitchFamily="2" charset="77"/>
              </a:rPr>
              <a:t>W=0.8</a:t>
            </a:r>
            <a:endParaRPr lang="en-DE" sz="32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Patrick Hand" pitchFamily="2" charset="77"/>
            </a:endParaRPr>
          </a:p>
        </p:txBody>
      </p:sp>
      <p:sp>
        <p:nvSpPr>
          <p:cNvPr id="15" name="TextBox 14">
            <a:extLst>
              <a:ext uri="{FF2B5EF4-FFF2-40B4-BE49-F238E27FC236}">
                <a16:creationId xmlns:a16="http://schemas.microsoft.com/office/drawing/2014/main" id="{C3A124B6-7FA6-7235-5D56-D70495203681}"/>
              </a:ext>
            </a:extLst>
          </p:cNvPr>
          <p:cNvSpPr txBox="1"/>
          <p:nvPr/>
        </p:nvSpPr>
        <p:spPr>
          <a:xfrm>
            <a:off x="2903563" y="7362823"/>
            <a:ext cx="1282723" cy="584775"/>
          </a:xfrm>
          <a:prstGeom prst="rect">
            <a:avLst/>
          </a:prstGeom>
          <a:noFill/>
        </p:spPr>
        <p:txBody>
          <a:bodyPr wrap="none" rtlCol="0">
            <a:spAutoFit/>
          </a:bodyPr>
          <a:lstStyle/>
          <a:p>
            <a:pPr algn="l"/>
            <a:r>
              <a:rPr lang="en-US" sz="32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Patrick Hand" pitchFamily="2" charset="77"/>
              </a:rPr>
              <a:t>W=-0.5</a:t>
            </a:r>
            <a:endParaRPr lang="en-DE" sz="32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Patrick Hand" pitchFamily="2" charset="77"/>
            </a:endParaRPr>
          </a:p>
        </p:txBody>
      </p:sp>
      <p:cxnSp>
        <p:nvCxnSpPr>
          <p:cNvPr id="21" name="Straight Arrow Connector 20">
            <a:extLst>
              <a:ext uri="{FF2B5EF4-FFF2-40B4-BE49-F238E27FC236}">
                <a16:creationId xmlns:a16="http://schemas.microsoft.com/office/drawing/2014/main" id="{C147649A-AC9E-4667-56D1-32532B2FA84B}"/>
              </a:ext>
            </a:extLst>
          </p:cNvPr>
          <p:cNvCxnSpPr>
            <a:cxnSpLocks/>
          </p:cNvCxnSpPr>
          <p:nvPr/>
        </p:nvCxnSpPr>
        <p:spPr>
          <a:xfrm>
            <a:off x="2216263" y="5693063"/>
            <a:ext cx="720000" cy="0"/>
          </a:xfrm>
          <a:prstGeom prst="straightConnector1">
            <a:avLst/>
          </a:prstGeom>
          <a:ln w="31750">
            <a:solidFill>
              <a:schemeClr val="bg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83D96E72-68DA-4919-D974-9EE861F57CA9}"/>
              </a:ext>
            </a:extLst>
          </p:cNvPr>
          <p:cNvCxnSpPr>
            <a:cxnSpLocks/>
          </p:cNvCxnSpPr>
          <p:nvPr/>
        </p:nvCxnSpPr>
        <p:spPr>
          <a:xfrm>
            <a:off x="2216263" y="7655211"/>
            <a:ext cx="720000" cy="0"/>
          </a:xfrm>
          <a:prstGeom prst="straightConnector1">
            <a:avLst/>
          </a:prstGeom>
          <a:ln w="31750">
            <a:solidFill>
              <a:schemeClr val="bg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022849C2-E97B-8D26-9255-7FAE234652F1}"/>
              </a:ext>
            </a:extLst>
          </p:cNvPr>
          <p:cNvCxnSpPr>
            <a:cxnSpLocks/>
          </p:cNvCxnSpPr>
          <p:nvPr/>
        </p:nvCxnSpPr>
        <p:spPr>
          <a:xfrm>
            <a:off x="3974658" y="5659219"/>
            <a:ext cx="1187089" cy="503567"/>
          </a:xfrm>
          <a:prstGeom prst="straightConnector1">
            <a:avLst/>
          </a:prstGeom>
          <a:ln w="31750">
            <a:solidFill>
              <a:schemeClr val="bg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AAEFF39A-6BF7-B560-0FF9-21210E08C82F}"/>
              </a:ext>
            </a:extLst>
          </p:cNvPr>
          <p:cNvCxnSpPr>
            <a:cxnSpLocks/>
            <a:stCxn id="11" idx="3"/>
            <a:endCxn id="33" idx="1"/>
          </p:cNvCxnSpPr>
          <p:nvPr/>
        </p:nvCxnSpPr>
        <p:spPr>
          <a:xfrm flipV="1">
            <a:off x="4025986" y="6657485"/>
            <a:ext cx="1121334" cy="16652"/>
          </a:xfrm>
          <a:prstGeom prst="straightConnector1">
            <a:avLst/>
          </a:prstGeom>
          <a:ln w="31750">
            <a:solidFill>
              <a:schemeClr val="bg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CFA9FA9F-8460-EF02-4578-A496A8C0BC81}"/>
              </a:ext>
            </a:extLst>
          </p:cNvPr>
          <p:cNvCxnSpPr>
            <a:cxnSpLocks/>
          </p:cNvCxnSpPr>
          <p:nvPr/>
        </p:nvCxnSpPr>
        <p:spPr>
          <a:xfrm flipV="1">
            <a:off x="4198044" y="7184993"/>
            <a:ext cx="963703" cy="466033"/>
          </a:xfrm>
          <a:prstGeom prst="straightConnector1">
            <a:avLst/>
          </a:prstGeom>
          <a:ln w="31750">
            <a:solidFill>
              <a:schemeClr val="bg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5E346C75-2443-DB10-1736-9540B5634B55}"/>
              </a:ext>
            </a:extLst>
          </p:cNvPr>
          <p:cNvSpPr txBox="1"/>
          <p:nvPr/>
        </p:nvSpPr>
        <p:spPr>
          <a:xfrm>
            <a:off x="5147320" y="6180431"/>
            <a:ext cx="4783237" cy="954107"/>
          </a:xfrm>
          <a:prstGeom prst="rect">
            <a:avLst/>
          </a:prstGeom>
          <a:noFill/>
        </p:spPr>
        <p:txBody>
          <a:bodyPr wrap="square" rtlCol="0">
            <a:spAutoFit/>
          </a:bodyPr>
          <a:lstStyle/>
          <a:p>
            <a:r>
              <a:rPr lang="en-US" sz="28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Patrick Hand" pitchFamily="2" charset="77"/>
              </a:rPr>
              <a:t>[ neuron ] + bias(0.7)     --&gt; output</a:t>
            </a:r>
          </a:p>
          <a:p>
            <a:r>
              <a:rPr lang="en-US" sz="28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Patrick Hand" pitchFamily="2" charset="77"/>
              </a:rPr>
              <a:t>1*0.2+2*0.8+3*-0.5+0.7 --&gt; 1.0</a:t>
            </a:r>
            <a:endParaRPr lang="en-DE" sz="28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Patrick Hand" pitchFamily="2" charset="77"/>
            </a:endParaRPr>
          </a:p>
        </p:txBody>
      </p:sp>
      <p:cxnSp>
        <p:nvCxnSpPr>
          <p:cNvPr id="50" name="Straight Arrow Connector 49">
            <a:extLst>
              <a:ext uri="{FF2B5EF4-FFF2-40B4-BE49-F238E27FC236}">
                <a16:creationId xmlns:a16="http://schemas.microsoft.com/office/drawing/2014/main" id="{57CF8DB9-8828-FEB8-62F0-2F7CBA38D004}"/>
              </a:ext>
            </a:extLst>
          </p:cNvPr>
          <p:cNvCxnSpPr>
            <a:cxnSpLocks/>
          </p:cNvCxnSpPr>
          <p:nvPr/>
        </p:nvCxnSpPr>
        <p:spPr>
          <a:xfrm>
            <a:off x="2216263" y="6671253"/>
            <a:ext cx="720000" cy="0"/>
          </a:xfrm>
          <a:prstGeom prst="straightConnector1">
            <a:avLst/>
          </a:prstGeom>
          <a:ln w="31750">
            <a:solidFill>
              <a:schemeClr val="bg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1C59D28F-ECC7-6381-3E2A-D37F93FA68E2}"/>
              </a:ext>
            </a:extLst>
          </p:cNvPr>
          <p:cNvSpPr txBox="1"/>
          <p:nvPr/>
        </p:nvSpPr>
        <p:spPr>
          <a:xfrm>
            <a:off x="257326" y="8603455"/>
            <a:ext cx="9770760" cy="923330"/>
          </a:xfrm>
          <a:prstGeom prst="rect">
            <a:avLst/>
          </a:prstGeom>
          <a:noFill/>
        </p:spPr>
        <p:txBody>
          <a:bodyPr wrap="square" rtlCol="0">
            <a:spAutoFit/>
          </a:bodyPr>
          <a:lstStyle/>
          <a:p>
            <a:pPr algn="ctr"/>
            <a:r>
              <a:rPr lang="en-GB" sz="5400" dirty="0">
                <a:latin typeface="Patrick Hand" pitchFamily="2" charset="77"/>
              </a:rPr>
              <a:t>Simulating a Neural Network Neuron</a:t>
            </a:r>
          </a:p>
        </p:txBody>
      </p:sp>
      <p:sp>
        <p:nvSpPr>
          <p:cNvPr id="53" name="Right Arrow 52">
            <a:extLst>
              <a:ext uri="{FF2B5EF4-FFF2-40B4-BE49-F238E27FC236}">
                <a16:creationId xmlns:a16="http://schemas.microsoft.com/office/drawing/2014/main" id="{4E9F9069-8009-7877-35F7-B66768C848FD}"/>
              </a:ext>
            </a:extLst>
          </p:cNvPr>
          <p:cNvSpPr/>
          <p:nvPr/>
        </p:nvSpPr>
        <p:spPr>
          <a:xfrm>
            <a:off x="4407297" y="9715493"/>
            <a:ext cx="1470818" cy="700087"/>
          </a:xfrm>
          <a:prstGeom prst="rightArrow">
            <a:avLst/>
          </a:prstGeom>
          <a:ln w="25400">
            <a:solidFill>
              <a:schemeClr val="bg1"/>
            </a:solidFill>
          </a:ln>
        </p:spPr>
        <p:style>
          <a:lnRef idx="0">
            <a:schemeClr val="accent1"/>
          </a:lnRef>
          <a:fillRef idx="3">
            <a:schemeClr val="accent1"/>
          </a:fillRef>
          <a:effectRef idx="3">
            <a:schemeClr val="accent1"/>
          </a:effectRef>
          <a:fontRef idx="minor">
            <a:schemeClr val="lt1"/>
          </a:fontRef>
        </p:style>
        <p:txBody>
          <a:bodyPr wrap="square" rtlCol="0" anchor="ctr" anchorCtr="0">
            <a:noAutofit/>
            <a:scene3d>
              <a:camera prst="orthographicFront"/>
              <a:lightRig rig="soft" dir="t">
                <a:rot lat="0" lon="0" rev="15600000"/>
              </a:lightRig>
            </a:scene3d>
            <a:sp3d extrusionH="57150" prstMaterial="softEdge">
              <a:bevelT w="25400" h="38100"/>
            </a:sp3d>
          </a:bodyPr>
          <a:lstStyle/>
          <a:p>
            <a:pPr algn="ctr"/>
            <a:endParaRPr lang="en-DE" sz="5400" b="1" dirty="0">
              <a:ln/>
              <a:solidFill>
                <a:schemeClr val="accent4"/>
              </a:solidFill>
            </a:endParaRPr>
          </a:p>
        </p:txBody>
      </p:sp>
      <p:sp>
        <p:nvSpPr>
          <p:cNvPr id="69" name="TextBox 68">
            <a:extLst>
              <a:ext uri="{FF2B5EF4-FFF2-40B4-BE49-F238E27FC236}">
                <a16:creationId xmlns:a16="http://schemas.microsoft.com/office/drawing/2014/main" id="{38436260-86E2-8F6A-CCB5-3F8C254C2B47}"/>
              </a:ext>
            </a:extLst>
          </p:cNvPr>
          <p:cNvSpPr txBox="1"/>
          <p:nvPr/>
        </p:nvSpPr>
        <p:spPr>
          <a:xfrm>
            <a:off x="2403129" y="5344904"/>
            <a:ext cx="278957" cy="584775"/>
          </a:xfrm>
          <a:prstGeom prst="rect">
            <a:avLst/>
          </a:prstGeom>
          <a:noFill/>
        </p:spPr>
        <p:txBody>
          <a:bodyPr wrap="square" rtlCol="0">
            <a:spAutoFit/>
          </a:bodyPr>
          <a:lstStyle/>
          <a:p>
            <a:pPr algn="ctr"/>
            <a:r>
              <a:rPr lang="en-US" sz="32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Patrick Hand" pitchFamily="2" charset="77"/>
              </a:rPr>
              <a:t>*</a:t>
            </a:r>
            <a:endParaRPr lang="en-DE" sz="32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Patrick Hand" pitchFamily="2" charset="77"/>
            </a:endParaRPr>
          </a:p>
        </p:txBody>
      </p:sp>
      <p:sp>
        <p:nvSpPr>
          <p:cNvPr id="70" name="TextBox 69">
            <a:extLst>
              <a:ext uri="{FF2B5EF4-FFF2-40B4-BE49-F238E27FC236}">
                <a16:creationId xmlns:a16="http://schemas.microsoft.com/office/drawing/2014/main" id="{9C5A7313-7CE5-5750-A6EB-3746A27840D5}"/>
              </a:ext>
            </a:extLst>
          </p:cNvPr>
          <p:cNvSpPr txBox="1"/>
          <p:nvPr/>
        </p:nvSpPr>
        <p:spPr>
          <a:xfrm>
            <a:off x="2403129" y="6325987"/>
            <a:ext cx="278957" cy="584775"/>
          </a:xfrm>
          <a:prstGeom prst="rect">
            <a:avLst/>
          </a:prstGeom>
          <a:noFill/>
        </p:spPr>
        <p:txBody>
          <a:bodyPr wrap="square" rtlCol="0">
            <a:spAutoFit/>
          </a:bodyPr>
          <a:lstStyle/>
          <a:p>
            <a:pPr algn="ctr"/>
            <a:r>
              <a:rPr lang="en-US" sz="32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Patrick Hand" pitchFamily="2" charset="77"/>
              </a:rPr>
              <a:t>*</a:t>
            </a:r>
            <a:endParaRPr lang="en-DE" sz="32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Patrick Hand" pitchFamily="2" charset="77"/>
            </a:endParaRPr>
          </a:p>
        </p:txBody>
      </p:sp>
      <p:sp>
        <p:nvSpPr>
          <p:cNvPr id="71" name="TextBox 70">
            <a:extLst>
              <a:ext uri="{FF2B5EF4-FFF2-40B4-BE49-F238E27FC236}">
                <a16:creationId xmlns:a16="http://schemas.microsoft.com/office/drawing/2014/main" id="{426AB5B8-9702-9702-F287-AF64429BF63F}"/>
              </a:ext>
            </a:extLst>
          </p:cNvPr>
          <p:cNvSpPr txBox="1"/>
          <p:nvPr/>
        </p:nvSpPr>
        <p:spPr>
          <a:xfrm>
            <a:off x="2403129" y="7321359"/>
            <a:ext cx="278957" cy="584775"/>
          </a:xfrm>
          <a:prstGeom prst="rect">
            <a:avLst/>
          </a:prstGeom>
          <a:noFill/>
        </p:spPr>
        <p:txBody>
          <a:bodyPr wrap="square" rtlCol="0">
            <a:spAutoFit/>
          </a:bodyPr>
          <a:lstStyle/>
          <a:p>
            <a:pPr algn="ctr"/>
            <a:r>
              <a:rPr lang="en-US" sz="32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Patrick Hand" pitchFamily="2" charset="77"/>
              </a:rPr>
              <a:t>*</a:t>
            </a:r>
            <a:endParaRPr lang="en-DE" sz="32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Patrick Hand" pitchFamily="2" charset="77"/>
            </a:endParaRPr>
          </a:p>
        </p:txBody>
      </p:sp>
      <p:sp>
        <p:nvSpPr>
          <p:cNvPr id="72" name="TextBox 71">
            <a:extLst>
              <a:ext uri="{FF2B5EF4-FFF2-40B4-BE49-F238E27FC236}">
                <a16:creationId xmlns:a16="http://schemas.microsoft.com/office/drawing/2014/main" id="{8EC09BB0-E57C-AE3C-30E1-F01CFA061AE1}"/>
              </a:ext>
            </a:extLst>
          </p:cNvPr>
          <p:cNvSpPr txBox="1"/>
          <p:nvPr/>
        </p:nvSpPr>
        <p:spPr>
          <a:xfrm>
            <a:off x="4461601" y="5454823"/>
            <a:ext cx="278957" cy="584775"/>
          </a:xfrm>
          <a:prstGeom prst="rect">
            <a:avLst/>
          </a:prstGeom>
          <a:noFill/>
        </p:spPr>
        <p:txBody>
          <a:bodyPr wrap="square" rtlCol="0">
            <a:spAutoFit/>
          </a:bodyPr>
          <a:lstStyle/>
          <a:p>
            <a:pPr algn="ctr"/>
            <a:r>
              <a:rPr lang="en-US" sz="32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Patrick Hand" pitchFamily="2" charset="77"/>
              </a:rPr>
              <a:t>+</a:t>
            </a:r>
            <a:endParaRPr lang="en-DE" sz="32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Patrick Hand" pitchFamily="2" charset="77"/>
            </a:endParaRPr>
          </a:p>
        </p:txBody>
      </p:sp>
      <p:sp>
        <p:nvSpPr>
          <p:cNvPr id="73" name="TextBox 72">
            <a:extLst>
              <a:ext uri="{FF2B5EF4-FFF2-40B4-BE49-F238E27FC236}">
                <a16:creationId xmlns:a16="http://schemas.microsoft.com/office/drawing/2014/main" id="{F8C275E1-95D1-7788-FD38-737D481A516B}"/>
              </a:ext>
            </a:extLst>
          </p:cNvPr>
          <p:cNvSpPr txBox="1"/>
          <p:nvPr/>
        </p:nvSpPr>
        <p:spPr>
          <a:xfrm>
            <a:off x="4461601" y="6207301"/>
            <a:ext cx="278957" cy="584775"/>
          </a:xfrm>
          <a:prstGeom prst="rect">
            <a:avLst/>
          </a:prstGeom>
          <a:noFill/>
        </p:spPr>
        <p:txBody>
          <a:bodyPr wrap="square" rtlCol="0">
            <a:spAutoFit/>
          </a:bodyPr>
          <a:lstStyle/>
          <a:p>
            <a:pPr algn="ctr"/>
            <a:r>
              <a:rPr lang="en-US" sz="32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Patrick Hand" pitchFamily="2" charset="77"/>
              </a:rPr>
              <a:t>+</a:t>
            </a:r>
            <a:endParaRPr lang="en-DE" sz="32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Patrick Hand" pitchFamily="2" charset="77"/>
            </a:endParaRPr>
          </a:p>
        </p:txBody>
      </p:sp>
      <p:sp>
        <p:nvSpPr>
          <p:cNvPr id="74" name="TextBox 73">
            <a:extLst>
              <a:ext uri="{FF2B5EF4-FFF2-40B4-BE49-F238E27FC236}">
                <a16:creationId xmlns:a16="http://schemas.microsoft.com/office/drawing/2014/main" id="{D74AB11F-293E-6CEB-6C3F-B5A37EE0D1A1}"/>
              </a:ext>
            </a:extLst>
          </p:cNvPr>
          <p:cNvSpPr txBox="1"/>
          <p:nvPr/>
        </p:nvSpPr>
        <p:spPr>
          <a:xfrm>
            <a:off x="4461601" y="7259825"/>
            <a:ext cx="278957" cy="584775"/>
          </a:xfrm>
          <a:prstGeom prst="rect">
            <a:avLst/>
          </a:prstGeom>
          <a:noFill/>
        </p:spPr>
        <p:txBody>
          <a:bodyPr wrap="square" rtlCol="0">
            <a:spAutoFit/>
          </a:bodyPr>
          <a:lstStyle/>
          <a:p>
            <a:pPr algn="ctr"/>
            <a:r>
              <a:rPr lang="en-US" sz="32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Patrick Hand" pitchFamily="2" charset="77"/>
              </a:rPr>
              <a:t>+</a:t>
            </a:r>
            <a:endParaRPr lang="en-DE" sz="32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Patrick Hand" pitchFamily="2" charset="77"/>
            </a:endParaRPr>
          </a:p>
        </p:txBody>
      </p:sp>
    </p:spTree>
    <p:extLst>
      <p:ext uri="{BB962C8B-B14F-4D97-AF65-F5344CB8AC3E}">
        <p14:creationId xmlns:p14="http://schemas.microsoft.com/office/powerpoint/2010/main" val="16539036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effectLst/>
      </p:bgPr>
    </p:bg>
    <p:spTree>
      <p:nvGrpSpPr>
        <p:cNvPr id="1" name="">
          <a:extLst>
            <a:ext uri="{FF2B5EF4-FFF2-40B4-BE49-F238E27FC236}">
              <a16:creationId xmlns:a16="http://schemas.microsoft.com/office/drawing/2014/main" id="{F15DE27B-1219-010D-A0CC-0C624B04B0F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3EAECC4-BF72-B536-16FB-2F5B94CC168C}"/>
              </a:ext>
            </a:extLst>
          </p:cNvPr>
          <p:cNvSpPr txBox="1"/>
          <p:nvPr/>
        </p:nvSpPr>
        <p:spPr>
          <a:xfrm>
            <a:off x="223579" y="3104679"/>
            <a:ext cx="9838255" cy="1097069"/>
          </a:xfrm>
          <a:prstGeom prst="rect">
            <a:avLst/>
          </a:prstGeom>
          <a:ln w="25400">
            <a:solidFill>
              <a:schemeClr val="bg1"/>
            </a:solidFill>
          </a:ln>
        </p:spPr>
        <p:style>
          <a:lnRef idx="0">
            <a:schemeClr val="accent1"/>
          </a:lnRef>
          <a:fillRef idx="3">
            <a:schemeClr val="accent1"/>
          </a:fillRef>
          <a:effectRef idx="3">
            <a:schemeClr val="accent1"/>
          </a:effectRef>
          <a:fontRef idx="minor">
            <a:schemeClr val="lt1"/>
          </a:fontRef>
        </p:style>
        <p:txBody>
          <a:bodyPr wrap="square" rtlCol="0" anchor="ctr" anchorCtr="0">
            <a:noAutofit/>
            <a:scene3d>
              <a:camera prst="orthographicFront"/>
              <a:lightRig rig="soft" dir="t">
                <a:rot lat="0" lon="0" rev="15600000"/>
              </a:lightRig>
            </a:scene3d>
            <a:sp3d extrusionH="57150" prstMaterial="softEdge">
              <a:bevelT w="25400" h="38100"/>
            </a:sp3d>
          </a:bodyPr>
          <a:lstStyle/>
          <a:p>
            <a:pPr algn="ctr"/>
            <a:r>
              <a:rPr lang="en-GB" sz="5400" b="1" dirty="0">
                <a:ln/>
                <a:solidFill>
                  <a:schemeClr val="accent4"/>
                </a:solidFill>
              </a:rPr>
              <a:t>Neural Network Neuron</a:t>
            </a:r>
            <a:endParaRPr lang="en-GB" sz="1400" b="1" dirty="0">
              <a:ln/>
              <a:solidFill>
                <a:schemeClr val="accent4"/>
              </a:solidFill>
              <a:latin typeface="Patrick Hand" pitchFamily="2" charset="77"/>
            </a:endParaRPr>
          </a:p>
        </p:txBody>
      </p:sp>
      <p:pic>
        <p:nvPicPr>
          <p:cNvPr id="5" name="Picture 4">
            <a:extLst>
              <a:ext uri="{FF2B5EF4-FFF2-40B4-BE49-F238E27FC236}">
                <a16:creationId xmlns:a16="http://schemas.microsoft.com/office/drawing/2014/main" id="{42862CE5-591E-D9DA-4C37-412B89A95A26}"/>
              </a:ext>
            </a:extLst>
          </p:cNvPr>
          <p:cNvPicPr>
            <a:picLocks noChangeAspect="1"/>
          </p:cNvPicPr>
          <p:nvPr/>
        </p:nvPicPr>
        <p:blipFill>
          <a:blip r:embed="rId2"/>
          <a:stretch>
            <a:fillRect/>
          </a:stretch>
        </p:blipFill>
        <p:spPr>
          <a:xfrm>
            <a:off x="291074" y="3127011"/>
            <a:ext cx="1063167" cy="1063167"/>
          </a:xfrm>
          <a:prstGeom prst="rect">
            <a:avLst/>
          </a:prstGeom>
        </p:spPr>
      </p:pic>
      <p:pic>
        <p:nvPicPr>
          <p:cNvPr id="19" name="Picture 18">
            <a:extLst>
              <a:ext uri="{FF2B5EF4-FFF2-40B4-BE49-F238E27FC236}">
                <a16:creationId xmlns:a16="http://schemas.microsoft.com/office/drawing/2014/main" id="{8DBDB357-2436-AA41-D93C-EFD7EC3A5038}"/>
              </a:ext>
            </a:extLst>
          </p:cNvPr>
          <p:cNvPicPr>
            <a:picLocks noChangeAspect="1"/>
          </p:cNvPicPr>
          <p:nvPr/>
        </p:nvPicPr>
        <p:blipFill rotWithShape="1">
          <a:blip r:embed="rId3"/>
          <a:srcRect l="17451" t="29971" r="12948" b="18920"/>
          <a:stretch>
            <a:fillRect/>
          </a:stretch>
        </p:blipFill>
        <p:spPr>
          <a:xfrm>
            <a:off x="223306" y="4359728"/>
            <a:ext cx="9838800" cy="4872548"/>
          </a:xfrm>
          <a:prstGeom prst="rect">
            <a:avLst/>
          </a:prstGeom>
        </p:spPr>
      </p:pic>
    </p:spTree>
    <p:extLst>
      <p:ext uri="{BB962C8B-B14F-4D97-AF65-F5344CB8AC3E}">
        <p14:creationId xmlns:p14="http://schemas.microsoft.com/office/powerpoint/2010/main" val="12318238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pattFill prst="wdUpDiag">
          <a:fgClr>
            <a:schemeClr val="accent4">
              <a:lumMod val="40000"/>
              <a:lumOff val="60000"/>
            </a:schemeClr>
          </a:fgClr>
          <a:bgClr>
            <a:schemeClr val="bg1"/>
          </a:bgClr>
        </a:pattFill>
        <a:effectLst/>
      </p:bgPr>
    </p:bg>
    <p:spTree>
      <p:nvGrpSpPr>
        <p:cNvPr id="1" name="">
          <a:extLst>
            <a:ext uri="{FF2B5EF4-FFF2-40B4-BE49-F238E27FC236}">
              <a16:creationId xmlns:a16="http://schemas.microsoft.com/office/drawing/2014/main" id="{8244C819-49D4-2478-51DF-35987C93D1D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EED02A7-15EC-9420-B376-27C7B0439D2A}"/>
              </a:ext>
            </a:extLst>
          </p:cNvPr>
          <p:cNvSpPr txBox="1"/>
          <p:nvPr/>
        </p:nvSpPr>
        <p:spPr>
          <a:xfrm>
            <a:off x="223306" y="3104679"/>
            <a:ext cx="9838800" cy="1097069"/>
          </a:xfrm>
          <a:prstGeom prst="rect">
            <a:avLst/>
          </a:prstGeom>
          <a:gradFill flip="none" rotWithShape="1">
            <a:gsLst>
              <a:gs pos="0">
                <a:schemeClr val="accent4">
                  <a:lumMod val="67000"/>
                </a:schemeClr>
              </a:gs>
              <a:gs pos="48000">
                <a:schemeClr val="accent4">
                  <a:lumMod val="97000"/>
                  <a:lumOff val="3000"/>
                </a:schemeClr>
              </a:gs>
              <a:gs pos="100000">
                <a:schemeClr val="accent4">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nchor="ctr" anchorCtr="0">
            <a:noAutofit/>
            <a:scene3d>
              <a:camera prst="orthographicFront"/>
              <a:lightRig rig="harsh" dir="t"/>
            </a:scene3d>
            <a:sp3d extrusionH="57150" prstMaterial="matte">
              <a:bevelT w="63500" h="12700" prst="angle"/>
              <a:contourClr>
                <a:schemeClr val="bg1">
                  <a:lumMod val="65000"/>
                </a:schemeClr>
              </a:contourClr>
            </a:sp3d>
          </a:bodyPr>
          <a:lstStyle/>
          <a:p>
            <a:pPr algn="ctr"/>
            <a:r>
              <a:rPr lang="en-GB" sz="5400" dirty="0">
                <a:ln w="0"/>
                <a:solidFill>
                  <a:schemeClr val="tx1"/>
                </a:solidFill>
                <a:effectLst>
                  <a:outerShdw blurRad="38100" dist="19050" dir="2700000" algn="tl" rotWithShape="0">
                    <a:schemeClr val="dk1">
                      <a:alpha val="40000"/>
                    </a:schemeClr>
                  </a:outerShdw>
                </a:effectLst>
              </a:rPr>
              <a:t>NumPy: Reshape Your Data</a:t>
            </a:r>
            <a:endParaRPr lang="en-GB" sz="1400" b="1" dirty="0">
              <a:ln w="0"/>
              <a:solidFill>
                <a:schemeClr val="tx1"/>
              </a:solidFill>
              <a:effectLst>
                <a:outerShdw blurRad="38100" dist="25400" dir="5400000" algn="ctr" rotWithShape="0">
                  <a:srgbClr val="6E747A">
                    <a:alpha val="43000"/>
                  </a:srgbClr>
                </a:outerShdw>
              </a:effectLst>
              <a:latin typeface="Patrick Hand" pitchFamily="2" charset="77"/>
            </a:endParaRPr>
          </a:p>
        </p:txBody>
      </p:sp>
      <p:pic>
        <p:nvPicPr>
          <p:cNvPr id="5" name="Picture 4">
            <a:extLst>
              <a:ext uri="{FF2B5EF4-FFF2-40B4-BE49-F238E27FC236}">
                <a16:creationId xmlns:a16="http://schemas.microsoft.com/office/drawing/2014/main" id="{EC945671-D56F-73AF-74E7-39B4F401998B}"/>
              </a:ext>
            </a:extLst>
          </p:cNvPr>
          <p:cNvPicPr>
            <a:picLocks noChangeAspect="1"/>
          </p:cNvPicPr>
          <p:nvPr/>
        </p:nvPicPr>
        <p:blipFill>
          <a:blip r:embed="rId2"/>
          <a:stretch>
            <a:fillRect/>
          </a:stretch>
        </p:blipFill>
        <p:spPr>
          <a:xfrm>
            <a:off x="279499" y="3138586"/>
            <a:ext cx="1063167" cy="1063167"/>
          </a:xfrm>
          <a:prstGeom prst="rect">
            <a:avLst/>
          </a:prstGeom>
        </p:spPr>
      </p:pic>
      <p:pic>
        <p:nvPicPr>
          <p:cNvPr id="3" name="Picture 2">
            <a:extLst>
              <a:ext uri="{FF2B5EF4-FFF2-40B4-BE49-F238E27FC236}">
                <a16:creationId xmlns:a16="http://schemas.microsoft.com/office/drawing/2014/main" id="{017DA81B-CB17-D319-D44F-D94C41812147}"/>
              </a:ext>
            </a:extLst>
          </p:cNvPr>
          <p:cNvPicPr>
            <a:picLocks noChangeAspect="1"/>
          </p:cNvPicPr>
          <p:nvPr/>
        </p:nvPicPr>
        <p:blipFill rotWithShape="1">
          <a:blip r:embed="rId3"/>
          <a:srcRect l="16635" t="24392" r="11360" b="15753"/>
          <a:stretch>
            <a:fillRect/>
          </a:stretch>
        </p:blipFill>
        <p:spPr>
          <a:xfrm>
            <a:off x="223306" y="4267190"/>
            <a:ext cx="9838800" cy="5715513"/>
          </a:xfrm>
          <a:prstGeom prst="rect">
            <a:avLst/>
          </a:prstGeom>
        </p:spPr>
      </p:pic>
      <p:grpSp>
        <p:nvGrpSpPr>
          <p:cNvPr id="9" name="Group 8">
            <a:extLst>
              <a:ext uri="{FF2B5EF4-FFF2-40B4-BE49-F238E27FC236}">
                <a16:creationId xmlns:a16="http://schemas.microsoft.com/office/drawing/2014/main" id="{C3F6864D-C25D-5FB0-CC23-8BF0E04035E7}"/>
              </a:ext>
            </a:extLst>
          </p:cNvPr>
          <p:cNvGrpSpPr/>
          <p:nvPr/>
        </p:nvGrpSpPr>
        <p:grpSpPr>
          <a:xfrm>
            <a:off x="2512192" y="10319584"/>
            <a:ext cx="5261029" cy="2864460"/>
            <a:chOff x="266701" y="11698933"/>
            <a:chExt cx="5261029" cy="2864460"/>
          </a:xfrm>
        </p:grpSpPr>
        <p:sp>
          <p:nvSpPr>
            <p:cNvPr id="16" name="TextBox 15">
              <a:extLst>
                <a:ext uri="{FF2B5EF4-FFF2-40B4-BE49-F238E27FC236}">
                  <a16:creationId xmlns:a16="http://schemas.microsoft.com/office/drawing/2014/main" id="{F3F4DDF6-9548-B16A-87B6-39CC7B77F4B4}"/>
                </a:ext>
              </a:extLst>
            </p:cNvPr>
            <p:cNvSpPr txBox="1"/>
            <p:nvPr/>
          </p:nvSpPr>
          <p:spPr>
            <a:xfrm>
              <a:off x="266701" y="12660243"/>
              <a:ext cx="3282412" cy="707886"/>
            </a:xfrm>
            <a:prstGeom prst="rect">
              <a:avLst/>
            </a:prstGeom>
            <a:noFill/>
          </p:spPr>
          <p:txBody>
            <a:bodyPr wrap="square" rtlCol="0">
              <a:spAutoFit/>
            </a:bodyPr>
            <a:lstStyle/>
            <a:p>
              <a:pPr algn="ctr"/>
              <a:r>
                <a:rPr lang="en-GB" sz="4000" dirty="0">
                  <a:latin typeface="Patrick Hand" pitchFamily="2" charset="77"/>
                </a:rPr>
                <a:t>matrix</a:t>
              </a:r>
            </a:p>
          </p:txBody>
        </p:sp>
        <p:sp>
          <p:nvSpPr>
            <p:cNvPr id="17" name="Double Bracket 16">
              <a:extLst>
                <a:ext uri="{FF2B5EF4-FFF2-40B4-BE49-F238E27FC236}">
                  <a16:creationId xmlns:a16="http://schemas.microsoft.com/office/drawing/2014/main" id="{D2D03F7B-5243-EAC7-815F-F29C190673AF}"/>
                </a:ext>
              </a:extLst>
            </p:cNvPr>
            <p:cNvSpPr/>
            <p:nvPr/>
          </p:nvSpPr>
          <p:spPr>
            <a:xfrm>
              <a:off x="2786443" y="11698933"/>
              <a:ext cx="2730953" cy="2864460"/>
            </a:xfrm>
            <a:prstGeom prst="bracketPair">
              <a:avLst/>
            </a:prstGeom>
            <a:ln w="31750">
              <a:solidFill>
                <a:schemeClr val="tx1"/>
              </a:solidFill>
              <a:headEnd type="none"/>
              <a:tailEnd type="arrow"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DE"/>
            </a:p>
          </p:txBody>
        </p:sp>
        <p:sp>
          <p:nvSpPr>
            <p:cNvPr id="18" name="TextBox 17">
              <a:extLst>
                <a:ext uri="{FF2B5EF4-FFF2-40B4-BE49-F238E27FC236}">
                  <a16:creationId xmlns:a16="http://schemas.microsoft.com/office/drawing/2014/main" id="{AC475396-5259-3DC2-656A-03F60E49B3AD}"/>
                </a:ext>
              </a:extLst>
            </p:cNvPr>
            <p:cNvSpPr txBox="1"/>
            <p:nvPr/>
          </p:nvSpPr>
          <p:spPr>
            <a:xfrm>
              <a:off x="2786443" y="12098040"/>
              <a:ext cx="2730953" cy="707886"/>
            </a:xfrm>
            <a:prstGeom prst="rect">
              <a:avLst/>
            </a:prstGeom>
            <a:noFill/>
          </p:spPr>
          <p:txBody>
            <a:bodyPr wrap="square" rtlCol="0">
              <a:spAutoFit/>
            </a:bodyPr>
            <a:lstStyle/>
            <a:p>
              <a:pPr algn="ctr"/>
              <a:r>
                <a:rPr lang="en-GB" sz="4000" dirty="0">
                  <a:latin typeface="Patrick Hand" pitchFamily="2" charset="77"/>
                </a:rPr>
                <a:t>1   2   3   4</a:t>
              </a:r>
            </a:p>
          </p:txBody>
        </p:sp>
        <p:sp>
          <p:nvSpPr>
            <p:cNvPr id="7" name="TextBox 6">
              <a:extLst>
                <a:ext uri="{FF2B5EF4-FFF2-40B4-BE49-F238E27FC236}">
                  <a16:creationId xmlns:a16="http://schemas.microsoft.com/office/drawing/2014/main" id="{E824B7D0-482C-2536-8C05-097384E19976}"/>
                </a:ext>
              </a:extLst>
            </p:cNvPr>
            <p:cNvSpPr txBox="1"/>
            <p:nvPr/>
          </p:nvSpPr>
          <p:spPr>
            <a:xfrm>
              <a:off x="2783861" y="12808377"/>
              <a:ext cx="2730953" cy="707886"/>
            </a:xfrm>
            <a:prstGeom prst="rect">
              <a:avLst/>
            </a:prstGeom>
            <a:noFill/>
          </p:spPr>
          <p:txBody>
            <a:bodyPr wrap="square" rtlCol="0">
              <a:spAutoFit/>
            </a:bodyPr>
            <a:lstStyle/>
            <a:p>
              <a:pPr algn="ctr"/>
              <a:r>
                <a:rPr lang="en-GB" sz="4000" dirty="0">
                  <a:latin typeface="Patrick Hand" pitchFamily="2" charset="77"/>
                </a:rPr>
                <a:t>5   6   7   8</a:t>
              </a:r>
            </a:p>
          </p:txBody>
        </p:sp>
        <p:sp>
          <p:nvSpPr>
            <p:cNvPr id="8" name="TextBox 7">
              <a:extLst>
                <a:ext uri="{FF2B5EF4-FFF2-40B4-BE49-F238E27FC236}">
                  <a16:creationId xmlns:a16="http://schemas.microsoft.com/office/drawing/2014/main" id="{1334A83A-7DFD-30B1-1C2E-0A89D9C5101A}"/>
                </a:ext>
              </a:extLst>
            </p:cNvPr>
            <p:cNvSpPr txBox="1"/>
            <p:nvPr/>
          </p:nvSpPr>
          <p:spPr>
            <a:xfrm>
              <a:off x="2796777" y="13534214"/>
              <a:ext cx="2730953" cy="707886"/>
            </a:xfrm>
            <a:prstGeom prst="rect">
              <a:avLst/>
            </a:prstGeom>
            <a:noFill/>
          </p:spPr>
          <p:txBody>
            <a:bodyPr wrap="square" rtlCol="0">
              <a:spAutoFit/>
            </a:bodyPr>
            <a:lstStyle/>
            <a:p>
              <a:pPr algn="ctr"/>
              <a:r>
                <a:rPr lang="en-GB" sz="4000" dirty="0">
                  <a:latin typeface="Patrick Hand" pitchFamily="2" charset="77"/>
                </a:rPr>
                <a:t>9   10   11   12</a:t>
              </a:r>
            </a:p>
          </p:txBody>
        </p:sp>
      </p:grpSp>
      <p:cxnSp>
        <p:nvCxnSpPr>
          <p:cNvPr id="10" name="Straight Connector 9">
            <a:extLst>
              <a:ext uri="{FF2B5EF4-FFF2-40B4-BE49-F238E27FC236}">
                <a16:creationId xmlns:a16="http://schemas.microsoft.com/office/drawing/2014/main" id="{2DD77596-9CAA-AA90-E86A-750377068BE7}"/>
              </a:ext>
            </a:extLst>
          </p:cNvPr>
          <p:cNvCxnSpPr>
            <a:cxnSpLocks/>
          </p:cNvCxnSpPr>
          <p:nvPr/>
        </p:nvCxnSpPr>
        <p:spPr>
          <a:xfrm>
            <a:off x="221448" y="8216422"/>
            <a:ext cx="9826803" cy="0"/>
          </a:xfrm>
          <a:prstGeom prst="line">
            <a:avLst/>
          </a:prstGeom>
          <a:ln w="38100">
            <a:solidFill>
              <a:schemeClr val="bg1"/>
            </a:solidFill>
            <a:headEnd type="none"/>
            <a:tailEnd type="none" w="lg" len="lg"/>
          </a:ln>
        </p:spPr>
        <p:style>
          <a:lnRef idx="1">
            <a:schemeClr val="accent1"/>
          </a:lnRef>
          <a:fillRef idx="0">
            <a:schemeClr val="accent1"/>
          </a:fillRef>
          <a:effectRef idx="0">
            <a:schemeClr val="accent1"/>
          </a:effectRef>
          <a:fontRef idx="minor">
            <a:schemeClr val="tx1"/>
          </a:fontRef>
        </p:style>
      </p:cxnSp>
      <p:pic>
        <p:nvPicPr>
          <p:cNvPr id="11" name="Graphic 10" descr="Shield Tick with solid fill">
            <a:extLst>
              <a:ext uri="{FF2B5EF4-FFF2-40B4-BE49-F238E27FC236}">
                <a16:creationId xmlns:a16="http://schemas.microsoft.com/office/drawing/2014/main" id="{9F538BA2-DA03-A127-55E8-8FA78517E11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008576" y="8233054"/>
            <a:ext cx="914400" cy="914400"/>
          </a:xfrm>
          <a:prstGeom prst="rect">
            <a:avLst/>
          </a:prstGeom>
        </p:spPr>
      </p:pic>
      <p:pic>
        <p:nvPicPr>
          <p:cNvPr id="15" name="Graphic 14" descr="Close with solid fill">
            <a:extLst>
              <a:ext uri="{FF2B5EF4-FFF2-40B4-BE49-F238E27FC236}">
                <a16:creationId xmlns:a16="http://schemas.microsoft.com/office/drawing/2014/main" id="{0F2FB275-C0F1-E3C9-A011-DB304C3107E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008576" y="6316373"/>
            <a:ext cx="914400" cy="914400"/>
          </a:xfrm>
          <a:prstGeom prst="rect">
            <a:avLst/>
          </a:prstGeom>
        </p:spPr>
      </p:pic>
      <p:cxnSp>
        <p:nvCxnSpPr>
          <p:cNvPr id="21" name="Straight Connector 20">
            <a:extLst>
              <a:ext uri="{FF2B5EF4-FFF2-40B4-BE49-F238E27FC236}">
                <a16:creationId xmlns:a16="http://schemas.microsoft.com/office/drawing/2014/main" id="{28B98EED-0A41-55CC-1A32-FAF27CBC1848}"/>
              </a:ext>
            </a:extLst>
          </p:cNvPr>
          <p:cNvCxnSpPr>
            <a:cxnSpLocks/>
          </p:cNvCxnSpPr>
          <p:nvPr/>
        </p:nvCxnSpPr>
        <p:spPr>
          <a:xfrm>
            <a:off x="221445" y="6304492"/>
            <a:ext cx="9826803" cy="0"/>
          </a:xfrm>
          <a:prstGeom prst="line">
            <a:avLst/>
          </a:prstGeom>
          <a:ln w="38100">
            <a:solidFill>
              <a:schemeClr val="bg1"/>
            </a:solidFill>
            <a:headEnd type="none"/>
            <a:tailEnd type="non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770731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a:extLst>
            <a:ext uri="{FF2B5EF4-FFF2-40B4-BE49-F238E27FC236}">
              <a16:creationId xmlns:a16="http://schemas.microsoft.com/office/drawing/2014/main" id="{833691B4-A2E6-C41F-CF0E-9909EBD21DA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9D605D8-189D-2739-B1D9-911B7D2EFC4B}"/>
              </a:ext>
            </a:extLst>
          </p:cNvPr>
          <p:cNvSpPr txBox="1"/>
          <p:nvPr/>
        </p:nvSpPr>
        <p:spPr>
          <a:xfrm>
            <a:off x="223579" y="3104679"/>
            <a:ext cx="9838255" cy="1097069"/>
          </a:xfrm>
          <a:prstGeom prst="rect">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nchor="ctr" anchorCtr="0">
            <a:noAutofit/>
            <a:scene3d>
              <a:camera prst="orthographicFront"/>
              <a:lightRig rig="soft" dir="t">
                <a:rot lat="0" lon="0" rev="15600000"/>
              </a:lightRig>
            </a:scene3d>
            <a:sp3d extrusionH="57150" prstMaterial="softEdge">
              <a:bevelT w="25400" h="38100"/>
            </a:sp3d>
          </a:bodyPr>
          <a:lstStyle/>
          <a:p>
            <a:pPr algn="r"/>
            <a:r>
              <a:rPr lang="en-GB" sz="5400" dirty="0">
                <a:ln w="0"/>
                <a:solidFill>
                  <a:schemeClr val="tx1"/>
                </a:solidFill>
                <a:effectLst>
                  <a:outerShdw blurRad="38100" dist="19050" dir="2700000" algn="tl" rotWithShape="0">
                    <a:schemeClr val="dk1">
                      <a:alpha val="40000"/>
                    </a:schemeClr>
                  </a:outerShdw>
                </a:effectLst>
              </a:rPr>
              <a:t>Don't Let </a:t>
            </a:r>
            <a:r>
              <a:rPr lang="en-GB" sz="5400" dirty="0" err="1">
                <a:ln w="0"/>
                <a:solidFill>
                  <a:schemeClr val="tx1"/>
                </a:solidFill>
                <a:effectLst>
                  <a:outerShdw blurRad="38100" dist="19050" dir="2700000" algn="tl" rotWithShape="0">
                    <a:schemeClr val="dk1">
                      <a:alpha val="40000"/>
                    </a:schemeClr>
                  </a:outerShdw>
                </a:effectLst>
              </a:rPr>
              <a:t>NaNs</a:t>
            </a:r>
            <a:r>
              <a:rPr lang="en-GB" sz="5400" dirty="0">
                <a:ln w="0"/>
                <a:solidFill>
                  <a:schemeClr val="tx1"/>
                </a:solidFill>
                <a:effectLst>
                  <a:outerShdw blurRad="38100" dist="19050" dir="2700000" algn="tl" rotWithShape="0">
                    <a:schemeClr val="dk1">
                      <a:alpha val="40000"/>
                    </a:schemeClr>
                  </a:outerShdw>
                </a:effectLst>
              </a:rPr>
              <a:t> Ruin Your Data!</a:t>
            </a:r>
            <a:endParaRPr lang="en-GB" sz="1400" dirty="0">
              <a:ln w="0"/>
              <a:solidFill>
                <a:schemeClr val="tx1"/>
              </a:solidFill>
              <a:effectLst>
                <a:outerShdw blurRad="38100" dist="19050" dir="2700000" algn="tl" rotWithShape="0">
                  <a:schemeClr val="dk1">
                    <a:alpha val="40000"/>
                  </a:schemeClr>
                </a:outerShdw>
              </a:effectLst>
              <a:latin typeface="Patrick Hand" pitchFamily="2" charset="77"/>
            </a:endParaRPr>
          </a:p>
        </p:txBody>
      </p:sp>
      <p:pic>
        <p:nvPicPr>
          <p:cNvPr id="5" name="Picture 4">
            <a:extLst>
              <a:ext uri="{FF2B5EF4-FFF2-40B4-BE49-F238E27FC236}">
                <a16:creationId xmlns:a16="http://schemas.microsoft.com/office/drawing/2014/main" id="{B4B5B41F-56C2-D8F0-CA8B-FDE8BB45994A}"/>
              </a:ext>
            </a:extLst>
          </p:cNvPr>
          <p:cNvPicPr>
            <a:picLocks noChangeAspect="1"/>
          </p:cNvPicPr>
          <p:nvPr/>
        </p:nvPicPr>
        <p:blipFill>
          <a:blip r:embed="rId3"/>
          <a:stretch>
            <a:fillRect/>
          </a:stretch>
        </p:blipFill>
        <p:spPr>
          <a:xfrm>
            <a:off x="291074" y="3127011"/>
            <a:ext cx="1063167" cy="1063167"/>
          </a:xfrm>
          <a:prstGeom prst="rect">
            <a:avLst/>
          </a:prstGeom>
        </p:spPr>
      </p:pic>
      <p:pic>
        <p:nvPicPr>
          <p:cNvPr id="3" name="Picture 2">
            <a:extLst>
              <a:ext uri="{FF2B5EF4-FFF2-40B4-BE49-F238E27FC236}">
                <a16:creationId xmlns:a16="http://schemas.microsoft.com/office/drawing/2014/main" id="{BFD286B6-CBCB-B8AC-358A-062FD4BF8E8B}"/>
              </a:ext>
            </a:extLst>
          </p:cNvPr>
          <p:cNvPicPr>
            <a:picLocks noChangeAspect="1"/>
          </p:cNvPicPr>
          <p:nvPr/>
        </p:nvPicPr>
        <p:blipFill rotWithShape="1">
          <a:blip r:embed="rId4"/>
          <a:srcRect l="16305" t="17094" r="9680" b="11092"/>
          <a:stretch>
            <a:fillRect/>
          </a:stretch>
        </p:blipFill>
        <p:spPr>
          <a:xfrm>
            <a:off x="223306" y="4260741"/>
            <a:ext cx="9838800" cy="8846883"/>
          </a:xfrm>
          <a:prstGeom prst="rect">
            <a:avLst/>
          </a:prstGeom>
        </p:spPr>
      </p:pic>
      <p:cxnSp>
        <p:nvCxnSpPr>
          <p:cNvPr id="6" name="Straight Connector 5">
            <a:extLst>
              <a:ext uri="{FF2B5EF4-FFF2-40B4-BE49-F238E27FC236}">
                <a16:creationId xmlns:a16="http://schemas.microsoft.com/office/drawing/2014/main" id="{EBA098F1-605B-1D3A-CF09-A6E348C8683E}"/>
              </a:ext>
            </a:extLst>
          </p:cNvPr>
          <p:cNvCxnSpPr>
            <a:cxnSpLocks/>
          </p:cNvCxnSpPr>
          <p:nvPr/>
        </p:nvCxnSpPr>
        <p:spPr>
          <a:xfrm>
            <a:off x="221448" y="8959374"/>
            <a:ext cx="9826803" cy="0"/>
          </a:xfrm>
          <a:prstGeom prst="line">
            <a:avLst/>
          </a:prstGeom>
          <a:ln w="38100">
            <a:solidFill>
              <a:schemeClr val="bg1"/>
            </a:solidFill>
            <a:headEnd type="none"/>
            <a:tailEnd type="none" w="lg" len="lg"/>
          </a:ln>
        </p:spPr>
        <p:style>
          <a:lnRef idx="1">
            <a:schemeClr val="accent1"/>
          </a:lnRef>
          <a:fillRef idx="0">
            <a:schemeClr val="accent1"/>
          </a:fillRef>
          <a:effectRef idx="0">
            <a:schemeClr val="accent1"/>
          </a:effectRef>
          <a:fontRef idx="minor">
            <a:schemeClr val="tx1"/>
          </a:fontRef>
        </p:style>
      </p:cxnSp>
      <p:pic>
        <p:nvPicPr>
          <p:cNvPr id="7" name="Graphic 6" descr="Shield Tick with solid fill">
            <a:extLst>
              <a:ext uri="{FF2B5EF4-FFF2-40B4-BE49-F238E27FC236}">
                <a16:creationId xmlns:a16="http://schemas.microsoft.com/office/drawing/2014/main" id="{5A57466A-4EF9-7DB5-6ED2-6704113F3AB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008576" y="10004712"/>
            <a:ext cx="914400" cy="914400"/>
          </a:xfrm>
          <a:prstGeom prst="rect">
            <a:avLst/>
          </a:prstGeom>
        </p:spPr>
      </p:pic>
      <p:pic>
        <p:nvPicPr>
          <p:cNvPr id="8" name="Graphic 7" descr="Close with solid fill">
            <a:extLst>
              <a:ext uri="{FF2B5EF4-FFF2-40B4-BE49-F238E27FC236}">
                <a16:creationId xmlns:a16="http://schemas.microsoft.com/office/drawing/2014/main" id="{431962F5-74C3-2F1D-AFE9-736B9EC0EE97}"/>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008576" y="7559397"/>
            <a:ext cx="914400" cy="914400"/>
          </a:xfrm>
          <a:prstGeom prst="rect">
            <a:avLst/>
          </a:prstGeom>
        </p:spPr>
      </p:pic>
      <p:cxnSp>
        <p:nvCxnSpPr>
          <p:cNvPr id="9" name="Straight Connector 8">
            <a:extLst>
              <a:ext uri="{FF2B5EF4-FFF2-40B4-BE49-F238E27FC236}">
                <a16:creationId xmlns:a16="http://schemas.microsoft.com/office/drawing/2014/main" id="{E7C8A313-154F-7077-6579-1C8495994F43}"/>
              </a:ext>
            </a:extLst>
          </p:cNvPr>
          <p:cNvCxnSpPr>
            <a:cxnSpLocks/>
          </p:cNvCxnSpPr>
          <p:nvPr/>
        </p:nvCxnSpPr>
        <p:spPr>
          <a:xfrm>
            <a:off x="221445" y="7118884"/>
            <a:ext cx="9826803" cy="0"/>
          </a:xfrm>
          <a:prstGeom prst="line">
            <a:avLst/>
          </a:prstGeom>
          <a:ln w="38100">
            <a:solidFill>
              <a:schemeClr val="bg1"/>
            </a:solidFill>
            <a:headEnd type="none"/>
            <a:tailEnd type="non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361713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gradFill>
          <a:gsLst>
            <a:gs pos="0">
              <a:schemeClr val="accent6">
                <a:lumMod val="67000"/>
              </a:schemeClr>
            </a:gs>
            <a:gs pos="48000">
              <a:schemeClr val="accent6">
                <a:lumMod val="97000"/>
                <a:lumOff val="3000"/>
              </a:schemeClr>
            </a:gs>
            <a:gs pos="100000">
              <a:schemeClr val="accent6">
                <a:lumMod val="60000"/>
                <a:lumOff val="40000"/>
              </a:schemeClr>
            </a:gs>
          </a:gsLst>
          <a:lin ang="16200000" scaled="1"/>
        </a:gradFill>
        <a:effectLst/>
      </p:bgPr>
    </p:bg>
    <p:spTree>
      <p:nvGrpSpPr>
        <p:cNvPr id="1" name="">
          <a:extLst>
            <a:ext uri="{FF2B5EF4-FFF2-40B4-BE49-F238E27FC236}">
              <a16:creationId xmlns:a16="http://schemas.microsoft.com/office/drawing/2014/main" id="{A06265A8-64FB-069C-0F02-06B6A773D00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447DDA6-26D1-3A5F-BB12-81BC01ACC803}"/>
              </a:ext>
            </a:extLst>
          </p:cNvPr>
          <p:cNvSpPr txBox="1"/>
          <p:nvPr/>
        </p:nvSpPr>
        <p:spPr>
          <a:xfrm>
            <a:off x="223306" y="3104679"/>
            <a:ext cx="9838800" cy="1097069"/>
          </a:xfrm>
          <a:prstGeom prst="rect">
            <a:avLst/>
          </a:prstGeom>
          <a:ln>
            <a:solidFill>
              <a:schemeClr val="tx1"/>
            </a:solidFill>
          </a:ln>
        </p:spPr>
        <p:style>
          <a:lnRef idx="1">
            <a:schemeClr val="accent6"/>
          </a:lnRef>
          <a:fillRef idx="2">
            <a:schemeClr val="accent6"/>
          </a:fillRef>
          <a:effectRef idx="1">
            <a:schemeClr val="accent6"/>
          </a:effectRef>
          <a:fontRef idx="minor">
            <a:schemeClr val="dk1"/>
          </a:fontRef>
        </p:style>
        <p:txBody>
          <a:bodyPr wrap="square" rtlCol="0" anchor="ctr" anchorCtr="0">
            <a:noAutofit/>
            <a:scene3d>
              <a:camera prst="orthographicFront"/>
              <a:lightRig rig="harsh" dir="t"/>
            </a:scene3d>
            <a:sp3d extrusionH="57150" prstMaterial="matte">
              <a:bevelT w="63500" h="12700" prst="angle"/>
              <a:contourClr>
                <a:schemeClr val="bg1">
                  <a:lumMod val="65000"/>
                </a:schemeClr>
              </a:contourClr>
            </a:sp3d>
          </a:bodyPr>
          <a:lstStyle/>
          <a:p>
            <a:pPr algn="ctr"/>
            <a:r>
              <a:rPr lang="en-GB" sz="5400" dirty="0">
                <a:ln w="0"/>
                <a:solidFill>
                  <a:schemeClr val="tx1"/>
                </a:solidFill>
                <a:effectLst>
                  <a:outerShdw blurRad="38100" dist="19050" dir="2700000" algn="tl" rotWithShape="0">
                    <a:schemeClr val="dk1">
                      <a:alpha val="40000"/>
                    </a:schemeClr>
                  </a:outerShdw>
                </a:effectLst>
              </a:rPr>
              <a:t>NumPy: Reshape Your Data</a:t>
            </a:r>
            <a:endParaRPr lang="en-GB" sz="1400" b="1" dirty="0">
              <a:ln w="0"/>
              <a:solidFill>
                <a:schemeClr val="tx1"/>
              </a:solidFill>
              <a:effectLst>
                <a:outerShdw blurRad="38100" dist="25400" dir="5400000" algn="ctr" rotWithShape="0">
                  <a:srgbClr val="6E747A">
                    <a:alpha val="43000"/>
                  </a:srgbClr>
                </a:outerShdw>
              </a:effectLst>
              <a:latin typeface="Patrick Hand" pitchFamily="2" charset="77"/>
            </a:endParaRPr>
          </a:p>
        </p:txBody>
      </p:sp>
      <p:pic>
        <p:nvPicPr>
          <p:cNvPr id="5" name="Picture 4">
            <a:extLst>
              <a:ext uri="{FF2B5EF4-FFF2-40B4-BE49-F238E27FC236}">
                <a16:creationId xmlns:a16="http://schemas.microsoft.com/office/drawing/2014/main" id="{A1C554C3-4337-55BB-20F7-D29D14E20EDB}"/>
              </a:ext>
            </a:extLst>
          </p:cNvPr>
          <p:cNvPicPr>
            <a:picLocks noChangeAspect="1"/>
          </p:cNvPicPr>
          <p:nvPr/>
        </p:nvPicPr>
        <p:blipFill>
          <a:blip r:embed="rId2"/>
          <a:stretch>
            <a:fillRect/>
          </a:stretch>
        </p:blipFill>
        <p:spPr>
          <a:xfrm>
            <a:off x="279499" y="3138586"/>
            <a:ext cx="1063167" cy="1063167"/>
          </a:xfrm>
          <a:prstGeom prst="rect">
            <a:avLst/>
          </a:prstGeom>
        </p:spPr>
      </p:pic>
      <p:pic>
        <p:nvPicPr>
          <p:cNvPr id="3" name="Picture 2">
            <a:extLst>
              <a:ext uri="{FF2B5EF4-FFF2-40B4-BE49-F238E27FC236}">
                <a16:creationId xmlns:a16="http://schemas.microsoft.com/office/drawing/2014/main" id="{908FC447-4143-A4AD-A535-92561E6AA08D}"/>
              </a:ext>
            </a:extLst>
          </p:cNvPr>
          <p:cNvPicPr>
            <a:picLocks noChangeAspect="1"/>
          </p:cNvPicPr>
          <p:nvPr/>
        </p:nvPicPr>
        <p:blipFill rotWithShape="1">
          <a:blip r:embed="rId3"/>
          <a:srcRect l="16635" t="24392" r="11360" b="15753"/>
          <a:stretch>
            <a:fillRect/>
          </a:stretch>
        </p:blipFill>
        <p:spPr>
          <a:xfrm>
            <a:off x="223306" y="4267190"/>
            <a:ext cx="9838800" cy="5715513"/>
          </a:xfrm>
          <a:prstGeom prst="rect">
            <a:avLst/>
          </a:prstGeom>
        </p:spPr>
      </p:pic>
      <p:grpSp>
        <p:nvGrpSpPr>
          <p:cNvPr id="9" name="Group 8">
            <a:extLst>
              <a:ext uri="{FF2B5EF4-FFF2-40B4-BE49-F238E27FC236}">
                <a16:creationId xmlns:a16="http://schemas.microsoft.com/office/drawing/2014/main" id="{0DA2DB96-7131-F6E0-241D-62F16ABF55A0}"/>
              </a:ext>
            </a:extLst>
          </p:cNvPr>
          <p:cNvGrpSpPr/>
          <p:nvPr/>
        </p:nvGrpSpPr>
        <p:grpSpPr>
          <a:xfrm>
            <a:off x="2512192" y="10319584"/>
            <a:ext cx="5261029" cy="2864460"/>
            <a:chOff x="266701" y="11698933"/>
            <a:chExt cx="5261029" cy="2864460"/>
          </a:xfrm>
        </p:grpSpPr>
        <p:sp>
          <p:nvSpPr>
            <p:cNvPr id="16" name="TextBox 15">
              <a:extLst>
                <a:ext uri="{FF2B5EF4-FFF2-40B4-BE49-F238E27FC236}">
                  <a16:creationId xmlns:a16="http://schemas.microsoft.com/office/drawing/2014/main" id="{50188B34-CB31-F7A2-06F5-5A32729A89B9}"/>
                </a:ext>
              </a:extLst>
            </p:cNvPr>
            <p:cNvSpPr txBox="1"/>
            <p:nvPr/>
          </p:nvSpPr>
          <p:spPr>
            <a:xfrm>
              <a:off x="266701" y="12660243"/>
              <a:ext cx="3282412" cy="707886"/>
            </a:xfrm>
            <a:prstGeom prst="rect">
              <a:avLst/>
            </a:prstGeom>
            <a:noFill/>
          </p:spPr>
          <p:txBody>
            <a:bodyPr wrap="square" rtlCol="0">
              <a:spAutoFit/>
            </a:bodyPr>
            <a:lstStyle/>
            <a:p>
              <a:pPr algn="ctr"/>
              <a:r>
                <a:rPr lang="en-GB" sz="4000" dirty="0">
                  <a:latin typeface="Patrick Hand" pitchFamily="2" charset="77"/>
                </a:rPr>
                <a:t>matrix</a:t>
              </a:r>
            </a:p>
          </p:txBody>
        </p:sp>
        <p:sp>
          <p:nvSpPr>
            <p:cNvPr id="17" name="Double Bracket 16">
              <a:extLst>
                <a:ext uri="{FF2B5EF4-FFF2-40B4-BE49-F238E27FC236}">
                  <a16:creationId xmlns:a16="http://schemas.microsoft.com/office/drawing/2014/main" id="{26106358-2A85-9BDA-ADAC-6A73D8914C7F}"/>
                </a:ext>
              </a:extLst>
            </p:cNvPr>
            <p:cNvSpPr/>
            <p:nvPr/>
          </p:nvSpPr>
          <p:spPr>
            <a:xfrm>
              <a:off x="2786443" y="11698933"/>
              <a:ext cx="2730953" cy="2864460"/>
            </a:xfrm>
            <a:prstGeom prst="bracketPair">
              <a:avLst/>
            </a:prstGeom>
            <a:ln w="31750">
              <a:solidFill>
                <a:schemeClr val="tx1"/>
              </a:solidFill>
              <a:headEnd type="none"/>
              <a:tailEnd type="arrow"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DE"/>
            </a:p>
          </p:txBody>
        </p:sp>
        <p:sp>
          <p:nvSpPr>
            <p:cNvPr id="18" name="TextBox 17">
              <a:extLst>
                <a:ext uri="{FF2B5EF4-FFF2-40B4-BE49-F238E27FC236}">
                  <a16:creationId xmlns:a16="http://schemas.microsoft.com/office/drawing/2014/main" id="{0777722D-2ED9-9E02-2FB8-C46C0AEE3FE4}"/>
                </a:ext>
              </a:extLst>
            </p:cNvPr>
            <p:cNvSpPr txBox="1"/>
            <p:nvPr/>
          </p:nvSpPr>
          <p:spPr>
            <a:xfrm>
              <a:off x="2786443" y="12098040"/>
              <a:ext cx="2730953" cy="707886"/>
            </a:xfrm>
            <a:prstGeom prst="rect">
              <a:avLst/>
            </a:prstGeom>
            <a:noFill/>
          </p:spPr>
          <p:txBody>
            <a:bodyPr wrap="square" rtlCol="0">
              <a:spAutoFit/>
            </a:bodyPr>
            <a:lstStyle/>
            <a:p>
              <a:pPr algn="ctr"/>
              <a:r>
                <a:rPr lang="en-GB" sz="4000" dirty="0">
                  <a:latin typeface="Patrick Hand" pitchFamily="2" charset="77"/>
                </a:rPr>
                <a:t>1   2   3   4</a:t>
              </a:r>
            </a:p>
          </p:txBody>
        </p:sp>
        <p:sp>
          <p:nvSpPr>
            <p:cNvPr id="7" name="TextBox 6">
              <a:extLst>
                <a:ext uri="{FF2B5EF4-FFF2-40B4-BE49-F238E27FC236}">
                  <a16:creationId xmlns:a16="http://schemas.microsoft.com/office/drawing/2014/main" id="{BC70ADED-2856-39DE-975F-966319499DF6}"/>
                </a:ext>
              </a:extLst>
            </p:cNvPr>
            <p:cNvSpPr txBox="1"/>
            <p:nvPr/>
          </p:nvSpPr>
          <p:spPr>
            <a:xfrm>
              <a:off x="2783861" y="12808377"/>
              <a:ext cx="2730953" cy="707886"/>
            </a:xfrm>
            <a:prstGeom prst="rect">
              <a:avLst/>
            </a:prstGeom>
            <a:noFill/>
          </p:spPr>
          <p:txBody>
            <a:bodyPr wrap="square" rtlCol="0">
              <a:spAutoFit/>
            </a:bodyPr>
            <a:lstStyle/>
            <a:p>
              <a:pPr algn="ctr"/>
              <a:r>
                <a:rPr lang="en-GB" sz="4000" dirty="0">
                  <a:latin typeface="Patrick Hand" pitchFamily="2" charset="77"/>
                </a:rPr>
                <a:t>5   6   7   8</a:t>
              </a:r>
            </a:p>
          </p:txBody>
        </p:sp>
        <p:sp>
          <p:nvSpPr>
            <p:cNvPr id="8" name="TextBox 7">
              <a:extLst>
                <a:ext uri="{FF2B5EF4-FFF2-40B4-BE49-F238E27FC236}">
                  <a16:creationId xmlns:a16="http://schemas.microsoft.com/office/drawing/2014/main" id="{D7615E14-E39D-0A7B-9B47-FBEDAF0FA78A}"/>
                </a:ext>
              </a:extLst>
            </p:cNvPr>
            <p:cNvSpPr txBox="1"/>
            <p:nvPr/>
          </p:nvSpPr>
          <p:spPr>
            <a:xfrm>
              <a:off x="2796777" y="13534214"/>
              <a:ext cx="2730953" cy="707886"/>
            </a:xfrm>
            <a:prstGeom prst="rect">
              <a:avLst/>
            </a:prstGeom>
            <a:noFill/>
          </p:spPr>
          <p:txBody>
            <a:bodyPr wrap="square" rtlCol="0">
              <a:spAutoFit/>
            </a:bodyPr>
            <a:lstStyle/>
            <a:p>
              <a:pPr algn="ctr"/>
              <a:r>
                <a:rPr lang="en-GB" sz="4000" dirty="0">
                  <a:latin typeface="Patrick Hand" pitchFamily="2" charset="77"/>
                </a:rPr>
                <a:t>9   10   11   12</a:t>
              </a:r>
            </a:p>
          </p:txBody>
        </p:sp>
      </p:grpSp>
      <p:cxnSp>
        <p:nvCxnSpPr>
          <p:cNvPr id="10" name="Straight Connector 9">
            <a:extLst>
              <a:ext uri="{FF2B5EF4-FFF2-40B4-BE49-F238E27FC236}">
                <a16:creationId xmlns:a16="http://schemas.microsoft.com/office/drawing/2014/main" id="{91A6CC26-F815-ECDA-91C8-7B9923A6F1CF}"/>
              </a:ext>
            </a:extLst>
          </p:cNvPr>
          <p:cNvCxnSpPr>
            <a:cxnSpLocks/>
          </p:cNvCxnSpPr>
          <p:nvPr/>
        </p:nvCxnSpPr>
        <p:spPr>
          <a:xfrm>
            <a:off x="221448" y="8216422"/>
            <a:ext cx="9826803" cy="0"/>
          </a:xfrm>
          <a:prstGeom prst="line">
            <a:avLst/>
          </a:prstGeom>
          <a:ln w="38100">
            <a:solidFill>
              <a:schemeClr val="bg1"/>
            </a:solidFill>
            <a:headEnd type="none"/>
            <a:tailEnd type="none" w="lg" len="lg"/>
          </a:ln>
        </p:spPr>
        <p:style>
          <a:lnRef idx="1">
            <a:schemeClr val="accent1"/>
          </a:lnRef>
          <a:fillRef idx="0">
            <a:schemeClr val="accent1"/>
          </a:fillRef>
          <a:effectRef idx="0">
            <a:schemeClr val="accent1"/>
          </a:effectRef>
          <a:fontRef idx="minor">
            <a:schemeClr val="tx1"/>
          </a:fontRef>
        </p:style>
      </p:cxnSp>
      <p:pic>
        <p:nvPicPr>
          <p:cNvPr id="11" name="Graphic 10" descr="Shield Tick with solid fill">
            <a:extLst>
              <a:ext uri="{FF2B5EF4-FFF2-40B4-BE49-F238E27FC236}">
                <a16:creationId xmlns:a16="http://schemas.microsoft.com/office/drawing/2014/main" id="{82F56261-A742-1402-629F-FCEA80AD20E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008576" y="8233054"/>
            <a:ext cx="914400" cy="914400"/>
          </a:xfrm>
          <a:prstGeom prst="rect">
            <a:avLst/>
          </a:prstGeom>
        </p:spPr>
      </p:pic>
      <p:pic>
        <p:nvPicPr>
          <p:cNvPr id="15" name="Graphic 14" descr="Close with solid fill">
            <a:extLst>
              <a:ext uri="{FF2B5EF4-FFF2-40B4-BE49-F238E27FC236}">
                <a16:creationId xmlns:a16="http://schemas.microsoft.com/office/drawing/2014/main" id="{27BBEE3B-0F20-29F8-F609-B39DF56DFD5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008576" y="6316373"/>
            <a:ext cx="914400" cy="914400"/>
          </a:xfrm>
          <a:prstGeom prst="rect">
            <a:avLst/>
          </a:prstGeom>
        </p:spPr>
      </p:pic>
      <p:cxnSp>
        <p:nvCxnSpPr>
          <p:cNvPr id="21" name="Straight Connector 20">
            <a:extLst>
              <a:ext uri="{FF2B5EF4-FFF2-40B4-BE49-F238E27FC236}">
                <a16:creationId xmlns:a16="http://schemas.microsoft.com/office/drawing/2014/main" id="{F58DF45D-E2D9-2573-5B19-6019880A25BD}"/>
              </a:ext>
            </a:extLst>
          </p:cNvPr>
          <p:cNvCxnSpPr>
            <a:cxnSpLocks/>
          </p:cNvCxnSpPr>
          <p:nvPr/>
        </p:nvCxnSpPr>
        <p:spPr>
          <a:xfrm>
            <a:off x="221445" y="6304492"/>
            <a:ext cx="9826803" cy="0"/>
          </a:xfrm>
          <a:prstGeom prst="line">
            <a:avLst/>
          </a:prstGeom>
          <a:ln w="38100">
            <a:solidFill>
              <a:schemeClr val="bg1"/>
            </a:solidFill>
            <a:headEnd type="none"/>
            <a:tailEnd type="non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626024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pattFill prst="pct20">
          <a:fgClr>
            <a:srgbClr val="FFC000"/>
          </a:fgClr>
          <a:bgClr>
            <a:schemeClr val="bg1"/>
          </a:bgClr>
        </a:pattFill>
        <a:effectLst/>
      </p:bgPr>
    </p:bg>
    <p:spTree>
      <p:nvGrpSpPr>
        <p:cNvPr id="1" name="">
          <a:extLst>
            <a:ext uri="{FF2B5EF4-FFF2-40B4-BE49-F238E27FC236}">
              <a16:creationId xmlns:a16="http://schemas.microsoft.com/office/drawing/2014/main" id="{DFDB729E-F8DD-029C-9B05-01CFB72ACF7B}"/>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E98B42B3-AEE7-CDD0-B3E6-67A542780F0A}"/>
              </a:ext>
            </a:extLst>
          </p:cNvPr>
          <p:cNvPicPr>
            <a:picLocks noChangeAspect="1"/>
          </p:cNvPicPr>
          <p:nvPr/>
        </p:nvPicPr>
        <p:blipFill rotWithShape="1">
          <a:blip r:embed="rId2"/>
          <a:srcRect l="16164" t="15827" r="10466" b="11152"/>
          <a:stretch>
            <a:fillRect/>
          </a:stretch>
        </p:blipFill>
        <p:spPr>
          <a:xfrm>
            <a:off x="223579" y="5772792"/>
            <a:ext cx="9838255" cy="9365818"/>
          </a:xfrm>
          <a:prstGeom prst="rect">
            <a:avLst/>
          </a:prstGeom>
        </p:spPr>
      </p:pic>
      <p:sp>
        <p:nvSpPr>
          <p:cNvPr id="4" name="TextBox 3">
            <a:extLst>
              <a:ext uri="{FF2B5EF4-FFF2-40B4-BE49-F238E27FC236}">
                <a16:creationId xmlns:a16="http://schemas.microsoft.com/office/drawing/2014/main" id="{C8B3B024-AFE3-B787-1CF0-88840F303020}"/>
              </a:ext>
            </a:extLst>
          </p:cNvPr>
          <p:cNvSpPr txBox="1"/>
          <p:nvPr/>
        </p:nvSpPr>
        <p:spPr>
          <a:xfrm>
            <a:off x="223306" y="4547763"/>
            <a:ext cx="9838800" cy="1162332"/>
          </a:xfrm>
          <a:prstGeom prst="rect">
            <a:avLst/>
          </a:prstGeom>
          <a:ln/>
        </p:spPr>
        <p:style>
          <a:lnRef idx="0">
            <a:schemeClr val="accent6"/>
          </a:lnRef>
          <a:fillRef idx="3">
            <a:schemeClr val="accent6"/>
          </a:fillRef>
          <a:effectRef idx="3">
            <a:schemeClr val="accent6"/>
          </a:effectRef>
          <a:fontRef idx="minor">
            <a:schemeClr val="lt1"/>
          </a:fontRef>
        </p:style>
        <p:txBody>
          <a:bodyPr wrap="square" rtlCol="0" anchor="ctr" anchorCtr="0">
            <a:noAutofit/>
            <a:scene3d>
              <a:camera prst="orthographicFront"/>
              <a:lightRig rig="harsh" dir="t"/>
            </a:scene3d>
            <a:sp3d extrusionH="57150" prstMaterial="matte">
              <a:bevelT w="63500" h="12700" prst="angle"/>
              <a:contourClr>
                <a:schemeClr val="bg1">
                  <a:lumMod val="65000"/>
                </a:schemeClr>
              </a:contourClr>
            </a:sp3d>
          </a:bodyPr>
          <a:lstStyle/>
          <a:p>
            <a:pPr algn="ctr"/>
            <a:r>
              <a:rPr lang="en-GB" sz="5400" dirty="0" err="1">
                <a:ln w="0"/>
                <a:solidFill>
                  <a:schemeClr val="tx1"/>
                </a:solidFill>
                <a:effectLst>
                  <a:outerShdw blurRad="38100" dist="19050" dir="2700000" algn="tl" rotWithShape="0">
                    <a:schemeClr val="dk1">
                      <a:alpha val="40000"/>
                    </a:schemeClr>
                  </a:outerShdw>
                </a:effectLst>
              </a:rPr>
              <a:t>Object.freeze</a:t>
            </a:r>
            <a:r>
              <a:rPr lang="en-GB" sz="5400" dirty="0">
                <a:ln w="0"/>
                <a:solidFill>
                  <a:schemeClr val="tx1"/>
                </a:solidFill>
                <a:effectLst>
                  <a:outerShdw blurRad="38100" dist="19050" dir="2700000" algn="tl" rotWithShape="0">
                    <a:schemeClr val="dk1">
                      <a:alpha val="40000"/>
                    </a:schemeClr>
                  </a:outerShdw>
                </a:effectLst>
              </a:rPr>
              <a:t>()</a:t>
            </a:r>
            <a:r>
              <a:rPr lang="en-GB" sz="5400" b="1" dirty="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rPr>
              <a:t> </a:t>
            </a:r>
            <a:r>
              <a:rPr lang="en-GB" sz="5400" b="1" dirty="0">
                <a:ln w="9525">
                  <a:solidFill>
                    <a:schemeClr val="bg1"/>
                  </a:solidFill>
                  <a:prstDash val="solid"/>
                </a:ln>
                <a:solidFill>
                  <a:schemeClr val="tx1"/>
                </a:solidFill>
                <a:effectLst>
                  <a:outerShdw blurRad="12700" dist="38100" dir="2700000" algn="tl" rotWithShape="0">
                    <a:schemeClr val="bg1">
                      <a:lumMod val="50000"/>
                    </a:schemeClr>
                  </a:outerShdw>
                </a:effectLst>
              </a:rPr>
              <a:t>vs</a:t>
            </a:r>
            <a:r>
              <a:rPr lang="en-GB" sz="5400" b="1" dirty="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rPr>
              <a:t> </a:t>
            </a:r>
            <a:r>
              <a:rPr lang="en-GB" sz="5400" dirty="0">
                <a:ln w="0"/>
                <a:solidFill>
                  <a:schemeClr val="tx1"/>
                </a:solidFill>
                <a:effectLst>
                  <a:outerShdw blurRad="38100" dist="19050" dir="2700000" algn="tl" rotWithShape="0">
                    <a:schemeClr val="dk1">
                      <a:alpha val="40000"/>
                    </a:schemeClr>
                  </a:outerShdw>
                </a:effectLst>
              </a:rPr>
              <a:t>as </a:t>
            </a:r>
            <a:r>
              <a:rPr lang="en-GB" sz="5400" dirty="0" err="1">
                <a:ln w="0"/>
                <a:solidFill>
                  <a:schemeClr val="tx1"/>
                </a:solidFill>
                <a:effectLst>
                  <a:outerShdw blurRad="38100" dist="19050" dir="2700000" algn="tl" rotWithShape="0">
                    <a:schemeClr val="dk1">
                      <a:alpha val="40000"/>
                    </a:schemeClr>
                  </a:outerShdw>
                </a:effectLst>
              </a:rPr>
              <a:t>const</a:t>
            </a:r>
            <a:endParaRPr lang="en-GB" sz="1400" b="1" dirty="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latin typeface="Patrick Hand" pitchFamily="2" charset="77"/>
            </a:endParaRPr>
          </a:p>
        </p:txBody>
      </p:sp>
      <p:sp>
        <p:nvSpPr>
          <p:cNvPr id="13" name="TextBox 12">
            <a:extLst>
              <a:ext uri="{FF2B5EF4-FFF2-40B4-BE49-F238E27FC236}">
                <a16:creationId xmlns:a16="http://schemas.microsoft.com/office/drawing/2014/main" id="{2DC93386-7003-550B-8361-770B236BA91B}"/>
              </a:ext>
            </a:extLst>
          </p:cNvPr>
          <p:cNvSpPr txBox="1"/>
          <p:nvPr/>
        </p:nvSpPr>
        <p:spPr>
          <a:xfrm>
            <a:off x="223306" y="15170618"/>
            <a:ext cx="9838800" cy="1569660"/>
          </a:xfrm>
          <a:prstGeom prst="rect">
            <a:avLst/>
          </a:prstGeom>
          <a:noFill/>
        </p:spPr>
        <p:txBody>
          <a:bodyPr wrap="square" rtlCol="0">
            <a:spAutoFit/>
          </a:bodyPr>
          <a:lstStyle/>
          <a:p>
            <a:pPr algn="ctr"/>
            <a:r>
              <a:rPr lang="en-GB" sz="4800" dirty="0" err="1">
                <a:ln w="0"/>
                <a:solidFill>
                  <a:schemeClr val="accent1"/>
                </a:solidFill>
                <a:effectLst>
                  <a:outerShdw blurRad="38100" dist="25400" dir="5400000" algn="ctr" rotWithShape="0">
                    <a:srgbClr val="6E747A">
                      <a:alpha val="43000"/>
                    </a:srgbClr>
                  </a:outerShdw>
                </a:effectLst>
                <a:latin typeface="Patrick Hand" pitchFamily="2" charset="77"/>
              </a:rPr>
              <a:t>Object.freeze</a:t>
            </a:r>
            <a:r>
              <a:rPr lang="en-GB" sz="4800" dirty="0">
                <a:ln w="0"/>
                <a:solidFill>
                  <a:schemeClr val="accent1"/>
                </a:solidFill>
                <a:effectLst>
                  <a:outerShdw blurRad="38100" dist="25400" dir="5400000" algn="ctr" rotWithShape="0">
                    <a:srgbClr val="6E747A">
                      <a:alpha val="43000"/>
                    </a:srgbClr>
                  </a:outerShdw>
                </a:effectLst>
                <a:latin typeface="Patrick Hand" pitchFamily="2" charset="77"/>
              </a:rPr>
              <a:t>()</a:t>
            </a:r>
            <a:r>
              <a:rPr lang="en-GB" sz="4800" b="1" dirty="0">
                <a:latin typeface="Patrick Hand" pitchFamily="2" charset="77"/>
              </a:rPr>
              <a:t> → Runtime protection</a:t>
            </a:r>
          </a:p>
          <a:p>
            <a:pPr algn="ctr"/>
            <a:r>
              <a:rPr lang="en-GB" sz="4800" dirty="0">
                <a:ln w="0"/>
                <a:solidFill>
                  <a:schemeClr val="accent1"/>
                </a:solidFill>
                <a:effectLst>
                  <a:outerShdw blurRad="38100" dist="25400" dir="5400000" algn="ctr" rotWithShape="0">
                    <a:srgbClr val="6E747A">
                      <a:alpha val="43000"/>
                    </a:srgbClr>
                  </a:outerShdw>
                </a:effectLst>
                <a:latin typeface="Patrick Hand" pitchFamily="2" charset="77"/>
              </a:rPr>
              <a:t>as </a:t>
            </a:r>
            <a:r>
              <a:rPr lang="en-GB" sz="4800" dirty="0" err="1">
                <a:ln w="0"/>
                <a:solidFill>
                  <a:schemeClr val="accent1"/>
                </a:solidFill>
                <a:effectLst>
                  <a:outerShdw blurRad="38100" dist="25400" dir="5400000" algn="ctr" rotWithShape="0">
                    <a:srgbClr val="6E747A">
                      <a:alpha val="43000"/>
                    </a:srgbClr>
                  </a:outerShdw>
                </a:effectLst>
                <a:latin typeface="Patrick Hand" pitchFamily="2" charset="77"/>
              </a:rPr>
              <a:t>const</a:t>
            </a:r>
            <a:r>
              <a:rPr lang="en-GB" sz="4800" dirty="0">
                <a:ln w="0"/>
                <a:solidFill>
                  <a:schemeClr val="accent1"/>
                </a:solidFill>
                <a:effectLst>
                  <a:outerShdw blurRad="38100" dist="25400" dir="5400000" algn="ctr" rotWithShape="0">
                    <a:srgbClr val="6E747A">
                      <a:alpha val="43000"/>
                    </a:srgbClr>
                  </a:outerShdw>
                </a:effectLst>
                <a:latin typeface="Patrick Hand" pitchFamily="2" charset="77"/>
              </a:rPr>
              <a:t> </a:t>
            </a:r>
            <a:r>
              <a:rPr lang="en-GB" sz="4800" b="1" dirty="0">
                <a:latin typeface="Patrick Hand" pitchFamily="2" charset="77"/>
              </a:rPr>
              <a:t>→ Compile-time type safety</a:t>
            </a:r>
          </a:p>
        </p:txBody>
      </p:sp>
      <p:cxnSp>
        <p:nvCxnSpPr>
          <p:cNvPr id="17" name="Straight Connector 16">
            <a:extLst>
              <a:ext uri="{FF2B5EF4-FFF2-40B4-BE49-F238E27FC236}">
                <a16:creationId xmlns:a16="http://schemas.microsoft.com/office/drawing/2014/main" id="{37A0EC55-6918-894A-527C-6A7222C04E32}"/>
              </a:ext>
            </a:extLst>
          </p:cNvPr>
          <p:cNvCxnSpPr>
            <a:cxnSpLocks/>
          </p:cNvCxnSpPr>
          <p:nvPr/>
        </p:nvCxnSpPr>
        <p:spPr>
          <a:xfrm>
            <a:off x="223579" y="11300203"/>
            <a:ext cx="9838255" cy="0"/>
          </a:xfrm>
          <a:prstGeom prst="line">
            <a:avLst/>
          </a:prstGeom>
          <a:ln w="38100">
            <a:solidFill>
              <a:schemeClr val="bg1"/>
            </a:solidFill>
            <a:headEnd type="none"/>
            <a:tailEnd type="none" w="lg" len="lg"/>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5B841D4F-CF30-69DD-7E03-B10CAE07F447}"/>
              </a:ext>
            </a:extLst>
          </p:cNvPr>
          <p:cNvPicPr>
            <a:picLocks noChangeAspect="1"/>
          </p:cNvPicPr>
          <p:nvPr/>
        </p:nvPicPr>
        <p:blipFill>
          <a:blip r:embed="rId3"/>
          <a:stretch>
            <a:fillRect/>
          </a:stretch>
        </p:blipFill>
        <p:spPr>
          <a:xfrm>
            <a:off x="289806" y="4597929"/>
            <a:ext cx="1062000" cy="1062000"/>
          </a:xfrm>
          <a:prstGeom prst="rect">
            <a:avLst/>
          </a:prstGeom>
        </p:spPr>
      </p:pic>
      <p:sp>
        <p:nvSpPr>
          <p:cNvPr id="5" name="TextBox 4">
            <a:extLst>
              <a:ext uri="{FF2B5EF4-FFF2-40B4-BE49-F238E27FC236}">
                <a16:creationId xmlns:a16="http://schemas.microsoft.com/office/drawing/2014/main" id="{491C621B-78F8-D424-1DC8-2760E06DA7A2}"/>
              </a:ext>
            </a:extLst>
          </p:cNvPr>
          <p:cNvSpPr txBox="1"/>
          <p:nvPr/>
        </p:nvSpPr>
        <p:spPr>
          <a:xfrm>
            <a:off x="-8476735" y="3880022"/>
            <a:ext cx="7103227" cy="707886"/>
          </a:xfrm>
          <a:prstGeom prst="rect">
            <a:avLst/>
          </a:prstGeom>
        </p:spPr>
        <p:style>
          <a:lnRef idx="1">
            <a:schemeClr val="accent6"/>
          </a:lnRef>
          <a:fillRef idx="2">
            <a:schemeClr val="accent6"/>
          </a:fillRef>
          <a:effectRef idx="1">
            <a:schemeClr val="accent6"/>
          </a:effectRef>
          <a:fontRef idx="minor">
            <a:schemeClr val="dk1"/>
          </a:fontRef>
        </p:style>
        <p:txBody>
          <a:bodyPr wrap="none" rtlCol="0">
            <a:spAutoFit/>
          </a:bodyPr>
          <a:lstStyle/>
          <a:p>
            <a:r>
              <a:rPr lang="en-GB" sz="4000" dirty="0">
                <a:latin typeface="Patrick Hand" pitchFamily="2" charset="77"/>
              </a:rPr>
              <a:t>ts_001_object_freeze_vs_as_const</a:t>
            </a:r>
            <a:endParaRPr lang="en-DE" sz="4000" dirty="0">
              <a:latin typeface="Patrick Hand" pitchFamily="2" charset="77"/>
            </a:endParaRPr>
          </a:p>
        </p:txBody>
      </p:sp>
    </p:spTree>
    <p:extLst>
      <p:ext uri="{BB962C8B-B14F-4D97-AF65-F5344CB8AC3E}">
        <p14:creationId xmlns:p14="http://schemas.microsoft.com/office/powerpoint/2010/main" val="35658098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circle">
            <a:fillToRect l="50000" t="-80000" r="50000" b="180000"/>
          </a:path>
          <a:tileRect/>
        </a:gradFill>
        <a:effectLst/>
      </p:bgPr>
    </p:bg>
    <p:spTree>
      <p:nvGrpSpPr>
        <p:cNvPr id="1" name="">
          <a:extLst>
            <a:ext uri="{FF2B5EF4-FFF2-40B4-BE49-F238E27FC236}">
              <a16:creationId xmlns:a16="http://schemas.microsoft.com/office/drawing/2014/main" id="{A0CBC614-49A2-EC8F-5615-A2B383914C7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29CB103-F84C-FB3F-B06B-B4D92F8A722E}"/>
              </a:ext>
            </a:extLst>
          </p:cNvPr>
          <p:cNvSpPr txBox="1"/>
          <p:nvPr/>
        </p:nvSpPr>
        <p:spPr>
          <a:xfrm>
            <a:off x="223306" y="3117548"/>
            <a:ext cx="9838800" cy="1162332"/>
          </a:xfrm>
          <a:prstGeom prst="rect">
            <a:avLst/>
          </a:prstGeom>
          <a:ln/>
        </p:spPr>
        <p:style>
          <a:lnRef idx="0">
            <a:schemeClr val="accent5"/>
          </a:lnRef>
          <a:fillRef idx="3">
            <a:schemeClr val="accent5"/>
          </a:fillRef>
          <a:effectRef idx="3">
            <a:schemeClr val="accent5"/>
          </a:effectRef>
          <a:fontRef idx="minor">
            <a:schemeClr val="lt1"/>
          </a:fontRef>
        </p:style>
        <p:txBody>
          <a:bodyPr wrap="square" rtlCol="0" anchor="ctr" anchorCtr="0">
            <a:noAutofit/>
            <a:scene3d>
              <a:camera prst="orthographicFront"/>
              <a:lightRig rig="harsh" dir="t"/>
            </a:scene3d>
            <a:sp3d extrusionH="57150" prstMaterial="matte">
              <a:bevelT w="63500" h="12700" prst="angle"/>
              <a:contourClr>
                <a:schemeClr val="bg1">
                  <a:lumMod val="65000"/>
                </a:schemeClr>
              </a:contourClr>
            </a:sp3d>
          </a:bodyPr>
          <a:lstStyle/>
          <a:p>
            <a:pPr algn="r"/>
            <a:r>
              <a:rPr lang="en-GB" sz="4800" dirty="0">
                <a:ln w="0"/>
                <a:solidFill>
                  <a:schemeClr val="tx1"/>
                </a:solidFill>
                <a:effectLst>
                  <a:outerShdw blurRad="38100" dist="19050" dir="2700000" algn="tl" rotWithShape="0">
                    <a:schemeClr val="dk1">
                      <a:alpha val="40000"/>
                    </a:schemeClr>
                  </a:outerShdw>
                </a:effectLst>
              </a:rPr>
              <a:t>Use Map for ordered key-values</a:t>
            </a:r>
            <a:endParaRPr lang="en-GB" sz="1200" b="1" dirty="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latin typeface="Patrick Hand" pitchFamily="2" charset="77"/>
            </a:endParaRPr>
          </a:p>
        </p:txBody>
      </p:sp>
      <p:pic>
        <p:nvPicPr>
          <p:cNvPr id="3" name="Picture 2">
            <a:extLst>
              <a:ext uri="{FF2B5EF4-FFF2-40B4-BE49-F238E27FC236}">
                <a16:creationId xmlns:a16="http://schemas.microsoft.com/office/drawing/2014/main" id="{6B8F8371-32F9-87B8-4C5D-B193DEFFCB81}"/>
              </a:ext>
            </a:extLst>
          </p:cNvPr>
          <p:cNvPicPr>
            <a:picLocks noChangeAspect="1"/>
          </p:cNvPicPr>
          <p:nvPr/>
        </p:nvPicPr>
        <p:blipFill>
          <a:blip r:embed="rId2"/>
          <a:stretch>
            <a:fillRect/>
          </a:stretch>
        </p:blipFill>
        <p:spPr>
          <a:xfrm>
            <a:off x="289806" y="3167714"/>
            <a:ext cx="1062000" cy="1062000"/>
          </a:xfrm>
          <a:prstGeom prst="rect">
            <a:avLst/>
          </a:prstGeom>
        </p:spPr>
      </p:pic>
      <p:sp>
        <p:nvSpPr>
          <p:cNvPr id="5" name="TextBox 4">
            <a:extLst>
              <a:ext uri="{FF2B5EF4-FFF2-40B4-BE49-F238E27FC236}">
                <a16:creationId xmlns:a16="http://schemas.microsoft.com/office/drawing/2014/main" id="{DA12B2F3-67D6-1414-3AD6-CA0548A0ACA3}"/>
              </a:ext>
            </a:extLst>
          </p:cNvPr>
          <p:cNvSpPr txBox="1"/>
          <p:nvPr/>
        </p:nvSpPr>
        <p:spPr>
          <a:xfrm>
            <a:off x="-5008791" y="3344771"/>
            <a:ext cx="4285147" cy="707886"/>
          </a:xfrm>
          <a:prstGeom prst="rect">
            <a:avLst/>
          </a:prstGeom>
        </p:spPr>
        <p:style>
          <a:lnRef idx="1">
            <a:schemeClr val="accent6"/>
          </a:lnRef>
          <a:fillRef idx="2">
            <a:schemeClr val="accent6"/>
          </a:fillRef>
          <a:effectRef idx="1">
            <a:schemeClr val="accent6"/>
          </a:effectRef>
          <a:fontRef idx="minor">
            <a:schemeClr val="dk1"/>
          </a:fontRef>
        </p:style>
        <p:txBody>
          <a:bodyPr wrap="none" rtlCol="0">
            <a:spAutoFit/>
          </a:bodyPr>
          <a:lstStyle/>
          <a:p>
            <a:r>
              <a:rPr lang="en-GB" sz="4000" dirty="0">
                <a:latin typeface="Patrick Hand" pitchFamily="2" charset="77"/>
              </a:rPr>
              <a:t>ts_017_ordered_map</a:t>
            </a:r>
            <a:endParaRPr lang="en-DE" sz="4000" dirty="0">
              <a:latin typeface="Patrick Hand" pitchFamily="2" charset="77"/>
            </a:endParaRPr>
          </a:p>
        </p:txBody>
      </p:sp>
      <p:pic>
        <p:nvPicPr>
          <p:cNvPr id="7" name="Picture 6">
            <a:extLst>
              <a:ext uri="{FF2B5EF4-FFF2-40B4-BE49-F238E27FC236}">
                <a16:creationId xmlns:a16="http://schemas.microsoft.com/office/drawing/2014/main" id="{F206A547-ADE0-CC82-B9FB-9A624EFAA430}"/>
              </a:ext>
            </a:extLst>
          </p:cNvPr>
          <p:cNvPicPr preferRelativeResize="0">
            <a:picLocks/>
          </p:cNvPicPr>
          <p:nvPr/>
        </p:nvPicPr>
        <p:blipFill rotWithShape="1">
          <a:blip r:embed="rId3"/>
          <a:srcRect l="19453" t="22064" r="12866" b="14122"/>
          <a:stretch>
            <a:fillRect/>
          </a:stretch>
        </p:blipFill>
        <p:spPr>
          <a:xfrm>
            <a:off x="223306" y="4448013"/>
            <a:ext cx="9838800" cy="7200000"/>
          </a:xfrm>
          <a:prstGeom prst="rect">
            <a:avLst/>
          </a:prstGeom>
        </p:spPr>
      </p:pic>
      <p:sp>
        <p:nvSpPr>
          <p:cNvPr id="8" name="Right Arrow 7">
            <a:extLst>
              <a:ext uri="{FF2B5EF4-FFF2-40B4-BE49-F238E27FC236}">
                <a16:creationId xmlns:a16="http://schemas.microsoft.com/office/drawing/2014/main" id="{34A4905D-32B0-4A01-391A-1B3D3C590DA1}"/>
              </a:ext>
            </a:extLst>
          </p:cNvPr>
          <p:cNvSpPr/>
          <p:nvPr/>
        </p:nvSpPr>
        <p:spPr>
          <a:xfrm>
            <a:off x="4283916" y="12228163"/>
            <a:ext cx="1717581" cy="712922"/>
          </a:xfrm>
          <a:prstGeom prst="rightArrow">
            <a:avLst/>
          </a:prstGeom>
          <a:ln w="12700">
            <a:solidFill>
              <a:schemeClr val="accent1">
                <a:shade val="15000"/>
              </a:schemeClr>
            </a:solidFill>
          </a:ln>
        </p:spPr>
        <p:style>
          <a:lnRef idx="0">
            <a:schemeClr val="accent5"/>
          </a:lnRef>
          <a:fillRef idx="3">
            <a:schemeClr val="accent5"/>
          </a:fillRef>
          <a:effectRef idx="3">
            <a:schemeClr val="accent5"/>
          </a:effectRef>
          <a:fontRef idx="minor">
            <a:schemeClr val="lt1"/>
          </a:fontRef>
        </p:style>
        <p:txBody>
          <a:bodyPr wrap="square" rtlCol="0" anchor="ctr" anchorCtr="0">
            <a:noAutofit/>
            <a:scene3d>
              <a:camera prst="orthographicFront"/>
              <a:lightRig rig="harsh" dir="t"/>
            </a:scene3d>
            <a:sp3d extrusionH="57150" prstMaterial="matte">
              <a:bevelT w="63500" h="12700" prst="angle"/>
              <a:contourClr>
                <a:schemeClr val="bg1">
                  <a:lumMod val="65000"/>
                </a:schemeClr>
              </a:contourClr>
            </a:sp3d>
          </a:bodyPr>
          <a:lstStyle/>
          <a:p>
            <a:pPr marL="0" algn="l" defTabSz="457200" rtl="0" eaLnBrk="1" latinLnBrk="0" hangingPunct="1"/>
            <a:endParaRPr lang="en-DE" sz="480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10669587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circle">
            <a:fillToRect l="50000" t="-80000" r="50000" b="180000"/>
          </a:path>
          <a:tileRect/>
        </a:gradFill>
        <a:effectLst/>
      </p:bgPr>
    </p:bg>
    <p:spTree>
      <p:nvGrpSpPr>
        <p:cNvPr id="1" name="">
          <a:extLst>
            <a:ext uri="{FF2B5EF4-FFF2-40B4-BE49-F238E27FC236}">
              <a16:creationId xmlns:a16="http://schemas.microsoft.com/office/drawing/2014/main" id="{CF8C96A1-C6D8-4685-7AF3-4A7C25FBDAC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B043558-9068-37AA-EC42-80A8CC844D82}"/>
              </a:ext>
            </a:extLst>
          </p:cNvPr>
          <p:cNvSpPr txBox="1"/>
          <p:nvPr/>
        </p:nvSpPr>
        <p:spPr>
          <a:xfrm>
            <a:off x="223306" y="3117548"/>
            <a:ext cx="9838800" cy="1162332"/>
          </a:xfrm>
          <a:prstGeom prst="rect">
            <a:avLst/>
          </a:prstGeom>
          <a:ln/>
        </p:spPr>
        <p:style>
          <a:lnRef idx="0">
            <a:schemeClr val="accent5"/>
          </a:lnRef>
          <a:fillRef idx="3">
            <a:schemeClr val="accent5"/>
          </a:fillRef>
          <a:effectRef idx="3">
            <a:schemeClr val="accent5"/>
          </a:effectRef>
          <a:fontRef idx="minor">
            <a:schemeClr val="lt1"/>
          </a:fontRef>
        </p:style>
        <p:txBody>
          <a:bodyPr wrap="square" rtlCol="0" anchor="ctr" anchorCtr="0">
            <a:noAutofit/>
            <a:scene3d>
              <a:camera prst="orthographicFront"/>
              <a:lightRig rig="harsh" dir="t"/>
            </a:scene3d>
            <a:sp3d extrusionH="57150" prstMaterial="matte">
              <a:bevelT w="63500" h="12700" prst="angle"/>
              <a:contourClr>
                <a:schemeClr val="bg1">
                  <a:lumMod val="65000"/>
                </a:schemeClr>
              </a:contourClr>
            </a:sp3d>
          </a:bodyPr>
          <a:lstStyle/>
          <a:p>
            <a:pPr algn="r"/>
            <a:r>
              <a:rPr lang="en-GB" sz="4800" dirty="0">
                <a:ln w="0"/>
                <a:solidFill>
                  <a:schemeClr val="tx1"/>
                </a:solidFill>
                <a:effectLst>
                  <a:outerShdw blurRad="38100" dist="19050" dir="2700000" algn="tl" rotWithShape="0">
                    <a:schemeClr val="dk1">
                      <a:alpha val="40000"/>
                    </a:schemeClr>
                  </a:outerShdw>
                </a:effectLst>
              </a:rPr>
              <a:t>Use Map for ordered key-values</a:t>
            </a:r>
            <a:endParaRPr lang="en-GB" sz="1200" b="1" dirty="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latin typeface="Patrick Hand" pitchFamily="2" charset="77"/>
            </a:endParaRPr>
          </a:p>
        </p:txBody>
      </p:sp>
      <p:pic>
        <p:nvPicPr>
          <p:cNvPr id="3" name="Picture 2">
            <a:extLst>
              <a:ext uri="{FF2B5EF4-FFF2-40B4-BE49-F238E27FC236}">
                <a16:creationId xmlns:a16="http://schemas.microsoft.com/office/drawing/2014/main" id="{8E231520-EC22-148C-9C79-BDF316CCFE0E}"/>
              </a:ext>
            </a:extLst>
          </p:cNvPr>
          <p:cNvPicPr>
            <a:picLocks noChangeAspect="1"/>
          </p:cNvPicPr>
          <p:nvPr/>
        </p:nvPicPr>
        <p:blipFill>
          <a:blip r:embed="rId2"/>
          <a:stretch>
            <a:fillRect/>
          </a:stretch>
        </p:blipFill>
        <p:spPr>
          <a:xfrm>
            <a:off x="289806" y="3167714"/>
            <a:ext cx="1062000" cy="1062000"/>
          </a:xfrm>
          <a:prstGeom prst="rect">
            <a:avLst/>
          </a:prstGeom>
        </p:spPr>
      </p:pic>
      <p:sp>
        <p:nvSpPr>
          <p:cNvPr id="5" name="TextBox 4">
            <a:extLst>
              <a:ext uri="{FF2B5EF4-FFF2-40B4-BE49-F238E27FC236}">
                <a16:creationId xmlns:a16="http://schemas.microsoft.com/office/drawing/2014/main" id="{A28A0992-3763-D6E8-35E6-C97A72176E43}"/>
              </a:ext>
            </a:extLst>
          </p:cNvPr>
          <p:cNvSpPr txBox="1"/>
          <p:nvPr/>
        </p:nvSpPr>
        <p:spPr>
          <a:xfrm>
            <a:off x="-4850132" y="3511196"/>
            <a:ext cx="4285147" cy="707886"/>
          </a:xfrm>
          <a:prstGeom prst="rect">
            <a:avLst/>
          </a:prstGeom>
        </p:spPr>
        <p:style>
          <a:lnRef idx="1">
            <a:schemeClr val="accent6"/>
          </a:lnRef>
          <a:fillRef idx="2">
            <a:schemeClr val="accent6"/>
          </a:fillRef>
          <a:effectRef idx="1">
            <a:schemeClr val="accent6"/>
          </a:effectRef>
          <a:fontRef idx="minor">
            <a:schemeClr val="dk1"/>
          </a:fontRef>
        </p:style>
        <p:txBody>
          <a:bodyPr wrap="none" rtlCol="0">
            <a:spAutoFit/>
          </a:bodyPr>
          <a:lstStyle/>
          <a:p>
            <a:r>
              <a:rPr lang="en-GB" sz="4000" dirty="0">
                <a:latin typeface="Patrick Hand" pitchFamily="2" charset="77"/>
              </a:rPr>
              <a:t>ts_017_ordered_map</a:t>
            </a:r>
            <a:endParaRPr lang="en-DE" sz="4000" dirty="0">
              <a:latin typeface="Patrick Hand" pitchFamily="2" charset="77"/>
            </a:endParaRPr>
          </a:p>
        </p:txBody>
      </p:sp>
      <p:pic>
        <p:nvPicPr>
          <p:cNvPr id="6" name="Picture 5">
            <a:extLst>
              <a:ext uri="{FF2B5EF4-FFF2-40B4-BE49-F238E27FC236}">
                <a16:creationId xmlns:a16="http://schemas.microsoft.com/office/drawing/2014/main" id="{A372FEA1-9501-CA26-2312-4492CC787032}"/>
              </a:ext>
            </a:extLst>
          </p:cNvPr>
          <p:cNvPicPr preferRelativeResize="0">
            <a:picLocks/>
          </p:cNvPicPr>
          <p:nvPr/>
        </p:nvPicPr>
        <p:blipFill rotWithShape="1">
          <a:blip r:embed="rId3"/>
          <a:srcRect l="21499" t="24718" r="14354" b="16482"/>
          <a:stretch>
            <a:fillRect/>
          </a:stretch>
        </p:blipFill>
        <p:spPr>
          <a:xfrm>
            <a:off x="223306" y="4448011"/>
            <a:ext cx="9838800" cy="7200000"/>
          </a:xfrm>
          <a:prstGeom prst="rect">
            <a:avLst/>
          </a:prstGeom>
        </p:spPr>
      </p:pic>
      <p:sp>
        <p:nvSpPr>
          <p:cNvPr id="8" name="Right Arrow 7">
            <a:extLst>
              <a:ext uri="{FF2B5EF4-FFF2-40B4-BE49-F238E27FC236}">
                <a16:creationId xmlns:a16="http://schemas.microsoft.com/office/drawing/2014/main" id="{C78F65AD-8201-18E9-158B-7D4682AA5330}"/>
              </a:ext>
            </a:extLst>
          </p:cNvPr>
          <p:cNvSpPr/>
          <p:nvPr/>
        </p:nvSpPr>
        <p:spPr>
          <a:xfrm>
            <a:off x="4283916" y="12228163"/>
            <a:ext cx="1717581" cy="712922"/>
          </a:xfrm>
          <a:prstGeom prst="rightArrow">
            <a:avLst/>
          </a:prstGeom>
          <a:ln w="12700">
            <a:solidFill>
              <a:schemeClr val="accent1">
                <a:shade val="15000"/>
              </a:schemeClr>
            </a:solidFill>
          </a:ln>
        </p:spPr>
        <p:style>
          <a:lnRef idx="0">
            <a:schemeClr val="accent5"/>
          </a:lnRef>
          <a:fillRef idx="3">
            <a:schemeClr val="accent5"/>
          </a:fillRef>
          <a:effectRef idx="3">
            <a:schemeClr val="accent5"/>
          </a:effectRef>
          <a:fontRef idx="minor">
            <a:schemeClr val="lt1"/>
          </a:fontRef>
        </p:style>
        <p:txBody>
          <a:bodyPr wrap="square" rtlCol="0" anchor="ctr" anchorCtr="0">
            <a:noAutofit/>
            <a:scene3d>
              <a:camera prst="orthographicFront"/>
              <a:lightRig rig="harsh" dir="t"/>
            </a:scene3d>
            <a:sp3d extrusionH="57150" prstMaterial="matte">
              <a:bevelT w="63500" h="12700" prst="angle"/>
              <a:contourClr>
                <a:schemeClr val="bg1">
                  <a:lumMod val="65000"/>
                </a:schemeClr>
              </a:contourClr>
            </a:sp3d>
          </a:bodyPr>
          <a:lstStyle/>
          <a:p>
            <a:pPr marL="0" algn="l" defTabSz="457200" rtl="0" eaLnBrk="1" latinLnBrk="0" hangingPunct="1"/>
            <a:endParaRPr lang="en-DE" sz="480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11944557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circle">
            <a:fillToRect l="50000" t="-80000" r="50000" b="180000"/>
          </a:path>
          <a:tileRect/>
        </a:gradFill>
        <a:effectLst/>
      </p:bgPr>
    </p:bg>
    <p:spTree>
      <p:nvGrpSpPr>
        <p:cNvPr id="1" name="">
          <a:extLst>
            <a:ext uri="{FF2B5EF4-FFF2-40B4-BE49-F238E27FC236}">
              <a16:creationId xmlns:a16="http://schemas.microsoft.com/office/drawing/2014/main" id="{299DA961-F7FA-F184-0BD0-14B3E7781DC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F9BB289-18FA-4E60-93AF-41330F2891F0}"/>
              </a:ext>
            </a:extLst>
          </p:cNvPr>
          <p:cNvSpPr txBox="1"/>
          <p:nvPr/>
        </p:nvSpPr>
        <p:spPr>
          <a:xfrm>
            <a:off x="223306" y="3117548"/>
            <a:ext cx="9838800" cy="1162332"/>
          </a:xfrm>
          <a:prstGeom prst="rect">
            <a:avLst/>
          </a:prstGeom>
          <a:ln/>
        </p:spPr>
        <p:style>
          <a:lnRef idx="0">
            <a:schemeClr val="accent5"/>
          </a:lnRef>
          <a:fillRef idx="3">
            <a:schemeClr val="accent5"/>
          </a:fillRef>
          <a:effectRef idx="3">
            <a:schemeClr val="accent5"/>
          </a:effectRef>
          <a:fontRef idx="minor">
            <a:schemeClr val="lt1"/>
          </a:fontRef>
        </p:style>
        <p:txBody>
          <a:bodyPr wrap="square" rtlCol="0" anchor="ctr" anchorCtr="0">
            <a:noAutofit/>
            <a:scene3d>
              <a:camera prst="orthographicFront"/>
              <a:lightRig rig="harsh" dir="t"/>
            </a:scene3d>
            <a:sp3d extrusionH="57150" prstMaterial="matte">
              <a:bevelT w="63500" h="12700" prst="angle"/>
              <a:contourClr>
                <a:schemeClr val="bg1">
                  <a:lumMod val="65000"/>
                </a:schemeClr>
              </a:contourClr>
            </a:sp3d>
          </a:bodyPr>
          <a:lstStyle/>
          <a:p>
            <a:pPr algn="r"/>
            <a:r>
              <a:rPr lang="en-GB" sz="4800" dirty="0">
                <a:ln w="0"/>
                <a:solidFill>
                  <a:schemeClr val="tx1"/>
                </a:solidFill>
                <a:effectLst>
                  <a:outerShdw blurRad="38100" dist="19050" dir="2700000" algn="tl" rotWithShape="0">
                    <a:schemeClr val="dk1">
                      <a:alpha val="40000"/>
                    </a:schemeClr>
                  </a:outerShdw>
                </a:effectLst>
              </a:rPr>
              <a:t>Use Map for ordered key-values</a:t>
            </a:r>
            <a:endParaRPr lang="en-GB" sz="1200" b="1" dirty="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latin typeface="Patrick Hand" pitchFamily="2" charset="77"/>
            </a:endParaRPr>
          </a:p>
        </p:txBody>
      </p:sp>
      <p:pic>
        <p:nvPicPr>
          <p:cNvPr id="3" name="Picture 2">
            <a:extLst>
              <a:ext uri="{FF2B5EF4-FFF2-40B4-BE49-F238E27FC236}">
                <a16:creationId xmlns:a16="http://schemas.microsoft.com/office/drawing/2014/main" id="{F0E04722-EE67-04FC-5D65-DDD5F5E59A61}"/>
              </a:ext>
            </a:extLst>
          </p:cNvPr>
          <p:cNvPicPr>
            <a:picLocks noChangeAspect="1"/>
          </p:cNvPicPr>
          <p:nvPr/>
        </p:nvPicPr>
        <p:blipFill>
          <a:blip r:embed="rId2"/>
          <a:stretch>
            <a:fillRect/>
          </a:stretch>
        </p:blipFill>
        <p:spPr>
          <a:xfrm>
            <a:off x="289806" y="3167714"/>
            <a:ext cx="1062000" cy="1062000"/>
          </a:xfrm>
          <a:prstGeom prst="rect">
            <a:avLst/>
          </a:prstGeom>
        </p:spPr>
      </p:pic>
      <p:sp>
        <p:nvSpPr>
          <p:cNvPr id="5" name="TextBox 4">
            <a:extLst>
              <a:ext uri="{FF2B5EF4-FFF2-40B4-BE49-F238E27FC236}">
                <a16:creationId xmlns:a16="http://schemas.microsoft.com/office/drawing/2014/main" id="{7F7A0A8C-1F5C-6001-9295-32CA5E50E0A4}"/>
              </a:ext>
            </a:extLst>
          </p:cNvPr>
          <p:cNvSpPr txBox="1"/>
          <p:nvPr/>
        </p:nvSpPr>
        <p:spPr>
          <a:xfrm>
            <a:off x="-4989617" y="3571994"/>
            <a:ext cx="4285147" cy="707886"/>
          </a:xfrm>
          <a:prstGeom prst="rect">
            <a:avLst/>
          </a:prstGeom>
        </p:spPr>
        <p:style>
          <a:lnRef idx="1">
            <a:schemeClr val="accent6"/>
          </a:lnRef>
          <a:fillRef idx="2">
            <a:schemeClr val="accent6"/>
          </a:fillRef>
          <a:effectRef idx="1">
            <a:schemeClr val="accent6"/>
          </a:effectRef>
          <a:fontRef idx="minor">
            <a:schemeClr val="dk1"/>
          </a:fontRef>
        </p:style>
        <p:txBody>
          <a:bodyPr wrap="none" rtlCol="0">
            <a:spAutoFit/>
          </a:bodyPr>
          <a:lstStyle/>
          <a:p>
            <a:r>
              <a:rPr lang="en-GB" sz="4000" dirty="0">
                <a:latin typeface="Patrick Hand" pitchFamily="2" charset="77"/>
              </a:rPr>
              <a:t>ts_017_ordered_map</a:t>
            </a:r>
            <a:endParaRPr lang="en-DE" sz="4000" dirty="0">
              <a:latin typeface="Patrick Hand" pitchFamily="2" charset="77"/>
            </a:endParaRPr>
          </a:p>
        </p:txBody>
      </p:sp>
      <p:pic>
        <p:nvPicPr>
          <p:cNvPr id="6" name="Picture 5">
            <a:extLst>
              <a:ext uri="{FF2B5EF4-FFF2-40B4-BE49-F238E27FC236}">
                <a16:creationId xmlns:a16="http://schemas.microsoft.com/office/drawing/2014/main" id="{4840AEC4-C533-BE18-D9F5-7A84320EE44A}"/>
              </a:ext>
            </a:extLst>
          </p:cNvPr>
          <p:cNvPicPr preferRelativeResize="0">
            <a:picLocks/>
          </p:cNvPicPr>
          <p:nvPr/>
        </p:nvPicPr>
        <p:blipFill rotWithShape="1">
          <a:blip r:embed="rId3"/>
          <a:srcRect l="19622" t="26155" r="13447" b="16504"/>
          <a:stretch>
            <a:fillRect/>
          </a:stretch>
        </p:blipFill>
        <p:spPr>
          <a:xfrm>
            <a:off x="223306" y="4448011"/>
            <a:ext cx="9838800" cy="7200000"/>
          </a:xfrm>
          <a:prstGeom prst="rect">
            <a:avLst/>
          </a:prstGeom>
        </p:spPr>
      </p:pic>
    </p:spTree>
    <p:extLst>
      <p:ext uri="{BB962C8B-B14F-4D97-AF65-F5344CB8AC3E}">
        <p14:creationId xmlns:p14="http://schemas.microsoft.com/office/powerpoint/2010/main" val="41495673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a:extLst>
            <a:ext uri="{FF2B5EF4-FFF2-40B4-BE49-F238E27FC236}">
              <a16:creationId xmlns:a16="http://schemas.microsoft.com/office/drawing/2014/main" id="{67B18B78-91D1-FDA0-9CF6-48E4AC8F003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E0ED6F7-32C9-2B97-4246-A7573BB5663E}"/>
              </a:ext>
            </a:extLst>
          </p:cNvPr>
          <p:cNvSpPr txBox="1"/>
          <p:nvPr/>
        </p:nvSpPr>
        <p:spPr>
          <a:xfrm>
            <a:off x="223306" y="4733191"/>
            <a:ext cx="9838800" cy="1189726"/>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noAutofit/>
          </a:bodyPr>
          <a:lstStyle/>
          <a:p>
            <a:pPr marL="0" algn="ctr" defTabSz="457200" rtl="0" eaLnBrk="1" latinLnBrk="0" hangingPunct="1"/>
            <a:r>
              <a:rPr lang="en-US" sz="6000" b="1" dirty="0" err="1">
                <a:ln w="0"/>
                <a:solidFill>
                  <a:schemeClr val="tx1"/>
                </a:solidFill>
                <a:effectLst>
                  <a:outerShdw blurRad="38100" dist="19050" dir="2700000" algn="tl" rotWithShape="0">
                    <a:schemeClr val="dk1">
                      <a:alpha val="40000"/>
                    </a:schemeClr>
                  </a:outerShdw>
                </a:effectLst>
                <a:latin typeface="+mj-lt"/>
              </a:rPr>
              <a:t>dataclass</a:t>
            </a:r>
            <a:endParaRPr lang="en-GB" sz="1600" b="1" dirty="0">
              <a:ln w="0"/>
              <a:solidFill>
                <a:schemeClr val="tx1"/>
              </a:solidFill>
              <a:effectLst>
                <a:outerShdw blurRad="38100" dist="19050" dir="2700000" algn="tl" rotWithShape="0">
                  <a:schemeClr val="dk1">
                    <a:alpha val="40000"/>
                  </a:schemeClr>
                </a:outerShdw>
              </a:effectLst>
              <a:latin typeface="+mj-lt"/>
            </a:endParaRPr>
          </a:p>
        </p:txBody>
      </p:sp>
      <p:pic>
        <p:nvPicPr>
          <p:cNvPr id="5" name="Picture 4">
            <a:extLst>
              <a:ext uri="{FF2B5EF4-FFF2-40B4-BE49-F238E27FC236}">
                <a16:creationId xmlns:a16="http://schemas.microsoft.com/office/drawing/2014/main" id="{BF001C73-DF35-30E5-356C-0F186FB087E7}"/>
              </a:ext>
            </a:extLst>
          </p:cNvPr>
          <p:cNvPicPr>
            <a:picLocks noChangeAspect="1"/>
          </p:cNvPicPr>
          <p:nvPr/>
        </p:nvPicPr>
        <p:blipFill>
          <a:blip r:embed="rId3"/>
          <a:stretch>
            <a:fillRect/>
          </a:stretch>
        </p:blipFill>
        <p:spPr>
          <a:xfrm>
            <a:off x="290127" y="4814930"/>
            <a:ext cx="1063167" cy="1063167"/>
          </a:xfrm>
          <a:prstGeom prst="rect">
            <a:avLst/>
          </a:prstGeom>
        </p:spPr>
      </p:pic>
      <p:sp>
        <p:nvSpPr>
          <p:cNvPr id="13" name="TextBox 12">
            <a:extLst>
              <a:ext uri="{FF2B5EF4-FFF2-40B4-BE49-F238E27FC236}">
                <a16:creationId xmlns:a16="http://schemas.microsoft.com/office/drawing/2014/main" id="{96F47210-119F-954D-1993-4CF2A6779D96}"/>
              </a:ext>
            </a:extLst>
          </p:cNvPr>
          <p:cNvSpPr txBox="1"/>
          <p:nvPr/>
        </p:nvSpPr>
        <p:spPr>
          <a:xfrm>
            <a:off x="318575" y="11866316"/>
            <a:ext cx="9648263" cy="1938992"/>
          </a:xfrm>
          <a:prstGeom prst="rect">
            <a:avLst/>
          </a:prstGeom>
          <a:noFill/>
        </p:spPr>
        <p:txBody>
          <a:bodyPr wrap="square" rtlCol="0">
            <a:spAutoFit/>
          </a:bodyPr>
          <a:lstStyle/>
          <a:p>
            <a:pPr algn="ctr"/>
            <a:r>
              <a:rPr lang="en-GB" sz="6000" dirty="0">
                <a:ln w="0"/>
                <a:effectLst>
                  <a:outerShdw blurRad="38100" dist="19050" dir="2700000" algn="tl" rotWithShape="0">
                    <a:schemeClr val="dk1">
                      <a:alpha val="40000"/>
                    </a:schemeClr>
                  </a:outerShdw>
                </a:effectLst>
                <a:latin typeface="Patrick Hand" pitchFamily="2" charset="77"/>
              </a:rPr>
              <a:t>Using </a:t>
            </a:r>
            <a:r>
              <a:rPr lang="en-GB" sz="6000" dirty="0" err="1">
                <a:ln w="0"/>
                <a:effectLst>
                  <a:outerShdw blurRad="38100" dist="19050" dir="2700000" algn="tl" rotWithShape="0">
                    <a:schemeClr val="dk1">
                      <a:alpha val="40000"/>
                    </a:schemeClr>
                  </a:outerShdw>
                </a:effectLst>
                <a:latin typeface="Patrick Hand" pitchFamily="2" charset="77"/>
              </a:rPr>
              <a:t>dataclass</a:t>
            </a:r>
            <a:r>
              <a:rPr lang="en-GB" sz="6000" dirty="0">
                <a:ln w="0"/>
                <a:effectLst>
                  <a:outerShdw blurRad="38100" dist="19050" dir="2700000" algn="tl" rotWithShape="0">
                    <a:schemeClr val="dk1">
                      <a:alpha val="40000"/>
                    </a:schemeClr>
                  </a:outerShdw>
                </a:effectLst>
                <a:latin typeface="Patrick Hand" pitchFamily="2" charset="77"/>
              </a:rPr>
              <a:t> to manage structured data</a:t>
            </a:r>
            <a:endParaRPr lang="en-DE" sz="6000" dirty="0">
              <a:ln w="0"/>
              <a:effectLst>
                <a:outerShdw blurRad="38100" dist="19050" dir="2700000" algn="tl" rotWithShape="0">
                  <a:schemeClr val="dk1">
                    <a:alpha val="40000"/>
                  </a:schemeClr>
                </a:outerShdw>
              </a:effectLst>
              <a:latin typeface="Patrick Hand" pitchFamily="2" charset="77"/>
            </a:endParaRPr>
          </a:p>
        </p:txBody>
      </p:sp>
      <p:sp>
        <p:nvSpPr>
          <p:cNvPr id="25" name="TextBox 24">
            <a:extLst>
              <a:ext uri="{FF2B5EF4-FFF2-40B4-BE49-F238E27FC236}">
                <a16:creationId xmlns:a16="http://schemas.microsoft.com/office/drawing/2014/main" id="{F92902BB-65E3-7B86-4B2A-65C9554F2171}"/>
              </a:ext>
            </a:extLst>
          </p:cNvPr>
          <p:cNvSpPr txBox="1"/>
          <p:nvPr/>
        </p:nvSpPr>
        <p:spPr>
          <a:xfrm>
            <a:off x="-8470937" y="2490606"/>
            <a:ext cx="4238661" cy="830997"/>
          </a:xfrm>
          <a:prstGeom prst="rect">
            <a:avLst/>
          </a:prstGeom>
        </p:spPr>
        <p:style>
          <a:lnRef idx="1">
            <a:schemeClr val="accent6"/>
          </a:lnRef>
          <a:fillRef idx="2">
            <a:schemeClr val="accent6"/>
          </a:fillRef>
          <a:effectRef idx="1">
            <a:schemeClr val="accent6"/>
          </a:effectRef>
          <a:fontRef idx="minor">
            <a:schemeClr val="dk1"/>
          </a:fontRef>
        </p:style>
        <p:txBody>
          <a:bodyPr wrap="none" rtlCol="0">
            <a:spAutoFit/>
          </a:bodyPr>
          <a:lstStyle/>
          <a:p>
            <a:r>
              <a:rPr lang="en-US" sz="4800" dirty="0">
                <a:ln w="0"/>
                <a:solidFill>
                  <a:schemeClr val="tx1"/>
                </a:solidFill>
                <a:effectLst>
                  <a:outerShdw blurRad="38100" dist="19050" dir="2700000" algn="tl" rotWithShape="0">
                    <a:schemeClr val="dk1">
                      <a:alpha val="40000"/>
                    </a:schemeClr>
                  </a:outerShdw>
                </a:effectLst>
                <a:latin typeface="Patrick Hand" pitchFamily="2" charset="77"/>
              </a:rPr>
              <a:t>py_001_dataclass</a:t>
            </a:r>
            <a:endParaRPr lang="en-DE" sz="4800" dirty="0">
              <a:ln w="0"/>
              <a:solidFill>
                <a:schemeClr val="tx1"/>
              </a:solidFill>
              <a:effectLst>
                <a:outerShdw blurRad="38100" dist="19050" dir="2700000" algn="tl" rotWithShape="0">
                  <a:schemeClr val="dk1">
                    <a:alpha val="40000"/>
                  </a:schemeClr>
                </a:outerShdw>
              </a:effectLst>
              <a:latin typeface="Patrick Hand" pitchFamily="2" charset="77"/>
            </a:endParaRPr>
          </a:p>
        </p:txBody>
      </p:sp>
      <p:pic>
        <p:nvPicPr>
          <p:cNvPr id="2" name="Picture 1">
            <a:extLst>
              <a:ext uri="{FF2B5EF4-FFF2-40B4-BE49-F238E27FC236}">
                <a16:creationId xmlns:a16="http://schemas.microsoft.com/office/drawing/2014/main" id="{8111D9AD-7775-54B2-F290-E96C7CE6222A}"/>
              </a:ext>
            </a:extLst>
          </p:cNvPr>
          <p:cNvPicPr>
            <a:picLocks noChangeAspect="1"/>
          </p:cNvPicPr>
          <p:nvPr/>
        </p:nvPicPr>
        <p:blipFill rotWithShape="1">
          <a:blip r:embed="rId4"/>
          <a:srcRect l="17537" t="25603" r="12337" b="16319"/>
          <a:stretch>
            <a:fillRect/>
          </a:stretch>
        </p:blipFill>
        <p:spPr>
          <a:xfrm>
            <a:off x="223306" y="6068289"/>
            <a:ext cx="9838800" cy="5651261"/>
          </a:xfrm>
          <a:prstGeom prst="rect">
            <a:avLst/>
          </a:prstGeom>
        </p:spPr>
      </p:pic>
    </p:spTree>
    <p:extLst>
      <p:ext uri="{BB962C8B-B14F-4D97-AF65-F5344CB8AC3E}">
        <p14:creationId xmlns:p14="http://schemas.microsoft.com/office/powerpoint/2010/main" val="6885527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pattFill prst="solidDmnd">
          <a:fgClr>
            <a:schemeClr val="bg2"/>
          </a:fgClr>
          <a:bgClr>
            <a:schemeClr val="bg1"/>
          </a:bgClr>
        </a:pattFill>
        <a:effectLst/>
      </p:bgPr>
    </p:bg>
    <p:spTree>
      <p:nvGrpSpPr>
        <p:cNvPr id="1" name="">
          <a:extLst>
            <a:ext uri="{FF2B5EF4-FFF2-40B4-BE49-F238E27FC236}">
              <a16:creationId xmlns:a16="http://schemas.microsoft.com/office/drawing/2014/main" id="{9CEDEF06-3490-6241-1F61-A42204550561}"/>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53C0D857-DB16-49AF-A520-2AA253E039A5}"/>
              </a:ext>
            </a:extLst>
          </p:cNvPr>
          <p:cNvPicPr>
            <a:picLocks noChangeAspect="1"/>
          </p:cNvPicPr>
          <p:nvPr/>
        </p:nvPicPr>
        <p:blipFill rotWithShape="1">
          <a:blip r:embed="rId3"/>
          <a:srcRect l="18030" t="22086" r="11351" b="12407"/>
          <a:stretch>
            <a:fillRect/>
          </a:stretch>
        </p:blipFill>
        <p:spPr>
          <a:xfrm>
            <a:off x="223306" y="5801029"/>
            <a:ext cx="9838800" cy="7426390"/>
          </a:xfrm>
          <a:prstGeom prst="rect">
            <a:avLst/>
          </a:prstGeom>
        </p:spPr>
      </p:pic>
      <p:sp>
        <p:nvSpPr>
          <p:cNvPr id="4" name="TextBox 3">
            <a:extLst>
              <a:ext uri="{FF2B5EF4-FFF2-40B4-BE49-F238E27FC236}">
                <a16:creationId xmlns:a16="http://schemas.microsoft.com/office/drawing/2014/main" id="{698E0008-9AB4-2A98-E8E5-B5D3D1A4C9B7}"/>
              </a:ext>
            </a:extLst>
          </p:cNvPr>
          <p:cNvSpPr txBox="1"/>
          <p:nvPr/>
        </p:nvSpPr>
        <p:spPr>
          <a:xfrm>
            <a:off x="225526" y="4634141"/>
            <a:ext cx="9838800" cy="1121395"/>
          </a:xfrm>
          <a:prstGeom prst="rect">
            <a:avLst/>
          </a:prstGeom>
          <a:ln w="12700">
            <a:solidFill>
              <a:schemeClr val="tx1"/>
            </a:solidFill>
          </a:ln>
        </p:spPr>
        <p:style>
          <a:lnRef idx="1">
            <a:schemeClr val="accent2"/>
          </a:lnRef>
          <a:fillRef idx="2">
            <a:schemeClr val="accent2"/>
          </a:fillRef>
          <a:effectRef idx="1">
            <a:schemeClr val="accent2"/>
          </a:effectRef>
          <a:fontRef idx="minor">
            <a:schemeClr val="dk1"/>
          </a:fontRef>
        </p:style>
        <p:txBody>
          <a:bodyPr wrap="none" rtlCol="0" anchor="ctr" anchorCtr="0">
            <a:no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5400" b="1" dirty="0">
                <a:ln w="0"/>
                <a:solidFill>
                  <a:schemeClr val="tx1"/>
                </a:solidFill>
                <a:effectLst>
                  <a:outerShdw blurRad="38100" dist="19050" dir="2700000" algn="tl" rotWithShape="0">
                    <a:schemeClr val="dk1">
                      <a:alpha val="40000"/>
                    </a:schemeClr>
                  </a:outerShdw>
                </a:effectLst>
                <a:latin typeface="+mj-lt"/>
              </a:rPr>
              <a:t>Walrus Operator </a:t>
            </a:r>
            <a:r>
              <a:rPr lang="en-US" sz="54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mj-lt"/>
              </a:rPr>
              <a:t>vs</a:t>
            </a:r>
            <a:r>
              <a:rPr lang="en-US" sz="5400" b="1" dirty="0">
                <a:ln w="0"/>
                <a:solidFill>
                  <a:schemeClr val="tx1"/>
                </a:solidFill>
                <a:effectLst>
                  <a:outerShdw blurRad="38100" dist="19050" dir="2700000" algn="tl" rotWithShape="0">
                    <a:schemeClr val="dk1">
                      <a:alpha val="40000"/>
                    </a:schemeClr>
                  </a:outerShdw>
                </a:effectLst>
                <a:latin typeface="+mj-lt"/>
              </a:rPr>
              <a:t> While</a:t>
            </a:r>
            <a:endParaRPr lang="en-GB" sz="1400" b="1" dirty="0">
              <a:ln w="0"/>
              <a:solidFill>
                <a:schemeClr val="tx1"/>
              </a:solidFill>
              <a:effectLst>
                <a:outerShdw blurRad="38100" dist="19050" dir="2700000" algn="tl" rotWithShape="0">
                  <a:schemeClr val="dk1">
                    <a:alpha val="40000"/>
                  </a:schemeClr>
                </a:outerShdw>
              </a:effectLst>
              <a:latin typeface="+mj-lt"/>
            </a:endParaRPr>
          </a:p>
        </p:txBody>
      </p:sp>
      <p:pic>
        <p:nvPicPr>
          <p:cNvPr id="5" name="Picture 4">
            <a:extLst>
              <a:ext uri="{FF2B5EF4-FFF2-40B4-BE49-F238E27FC236}">
                <a16:creationId xmlns:a16="http://schemas.microsoft.com/office/drawing/2014/main" id="{96D17B3F-D238-2B0B-EC89-5F7DF89B7F7F}"/>
              </a:ext>
            </a:extLst>
          </p:cNvPr>
          <p:cNvPicPr>
            <a:picLocks noChangeAspect="1"/>
          </p:cNvPicPr>
          <p:nvPr/>
        </p:nvPicPr>
        <p:blipFill>
          <a:blip r:embed="rId4"/>
          <a:stretch>
            <a:fillRect/>
          </a:stretch>
        </p:blipFill>
        <p:spPr>
          <a:xfrm>
            <a:off x="264001" y="4668047"/>
            <a:ext cx="1063167" cy="1063167"/>
          </a:xfrm>
          <a:prstGeom prst="rect">
            <a:avLst/>
          </a:prstGeom>
        </p:spPr>
      </p:pic>
      <p:sp>
        <p:nvSpPr>
          <p:cNvPr id="11" name="TextBox 10">
            <a:extLst>
              <a:ext uri="{FF2B5EF4-FFF2-40B4-BE49-F238E27FC236}">
                <a16:creationId xmlns:a16="http://schemas.microsoft.com/office/drawing/2014/main" id="{AE8CD719-0BE7-56F8-0136-ADB67AE57FA3}"/>
              </a:ext>
            </a:extLst>
          </p:cNvPr>
          <p:cNvSpPr txBox="1"/>
          <p:nvPr/>
        </p:nvSpPr>
        <p:spPr>
          <a:xfrm>
            <a:off x="245874" y="13439438"/>
            <a:ext cx="9793665" cy="1015663"/>
          </a:xfrm>
          <a:prstGeom prst="rect">
            <a:avLst/>
          </a:prstGeom>
          <a:noFill/>
        </p:spPr>
        <p:txBody>
          <a:bodyPr wrap="square" rtlCol="0">
            <a:spAutoFit/>
          </a:bodyPr>
          <a:lstStyle/>
          <a:p>
            <a:pPr algn="ctr"/>
            <a:r>
              <a:rPr lang="en-GB" sz="6000" dirty="0">
                <a:latin typeface="Patrick Hand" pitchFamily="2" charset="77"/>
              </a:rPr>
              <a:t>The Secret := Operator in Python</a:t>
            </a:r>
            <a:endParaRPr lang="en-DE" sz="6000" dirty="0">
              <a:latin typeface="Patrick Hand" pitchFamily="2" charset="77"/>
            </a:endParaRPr>
          </a:p>
        </p:txBody>
      </p:sp>
      <p:cxnSp>
        <p:nvCxnSpPr>
          <p:cNvPr id="17" name="Straight Connector 16">
            <a:extLst>
              <a:ext uri="{FF2B5EF4-FFF2-40B4-BE49-F238E27FC236}">
                <a16:creationId xmlns:a16="http://schemas.microsoft.com/office/drawing/2014/main" id="{B7368A16-FFD4-42E9-93DD-F095D0771DAC}"/>
              </a:ext>
            </a:extLst>
          </p:cNvPr>
          <p:cNvCxnSpPr>
            <a:cxnSpLocks/>
          </p:cNvCxnSpPr>
          <p:nvPr/>
        </p:nvCxnSpPr>
        <p:spPr>
          <a:xfrm>
            <a:off x="223579" y="9241468"/>
            <a:ext cx="9838255" cy="0"/>
          </a:xfrm>
          <a:prstGeom prst="line">
            <a:avLst/>
          </a:prstGeom>
          <a:ln w="38100">
            <a:solidFill>
              <a:schemeClr val="bg1"/>
            </a:solidFill>
            <a:headEnd type="none"/>
            <a:tailEnd type="non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5041932"/>
      </p:ext>
    </p:extLst>
  </p:cSld>
  <p:clrMapOvr>
    <a:masterClrMapping/>
  </p:clrMapOvr>
  <p:extLst>
    <p:ext uri="{6950BFC3-D8DA-4A85-94F7-54DA5524770B}">
      <p188:commentRel xmlns:p188="http://schemas.microsoft.com/office/powerpoint/2018/8/main" r:id="rId2"/>
    </p:ext>
  </p:extLst>
</p:sld>
</file>

<file path=ppt/slides/slide28.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a:extLst>
            <a:ext uri="{FF2B5EF4-FFF2-40B4-BE49-F238E27FC236}">
              <a16:creationId xmlns:a16="http://schemas.microsoft.com/office/drawing/2014/main" id="{3CEE7605-6957-20BC-B5B2-CF2854305BE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6D76173-70C8-4798-DE15-3C64274ADE68}"/>
              </a:ext>
            </a:extLst>
          </p:cNvPr>
          <p:cNvSpPr txBox="1"/>
          <p:nvPr/>
        </p:nvSpPr>
        <p:spPr>
          <a:xfrm>
            <a:off x="223306" y="3059376"/>
            <a:ext cx="9838800" cy="1189726"/>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nchor="ctr">
            <a:noAutofit/>
          </a:bodyPr>
          <a:lstStyle/>
          <a:p>
            <a:pPr algn="ctr"/>
            <a:r>
              <a:rPr lang="en-US" sz="6000" b="1" dirty="0">
                <a:ln w="0"/>
                <a:solidFill>
                  <a:schemeClr val="tx1"/>
                </a:solidFill>
                <a:effectLst>
                  <a:outerShdw blurRad="38100" dist="19050" dir="2700000" algn="tl" rotWithShape="0">
                    <a:schemeClr val="dk1">
                      <a:alpha val="40000"/>
                    </a:schemeClr>
                  </a:outerShdw>
                </a:effectLst>
                <a:latin typeface="+mj-lt"/>
              </a:rPr>
              <a:t>plain Python </a:t>
            </a:r>
            <a:r>
              <a:rPr lang="en-US" sz="6000" b="1" dirty="0">
                <a:ln w="0"/>
                <a:solidFill>
                  <a:schemeClr val="bg1"/>
                </a:solidFill>
                <a:effectLst>
                  <a:outerShdw blurRad="38100" dist="19050" dir="2700000" algn="tl" rotWithShape="0">
                    <a:schemeClr val="dk1">
                      <a:alpha val="40000"/>
                    </a:schemeClr>
                  </a:outerShdw>
                </a:effectLst>
                <a:latin typeface="+mj-lt"/>
              </a:rPr>
              <a:t>vs</a:t>
            </a:r>
            <a:r>
              <a:rPr lang="en-US" sz="6000" b="1" dirty="0">
                <a:ln w="0"/>
                <a:solidFill>
                  <a:schemeClr val="tx1"/>
                </a:solidFill>
                <a:effectLst>
                  <a:outerShdw blurRad="38100" dist="19050" dir="2700000" algn="tl" rotWithShape="0">
                    <a:schemeClr val="dk1">
                      <a:alpha val="40000"/>
                    </a:schemeClr>
                  </a:outerShdw>
                </a:effectLst>
                <a:latin typeface="+mj-lt"/>
              </a:rPr>
              <a:t> NumPy</a:t>
            </a:r>
            <a:endParaRPr lang="en-GB" sz="1600" b="1" dirty="0">
              <a:ln w="0"/>
              <a:solidFill>
                <a:schemeClr val="tx1"/>
              </a:solidFill>
              <a:effectLst>
                <a:outerShdw blurRad="38100" dist="19050" dir="2700000" algn="tl" rotWithShape="0">
                  <a:schemeClr val="dk1">
                    <a:alpha val="40000"/>
                  </a:schemeClr>
                </a:outerShdw>
              </a:effectLst>
              <a:latin typeface="+mj-lt"/>
            </a:endParaRPr>
          </a:p>
        </p:txBody>
      </p:sp>
      <p:pic>
        <p:nvPicPr>
          <p:cNvPr id="5" name="Picture 4">
            <a:extLst>
              <a:ext uri="{FF2B5EF4-FFF2-40B4-BE49-F238E27FC236}">
                <a16:creationId xmlns:a16="http://schemas.microsoft.com/office/drawing/2014/main" id="{34A3F080-950A-0FC0-79F5-E0CB27118264}"/>
              </a:ext>
            </a:extLst>
          </p:cNvPr>
          <p:cNvPicPr>
            <a:picLocks noChangeAspect="1"/>
          </p:cNvPicPr>
          <p:nvPr/>
        </p:nvPicPr>
        <p:blipFill>
          <a:blip r:embed="rId3"/>
          <a:stretch>
            <a:fillRect/>
          </a:stretch>
        </p:blipFill>
        <p:spPr>
          <a:xfrm>
            <a:off x="290127" y="3141115"/>
            <a:ext cx="1063167" cy="1063167"/>
          </a:xfrm>
          <a:prstGeom prst="rect">
            <a:avLst/>
          </a:prstGeom>
        </p:spPr>
      </p:pic>
      <p:sp>
        <p:nvSpPr>
          <p:cNvPr id="13" name="TextBox 12">
            <a:extLst>
              <a:ext uri="{FF2B5EF4-FFF2-40B4-BE49-F238E27FC236}">
                <a16:creationId xmlns:a16="http://schemas.microsoft.com/office/drawing/2014/main" id="{8FC52874-F60F-2720-9030-C34F663CCEB2}"/>
              </a:ext>
            </a:extLst>
          </p:cNvPr>
          <p:cNvSpPr txBox="1"/>
          <p:nvPr/>
        </p:nvSpPr>
        <p:spPr>
          <a:xfrm>
            <a:off x="318575" y="9144000"/>
            <a:ext cx="9648263" cy="923330"/>
          </a:xfrm>
          <a:prstGeom prst="rect">
            <a:avLst/>
          </a:prstGeom>
          <a:noFill/>
        </p:spPr>
        <p:txBody>
          <a:bodyPr wrap="square" rtlCol="0">
            <a:spAutoFit/>
          </a:bodyPr>
          <a:lstStyle/>
          <a:p>
            <a:pPr algn="ctr"/>
            <a:r>
              <a:rPr lang="en-GB" sz="5400" dirty="0">
                <a:ln w="0"/>
                <a:effectLst>
                  <a:outerShdw blurRad="38100" dist="19050" dir="2700000" algn="tl" rotWithShape="0">
                    <a:schemeClr val="dk1">
                      <a:alpha val="40000"/>
                    </a:schemeClr>
                  </a:outerShdw>
                </a:effectLst>
                <a:latin typeface="Patrick Hand" pitchFamily="2" charset="77"/>
              </a:rPr>
              <a:t>Same array, same result</a:t>
            </a:r>
            <a:endParaRPr lang="en-DE" sz="5400" dirty="0">
              <a:ln w="0"/>
              <a:effectLst>
                <a:outerShdw blurRad="38100" dist="19050" dir="2700000" algn="tl" rotWithShape="0">
                  <a:schemeClr val="dk1">
                    <a:alpha val="40000"/>
                  </a:schemeClr>
                </a:outerShdw>
              </a:effectLst>
              <a:latin typeface="Patrick Hand" pitchFamily="2" charset="77"/>
            </a:endParaRPr>
          </a:p>
        </p:txBody>
      </p:sp>
      <p:sp>
        <p:nvSpPr>
          <p:cNvPr id="25" name="TextBox 24">
            <a:extLst>
              <a:ext uri="{FF2B5EF4-FFF2-40B4-BE49-F238E27FC236}">
                <a16:creationId xmlns:a16="http://schemas.microsoft.com/office/drawing/2014/main" id="{37035E2B-FCD2-51C7-A287-234ACF2BE25B}"/>
              </a:ext>
            </a:extLst>
          </p:cNvPr>
          <p:cNvSpPr txBox="1"/>
          <p:nvPr/>
        </p:nvSpPr>
        <p:spPr>
          <a:xfrm>
            <a:off x="-8470937" y="2490606"/>
            <a:ext cx="4238661" cy="830997"/>
          </a:xfrm>
          <a:prstGeom prst="rect">
            <a:avLst/>
          </a:prstGeom>
        </p:spPr>
        <p:style>
          <a:lnRef idx="1">
            <a:schemeClr val="accent6"/>
          </a:lnRef>
          <a:fillRef idx="2">
            <a:schemeClr val="accent6"/>
          </a:fillRef>
          <a:effectRef idx="1">
            <a:schemeClr val="accent6"/>
          </a:effectRef>
          <a:fontRef idx="minor">
            <a:schemeClr val="dk1"/>
          </a:fontRef>
        </p:style>
        <p:txBody>
          <a:bodyPr wrap="none" rtlCol="0">
            <a:spAutoFit/>
          </a:bodyPr>
          <a:lstStyle/>
          <a:p>
            <a:r>
              <a:rPr lang="en-US" sz="4800" dirty="0">
                <a:ln w="0"/>
                <a:solidFill>
                  <a:schemeClr val="tx1"/>
                </a:solidFill>
                <a:effectLst>
                  <a:outerShdw blurRad="38100" dist="19050" dir="2700000" algn="tl" rotWithShape="0">
                    <a:schemeClr val="dk1">
                      <a:alpha val="40000"/>
                    </a:schemeClr>
                  </a:outerShdw>
                </a:effectLst>
                <a:latin typeface="Patrick Hand" pitchFamily="2" charset="77"/>
              </a:rPr>
              <a:t>py_001_dataclass</a:t>
            </a:r>
            <a:endParaRPr lang="en-DE" sz="4800" dirty="0">
              <a:ln w="0"/>
              <a:solidFill>
                <a:schemeClr val="tx1"/>
              </a:solidFill>
              <a:effectLst>
                <a:outerShdw blurRad="38100" dist="19050" dir="2700000" algn="tl" rotWithShape="0">
                  <a:schemeClr val="dk1">
                    <a:alpha val="40000"/>
                  </a:schemeClr>
                </a:outerShdw>
              </a:effectLst>
              <a:latin typeface="Patrick Hand" pitchFamily="2" charset="77"/>
            </a:endParaRPr>
          </a:p>
        </p:txBody>
      </p:sp>
      <p:pic>
        <p:nvPicPr>
          <p:cNvPr id="6" name="Picture 5">
            <a:extLst>
              <a:ext uri="{FF2B5EF4-FFF2-40B4-BE49-F238E27FC236}">
                <a16:creationId xmlns:a16="http://schemas.microsoft.com/office/drawing/2014/main" id="{2E72F1D9-8CEC-6CBC-2F1E-82A13BB2418F}"/>
              </a:ext>
            </a:extLst>
          </p:cNvPr>
          <p:cNvPicPr preferRelativeResize="0">
            <a:picLocks/>
          </p:cNvPicPr>
          <p:nvPr/>
        </p:nvPicPr>
        <p:blipFill rotWithShape="1">
          <a:blip r:embed="rId4"/>
          <a:srcRect l="23248" t="32862" r="15948" b="20809"/>
          <a:stretch>
            <a:fillRect/>
          </a:stretch>
        </p:blipFill>
        <p:spPr>
          <a:xfrm>
            <a:off x="223306" y="4330841"/>
            <a:ext cx="9838800" cy="4680000"/>
          </a:xfrm>
          <a:prstGeom prst="rect">
            <a:avLst/>
          </a:prstGeom>
        </p:spPr>
      </p:pic>
      <p:sp>
        <p:nvSpPr>
          <p:cNvPr id="7" name="Right Arrow 6">
            <a:extLst>
              <a:ext uri="{FF2B5EF4-FFF2-40B4-BE49-F238E27FC236}">
                <a16:creationId xmlns:a16="http://schemas.microsoft.com/office/drawing/2014/main" id="{20C1247A-1699-7E23-4F5E-204BFF77348C}"/>
              </a:ext>
            </a:extLst>
          </p:cNvPr>
          <p:cNvSpPr/>
          <p:nvPr/>
        </p:nvSpPr>
        <p:spPr>
          <a:xfrm>
            <a:off x="4352293" y="11160727"/>
            <a:ext cx="1580827" cy="650928"/>
          </a:xfrm>
          <a:prstGeom prst="rightArrow">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w="12700">
            <a:solidFill>
              <a:schemeClr val="accent1">
                <a:shade val="15000"/>
              </a:schemeClr>
            </a:solidFill>
          </a:ln>
        </p:spPr>
        <p:style>
          <a:lnRef idx="0">
            <a:scrgbClr r="0" g="0" b="0"/>
          </a:lnRef>
          <a:fillRef idx="0">
            <a:scrgbClr r="0" g="0" b="0"/>
          </a:fillRef>
          <a:effectRef idx="0">
            <a:scrgbClr r="0" g="0" b="0"/>
          </a:effectRef>
          <a:fontRef idx="minor">
            <a:schemeClr val="lt1"/>
          </a:fontRef>
        </p:style>
        <p:txBody>
          <a:bodyPr wrap="square" rtlCol="0" anchor="ctr">
            <a:noAutofit/>
          </a:bodyPr>
          <a:lstStyle/>
          <a:p>
            <a:pPr marL="0" algn="ctr" defTabSz="457200" rtl="1" eaLnBrk="1" latinLnBrk="0" hangingPunct="1"/>
            <a:endParaRPr lang="en-DE" sz="6000" b="1" dirty="0">
              <a:ln w="0"/>
              <a:solidFill>
                <a:schemeClr val="tx1"/>
              </a:solidFill>
              <a:effectLst>
                <a:outerShdw blurRad="38100" dist="19050" dir="2700000" algn="tl" rotWithShape="0">
                  <a:schemeClr val="dk1">
                    <a:alpha val="40000"/>
                  </a:schemeClr>
                </a:outerShdw>
              </a:effectLst>
              <a:latin typeface="+mj-lt"/>
            </a:endParaRPr>
          </a:p>
        </p:txBody>
      </p:sp>
    </p:spTree>
    <p:extLst>
      <p:ext uri="{BB962C8B-B14F-4D97-AF65-F5344CB8AC3E}">
        <p14:creationId xmlns:p14="http://schemas.microsoft.com/office/powerpoint/2010/main" val="16929681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a:extLst>
            <a:ext uri="{FF2B5EF4-FFF2-40B4-BE49-F238E27FC236}">
              <a16:creationId xmlns:a16="http://schemas.microsoft.com/office/drawing/2014/main" id="{7DBBE0AF-EF35-E969-339B-850D03EFD8C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140CFF2-85CC-7A40-3F0B-61787D1201B0}"/>
              </a:ext>
            </a:extLst>
          </p:cNvPr>
          <p:cNvSpPr txBox="1"/>
          <p:nvPr/>
        </p:nvSpPr>
        <p:spPr>
          <a:xfrm>
            <a:off x="223306" y="3059376"/>
            <a:ext cx="9838800" cy="1189726"/>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nchor="ctr">
            <a:noAutofit/>
          </a:bodyPr>
          <a:lstStyle/>
          <a:p>
            <a:pPr algn="ctr"/>
            <a:r>
              <a:rPr lang="en-US" sz="6000" b="1" dirty="0">
                <a:ln w="0"/>
                <a:solidFill>
                  <a:schemeClr val="tx1"/>
                </a:solidFill>
                <a:effectLst>
                  <a:outerShdw blurRad="38100" dist="19050" dir="2700000" algn="tl" rotWithShape="0">
                    <a:schemeClr val="dk1">
                      <a:alpha val="40000"/>
                    </a:schemeClr>
                  </a:outerShdw>
                </a:effectLst>
                <a:latin typeface="+mj-lt"/>
              </a:rPr>
              <a:t>plain Python </a:t>
            </a:r>
            <a:r>
              <a:rPr lang="en-US" sz="6000" b="1" dirty="0">
                <a:ln w="0"/>
                <a:solidFill>
                  <a:schemeClr val="bg1"/>
                </a:solidFill>
                <a:effectLst>
                  <a:outerShdw blurRad="38100" dist="19050" dir="2700000" algn="tl" rotWithShape="0">
                    <a:schemeClr val="dk1">
                      <a:alpha val="40000"/>
                    </a:schemeClr>
                  </a:outerShdw>
                </a:effectLst>
                <a:latin typeface="+mj-lt"/>
              </a:rPr>
              <a:t>vs</a:t>
            </a:r>
            <a:r>
              <a:rPr lang="en-US" sz="6000" b="1" dirty="0">
                <a:ln w="0"/>
                <a:solidFill>
                  <a:schemeClr val="tx1"/>
                </a:solidFill>
                <a:effectLst>
                  <a:outerShdw blurRad="38100" dist="19050" dir="2700000" algn="tl" rotWithShape="0">
                    <a:schemeClr val="dk1">
                      <a:alpha val="40000"/>
                    </a:schemeClr>
                  </a:outerShdw>
                </a:effectLst>
                <a:latin typeface="+mj-lt"/>
              </a:rPr>
              <a:t> NumPy</a:t>
            </a:r>
            <a:endParaRPr lang="en-GB" sz="1600" b="1" dirty="0">
              <a:ln w="0"/>
              <a:solidFill>
                <a:schemeClr val="tx1"/>
              </a:solidFill>
              <a:effectLst>
                <a:outerShdw blurRad="38100" dist="19050" dir="2700000" algn="tl" rotWithShape="0">
                  <a:schemeClr val="dk1">
                    <a:alpha val="40000"/>
                  </a:schemeClr>
                </a:outerShdw>
              </a:effectLst>
              <a:latin typeface="+mj-lt"/>
            </a:endParaRPr>
          </a:p>
        </p:txBody>
      </p:sp>
      <p:pic>
        <p:nvPicPr>
          <p:cNvPr id="5" name="Picture 4">
            <a:extLst>
              <a:ext uri="{FF2B5EF4-FFF2-40B4-BE49-F238E27FC236}">
                <a16:creationId xmlns:a16="http://schemas.microsoft.com/office/drawing/2014/main" id="{583EEF54-FB74-13AD-E56A-DF1150A4EEF8}"/>
              </a:ext>
            </a:extLst>
          </p:cNvPr>
          <p:cNvPicPr>
            <a:picLocks noChangeAspect="1"/>
          </p:cNvPicPr>
          <p:nvPr/>
        </p:nvPicPr>
        <p:blipFill>
          <a:blip r:embed="rId3"/>
          <a:stretch>
            <a:fillRect/>
          </a:stretch>
        </p:blipFill>
        <p:spPr>
          <a:xfrm>
            <a:off x="290127" y="3141115"/>
            <a:ext cx="1063167" cy="1063167"/>
          </a:xfrm>
          <a:prstGeom prst="rect">
            <a:avLst/>
          </a:prstGeom>
        </p:spPr>
      </p:pic>
      <p:sp>
        <p:nvSpPr>
          <p:cNvPr id="13" name="TextBox 12">
            <a:extLst>
              <a:ext uri="{FF2B5EF4-FFF2-40B4-BE49-F238E27FC236}">
                <a16:creationId xmlns:a16="http://schemas.microsoft.com/office/drawing/2014/main" id="{5FC2A139-B646-2977-CC7E-B8D266905E8E}"/>
              </a:ext>
            </a:extLst>
          </p:cNvPr>
          <p:cNvSpPr txBox="1"/>
          <p:nvPr/>
        </p:nvSpPr>
        <p:spPr>
          <a:xfrm>
            <a:off x="318575" y="9092121"/>
            <a:ext cx="9648263" cy="1754326"/>
          </a:xfrm>
          <a:prstGeom prst="rect">
            <a:avLst/>
          </a:prstGeom>
          <a:noFill/>
        </p:spPr>
        <p:txBody>
          <a:bodyPr wrap="square" rtlCol="0">
            <a:spAutoFit/>
          </a:bodyPr>
          <a:lstStyle/>
          <a:p>
            <a:pPr algn="ctr"/>
            <a:r>
              <a:rPr lang="en-GB" sz="5400" dirty="0">
                <a:ln w="0"/>
                <a:effectLst>
                  <a:outerShdw blurRad="38100" dist="19050" dir="2700000" algn="tl" rotWithShape="0">
                    <a:schemeClr val="dk1">
                      <a:alpha val="40000"/>
                    </a:schemeClr>
                  </a:outerShdw>
                </a:effectLst>
                <a:latin typeface="Patrick Hand" pitchFamily="2" charset="77"/>
              </a:rPr>
              <a:t>Clean and simple with built-in functions like sum(), </a:t>
            </a:r>
            <a:r>
              <a:rPr lang="en-GB" sz="5400" dirty="0" err="1">
                <a:ln w="0"/>
                <a:effectLst>
                  <a:outerShdw blurRad="38100" dist="19050" dir="2700000" algn="tl" rotWithShape="0">
                    <a:schemeClr val="dk1">
                      <a:alpha val="40000"/>
                    </a:schemeClr>
                  </a:outerShdw>
                </a:effectLst>
                <a:latin typeface="Patrick Hand" pitchFamily="2" charset="77"/>
              </a:rPr>
              <a:t>len</a:t>
            </a:r>
            <a:r>
              <a:rPr lang="en-GB" sz="5400" dirty="0">
                <a:ln w="0"/>
                <a:effectLst>
                  <a:outerShdw blurRad="38100" dist="19050" dir="2700000" algn="tl" rotWithShape="0">
                    <a:schemeClr val="dk1">
                      <a:alpha val="40000"/>
                    </a:schemeClr>
                  </a:outerShdw>
                </a:effectLst>
                <a:latin typeface="Patrick Hand" pitchFamily="2" charset="77"/>
              </a:rPr>
              <a:t>(), and max()</a:t>
            </a:r>
            <a:endParaRPr lang="en-DE" sz="5400" dirty="0">
              <a:ln w="0"/>
              <a:effectLst>
                <a:outerShdw blurRad="38100" dist="19050" dir="2700000" algn="tl" rotWithShape="0">
                  <a:schemeClr val="dk1">
                    <a:alpha val="40000"/>
                  </a:schemeClr>
                </a:outerShdw>
              </a:effectLst>
              <a:latin typeface="Patrick Hand" pitchFamily="2" charset="77"/>
            </a:endParaRPr>
          </a:p>
        </p:txBody>
      </p:sp>
      <p:sp>
        <p:nvSpPr>
          <p:cNvPr id="25" name="TextBox 24">
            <a:extLst>
              <a:ext uri="{FF2B5EF4-FFF2-40B4-BE49-F238E27FC236}">
                <a16:creationId xmlns:a16="http://schemas.microsoft.com/office/drawing/2014/main" id="{5C7199EB-BD58-80F9-B63D-CEC8EB832CD4}"/>
              </a:ext>
            </a:extLst>
          </p:cNvPr>
          <p:cNvSpPr txBox="1"/>
          <p:nvPr/>
        </p:nvSpPr>
        <p:spPr>
          <a:xfrm>
            <a:off x="-8470937" y="2490606"/>
            <a:ext cx="4238661" cy="830997"/>
          </a:xfrm>
          <a:prstGeom prst="rect">
            <a:avLst/>
          </a:prstGeom>
        </p:spPr>
        <p:style>
          <a:lnRef idx="1">
            <a:schemeClr val="accent6"/>
          </a:lnRef>
          <a:fillRef idx="2">
            <a:schemeClr val="accent6"/>
          </a:fillRef>
          <a:effectRef idx="1">
            <a:schemeClr val="accent6"/>
          </a:effectRef>
          <a:fontRef idx="minor">
            <a:schemeClr val="dk1"/>
          </a:fontRef>
        </p:style>
        <p:txBody>
          <a:bodyPr wrap="none" rtlCol="0">
            <a:spAutoFit/>
          </a:bodyPr>
          <a:lstStyle/>
          <a:p>
            <a:r>
              <a:rPr lang="en-US" sz="4800" dirty="0">
                <a:ln w="0"/>
                <a:solidFill>
                  <a:schemeClr val="tx1"/>
                </a:solidFill>
                <a:effectLst>
                  <a:outerShdw blurRad="38100" dist="19050" dir="2700000" algn="tl" rotWithShape="0">
                    <a:schemeClr val="dk1">
                      <a:alpha val="40000"/>
                    </a:schemeClr>
                  </a:outerShdw>
                </a:effectLst>
                <a:latin typeface="Patrick Hand" pitchFamily="2" charset="77"/>
              </a:rPr>
              <a:t>py_001_dataclass</a:t>
            </a:r>
            <a:endParaRPr lang="en-DE" sz="4800" dirty="0">
              <a:ln w="0"/>
              <a:solidFill>
                <a:schemeClr val="tx1"/>
              </a:solidFill>
              <a:effectLst>
                <a:outerShdw blurRad="38100" dist="19050" dir="2700000" algn="tl" rotWithShape="0">
                  <a:schemeClr val="dk1">
                    <a:alpha val="40000"/>
                  </a:schemeClr>
                </a:outerShdw>
              </a:effectLst>
              <a:latin typeface="Patrick Hand" pitchFamily="2" charset="77"/>
            </a:endParaRPr>
          </a:p>
        </p:txBody>
      </p:sp>
      <p:pic>
        <p:nvPicPr>
          <p:cNvPr id="2" name="Picture 1">
            <a:extLst>
              <a:ext uri="{FF2B5EF4-FFF2-40B4-BE49-F238E27FC236}">
                <a16:creationId xmlns:a16="http://schemas.microsoft.com/office/drawing/2014/main" id="{EF21784C-8F90-C781-873F-A5FA465E899D}"/>
              </a:ext>
            </a:extLst>
          </p:cNvPr>
          <p:cNvPicPr preferRelativeResize="0">
            <a:picLocks/>
          </p:cNvPicPr>
          <p:nvPr/>
        </p:nvPicPr>
        <p:blipFill rotWithShape="1">
          <a:blip r:embed="rId4"/>
          <a:srcRect l="17594" t="38114" r="15085" b="23945"/>
          <a:stretch>
            <a:fillRect/>
          </a:stretch>
        </p:blipFill>
        <p:spPr>
          <a:xfrm>
            <a:off x="223305" y="4330839"/>
            <a:ext cx="9838800" cy="4680000"/>
          </a:xfrm>
          <a:prstGeom prst="rect">
            <a:avLst/>
          </a:prstGeom>
        </p:spPr>
      </p:pic>
      <p:sp>
        <p:nvSpPr>
          <p:cNvPr id="3" name="Right Arrow 2">
            <a:extLst>
              <a:ext uri="{FF2B5EF4-FFF2-40B4-BE49-F238E27FC236}">
                <a16:creationId xmlns:a16="http://schemas.microsoft.com/office/drawing/2014/main" id="{34E5098F-720D-4DD5-C5DC-BC33148F921C}"/>
              </a:ext>
            </a:extLst>
          </p:cNvPr>
          <p:cNvSpPr/>
          <p:nvPr/>
        </p:nvSpPr>
        <p:spPr>
          <a:xfrm>
            <a:off x="4352293" y="11160728"/>
            <a:ext cx="1580827" cy="650928"/>
          </a:xfrm>
          <a:prstGeom prst="rightArrow">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w="12700">
            <a:solidFill>
              <a:schemeClr val="accent1">
                <a:shade val="15000"/>
              </a:schemeClr>
            </a:solidFill>
          </a:ln>
        </p:spPr>
        <p:style>
          <a:lnRef idx="0">
            <a:scrgbClr r="0" g="0" b="0"/>
          </a:lnRef>
          <a:fillRef idx="0">
            <a:scrgbClr r="0" g="0" b="0"/>
          </a:fillRef>
          <a:effectRef idx="0">
            <a:scrgbClr r="0" g="0" b="0"/>
          </a:effectRef>
          <a:fontRef idx="minor">
            <a:schemeClr val="lt1"/>
          </a:fontRef>
        </p:style>
        <p:txBody>
          <a:bodyPr wrap="square" rtlCol="0" anchor="ctr">
            <a:noAutofit/>
          </a:bodyPr>
          <a:lstStyle/>
          <a:p>
            <a:pPr marL="0" algn="ctr" defTabSz="457200" rtl="1" eaLnBrk="1" latinLnBrk="0" hangingPunct="1"/>
            <a:endParaRPr lang="en-DE" sz="6000" b="1" dirty="0">
              <a:ln w="0"/>
              <a:solidFill>
                <a:schemeClr val="tx1"/>
              </a:solidFill>
              <a:effectLst>
                <a:outerShdw blurRad="38100" dist="19050" dir="2700000" algn="tl" rotWithShape="0">
                  <a:schemeClr val="dk1">
                    <a:alpha val="40000"/>
                  </a:schemeClr>
                </a:outerShdw>
              </a:effectLst>
              <a:latin typeface="+mj-lt"/>
            </a:endParaRPr>
          </a:p>
        </p:txBody>
      </p:sp>
    </p:spTree>
    <p:extLst>
      <p:ext uri="{BB962C8B-B14F-4D97-AF65-F5344CB8AC3E}">
        <p14:creationId xmlns:p14="http://schemas.microsoft.com/office/powerpoint/2010/main" val="30700257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a:extLst>
            <a:ext uri="{FF2B5EF4-FFF2-40B4-BE49-F238E27FC236}">
              <a16:creationId xmlns:a16="http://schemas.microsoft.com/office/drawing/2014/main" id="{88C227AB-01A4-58D4-3671-2567B390952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5291226-82FD-9043-5FC9-3F510352681D}"/>
              </a:ext>
            </a:extLst>
          </p:cNvPr>
          <p:cNvSpPr txBox="1"/>
          <p:nvPr/>
        </p:nvSpPr>
        <p:spPr>
          <a:xfrm>
            <a:off x="223306" y="3059376"/>
            <a:ext cx="9838800" cy="1189726"/>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nchor="ctr">
            <a:noAutofit/>
          </a:bodyPr>
          <a:lstStyle/>
          <a:p>
            <a:pPr algn="ctr"/>
            <a:r>
              <a:rPr lang="en-US" sz="6000" b="1" dirty="0">
                <a:ln w="0"/>
                <a:solidFill>
                  <a:schemeClr val="tx1"/>
                </a:solidFill>
                <a:effectLst>
                  <a:outerShdw blurRad="38100" dist="19050" dir="2700000" algn="tl" rotWithShape="0">
                    <a:schemeClr val="dk1">
                      <a:alpha val="40000"/>
                    </a:schemeClr>
                  </a:outerShdw>
                </a:effectLst>
                <a:latin typeface="+mj-lt"/>
              </a:rPr>
              <a:t>plain Python </a:t>
            </a:r>
            <a:r>
              <a:rPr lang="en-US" sz="6000" b="1" dirty="0">
                <a:ln w="0"/>
                <a:solidFill>
                  <a:schemeClr val="bg1"/>
                </a:solidFill>
                <a:effectLst>
                  <a:outerShdw blurRad="38100" dist="19050" dir="2700000" algn="tl" rotWithShape="0">
                    <a:schemeClr val="dk1">
                      <a:alpha val="40000"/>
                    </a:schemeClr>
                  </a:outerShdw>
                </a:effectLst>
                <a:latin typeface="+mj-lt"/>
              </a:rPr>
              <a:t>vs</a:t>
            </a:r>
            <a:r>
              <a:rPr lang="en-US" sz="6000" b="1" dirty="0">
                <a:ln w="0"/>
                <a:solidFill>
                  <a:schemeClr val="tx1"/>
                </a:solidFill>
                <a:effectLst>
                  <a:outerShdw blurRad="38100" dist="19050" dir="2700000" algn="tl" rotWithShape="0">
                    <a:schemeClr val="dk1">
                      <a:alpha val="40000"/>
                    </a:schemeClr>
                  </a:outerShdw>
                </a:effectLst>
                <a:latin typeface="+mj-lt"/>
              </a:rPr>
              <a:t> NumPy</a:t>
            </a:r>
            <a:endParaRPr lang="en-GB" sz="1600" b="1" dirty="0">
              <a:ln w="0"/>
              <a:solidFill>
                <a:schemeClr val="tx1"/>
              </a:solidFill>
              <a:effectLst>
                <a:outerShdw blurRad="38100" dist="19050" dir="2700000" algn="tl" rotWithShape="0">
                  <a:schemeClr val="dk1">
                    <a:alpha val="40000"/>
                  </a:schemeClr>
                </a:outerShdw>
              </a:effectLst>
              <a:latin typeface="+mj-lt"/>
            </a:endParaRPr>
          </a:p>
        </p:txBody>
      </p:sp>
      <p:pic>
        <p:nvPicPr>
          <p:cNvPr id="5" name="Picture 4">
            <a:extLst>
              <a:ext uri="{FF2B5EF4-FFF2-40B4-BE49-F238E27FC236}">
                <a16:creationId xmlns:a16="http://schemas.microsoft.com/office/drawing/2014/main" id="{E5B8028D-0D8E-D713-4CAE-20C1F090B06E}"/>
              </a:ext>
            </a:extLst>
          </p:cNvPr>
          <p:cNvPicPr>
            <a:picLocks noChangeAspect="1"/>
          </p:cNvPicPr>
          <p:nvPr/>
        </p:nvPicPr>
        <p:blipFill>
          <a:blip r:embed="rId3"/>
          <a:stretch>
            <a:fillRect/>
          </a:stretch>
        </p:blipFill>
        <p:spPr>
          <a:xfrm>
            <a:off x="290127" y="3141115"/>
            <a:ext cx="1063167" cy="1063167"/>
          </a:xfrm>
          <a:prstGeom prst="rect">
            <a:avLst/>
          </a:prstGeom>
        </p:spPr>
      </p:pic>
      <p:sp>
        <p:nvSpPr>
          <p:cNvPr id="13" name="TextBox 12">
            <a:extLst>
              <a:ext uri="{FF2B5EF4-FFF2-40B4-BE49-F238E27FC236}">
                <a16:creationId xmlns:a16="http://schemas.microsoft.com/office/drawing/2014/main" id="{A501121A-6D8B-F861-CBFC-991A4310E0F0}"/>
              </a:ext>
            </a:extLst>
          </p:cNvPr>
          <p:cNvSpPr txBox="1"/>
          <p:nvPr/>
        </p:nvSpPr>
        <p:spPr>
          <a:xfrm>
            <a:off x="223306" y="9075682"/>
            <a:ext cx="9648263" cy="2862322"/>
          </a:xfrm>
          <a:prstGeom prst="rect">
            <a:avLst/>
          </a:prstGeom>
          <a:noFill/>
        </p:spPr>
        <p:txBody>
          <a:bodyPr wrap="square" rtlCol="0">
            <a:spAutoFit/>
          </a:bodyPr>
          <a:lstStyle/>
          <a:p>
            <a:pPr algn="ctr"/>
            <a:r>
              <a:rPr lang="en-GB" sz="6000" dirty="0">
                <a:ln w="0"/>
                <a:effectLst>
                  <a:outerShdw blurRad="38100" dist="19050" dir="2700000" algn="tl" rotWithShape="0">
                    <a:schemeClr val="dk1">
                      <a:alpha val="40000"/>
                    </a:schemeClr>
                  </a:outerShdw>
                </a:effectLst>
                <a:latin typeface="Patrick Hand" pitchFamily="2" charset="77"/>
              </a:rPr>
              <a:t>Short and powerful with </a:t>
            </a:r>
            <a:r>
              <a:rPr lang="en-GB" sz="6000" dirty="0" err="1">
                <a:ln w="0"/>
                <a:effectLst>
                  <a:outerShdw blurRad="38100" dist="19050" dir="2700000" algn="tl" rotWithShape="0">
                    <a:schemeClr val="dk1">
                      <a:alpha val="40000"/>
                    </a:schemeClr>
                  </a:outerShdw>
                </a:effectLst>
                <a:latin typeface="Patrick Hand" pitchFamily="2" charset="77"/>
              </a:rPr>
              <a:t>np.mean</a:t>
            </a:r>
            <a:r>
              <a:rPr lang="en-GB" sz="6000" dirty="0">
                <a:ln w="0"/>
                <a:effectLst>
                  <a:outerShdw blurRad="38100" dist="19050" dir="2700000" algn="tl" rotWithShape="0">
                    <a:schemeClr val="dk1">
                      <a:alpha val="40000"/>
                    </a:schemeClr>
                  </a:outerShdw>
                </a:effectLst>
                <a:latin typeface="Patrick Hand" pitchFamily="2" charset="77"/>
              </a:rPr>
              <a:t>(), </a:t>
            </a:r>
            <a:r>
              <a:rPr lang="en-GB" sz="6000" dirty="0" err="1">
                <a:ln w="0"/>
                <a:effectLst>
                  <a:outerShdw blurRad="38100" dist="19050" dir="2700000" algn="tl" rotWithShape="0">
                    <a:schemeClr val="dk1">
                      <a:alpha val="40000"/>
                    </a:schemeClr>
                  </a:outerShdw>
                </a:effectLst>
                <a:latin typeface="Patrick Hand" pitchFamily="2" charset="77"/>
              </a:rPr>
              <a:t>np.max</a:t>
            </a:r>
            <a:r>
              <a:rPr lang="en-GB" sz="6000" dirty="0">
                <a:ln w="0"/>
                <a:effectLst>
                  <a:outerShdw blurRad="38100" dist="19050" dir="2700000" algn="tl" rotWithShape="0">
                    <a:schemeClr val="dk1">
                      <a:alpha val="40000"/>
                    </a:schemeClr>
                  </a:outerShdw>
                </a:effectLst>
                <a:latin typeface="Patrick Hand" pitchFamily="2" charset="77"/>
              </a:rPr>
              <a:t>(), and </a:t>
            </a:r>
            <a:r>
              <a:rPr lang="en-GB" sz="6000" dirty="0" err="1">
                <a:ln w="0"/>
                <a:effectLst>
                  <a:outerShdw blurRad="38100" dist="19050" dir="2700000" algn="tl" rotWithShape="0">
                    <a:schemeClr val="dk1">
                      <a:alpha val="40000"/>
                    </a:schemeClr>
                  </a:outerShdw>
                </a:effectLst>
                <a:latin typeface="Patrick Hand" pitchFamily="2" charset="77"/>
              </a:rPr>
              <a:t>np.sum</a:t>
            </a:r>
            <a:r>
              <a:rPr lang="en-GB" sz="6000" dirty="0">
                <a:ln w="0"/>
                <a:effectLst>
                  <a:outerShdw blurRad="38100" dist="19050" dir="2700000" algn="tl" rotWithShape="0">
                    <a:schemeClr val="dk1">
                      <a:alpha val="40000"/>
                    </a:schemeClr>
                  </a:outerShdw>
                </a:effectLst>
                <a:latin typeface="Patrick Hand" pitchFamily="2" charset="77"/>
              </a:rPr>
              <a:t>()</a:t>
            </a:r>
            <a:endParaRPr lang="en-DE" sz="6000" dirty="0">
              <a:ln w="0"/>
              <a:effectLst>
                <a:outerShdw blurRad="38100" dist="19050" dir="2700000" algn="tl" rotWithShape="0">
                  <a:schemeClr val="dk1">
                    <a:alpha val="40000"/>
                  </a:schemeClr>
                </a:outerShdw>
              </a:effectLst>
              <a:latin typeface="Patrick Hand" pitchFamily="2" charset="77"/>
            </a:endParaRPr>
          </a:p>
        </p:txBody>
      </p:sp>
      <p:sp>
        <p:nvSpPr>
          <p:cNvPr id="25" name="TextBox 24">
            <a:extLst>
              <a:ext uri="{FF2B5EF4-FFF2-40B4-BE49-F238E27FC236}">
                <a16:creationId xmlns:a16="http://schemas.microsoft.com/office/drawing/2014/main" id="{D0AD9CA3-6CC2-804A-94B1-67647A57C57A}"/>
              </a:ext>
            </a:extLst>
          </p:cNvPr>
          <p:cNvSpPr txBox="1"/>
          <p:nvPr/>
        </p:nvSpPr>
        <p:spPr>
          <a:xfrm>
            <a:off x="-8470937" y="2490606"/>
            <a:ext cx="4238661" cy="830997"/>
          </a:xfrm>
          <a:prstGeom prst="rect">
            <a:avLst/>
          </a:prstGeom>
        </p:spPr>
        <p:style>
          <a:lnRef idx="1">
            <a:schemeClr val="accent6"/>
          </a:lnRef>
          <a:fillRef idx="2">
            <a:schemeClr val="accent6"/>
          </a:fillRef>
          <a:effectRef idx="1">
            <a:schemeClr val="accent6"/>
          </a:effectRef>
          <a:fontRef idx="minor">
            <a:schemeClr val="dk1"/>
          </a:fontRef>
        </p:style>
        <p:txBody>
          <a:bodyPr wrap="none" rtlCol="0">
            <a:spAutoFit/>
          </a:bodyPr>
          <a:lstStyle/>
          <a:p>
            <a:r>
              <a:rPr lang="en-US" sz="4800" dirty="0">
                <a:ln w="0"/>
                <a:solidFill>
                  <a:schemeClr val="tx1"/>
                </a:solidFill>
                <a:effectLst>
                  <a:outerShdw blurRad="38100" dist="19050" dir="2700000" algn="tl" rotWithShape="0">
                    <a:schemeClr val="dk1">
                      <a:alpha val="40000"/>
                    </a:schemeClr>
                  </a:outerShdw>
                </a:effectLst>
                <a:latin typeface="Patrick Hand" pitchFamily="2" charset="77"/>
              </a:rPr>
              <a:t>py_001_dataclass</a:t>
            </a:r>
            <a:endParaRPr lang="en-DE" sz="4800" dirty="0">
              <a:ln w="0"/>
              <a:solidFill>
                <a:schemeClr val="tx1"/>
              </a:solidFill>
              <a:effectLst>
                <a:outerShdw blurRad="38100" dist="19050" dir="2700000" algn="tl" rotWithShape="0">
                  <a:schemeClr val="dk1">
                    <a:alpha val="40000"/>
                  </a:schemeClr>
                </a:outerShdw>
              </a:effectLst>
              <a:latin typeface="Patrick Hand" pitchFamily="2" charset="77"/>
            </a:endParaRPr>
          </a:p>
        </p:txBody>
      </p:sp>
      <p:pic>
        <p:nvPicPr>
          <p:cNvPr id="8" name="Picture 7">
            <a:extLst>
              <a:ext uri="{FF2B5EF4-FFF2-40B4-BE49-F238E27FC236}">
                <a16:creationId xmlns:a16="http://schemas.microsoft.com/office/drawing/2014/main" id="{C0E7ADD7-2CDE-A786-A848-5271F69C6A73}"/>
              </a:ext>
            </a:extLst>
          </p:cNvPr>
          <p:cNvPicPr preferRelativeResize="0">
            <a:picLocks/>
          </p:cNvPicPr>
          <p:nvPr/>
        </p:nvPicPr>
        <p:blipFill rotWithShape="1">
          <a:blip r:embed="rId4"/>
          <a:srcRect l="20451" t="33096" r="16381" b="20241"/>
          <a:stretch>
            <a:fillRect/>
          </a:stretch>
        </p:blipFill>
        <p:spPr>
          <a:xfrm>
            <a:off x="223306" y="4330841"/>
            <a:ext cx="9838800" cy="4680000"/>
          </a:xfrm>
          <a:prstGeom prst="rect">
            <a:avLst/>
          </a:prstGeom>
        </p:spPr>
      </p:pic>
    </p:spTree>
    <p:extLst>
      <p:ext uri="{BB962C8B-B14F-4D97-AF65-F5344CB8AC3E}">
        <p14:creationId xmlns:p14="http://schemas.microsoft.com/office/powerpoint/2010/main" val="306070135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pattFill prst="dotDmnd">
          <a:fgClr>
            <a:srgbClr val="00B0F0"/>
          </a:fgClr>
          <a:bgClr>
            <a:schemeClr val="bg1"/>
          </a:bgClr>
        </a:pattFill>
        <a:effectLst/>
      </p:bgPr>
    </p:bg>
    <p:spTree>
      <p:nvGrpSpPr>
        <p:cNvPr id="1" name="">
          <a:extLst>
            <a:ext uri="{FF2B5EF4-FFF2-40B4-BE49-F238E27FC236}">
              <a16:creationId xmlns:a16="http://schemas.microsoft.com/office/drawing/2014/main" id="{F24D53D7-C554-1761-5DCC-AC6EB34EA650}"/>
            </a:ext>
          </a:extLst>
        </p:cNvPr>
        <p:cNvGrpSpPr/>
        <p:nvPr/>
      </p:nvGrpSpPr>
      <p:grpSpPr>
        <a:xfrm>
          <a:off x="0" y="0"/>
          <a:ext cx="0" cy="0"/>
          <a:chOff x="0" y="0"/>
          <a:chExt cx="0" cy="0"/>
        </a:xfrm>
      </p:grpSpPr>
      <p:grpSp>
        <p:nvGrpSpPr>
          <p:cNvPr id="6" name="Group 5">
            <a:extLst>
              <a:ext uri="{FF2B5EF4-FFF2-40B4-BE49-F238E27FC236}">
                <a16:creationId xmlns:a16="http://schemas.microsoft.com/office/drawing/2014/main" id="{D2100239-D8B1-E60E-72B5-37811A07A7D1}"/>
              </a:ext>
            </a:extLst>
          </p:cNvPr>
          <p:cNvGrpSpPr/>
          <p:nvPr/>
        </p:nvGrpSpPr>
        <p:grpSpPr>
          <a:xfrm>
            <a:off x="223307" y="3175262"/>
            <a:ext cx="9838799" cy="1219682"/>
            <a:chOff x="223307" y="2872200"/>
            <a:chExt cx="9838799" cy="1219682"/>
          </a:xfrm>
        </p:grpSpPr>
        <p:sp>
          <p:nvSpPr>
            <p:cNvPr id="4" name="TextBox 3">
              <a:extLst>
                <a:ext uri="{FF2B5EF4-FFF2-40B4-BE49-F238E27FC236}">
                  <a16:creationId xmlns:a16="http://schemas.microsoft.com/office/drawing/2014/main" id="{40A32D35-09AC-080F-F4E8-3A489B3C72CF}"/>
                </a:ext>
              </a:extLst>
            </p:cNvPr>
            <p:cNvSpPr txBox="1"/>
            <p:nvPr/>
          </p:nvSpPr>
          <p:spPr>
            <a:xfrm>
              <a:off x="223307" y="2872200"/>
              <a:ext cx="9838799" cy="1219682"/>
            </a:xfrm>
            <a:prstGeom prst="rect">
              <a:avLst/>
            </a:prstGeom>
            <a:ln/>
          </p:spPr>
          <p:style>
            <a:lnRef idx="2">
              <a:schemeClr val="accent1">
                <a:shade val="15000"/>
              </a:schemeClr>
            </a:lnRef>
            <a:fillRef idx="1">
              <a:schemeClr val="accent1"/>
            </a:fillRef>
            <a:effectRef idx="0">
              <a:schemeClr val="accent1"/>
            </a:effectRef>
            <a:fontRef idx="minor">
              <a:schemeClr val="lt1"/>
            </a:fontRef>
          </p:style>
          <p:txBody>
            <a:bodyPr wrap="none" rtlCol="0">
              <a:noAutofit/>
            </a:bodyPr>
            <a:lstStyle/>
            <a:p>
              <a:pPr algn="ctr"/>
              <a:r>
                <a:rPr lang="en-US" sz="72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Patrick Hand" pitchFamily="2" charset="77"/>
                </a:rPr>
                <a:t>is not None</a:t>
              </a:r>
              <a:endParaRPr lang="en-GB" sz="20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Patrick Hand" pitchFamily="2" charset="77"/>
              </a:endParaRPr>
            </a:p>
          </p:txBody>
        </p:sp>
        <p:pic>
          <p:nvPicPr>
            <p:cNvPr id="5" name="Picture 4">
              <a:extLst>
                <a:ext uri="{FF2B5EF4-FFF2-40B4-BE49-F238E27FC236}">
                  <a16:creationId xmlns:a16="http://schemas.microsoft.com/office/drawing/2014/main" id="{D2FF48D3-DFF0-E642-BAD8-3023BF00E2F0}"/>
                </a:ext>
              </a:extLst>
            </p:cNvPr>
            <p:cNvPicPr>
              <a:picLocks noChangeAspect="1"/>
            </p:cNvPicPr>
            <p:nvPr/>
          </p:nvPicPr>
          <p:blipFill>
            <a:blip r:embed="rId3"/>
            <a:stretch>
              <a:fillRect/>
            </a:stretch>
          </p:blipFill>
          <p:spPr>
            <a:xfrm>
              <a:off x="304696" y="2948314"/>
              <a:ext cx="1063167" cy="1063167"/>
            </a:xfrm>
            <a:prstGeom prst="rect">
              <a:avLst/>
            </a:prstGeom>
            <a:ln w="19050">
              <a:solidFill>
                <a:schemeClr val="bg1"/>
              </a:solidFill>
            </a:ln>
          </p:spPr>
        </p:pic>
      </p:grpSp>
      <p:sp>
        <p:nvSpPr>
          <p:cNvPr id="13" name="TextBox 12">
            <a:extLst>
              <a:ext uri="{FF2B5EF4-FFF2-40B4-BE49-F238E27FC236}">
                <a16:creationId xmlns:a16="http://schemas.microsoft.com/office/drawing/2014/main" id="{D7D543BA-0420-574A-E215-D1B9F98B2DBB}"/>
              </a:ext>
            </a:extLst>
          </p:cNvPr>
          <p:cNvSpPr txBox="1"/>
          <p:nvPr/>
        </p:nvSpPr>
        <p:spPr>
          <a:xfrm>
            <a:off x="318055" y="11404891"/>
            <a:ext cx="9649302" cy="2862322"/>
          </a:xfrm>
          <a:prstGeom prst="rect">
            <a:avLst/>
          </a:prstGeom>
          <a:noFill/>
        </p:spPr>
        <p:txBody>
          <a:bodyPr wrap="square" rtlCol="0">
            <a:spAutoFit/>
          </a:bodyPr>
          <a:lstStyle/>
          <a:p>
            <a:pPr algn="ctr"/>
            <a:r>
              <a:rPr lang="en-GB" sz="6000" b="1" dirty="0"/>
              <a:t>Stop using 'not is None' </a:t>
            </a:r>
            <a:r>
              <a:rPr lang="en-DE" sz="6000" b="1" dirty="0"/>
              <a:t>❌ </a:t>
            </a:r>
            <a:r>
              <a:rPr lang="en-GB" sz="6000" b="1" dirty="0"/>
              <a:t>Python wants 'is not None' </a:t>
            </a:r>
            <a:r>
              <a:rPr lang="en-DE" sz="6000" b="1" dirty="0"/>
              <a:t>✅ #</a:t>
            </a:r>
            <a:r>
              <a:rPr lang="en-GB" sz="6000" b="1" dirty="0" err="1"/>
              <a:t>pythontips</a:t>
            </a:r>
            <a:endParaRPr lang="en-DE" sz="23900" dirty="0">
              <a:latin typeface="Patrick Hand" pitchFamily="2" charset="77"/>
            </a:endParaRPr>
          </a:p>
        </p:txBody>
      </p:sp>
      <p:pic>
        <p:nvPicPr>
          <p:cNvPr id="10" name="Picture 9">
            <a:extLst>
              <a:ext uri="{FF2B5EF4-FFF2-40B4-BE49-F238E27FC236}">
                <a16:creationId xmlns:a16="http://schemas.microsoft.com/office/drawing/2014/main" id="{2CDB1CAB-44FB-1BCB-DE8C-D0BC29E87F76}"/>
              </a:ext>
            </a:extLst>
          </p:cNvPr>
          <p:cNvPicPr>
            <a:picLocks noChangeAspect="1"/>
          </p:cNvPicPr>
          <p:nvPr/>
        </p:nvPicPr>
        <p:blipFill rotWithShape="1">
          <a:blip r:embed="rId4"/>
          <a:srcRect l="17862" t="24155" r="12757" b="15159"/>
          <a:stretch>
            <a:fillRect/>
          </a:stretch>
        </p:blipFill>
        <p:spPr>
          <a:xfrm>
            <a:off x="241483" y="4471058"/>
            <a:ext cx="9802447" cy="6411801"/>
          </a:xfrm>
          <a:prstGeom prst="rect">
            <a:avLst/>
          </a:prstGeom>
        </p:spPr>
      </p:pic>
      <p:cxnSp>
        <p:nvCxnSpPr>
          <p:cNvPr id="12" name="Straight Connector 11">
            <a:extLst>
              <a:ext uri="{FF2B5EF4-FFF2-40B4-BE49-F238E27FC236}">
                <a16:creationId xmlns:a16="http://schemas.microsoft.com/office/drawing/2014/main" id="{26C1930A-9DD9-0861-9D22-2EB6C114CC45}"/>
              </a:ext>
            </a:extLst>
          </p:cNvPr>
          <p:cNvCxnSpPr>
            <a:cxnSpLocks/>
          </p:cNvCxnSpPr>
          <p:nvPr/>
        </p:nvCxnSpPr>
        <p:spPr>
          <a:xfrm>
            <a:off x="223579" y="8240887"/>
            <a:ext cx="9838255" cy="0"/>
          </a:xfrm>
          <a:prstGeom prst="line">
            <a:avLst/>
          </a:prstGeom>
          <a:ln w="38100">
            <a:solidFill>
              <a:schemeClr val="bg1"/>
            </a:solidFill>
            <a:headEnd type="none"/>
            <a:tailEnd type="none" w="lg" len="lg"/>
          </a:ln>
        </p:spPr>
        <p:style>
          <a:lnRef idx="1">
            <a:schemeClr val="accent1"/>
          </a:lnRef>
          <a:fillRef idx="0">
            <a:schemeClr val="accent1"/>
          </a:fillRef>
          <a:effectRef idx="0">
            <a:schemeClr val="accent1"/>
          </a:effectRef>
          <a:fontRef idx="minor">
            <a:schemeClr val="tx1"/>
          </a:fontRef>
        </p:style>
      </p:cxnSp>
      <p:pic>
        <p:nvPicPr>
          <p:cNvPr id="14" name="Graphic 13" descr="Shield Tick with solid fill">
            <a:extLst>
              <a:ext uri="{FF2B5EF4-FFF2-40B4-BE49-F238E27FC236}">
                <a16:creationId xmlns:a16="http://schemas.microsoft.com/office/drawing/2014/main" id="{4AB6922E-51A1-4F9B-B3FB-0190AAFD0CF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632967" y="9646139"/>
            <a:ext cx="914400" cy="914400"/>
          </a:xfrm>
          <a:prstGeom prst="rect">
            <a:avLst/>
          </a:prstGeom>
        </p:spPr>
      </p:pic>
      <p:pic>
        <p:nvPicPr>
          <p:cNvPr id="15" name="Graphic 14" descr="Close with solid fill">
            <a:extLst>
              <a:ext uri="{FF2B5EF4-FFF2-40B4-BE49-F238E27FC236}">
                <a16:creationId xmlns:a16="http://schemas.microsoft.com/office/drawing/2014/main" id="{3ABE61AC-0D6F-7FE4-F16E-F95916AA32D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632967" y="6992100"/>
            <a:ext cx="914400" cy="914400"/>
          </a:xfrm>
          <a:prstGeom prst="rect">
            <a:avLst/>
          </a:prstGeom>
        </p:spPr>
      </p:pic>
    </p:spTree>
    <p:extLst>
      <p:ext uri="{BB962C8B-B14F-4D97-AF65-F5344CB8AC3E}">
        <p14:creationId xmlns:p14="http://schemas.microsoft.com/office/powerpoint/2010/main" val="3792976105"/>
      </p:ext>
    </p:extLst>
  </p:cSld>
  <p:clrMapOvr>
    <a:masterClrMapping/>
  </p:clrMapOvr>
  <p:extLst>
    <p:ext uri="{6950BFC3-D8DA-4A85-94F7-54DA5524770B}">
      <p188:commentRel xmlns:p188="http://schemas.microsoft.com/office/powerpoint/2018/8/main" r:id="rId2"/>
    </p:ext>
  </p:extLst>
</p:sld>
</file>

<file path=ppt/slides/slide32.xml><?xml version="1.0" encoding="utf-8"?>
<p:sld xmlns:a="http://schemas.openxmlformats.org/drawingml/2006/main" xmlns:r="http://schemas.openxmlformats.org/officeDocument/2006/relationships" xmlns:p="http://schemas.openxmlformats.org/presentationml/2006/main">
  <p:cSld>
    <p:bg>
      <p:bgPr>
        <a:pattFill prst="solidDmnd">
          <a:fgClr>
            <a:schemeClr val="bg2"/>
          </a:fgClr>
          <a:bgClr>
            <a:schemeClr val="bg1"/>
          </a:bgClr>
        </a:pattFill>
        <a:effectLst/>
      </p:bgPr>
    </p:bg>
    <p:spTree>
      <p:nvGrpSpPr>
        <p:cNvPr id="1" name="">
          <a:extLst>
            <a:ext uri="{FF2B5EF4-FFF2-40B4-BE49-F238E27FC236}">
              <a16:creationId xmlns:a16="http://schemas.microsoft.com/office/drawing/2014/main" id="{6BE3B4F8-D6C9-74DD-5149-E041CE2D7670}"/>
            </a:ext>
          </a:extLst>
        </p:cNvPr>
        <p:cNvGrpSpPr/>
        <p:nvPr/>
      </p:nvGrpSpPr>
      <p:grpSpPr>
        <a:xfrm>
          <a:off x="0" y="0"/>
          <a:ext cx="0" cy="0"/>
          <a:chOff x="0" y="0"/>
          <a:chExt cx="0" cy="0"/>
        </a:xfrm>
      </p:grpSpPr>
      <p:pic>
        <p:nvPicPr>
          <p:cNvPr id="16" name="Picture 15">
            <a:extLst>
              <a:ext uri="{FF2B5EF4-FFF2-40B4-BE49-F238E27FC236}">
                <a16:creationId xmlns:a16="http://schemas.microsoft.com/office/drawing/2014/main" id="{48F2687B-62A1-CA9A-B19B-C48CE110FC4A}"/>
              </a:ext>
            </a:extLst>
          </p:cNvPr>
          <p:cNvPicPr>
            <a:picLocks noChangeAspect="1"/>
          </p:cNvPicPr>
          <p:nvPr/>
        </p:nvPicPr>
        <p:blipFill rotWithShape="1">
          <a:blip r:embed="rId2"/>
          <a:srcRect l="20025" t="24894" r="13708" b="19564"/>
          <a:stretch>
            <a:fillRect/>
          </a:stretch>
        </p:blipFill>
        <p:spPr>
          <a:xfrm>
            <a:off x="223306" y="4235322"/>
            <a:ext cx="9838800" cy="6374838"/>
          </a:xfrm>
          <a:prstGeom prst="rect">
            <a:avLst/>
          </a:prstGeom>
        </p:spPr>
      </p:pic>
      <p:sp>
        <p:nvSpPr>
          <p:cNvPr id="4" name="TextBox 3">
            <a:extLst>
              <a:ext uri="{FF2B5EF4-FFF2-40B4-BE49-F238E27FC236}">
                <a16:creationId xmlns:a16="http://schemas.microsoft.com/office/drawing/2014/main" id="{708C3ABA-CE40-ADF7-BF1E-269435408D9A}"/>
              </a:ext>
            </a:extLst>
          </p:cNvPr>
          <p:cNvSpPr txBox="1"/>
          <p:nvPr/>
        </p:nvSpPr>
        <p:spPr>
          <a:xfrm>
            <a:off x="223306" y="3080021"/>
            <a:ext cx="9838800" cy="1121395"/>
          </a:xfrm>
          <a:prstGeom prst="rect">
            <a:avLst/>
          </a:prstGeom>
          <a:ln w="12700">
            <a:solidFill>
              <a:schemeClr val="tx1"/>
            </a:solidFill>
          </a:ln>
        </p:spPr>
        <p:style>
          <a:lnRef idx="1">
            <a:schemeClr val="accent2"/>
          </a:lnRef>
          <a:fillRef idx="2">
            <a:schemeClr val="accent2"/>
          </a:fillRef>
          <a:effectRef idx="1">
            <a:schemeClr val="accent2"/>
          </a:effectRef>
          <a:fontRef idx="minor">
            <a:schemeClr val="dk1"/>
          </a:fontRef>
        </p:style>
        <p:txBody>
          <a:bodyPr wrap="none" rtlCol="0" anchor="ctr" anchorCtr="0">
            <a:no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5400" b="1" dirty="0">
                <a:ln w="0"/>
                <a:solidFill>
                  <a:schemeClr val="tx1"/>
                </a:solidFill>
                <a:effectLst>
                  <a:outerShdw blurRad="38100" dist="19050" dir="2700000" algn="tl" rotWithShape="0">
                    <a:schemeClr val="dk1">
                      <a:alpha val="40000"/>
                    </a:schemeClr>
                  </a:outerShdw>
                </a:effectLst>
                <a:latin typeface="+mj-lt"/>
              </a:rPr>
              <a:t>If Statements</a:t>
            </a:r>
            <a:endParaRPr lang="en-GB" sz="1400" b="1" dirty="0">
              <a:ln w="0"/>
              <a:solidFill>
                <a:schemeClr val="tx1"/>
              </a:solidFill>
              <a:effectLst>
                <a:outerShdw blurRad="38100" dist="19050" dir="2700000" algn="tl" rotWithShape="0">
                  <a:schemeClr val="dk1">
                    <a:alpha val="40000"/>
                  </a:schemeClr>
                </a:outerShdw>
              </a:effectLst>
              <a:latin typeface="+mj-lt"/>
            </a:endParaRPr>
          </a:p>
        </p:txBody>
      </p:sp>
      <p:pic>
        <p:nvPicPr>
          <p:cNvPr id="5" name="Picture 4">
            <a:extLst>
              <a:ext uri="{FF2B5EF4-FFF2-40B4-BE49-F238E27FC236}">
                <a16:creationId xmlns:a16="http://schemas.microsoft.com/office/drawing/2014/main" id="{6EBBAF22-3A41-F8C5-2680-6F6C85D435A2}"/>
              </a:ext>
            </a:extLst>
          </p:cNvPr>
          <p:cNvPicPr>
            <a:picLocks noChangeAspect="1"/>
          </p:cNvPicPr>
          <p:nvPr/>
        </p:nvPicPr>
        <p:blipFill>
          <a:blip r:embed="rId3"/>
          <a:stretch>
            <a:fillRect/>
          </a:stretch>
        </p:blipFill>
        <p:spPr>
          <a:xfrm>
            <a:off x="264001" y="3113927"/>
            <a:ext cx="1063167" cy="1063167"/>
          </a:xfrm>
          <a:prstGeom prst="rect">
            <a:avLst/>
          </a:prstGeom>
        </p:spPr>
      </p:pic>
      <p:sp>
        <p:nvSpPr>
          <p:cNvPr id="11" name="TextBox 10">
            <a:extLst>
              <a:ext uri="{FF2B5EF4-FFF2-40B4-BE49-F238E27FC236}">
                <a16:creationId xmlns:a16="http://schemas.microsoft.com/office/drawing/2014/main" id="{9A8F7F27-31CA-7DB4-04DA-1B95A1E05A6F}"/>
              </a:ext>
            </a:extLst>
          </p:cNvPr>
          <p:cNvSpPr txBox="1"/>
          <p:nvPr/>
        </p:nvSpPr>
        <p:spPr>
          <a:xfrm>
            <a:off x="245874" y="10696248"/>
            <a:ext cx="9793665" cy="1015663"/>
          </a:xfrm>
          <a:prstGeom prst="rect">
            <a:avLst/>
          </a:prstGeom>
          <a:noFill/>
        </p:spPr>
        <p:txBody>
          <a:bodyPr wrap="square" rtlCol="0">
            <a:spAutoFit/>
          </a:bodyPr>
          <a:lstStyle/>
          <a:p>
            <a:pPr algn="ctr"/>
            <a:r>
              <a:rPr lang="en-GB" sz="6000" dirty="0">
                <a:latin typeface="Patrick Hand" pitchFamily="2" charset="77"/>
              </a:rPr>
              <a:t>Which one would be better? Why?</a:t>
            </a:r>
            <a:endParaRPr lang="en-DE" sz="6000" dirty="0">
              <a:latin typeface="Patrick Hand" pitchFamily="2" charset="77"/>
            </a:endParaRPr>
          </a:p>
        </p:txBody>
      </p:sp>
      <p:cxnSp>
        <p:nvCxnSpPr>
          <p:cNvPr id="17" name="Straight Connector 16">
            <a:extLst>
              <a:ext uri="{FF2B5EF4-FFF2-40B4-BE49-F238E27FC236}">
                <a16:creationId xmlns:a16="http://schemas.microsoft.com/office/drawing/2014/main" id="{F1DD80C1-3098-6457-A6BD-F35433E60955}"/>
              </a:ext>
            </a:extLst>
          </p:cNvPr>
          <p:cNvCxnSpPr>
            <a:cxnSpLocks/>
          </p:cNvCxnSpPr>
          <p:nvPr/>
        </p:nvCxnSpPr>
        <p:spPr>
          <a:xfrm>
            <a:off x="223579" y="6753109"/>
            <a:ext cx="9838255" cy="0"/>
          </a:xfrm>
          <a:prstGeom prst="line">
            <a:avLst/>
          </a:prstGeom>
          <a:ln w="38100">
            <a:solidFill>
              <a:schemeClr val="bg1"/>
            </a:solidFill>
            <a:headEnd type="none"/>
            <a:tailEnd type="none" w="lg" len="lg"/>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09E5A735-D127-9529-7178-55B46AB042F3}"/>
              </a:ext>
            </a:extLst>
          </p:cNvPr>
          <p:cNvCxnSpPr>
            <a:cxnSpLocks/>
          </p:cNvCxnSpPr>
          <p:nvPr/>
        </p:nvCxnSpPr>
        <p:spPr>
          <a:xfrm>
            <a:off x="226079" y="7954817"/>
            <a:ext cx="9838255" cy="0"/>
          </a:xfrm>
          <a:prstGeom prst="line">
            <a:avLst/>
          </a:prstGeom>
          <a:ln w="38100">
            <a:solidFill>
              <a:schemeClr val="bg1"/>
            </a:solidFill>
            <a:headEnd type="none"/>
            <a:tailEnd type="none" w="lg" len="lg"/>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5CAD8D70-125F-7631-76AF-46810C05F444}"/>
              </a:ext>
            </a:extLst>
          </p:cNvPr>
          <p:cNvCxnSpPr>
            <a:cxnSpLocks/>
          </p:cNvCxnSpPr>
          <p:nvPr/>
        </p:nvCxnSpPr>
        <p:spPr>
          <a:xfrm>
            <a:off x="213589" y="9171515"/>
            <a:ext cx="9838255" cy="0"/>
          </a:xfrm>
          <a:prstGeom prst="line">
            <a:avLst/>
          </a:prstGeom>
          <a:ln w="38100">
            <a:solidFill>
              <a:schemeClr val="bg1"/>
            </a:solidFill>
            <a:headEnd type="none"/>
            <a:tailEnd type="non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0755973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pattFill prst="pct20">
          <a:fgClr>
            <a:srgbClr val="FFC000"/>
          </a:fgClr>
          <a:bgClr>
            <a:schemeClr val="bg1"/>
          </a:bgClr>
        </a:pattFill>
        <a:effectLst/>
      </p:bgPr>
    </p:bg>
    <p:spTree>
      <p:nvGrpSpPr>
        <p:cNvPr id="1" name="">
          <a:extLst>
            <a:ext uri="{FF2B5EF4-FFF2-40B4-BE49-F238E27FC236}">
              <a16:creationId xmlns:a16="http://schemas.microsoft.com/office/drawing/2014/main" id="{9485E1F7-CF23-F6C8-A9F3-B052EC490A9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D2AAB60-408C-1685-06B6-CEFFA4819386}"/>
              </a:ext>
            </a:extLst>
          </p:cNvPr>
          <p:cNvSpPr txBox="1"/>
          <p:nvPr/>
        </p:nvSpPr>
        <p:spPr>
          <a:xfrm>
            <a:off x="223306" y="3136810"/>
            <a:ext cx="9838800" cy="1277088"/>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nchor="ctr">
            <a:noAutofit/>
          </a:bodyPr>
          <a:lstStyle/>
          <a:p>
            <a:pPr algn="r"/>
            <a:r>
              <a:rPr lang="en-GB" sz="6000" b="1" dirty="0"/>
              <a:t>PEP 8: Better line breaks</a:t>
            </a:r>
            <a:endParaRPr lang="en-GB" sz="6000" b="1" spc="50" dirty="0">
              <a:ln w="0"/>
              <a:solidFill>
                <a:schemeClr val="bg2"/>
              </a:solidFill>
              <a:effectLst>
                <a:innerShdw blurRad="63500" dist="50800" dir="13500000">
                  <a:srgbClr val="000000">
                    <a:alpha val="50000"/>
                  </a:srgbClr>
                </a:innerShdw>
              </a:effectLst>
              <a:latin typeface="Patrick Hand" pitchFamily="2" charset="77"/>
            </a:endParaRPr>
          </a:p>
        </p:txBody>
      </p:sp>
      <p:pic>
        <p:nvPicPr>
          <p:cNvPr id="5" name="Picture 4">
            <a:extLst>
              <a:ext uri="{FF2B5EF4-FFF2-40B4-BE49-F238E27FC236}">
                <a16:creationId xmlns:a16="http://schemas.microsoft.com/office/drawing/2014/main" id="{B5CAB263-ACE3-34CD-7C70-2104F2C312BA}"/>
              </a:ext>
            </a:extLst>
          </p:cNvPr>
          <p:cNvPicPr>
            <a:picLocks noChangeAspect="1"/>
          </p:cNvPicPr>
          <p:nvPr/>
        </p:nvPicPr>
        <p:blipFill>
          <a:blip r:embed="rId3"/>
          <a:stretch>
            <a:fillRect/>
          </a:stretch>
        </p:blipFill>
        <p:spPr>
          <a:xfrm>
            <a:off x="383921" y="3246060"/>
            <a:ext cx="1063167" cy="1063167"/>
          </a:xfrm>
          <a:prstGeom prst="rect">
            <a:avLst/>
          </a:prstGeom>
        </p:spPr>
      </p:pic>
      <p:pic>
        <p:nvPicPr>
          <p:cNvPr id="3" name="Picture 2">
            <a:extLst>
              <a:ext uri="{FF2B5EF4-FFF2-40B4-BE49-F238E27FC236}">
                <a16:creationId xmlns:a16="http://schemas.microsoft.com/office/drawing/2014/main" id="{3F9C6260-3B40-C4E2-D0FA-74F575E25827}"/>
              </a:ext>
            </a:extLst>
          </p:cNvPr>
          <p:cNvPicPr>
            <a:picLocks noChangeAspect="1"/>
          </p:cNvPicPr>
          <p:nvPr/>
        </p:nvPicPr>
        <p:blipFill rotWithShape="1">
          <a:blip r:embed="rId4"/>
          <a:srcRect l="15206" t="22792" r="10439" b="21438"/>
          <a:stretch>
            <a:fillRect/>
          </a:stretch>
        </p:blipFill>
        <p:spPr>
          <a:xfrm>
            <a:off x="223579" y="4439164"/>
            <a:ext cx="9838255" cy="5708618"/>
          </a:xfrm>
          <a:prstGeom prst="rect">
            <a:avLst/>
          </a:prstGeom>
        </p:spPr>
      </p:pic>
      <p:sp>
        <p:nvSpPr>
          <p:cNvPr id="13" name="TextBox 12">
            <a:extLst>
              <a:ext uri="{FF2B5EF4-FFF2-40B4-BE49-F238E27FC236}">
                <a16:creationId xmlns:a16="http://schemas.microsoft.com/office/drawing/2014/main" id="{9FD6638E-EA6F-32B1-4BFA-0CBD50D4D970}"/>
              </a:ext>
            </a:extLst>
          </p:cNvPr>
          <p:cNvSpPr txBox="1"/>
          <p:nvPr/>
        </p:nvSpPr>
        <p:spPr>
          <a:xfrm>
            <a:off x="223306" y="10276331"/>
            <a:ext cx="9838800" cy="2308324"/>
          </a:xfrm>
          <a:prstGeom prst="rect">
            <a:avLst/>
          </a:prstGeom>
          <a:noFill/>
        </p:spPr>
        <p:txBody>
          <a:bodyPr wrap="square" rtlCol="0">
            <a:spAutoFit/>
          </a:bodyPr>
          <a:lstStyle/>
          <a:p>
            <a:pPr algn="ctr"/>
            <a:r>
              <a:rPr lang="en-GB" sz="7200" dirty="0">
                <a:latin typeface="Patrick Hand" pitchFamily="2" charset="77"/>
              </a:rPr>
              <a:t>Stop breaking lines like this in Python</a:t>
            </a:r>
            <a:endParaRPr lang="en-DE" sz="7200" dirty="0">
              <a:latin typeface="Patrick Hand" pitchFamily="2" charset="77"/>
            </a:endParaRPr>
          </a:p>
        </p:txBody>
      </p:sp>
      <p:cxnSp>
        <p:nvCxnSpPr>
          <p:cNvPr id="17" name="Straight Connector 16">
            <a:extLst>
              <a:ext uri="{FF2B5EF4-FFF2-40B4-BE49-F238E27FC236}">
                <a16:creationId xmlns:a16="http://schemas.microsoft.com/office/drawing/2014/main" id="{51D7181F-DFC0-6417-899B-A5C5B0470C4D}"/>
              </a:ext>
            </a:extLst>
          </p:cNvPr>
          <p:cNvCxnSpPr>
            <a:cxnSpLocks/>
          </p:cNvCxnSpPr>
          <p:nvPr/>
        </p:nvCxnSpPr>
        <p:spPr>
          <a:xfrm>
            <a:off x="223579" y="7386445"/>
            <a:ext cx="9838255" cy="0"/>
          </a:xfrm>
          <a:prstGeom prst="line">
            <a:avLst/>
          </a:prstGeom>
          <a:ln w="38100">
            <a:solidFill>
              <a:schemeClr val="bg1"/>
            </a:solidFill>
            <a:headEnd type="none"/>
            <a:tailEnd type="none" w="lg" len="lg"/>
          </a:ln>
        </p:spPr>
        <p:style>
          <a:lnRef idx="1">
            <a:schemeClr val="accent1"/>
          </a:lnRef>
          <a:fillRef idx="0">
            <a:schemeClr val="accent1"/>
          </a:fillRef>
          <a:effectRef idx="0">
            <a:schemeClr val="accent1"/>
          </a:effectRef>
          <a:fontRef idx="minor">
            <a:schemeClr val="tx1"/>
          </a:fontRef>
        </p:style>
      </p:cxnSp>
      <p:pic>
        <p:nvPicPr>
          <p:cNvPr id="18" name="Graphic 17" descr="Shield Tick with solid fill">
            <a:extLst>
              <a:ext uri="{FF2B5EF4-FFF2-40B4-BE49-F238E27FC236}">
                <a16:creationId xmlns:a16="http://schemas.microsoft.com/office/drawing/2014/main" id="{7AD552ED-7D07-BDEF-9B15-300D0F875E1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399439" y="8761723"/>
            <a:ext cx="914400" cy="914400"/>
          </a:xfrm>
          <a:prstGeom prst="rect">
            <a:avLst/>
          </a:prstGeom>
        </p:spPr>
      </p:pic>
      <p:pic>
        <p:nvPicPr>
          <p:cNvPr id="19" name="Graphic 18" descr="Close with solid fill">
            <a:extLst>
              <a:ext uri="{FF2B5EF4-FFF2-40B4-BE49-F238E27FC236}">
                <a16:creationId xmlns:a16="http://schemas.microsoft.com/office/drawing/2014/main" id="{EB24EDD7-6205-82C4-2AD7-44A069C74F3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399439" y="5912814"/>
            <a:ext cx="914400" cy="914400"/>
          </a:xfrm>
          <a:prstGeom prst="rect">
            <a:avLst/>
          </a:prstGeom>
        </p:spPr>
      </p:pic>
    </p:spTree>
    <p:extLst>
      <p:ext uri="{BB962C8B-B14F-4D97-AF65-F5344CB8AC3E}">
        <p14:creationId xmlns:p14="http://schemas.microsoft.com/office/powerpoint/2010/main" val="2644684110"/>
      </p:ext>
    </p:extLst>
  </p:cSld>
  <p:clrMapOvr>
    <a:masterClrMapping/>
  </p:clrMapOvr>
  <p:extLst>
    <p:ext uri="{6950BFC3-D8DA-4A85-94F7-54DA5524770B}">
      <p188:commentRel xmlns:p188="http://schemas.microsoft.com/office/powerpoint/2018/8/main" r:id="rId2"/>
    </p:ext>
  </p:extLst>
</p:sld>
</file>

<file path=ppt/slides/slide34.xml><?xml version="1.0" encoding="utf-8"?>
<p:sld xmlns:a="http://schemas.openxmlformats.org/drawingml/2006/main" xmlns:r="http://schemas.openxmlformats.org/officeDocument/2006/relationships" xmlns:p="http://schemas.openxmlformats.org/presentationml/2006/main">
  <p:cSld>
    <p:bg>
      <p:bgPr>
        <a:pattFill prst="dashVert">
          <a:fgClr>
            <a:srgbClr val="FFFF00"/>
          </a:fgClr>
          <a:bgClr>
            <a:schemeClr val="bg1"/>
          </a:bgClr>
        </a:pattFill>
        <a:effectLst/>
      </p:bgPr>
    </p:bg>
    <p:spTree>
      <p:nvGrpSpPr>
        <p:cNvPr id="1" name="">
          <a:extLst>
            <a:ext uri="{FF2B5EF4-FFF2-40B4-BE49-F238E27FC236}">
              <a16:creationId xmlns:a16="http://schemas.microsoft.com/office/drawing/2014/main" id="{F4540D2B-D30E-AF7F-284D-05472F22532A}"/>
            </a:ext>
          </a:extLst>
        </p:cNvPr>
        <p:cNvGrpSpPr/>
        <p:nvPr/>
      </p:nvGrpSpPr>
      <p:grpSpPr>
        <a:xfrm>
          <a:off x="0" y="0"/>
          <a:ext cx="0" cy="0"/>
          <a:chOff x="0" y="0"/>
          <a:chExt cx="0" cy="0"/>
        </a:xfrm>
      </p:grpSpPr>
      <p:pic>
        <p:nvPicPr>
          <p:cNvPr id="32" name="Picture 31">
            <a:extLst>
              <a:ext uri="{FF2B5EF4-FFF2-40B4-BE49-F238E27FC236}">
                <a16:creationId xmlns:a16="http://schemas.microsoft.com/office/drawing/2014/main" id="{6B51E76E-BEAE-DC42-3D3B-E07729C4355F}"/>
              </a:ext>
            </a:extLst>
          </p:cNvPr>
          <p:cNvPicPr>
            <a:picLocks noChangeAspect="1"/>
          </p:cNvPicPr>
          <p:nvPr/>
        </p:nvPicPr>
        <p:blipFill rotWithShape="1">
          <a:blip r:embed="rId2"/>
          <a:srcRect l="16548" t="30035" r="11310" b="26898"/>
          <a:stretch>
            <a:fillRect/>
          </a:stretch>
        </p:blipFill>
        <p:spPr>
          <a:xfrm>
            <a:off x="223306" y="4454562"/>
            <a:ext cx="9838800" cy="3762583"/>
          </a:xfrm>
          <a:prstGeom prst="rect">
            <a:avLst/>
          </a:prstGeom>
        </p:spPr>
      </p:pic>
      <p:sp>
        <p:nvSpPr>
          <p:cNvPr id="4" name="TextBox 3">
            <a:extLst>
              <a:ext uri="{FF2B5EF4-FFF2-40B4-BE49-F238E27FC236}">
                <a16:creationId xmlns:a16="http://schemas.microsoft.com/office/drawing/2014/main" id="{6D3C74BE-8F9A-C3BA-F073-3F00A5C2D8DD}"/>
              </a:ext>
            </a:extLst>
          </p:cNvPr>
          <p:cNvSpPr txBox="1"/>
          <p:nvPr/>
        </p:nvSpPr>
        <p:spPr>
          <a:xfrm>
            <a:off x="223306" y="3202057"/>
            <a:ext cx="9838800" cy="1189726"/>
          </a:xfrm>
          <a:prstGeom prst="rect">
            <a:avLst/>
          </a:prstGeom>
          <a:gradFill flip="none" rotWithShape="1">
            <a:gsLst>
              <a:gs pos="0">
                <a:schemeClr val="accent4">
                  <a:lumMod val="67000"/>
                </a:schemeClr>
              </a:gs>
              <a:gs pos="48000">
                <a:schemeClr val="accent4">
                  <a:lumMod val="97000"/>
                  <a:lumOff val="3000"/>
                </a:schemeClr>
              </a:gs>
              <a:gs pos="100000">
                <a:schemeClr val="accent4">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nchor="ctr">
            <a:noAutofit/>
          </a:bodyPr>
          <a:lstStyle/>
          <a:p>
            <a:pPr algn="ctr"/>
            <a:r>
              <a:rPr lang="en-US" sz="6000" b="1" dirty="0">
                <a:ln w="0"/>
                <a:solidFill>
                  <a:schemeClr val="tx1"/>
                </a:solidFill>
                <a:effectLst>
                  <a:outerShdw blurRad="38100" dist="19050" dir="2700000" algn="tl" rotWithShape="0">
                    <a:schemeClr val="dk1">
                      <a:alpha val="40000"/>
                    </a:schemeClr>
                  </a:outerShdw>
                </a:effectLst>
                <a:latin typeface="+mj-lt"/>
              </a:rPr>
              <a:t>use def, not f = lambda</a:t>
            </a:r>
            <a:endParaRPr lang="en-GB" sz="1600" b="1" dirty="0">
              <a:ln w="0"/>
              <a:solidFill>
                <a:schemeClr val="tx1"/>
              </a:solidFill>
              <a:effectLst>
                <a:outerShdw blurRad="38100" dist="19050" dir="2700000" algn="tl" rotWithShape="0">
                  <a:schemeClr val="dk1">
                    <a:alpha val="40000"/>
                  </a:schemeClr>
                </a:outerShdw>
              </a:effectLst>
              <a:latin typeface="+mj-lt"/>
            </a:endParaRPr>
          </a:p>
        </p:txBody>
      </p:sp>
      <p:pic>
        <p:nvPicPr>
          <p:cNvPr id="5" name="Picture 4">
            <a:extLst>
              <a:ext uri="{FF2B5EF4-FFF2-40B4-BE49-F238E27FC236}">
                <a16:creationId xmlns:a16="http://schemas.microsoft.com/office/drawing/2014/main" id="{AC23DFB8-9FCE-D144-E6CE-C62D8AA4E0EC}"/>
              </a:ext>
            </a:extLst>
          </p:cNvPr>
          <p:cNvPicPr>
            <a:picLocks noChangeAspect="1"/>
          </p:cNvPicPr>
          <p:nvPr/>
        </p:nvPicPr>
        <p:blipFill>
          <a:blip r:embed="rId3"/>
          <a:stretch>
            <a:fillRect/>
          </a:stretch>
        </p:blipFill>
        <p:spPr>
          <a:xfrm>
            <a:off x="290127" y="3264836"/>
            <a:ext cx="1063167" cy="1063167"/>
          </a:xfrm>
          <a:prstGeom prst="rect">
            <a:avLst/>
          </a:prstGeom>
        </p:spPr>
      </p:pic>
      <p:sp>
        <p:nvSpPr>
          <p:cNvPr id="13" name="TextBox 12">
            <a:extLst>
              <a:ext uri="{FF2B5EF4-FFF2-40B4-BE49-F238E27FC236}">
                <a16:creationId xmlns:a16="http://schemas.microsoft.com/office/drawing/2014/main" id="{B463719C-9432-1807-1F25-556F880A2BD6}"/>
              </a:ext>
            </a:extLst>
          </p:cNvPr>
          <p:cNvSpPr txBox="1"/>
          <p:nvPr/>
        </p:nvSpPr>
        <p:spPr>
          <a:xfrm>
            <a:off x="223306" y="8579726"/>
            <a:ext cx="9838801" cy="1938992"/>
          </a:xfrm>
          <a:prstGeom prst="rect">
            <a:avLst/>
          </a:prstGeom>
          <a:noFill/>
        </p:spPr>
        <p:txBody>
          <a:bodyPr wrap="square" rtlCol="0">
            <a:spAutoFit/>
          </a:bodyPr>
          <a:lstStyle/>
          <a:p>
            <a:pPr algn="ctr"/>
            <a:r>
              <a:rPr lang="en-GB" sz="6000" dirty="0">
                <a:ln w="0"/>
                <a:effectLst>
                  <a:outerShdw blurRad="38100" dist="19050" dir="2700000" algn="tl" rotWithShape="0">
                    <a:schemeClr val="dk1">
                      <a:alpha val="40000"/>
                    </a:schemeClr>
                  </a:outerShdw>
                </a:effectLst>
                <a:latin typeface="Patrick Hand" pitchFamily="2" charset="77"/>
              </a:rPr>
              <a:t>Use </a:t>
            </a:r>
            <a:r>
              <a:rPr lang="en-GB" sz="6000" dirty="0">
                <a:ln w="0"/>
                <a:solidFill>
                  <a:srgbClr val="FF0000"/>
                </a:solidFill>
                <a:effectLst>
                  <a:outerShdw blurRad="38100" dist="19050" dir="2700000" algn="tl" rotWithShape="0">
                    <a:schemeClr val="dk1">
                      <a:alpha val="40000"/>
                    </a:schemeClr>
                  </a:outerShdw>
                </a:effectLst>
                <a:latin typeface="Patrick Hand" pitchFamily="2" charset="77"/>
              </a:rPr>
              <a:t>def</a:t>
            </a:r>
            <a:r>
              <a:rPr lang="en-GB" sz="6000" dirty="0">
                <a:ln w="0"/>
                <a:effectLst>
                  <a:outerShdw blurRad="38100" dist="19050" dir="2700000" algn="tl" rotWithShape="0">
                    <a:schemeClr val="dk1">
                      <a:alpha val="40000"/>
                    </a:schemeClr>
                  </a:outerShdw>
                </a:effectLst>
                <a:latin typeface="Patrick Hand" pitchFamily="2" charset="77"/>
              </a:rPr>
              <a:t> instead of an assignment that binds a </a:t>
            </a:r>
            <a:r>
              <a:rPr lang="en-GB" sz="6000" dirty="0">
                <a:ln w="0"/>
                <a:solidFill>
                  <a:srgbClr val="FF0000"/>
                </a:solidFill>
                <a:effectLst>
                  <a:outerShdw blurRad="38100" dist="19050" dir="2700000" algn="tl" rotWithShape="0">
                    <a:schemeClr val="dk1">
                      <a:alpha val="40000"/>
                    </a:schemeClr>
                  </a:outerShdw>
                </a:effectLst>
                <a:latin typeface="Patrick Hand" pitchFamily="2" charset="77"/>
              </a:rPr>
              <a:t>lambda</a:t>
            </a:r>
            <a:r>
              <a:rPr lang="en-GB" sz="6000" dirty="0">
                <a:ln w="0"/>
                <a:effectLst>
                  <a:outerShdw blurRad="38100" dist="19050" dir="2700000" algn="tl" rotWithShape="0">
                    <a:schemeClr val="dk1">
                      <a:alpha val="40000"/>
                    </a:schemeClr>
                  </a:outerShdw>
                </a:effectLst>
                <a:latin typeface="Patrick Hand" pitchFamily="2" charset="77"/>
              </a:rPr>
              <a:t> expression.</a:t>
            </a:r>
            <a:endParaRPr lang="en-DE" sz="6000" dirty="0">
              <a:ln w="0"/>
              <a:effectLst>
                <a:outerShdw blurRad="38100" dist="19050" dir="2700000" algn="tl" rotWithShape="0">
                  <a:schemeClr val="dk1">
                    <a:alpha val="40000"/>
                  </a:schemeClr>
                </a:outerShdw>
              </a:effectLst>
              <a:latin typeface="Patrick Hand" pitchFamily="2" charset="77"/>
            </a:endParaRPr>
          </a:p>
        </p:txBody>
      </p:sp>
      <p:cxnSp>
        <p:nvCxnSpPr>
          <p:cNvPr id="17" name="Straight Connector 16">
            <a:extLst>
              <a:ext uri="{FF2B5EF4-FFF2-40B4-BE49-F238E27FC236}">
                <a16:creationId xmlns:a16="http://schemas.microsoft.com/office/drawing/2014/main" id="{343E6290-E5C8-7347-D5D0-0714FE10B5DE}"/>
              </a:ext>
            </a:extLst>
          </p:cNvPr>
          <p:cNvCxnSpPr>
            <a:cxnSpLocks/>
          </p:cNvCxnSpPr>
          <p:nvPr/>
        </p:nvCxnSpPr>
        <p:spPr>
          <a:xfrm>
            <a:off x="223579" y="12799866"/>
            <a:ext cx="9838255" cy="0"/>
          </a:xfrm>
          <a:prstGeom prst="line">
            <a:avLst/>
          </a:prstGeom>
          <a:ln w="38100">
            <a:solidFill>
              <a:schemeClr val="bg1"/>
            </a:solidFill>
            <a:headEnd type="none"/>
            <a:tailEnd type="none" w="lg" len="lg"/>
          </a:ln>
        </p:spPr>
        <p:style>
          <a:lnRef idx="1">
            <a:schemeClr val="accent1"/>
          </a:lnRef>
          <a:fillRef idx="0">
            <a:schemeClr val="accent1"/>
          </a:fillRef>
          <a:effectRef idx="0">
            <a:schemeClr val="accent1"/>
          </a:effectRef>
          <a:fontRef idx="minor">
            <a:schemeClr val="tx1"/>
          </a:fontRef>
        </p:style>
      </p:cxnSp>
      <p:pic>
        <p:nvPicPr>
          <p:cNvPr id="18" name="Graphic 17" descr="Shield Tick with solid fill">
            <a:extLst>
              <a:ext uri="{FF2B5EF4-FFF2-40B4-BE49-F238E27FC236}">
                <a16:creationId xmlns:a16="http://schemas.microsoft.com/office/drawing/2014/main" id="{17958620-BA30-6ED6-B240-90AD09F25BB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095708" y="7267852"/>
            <a:ext cx="914400" cy="914400"/>
          </a:xfrm>
          <a:prstGeom prst="rect">
            <a:avLst/>
          </a:prstGeom>
        </p:spPr>
      </p:pic>
      <p:pic>
        <p:nvPicPr>
          <p:cNvPr id="19" name="Graphic 18" descr="Close with solid fill">
            <a:extLst>
              <a:ext uri="{FF2B5EF4-FFF2-40B4-BE49-F238E27FC236}">
                <a16:creationId xmlns:a16="http://schemas.microsoft.com/office/drawing/2014/main" id="{0557DAF4-C734-F793-943C-1105F2238B0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095708" y="5285263"/>
            <a:ext cx="914400" cy="914400"/>
          </a:xfrm>
          <a:prstGeom prst="rect">
            <a:avLst/>
          </a:prstGeom>
        </p:spPr>
      </p:pic>
      <p:cxnSp>
        <p:nvCxnSpPr>
          <p:cNvPr id="33" name="Straight Connector 32">
            <a:extLst>
              <a:ext uri="{FF2B5EF4-FFF2-40B4-BE49-F238E27FC236}">
                <a16:creationId xmlns:a16="http://schemas.microsoft.com/office/drawing/2014/main" id="{CAC46A23-0121-8D85-7A48-AA61DB5409AC}"/>
              </a:ext>
            </a:extLst>
          </p:cNvPr>
          <p:cNvCxnSpPr>
            <a:cxnSpLocks/>
          </p:cNvCxnSpPr>
          <p:nvPr/>
        </p:nvCxnSpPr>
        <p:spPr>
          <a:xfrm>
            <a:off x="223579" y="6438799"/>
            <a:ext cx="9838255" cy="0"/>
          </a:xfrm>
          <a:prstGeom prst="line">
            <a:avLst/>
          </a:prstGeom>
          <a:ln w="38100">
            <a:solidFill>
              <a:schemeClr val="bg1"/>
            </a:solidFill>
            <a:headEnd type="none"/>
            <a:tailEnd type="non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9263760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pattFill prst="pct20">
          <a:fgClr>
            <a:srgbClr val="FFC000"/>
          </a:fgClr>
          <a:bgClr>
            <a:schemeClr val="bg1"/>
          </a:bgClr>
        </a:pattFill>
        <a:effectLst/>
      </p:bgPr>
    </p:bg>
    <p:spTree>
      <p:nvGrpSpPr>
        <p:cNvPr id="1" name="">
          <a:extLst>
            <a:ext uri="{FF2B5EF4-FFF2-40B4-BE49-F238E27FC236}">
              <a16:creationId xmlns:a16="http://schemas.microsoft.com/office/drawing/2014/main" id="{E5F3FFF2-11F0-B20A-CFFE-1F57250FBA9F}"/>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4F80ECB7-9A05-D8A1-C0F9-E954C15BD110}"/>
              </a:ext>
            </a:extLst>
          </p:cNvPr>
          <p:cNvPicPr>
            <a:picLocks noChangeAspect="1"/>
          </p:cNvPicPr>
          <p:nvPr/>
        </p:nvPicPr>
        <p:blipFill rotWithShape="1">
          <a:blip r:embed="rId2"/>
          <a:srcRect l="17236" t="19507" r="12426" b="16319"/>
          <a:stretch>
            <a:fillRect/>
          </a:stretch>
        </p:blipFill>
        <p:spPr>
          <a:xfrm>
            <a:off x="223306" y="4523149"/>
            <a:ext cx="9838800" cy="8180259"/>
          </a:xfrm>
          <a:prstGeom prst="rect">
            <a:avLst/>
          </a:prstGeom>
        </p:spPr>
      </p:pic>
      <p:sp>
        <p:nvSpPr>
          <p:cNvPr id="4" name="TextBox 3">
            <a:extLst>
              <a:ext uri="{FF2B5EF4-FFF2-40B4-BE49-F238E27FC236}">
                <a16:creationId xmlns:a16="http://schemas.microsoft.com/office/drawing/2014/main" id="{0AA37B28-9783-55FC-3344-A9471B2F0E51}"/>
              </a:ext>
            </a:extLst>
          </p:cNvPr>
          <p:cNvSpPr txBox="1"/>
          <p:nvPr/>
        </p:nvSpPr>
        <p:spPr>
          <a:xfrm>
            <a:off x="223306" y="3136810"/>
            <a:ext cx="9838800" cy="1277088"/>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nchor="ctr">
            <a:noAutofit/>
          </a:bodyPr>
          <a:lstStyle/>
          <a:p>
            <a:pPr algn="ctr"/>
            <a:r>
              <a:rPr lang="en-GB" sz="6000" b="1" dirty="0"/>
              <a:t>Don’t Use Plain Strings</a:t>
            </a:r>
            <a:endParaRPr lang="en-GB" sz="6000" b="1" spc="50" dirty="0">
              <a:ln w="0"/>
              <a:solidFill>
                <a:schemeClr val="bg2"/>
              </a:solidFill>
              <a:effectLst>
                <a:innerShdw blurRad="63500" dist="50800" dir="13500000">
                  <a:srgbClr val="000000">
                    <a:alpha val="50000"/>
                  </a:srgbClr>
                </a:innerShdw>
              </a:effectLst>
              <a:latin typeface="Patrick Hand" pitchFamily="2" charset="77"/>
            </a:endParaRPr>
          </a:p>
        </p:txBody>
      </p:sp>
      <p:pic>
        <p:nvPicPr>
          <p:cNvPr id="5" name="Picture 4">
            <a:extLst>
              <a:ext uri="{FF2B5EF4-FFF2-40B4-BE49-F238E27FC236}">
                <a16:creationId xmlns:a16="http://schemas.microsoft.com/office/drawing/2014/main" id="{F3D0136F-0FD8-CC4D-02D7-DF8DCEF338A7}"/>
              </a:ext>
            </a:extLst>
          </p:cNvPr>
          <p:cNvPicPr>
            <a:picLocks noChangeAspect="1"/>
          </p:cNvPicPr>
          <p:nvPr/>
        </p:nvPicPr>
        <p:blipFill>
          <a:blip r:embed="rId3"/>
          <a:stretch>
            <a:fillRect/>
          </a:stretch>
        </p:blipFill>
        <p:spPr>
          <a:xfrm>
            <a:off x="383921" y="3246060"/>
            <a:ext cx="1063167" cy="1063167"/>
          </a:xfrm>
          <a:prstGeom prst="rect">
            <a:avLst/>
          </a:prstGeom>
        </p:spPr>
      </p:pic>
      <p:pic>
        <p:nvPicPr>
          <p:cNvPr id="19" name="Graphic 18" descr="Close with solid fill">
            <a:extLst>
              <a:ext uri="{FF2B5EF4-FFF2-40B4-BE49-F238E27FC236}">
                <a16:creationId xmlns:a16="http://schemas.microsoft.com/office/drawing/2014/main" id="{B8EF9327-3C45-2AD4-6C4E-A35226D94E0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910187" y="7403684"/>
            <a:ext cx="914400" cy="914400"/>
          </a:xfrm>
          <a:prstGeom prst="rect">
            <a:avLst/>
          </a:prstGeom>
        </p:spPr>
      </p:pic>
      <p:sp>
        <p:nvSpPr>
          <p:cNvPr id="7" name="Right Arrow 6">
            <a:extLst>
              <a:ext uri="{FF2B5EF4-FFF2-40B4-BE49-F238E27FC236}">
                <a16:creationId xmlns:a16="http://schemas.microsoft.com/office/drawing/2014/main" id="{E9DF0D82-9F8D-087E-B825-D3C087761284}"/>
              </a:ext>
            </a:extLst>
          </p:cNvPr>
          <p:cNvSpPr/>
          <p:nvPr/>
        </p:nvSpPr>
        <p:spPr>
          <a:xfrm>
            <a:off x="4516541" y="13278678"/>
            <a:ext cx="1252330" cy="775252"/>
          </a:xfrm>
          <a:prstGeom prst="rightArrow">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marL="0" algn="ctr" defTabSz="457200" rtl="0" eaLnBrk="1" latinLnBrk="0" hangingPunct="1"/>
            <a:endParaRPr lang="en-DE" dirty="0">
              <a:latin typeface="Patrick Hand" pitchFamily="2" charset="77"/>
            </a:endParaRPr>
          </a:p>
        </p:txBody>
      </p:sp>
    </p:spTree>
    <p:extLst>
      <p:ext uri="{BB962C8B-B14F-4D97-AF65-F5344CB8AC3E}">
        <p14:creationId xmlns:p14="http://schemas.microsoft.com/office/powerpoint/2010/main" val="15439093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pattFill prst="pct20">
          <a:fgClr>
            <a:srgbClr val="FFC000"/>
          </a:fgClr>
          <a:bgClr>
            <a:schemeClr val="bg1"/>
          </a:bgClr>
        </a:pattFill>
        <a:effectLst/>
      </p:bgPr>
    </p:bg>
    <p:spTree>
      <p:nvGrpSpPr>
        <p:cNvPr id="1" name="">
          <a:extLst>
            <a:ext uri="{FF2B5EF4-FFF2-40B4-BE49-F238E27FC236}">
              <a16:creationId xmlns:a16="http://schemas.microsoft.com/office/drawing/2014/main" id="{237F2473-478F-E019-CB49-04B50286CE8D}"/>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34914727-2B42-55F4-CD9C-232AD41B7758}"/>
              </a:ext>
            </a:extLst>
          </p:cNvPr>
          <p:cNvPicPr>
            <a:picLocks noChangeAspect="1"/>
          </p:cNvPicPr>
          <p:nvPr/>
        </p:nvPicPr>
        <p:blipFill rotWithShape="1">
          <a:blip r:embed="rId2"/>
          <a:srcRect l="18316" t="19533" r="12769" b="16891"/>
          <a:stretch>
            <a:fillRect/>
          </a:stretch>
        </p:blipFill>
        <p:spPr>
          <a:xfrm>
            <a:off x="241883" y="4523148"/>
            <a:ext cx="9801646" cy="8497110"/>
          </a:xfrm>
          <a:prstGeom prst="rect">
            <a:avLst/>
          </a:prstGeom>
        </p:spPr>
      </p:pic>
      <p:sp>
        <p:nvSpPr>
          <p:cNvPr id="4" name="TextBox 3">
            <a:extLst>
              <a:ext uri="{FF2B5EF4-FFF2-40B4-BE49-F238E27FC236}">
                <a16:creationId xmlns:a16="http://schemas.microsoft.com/office/drawing/2014/main" id="{81B003A3-B383-9AEB-65EC-7946B237F5EB}"/>
              </a:ext>
            </a:extLst>
          </p:cNvPr>
          <p:cNvSpPr txBox="1"/>
          <p:nvPr/>
        </p:nvSpPr>
        <p:spPr>
          <a:xfrm>
            <a:off x="223306" y="3136810"/>
            <a:ext cx="9838800" cy="1277088"/>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nchor="ctr">
            <a:noAutofit/>
          </a:bodyPr>
          <a:lstStyle/>
          <a:p>
            <a:pPr algn="ctr"/>
            <a:r>
              <a:rPr lang="en-GB" sz="6000" b="1" dirty="0"/>
              <a:t>Use Enum Instead</a:t>
            </a:r>
            <a:endParaRPr lang="en-GB" sz="6000" b="1" spc="50" dirty="0">
              <a:ln w="0"/>
              <a:solidFill>
                <a:schemeClr val="bg2"/>
              </a:solidFill>
              <a:effectLst>
                <a:innerShdw blurRad="63500" dist="50800" dir="13500000">
                  <a:srgbClr val="000000">
                    <a:alpha val="50000"/>
                  </a:srgbClr>
                </a:innerShdw>
              </a:effectLst>
              <a:latin typeface="Patrick Hand" pitchFamily="2" charset="77"/>
            </a:endParaRPr>
          </a:p>
        </p:txBody>
      </p:sp>
      <p:pic>
        <p:nvPicPr>
          <p:cNvPr id="5" name="Picture 4">
            <a:extLst>
              <a:ext uri="{FF2B5EF4-FFF2-40B4-BE49-F238E27FC236}">
                <a16:creationId xmlns:a16="http://schemas.microsoft.com/office/drawing/2014/main" id="{AE380B00-7DC0-8F93-FD26-113AA21DE748}"/>
              </a:ext>
            </a:extLst>
          </p:cNvPr>
          <p:cNvPicPr>
            <a:picLocks noChangeAspect="1"/>
          </p:cNvPicPr>
          <p:nvPr/>
        </p:nvPicPr>
        <p:blipFill>
          <a:blip r:embed="rId3"/>
          <a:stretch>
            <a:fillRect/>
          </a:stretch>
        </p:blipFill>
        <p:spPr>
          <a:xfrm>
            <a:off x="383921" y="3246060"/>
            <a:ext cx="1063167" cy="1063167"/>
          </a:xfrm>
          <a:prstGeom prst="rect">
            <a:avLst/>
          </a:prstGeom>
        </p:spPr>
      </p:pic>
      <p:pic>
        <p:nvPicPr>
          <p:cNvPr id="18" name="Graphic 17" descr="Shield Tick with solid fill">
            <a:extLst>
              <a:ext uri="{FF2B5EF4-FFF2-40B4-BE49-F238E27FC236}">
                <a16:creationId xmlns:a16="http://schemas.microsoft.com/office/drawing/2014/main" id="{70A9A7B8-C583-F4DF-0BCE-C6A3382EE2A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84430" y="6614872"/>
            <a:ext cx="914400" cy="914400"/>
          </a:xfrm>
          <a:prstGeom prst="rect">
            <a:avLst/>
          </a:prstGeom>
        </p:spPr>
      </p:pic>
    </p:spTree>
    <p:extLst>
      <p:ext uri="{BB962C8B-B14F-4D97-AF65-F5344CB8AC3E}">
        <p14:creationId xmlns:p14="http://schemas.microsoft.com/office/powerpoint/2010/main" val="350940718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pattFill prst="dotDmnd">
          <a:fgClr>
            <a:srgbClr val="00B0F0"/>
          </a:fgClr>
          <a:bgClr>
            <a:schemeClr val="bg1"/>
          </a:bgClr>
        </a:pattFill>
        <a:effectLst/>
      </p:bgPr>
    </p:bg>
    <p:spTree>
      <p:nvGrpSpPr>
        <p:cNvPr id="1" name="">
          <a:extLst>
            <a:ext uri="{FF2B5EF4-FFF2-40B4-BE49-F238E27FC236}">
              <a16:creationId xmlns:a16="http://schemas.microsoft.com/office/drawing/2014/main" id="{B234D720-52B5-38C9-ABA1-1080E297B8EA}"/>
            </a:ext>
          </a:extLst>
        </p:cNvPr>
        <p:cNvGrpSpPr/>
        <p:nvPr/>
      </p:nvGrpSpPr>
      <p:grpSpPr>
        <a:xfrm>
          <a:off x="0" y="0"/>
          <a:ext cx="0" cy="0"/>
          <a:chOff x="0" y="0"/>
          <a:chExt cx="0" cy="0"/>
        </a:xfrm>
      </p:grpSpPr>
      <p:pic>
        <p:nvPicPr>
          <p:cNvPr id="28" name="Picture 27">
            <a:extLst>
              <a:ext uri="{FF2B5EF4-FFF2-40B4-BE49-F238E27FC236}">
                <a16:creationId xmlns:a16="http://schemas.microsoft.com/office/drawing/2014/main" id="{60B7857C-8723-BEC8-D768-C9038BCB0C1F}"/>
              </a:ext>
            </a:extLst>
          </p:cNvPr>
          <p:cNvPicPr>
            <a:picLocks noChangeAspect="1"/>
          </p:cNvPicPr>
          <p:nvPr/>
        </p:nvPicPr>
        <p:blipFill rotWithShape="1">
          <a:blip r:embed="rId2"/>
          <a:srcRect l="17936" t="15441" r="12963" b="13060"/>
          <a:stretch>
            <a:fillRect/>
          </a:stretch>
        </p:blipFill>
        <p:spPr>
          <a:xfrm>
            <a:off x="223306" y="4391545"/>
            <a:ext cx="9838800" cy="12399129"/>
          </a:xfrm>
          <a:prstGeom prst="rect">
            <a:avLst/>
          </a:prstGeom>
        </p:spPr>
      </p:pic>
      <p:sp>
        <p:nvSpPr>
          <p:cNvPr id="4" name="TextBox 3">
            <a:extLst>
              <a:ext uri="{FF2B5EF4-FFF2-40B4-BE49-F238E27FC236}">
                <a16:creationId xmlns:a16="http://schemas.microsoft.com/office/drawing/2014/main" id="{79119935-9274-77F7-5D51-4A22B65BB6AA}"/>
              </a:ext>
            </a:extLst>
          </p:cNvPr>
          <p:cNvSpPr txBox="1"/>
          <p:nvPr/>
        </p:nvSpPr>
        <p:spPr>
          <a:xfrm>
            <a:off x="223307" y="3175262"/>
            <a:ext cx="9838799" cy="1219682"/>
          </a:xfrm>
          <a:prstGeom prst="rect">
            <a:avLst/>
          </a:prstGeom>
          <a:ln/>
        </p:spPr>
        <p:style>
          <a:lnRef idx="2">
            <a:schemeClr val="accent1">
              <a:shade val="15000"/>
            </a:schemeClr>
          </a:lnRef>
          <a:fillRef idx="1">
            <a:schemeClr val="accent1"/>
          </a:fillRef>
          <a:effectRef idx="0">
            <a:schemeClr val="accent1"/>
          </a:effectRef>
          <a:fontRef idx="minor">
            <a:schemeClr val="lt1"/>
          </a:fontRef>
        </p:style>
        <p:txBody>
          <a:bodyPr wrap="none" rtlCol="0">
            <a:noAutofit/>
          </a:bodyPr>
          <a:lstStyle/>
          <a:p>
            <a:pPr algn="ctr"/>
            <a:r>
              <a:rPr lang="en-US" sz="72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Patrick Hand" pitchFamily="2" charset="77"/>
              </a:rPr>
              <a:t>Assert </a:t>
            </a:r>
            <a:r>
              <a:rPr lang="en-US" sz="7200" dirty="0">
                <a:ln w="0"/>
                <a:solidFill>
                  <a:schemeClr val="tx1"/>
                </a:solidFill>
                <a:effectLst>
                  <a:outerShdw blurRad="38100" dist="19050" dir="2700000" algn="tl" rotWithShape="0">
                    <a:schemeClr val="dk1">
                      <a:alpha val="40000"/>
                    </a:schemeClr>
                  </a:outerShdw>
                </a:effectLst>
                <a:latin typeface="Patrick Hand" pitchFamily="2" charset="77"/>
              </a:rPr>
              <a:t>vs</a:t>
            </a:r>
            <a:r>
              <a:rPr lang="en-US" sz="72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Patrick Hand" pitchFamily="2" charset="77"/>
              </a:rPr>
              <a:t> Exception</a:t>
            </a:r>
            <a:endParaRPr lang="en-GB" sz="20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Patrick Hand" pitchFamily="2" charset="77"/>
            </a:endParaRPr>
          </a:p>
        </p:txBody>
      </p:sp>
      <p:pic>
        <p:nvPicPr>
          <p:cNvPr id="5" name="Picture 4">
            <a:extLst>
              <a:ext uri="{FF2B5EF4-FFF2-40B4-BE49-F238E27FC236}">
                <a16:creationId xmlns:a16="http://schemas.microsoft.com/office/drawing/2014/main" id="{A50773C7-3959-58C2-6050-91E3FF74E828}"/>
              </a:ext>
            </a:extLst>
          </p:cNvPr>
          <p:cNvPicPr>
            <a:picLocks noChangeAspect="1"/>
          </p:cNvPicPr>
          <p:nvPr/>
        </p:nvPicPr>
        <p:blipFill>
          <a:blip r:embed="rId3"/>
          <a:stretch>
            <a:fillRect/>
          </a:stretch>
        </p:blipFill>
        <p:spPr>
          <a:xfrm>
            <a:off x="304696" y="3251376"/>
            <a:ext cx="1063167" cy="1063167"/>
          </a:xfrm>
          <a:prstGeom prst="rect">
            <a:avLst/>
          </a:prstGeom>
          <a:ln w="19050">
            <a:solidFill>
              <a:schemeClr val="bg1"/>
            </a:solidFill>
          </a:ln>
        </p:spPr>
      </p:pic>
      <p:cxnSp>
        <p:nvCxnSpPr>
          <p:cNvPr id="12" name="Straight Connector 11">
            <a:extLst>
              <a:ext uri="{FF2B5EF4-FFF2-40B4-BE49-F238E27FC236}">
                <a16:creationId xmlns:a16="http://schemas.microsoft.com/office/drawing/2014/main" id="{1BAF570A-EB9B-BFA8-FD36-DD3A741C3C93}"/>
              </a:ext>
            </a:extLst>
          </p:cNvPr>
          <p:cNvCxnSpPr>
            <a:cxnSpLocks/>
          </p:cNvCxnSpPr>
          <p:nvPr/>
        </p:nvCxnSpPr>
        <p:spPr>
          <a:xfrm>
            <a:off x="223579" y="8969939"/>
            <a:ext cx="9838255" cy="0"/>
          </a:xfrm>
          <a:prstGeom prst="line">
            <a:avLst/>
          </a:prstGeom>
          <a:ln w="38100">
            <a:solidFill>
              <a:schemeClr val="bg1"/>
            </a:solidFill>
            <a:headEnd type="none"/>
            <a:tailEnd type="none" w="lg" len="lg"/>
          </a:ln>
        </p:spPr>
        <p:style>
          <a:lnRef idx="1">
            <a:schemeClr val="accent1"/>
          </a:lnRef>
          <a:fillRef idx="0">
            <a:schemeClr val="accent1"/>
          </a:fillRef>
          <a:effectRef idx="0">
            <a:schemeClr val="accent1"/>
          </a:effectRef>
          <a:fontRef idx="minor">
            <a:schemeClr val="tx1"/>
          </a:fontRef>
        </p:style>
      </p:cxnSp>
      <p:pic>
        <p:nvPicPr>
          <p:cNvPr id="14" name="Graphic 13" descr="Shield Tick with solid fill">
            <a:extLst>
              <a:ext uri="{FF2B5EF4-FFF2-40B4-BE49-F238E27FC236}">
                <a16:creationId xmlns:a16="http://schemas.microsoft.com/office/drawing/2014/main" id="{D829CC3A-9F41-DEC9-4725-ED014A25968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632967" y="10740522"/>
            <a:ext cx="914400" cy="914400"/>
          </a:xfrm>
          <a:prstGeom prst="rect">
            <a:avLst/>
          </a:prstGeom>
        </p:spPr>
      </p:pic>
      <p:pic>
        <p:nvPicPr>
          <p:cNvPr id="15" name="Graphic 14" descr="Close with solid fill">
            <a:extLst>
              <a:ext uri="{FF2B5EF4-FFF2-40B4-BE49-F238E27FC236}">
                <a16:creationId xmlns:a16="http://schemas.microsoft.com/office/drawing/2014/main" id="{838B1903-785A-8154-43BC-95377589491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632967" y="5978842"/>
            <a:ext cx="914400" cy="914400"/>
          </a:xfrm>
          <a:prstGeom prst="rect">
            <a:avLst/>
          </a:prstGeom>
        </p:spPr>
      </p:pic>
    </p:spTree>
    <p:extLst>
      <p:ext uri="{BB962C8B-B14F-4D97-AF65-F5344CB8AC3E}">
        <p14:creationId xmlns:p14="http://schemas.microsoft.com/office/powerpoint/2010/main" val="104222638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pattFill prst="pct20">
          <a:fgClr>
            <a:srgbClr val="FFC000"/>
          </a:fgClr>
          <a:bgClr>
            <a:schemeClr val="bg1"/>
          </a:bgClr>
        </a:pattFill>
        <a:effectLst/>
      </p:bgPr>
    </p:bg>
    <p:spTree>
      <p:nvGrpSpPr>
        <p:cNvPr id="1" name="">
          <a:extLst>
            <a:ext uri="{FF2B5EF4-FFF2-40B4-BE49-F238E27FC236}">
              <a16:creationId xmlns:a16="http://schemas.microsoft.com/office/drawing/2014/main" id="{34B95025-DAE7-B93F-317D-C322485705B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64D1362-09E0-C55E-31B5-7544E32A6CC6}"/>
              </a:ext>
            </a:extLst>
          </p:cNvPr>
          <p:cNvSpPr txBox="1"/>
          <p:nvPr/>
        </p:nvSpPr>
        <p:spPr>
          <a:xfrm>
            <a:off x="223306" y="3136810"/>
            <a:ext cx="9838800" cy="1277088"/>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nchor="ctr">
            <a:noAutofit/>
          </a:bodyPr>
          <a:lstStyle/>
          <a:p>
            <a:pPr algn="ctr"/>
            <a:r>
              <a:rPr lang="en-GB" sz="6000" b="1" dirty="0"/>
              <a:t>Use </a:t>
            </a:r>
            <a:r>
              <a:rPr lang="en-GB" sz="6000" b="1" dirty="0" err="1"/>
              <a:t>itertools.groupby</a:t>
            </a:r>
            <a:endParaRPr lang="en-GB" sz="6000" b="1" spc="50" dirty="0">
              <a:ln w="0"/>
              <a:solidFill>
                <a:schemeClr val="bg2"/>
              </a:solidFill>
              <a:effectLst>
                <a:innerShdw blurRad="63500" dist="50800" dir="13500000">
                  <a:srgbClr val="000000">
                    <a:alpha val="50000"/>
                  </a:srgbClr>
                </a:innerShdw>
              </a:effectLst>
              <a:latin typeface="Patrick Hand" pitchFamily="2" charset="77"/>
            </a:endParaRPr>
          </a:p>
        </p:txBody>
      </p:sp>
      <p:pic>
        <p:nvPicPr>
          <p:cNvPr id="5" name="Picture 4">
            <a:extLst>
              <a:ext uri="{FF2B5EF4-FFF2-40B4-BE49-F238E27FC236}">
                <a16:creationId xmlns:a16="http://schemas.microsoft.com/office/drawing/2014/main" id="{460C34CE-6E9B-69AA-3E71-5070E7B28E89}"/>
              </a:ext>
            </a:extLst>
          </p:cNvPr>
          <p:cNvPicPr>
            <a:picLocks noChangeAspect="1"/>
          </p:cNvPicPr>
          <p:nvPr/>
        </p:nvPicPr>
        <p:blipFill>
          <a:blip r:embed="rId2"/>
          <a:stretch>
            <a:fillRect/>
          </a:stretch>
        </p:blipFill>
        <p:spPr>
          <a:xfrm>
            <a:off x="383921" y="3246060"/>
            <a:ext cx="1063167" cy="1063167"/>
          </a:xfrm>
          <a:prstGeom prst="rect">
            <a:avLst/>
          </a:prstGeom>
        </p:spPr>
      </p:pic>
      <p:pic>
        <p:nvPicPr>
          <p:cNvPr id="18" name="Graphic 17" descr="Shield Tick with solid fill">
            <a:extLst>
              <a:ext uri="{FF2B5EF4-FFF2-40B4-BE49-F238E27FC236}">
                <a16:creationId xmlns:a16="http://schemas.microsoft.com/office/drawing/2014/main" id="{89B4CFC9-A35D-F9AB-DCD5-7B23EF1AFE8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584430" y="6614872"/>
            <a:ext cx="914400" cy="914400"/>
          </a:xfrm>
          <a:prstGeom prst="rect">
            <a:avLst/>
          </a:prstGeom>
        </p:spPr>
      </p:pic>
      <p:pic>
        <p:nvPicPr>
          <p:cNvPr id="6" name="Picture 5">
            <a:extLst>
              <a:ext uri="{FF2B5EF4-FFF2-40B4-BE49-F238E27FC236}">
                <a16:creationId xmlns:a16="http://schemas.microsoft.com/office/drawing/2014/main" id="{84F4941B-B765-D2CC-E002-F58458EAEB17}"/>
              </a:ext>
            </a:extLst>
          </p:cNvPr>
          <p:cNvPicPr>
            <a:picLocks noChangeAspect="1"/>
          </p:cNvPicPr>
          <p:nvPr/>
        </p:nvPicPr>
        <p:blipFill rotWithShape="1">
          <a:blip r:embed="rId4"/>
          <a:srcRect l="18869" t="20325" r="12827" b="16243"/>
          <a:stretch>
            <a:fillRect/>
          </a:stretch>
        </p:blipFill>
        <p:spPr>
          <a:xfrm>
            <a:off x="223306" y="4446947"/>
            <a:ext cx="9838800" cy="8409389"/>
          </a:xfrm>
          <a:prstGeom prst="rect">
            <a:avLst/>
          </a:prstGeom>
        </p:spPr>
      </p:pic>
      <p:sp>
        <p:nvSpPr>
          <p:cNvPr id="7" name="TextBox 6">
            <a:extLst>
              <a:ext uri="{FF2B5EF4-FFF2-40B4-BE49-F238E27FC236}">
                <a16:creationId xmlns:a16="http://schemas.microsoft.com/office/drawing/2014/main" id="{D00F4D01-A5EA-DC40-8C40-9491B0CF9BC1}"/>
              </a:ext>
            </a:extLst>
          </p:cNvPr>
          <p:cNvSpPr txBox="1"/>
          <p:nvPr/>
        </p:nvSpPr>
        <p:spPr>
          <a:xfrm>
            <a:off x="223306" y="12856621"/>
            <a:ext cx="9838800" cy="923330"/>
          </a:xfrm>
          <a:prstGeom prst="rect">
            <a:avLst/>
          </a:prstGeom>
          <a:noFill/>
        </p:spPr>
        <p:txBody>
          <a:bodyPr wrap="square" rtlCol="0">
            <a:spAutoFit/>
          </a:bodyPr>
          <a:lstStyle/>
          <a:p>
            <a:pPr algn="ctr"/>
            <a:r>
              <a:rPr lang="en-GB" sz="5400" dirty="0">
                <a:latin typeface="Patrick Hand" pitchFamily="2" charset="77"/>
              </a:rPr>
              <a:t>Use </a:t>
            </a:r>
            <a:r>
              <a:rPr lang="en-GB" sz="5400" dirty="0" err="1">
                <a:latin typeface="Patrick Hand" pitchFamily="2" charset="77"/>
              </a:rPr>
              <a:t>groupby</a:t>
            </a:r>
            <a:r>
              <a:rPr lang="en-GB" sz="5400" dirty="0">
                <a:latin typeface="Patrick Hand" pitchFamily="2" charset="77"/>
              </a:rPr>
              <a:t> to group your array</a:t>
            </a:r>
          </a:p>
        </p:txBody>
      </p:sp>
    </p:spTree>
    <p:extLst>
      <p:ext uri="{BB962C8B-B14F-4D97-AF65-F5344CB8AC3E}">
        <p14:creationId xmlns:p14="http://schemas.microsoft.com/office/powerpoint/2010/main" val="183765421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pattFill prst="pct20">
          <a:fgClr>
            <a:schemeClr val="accent6"/>
          </a:fgClr>
          <a:bgClr>
            <a:schemeClr val="bg1"/>
          </a:bgClr>
        </a:pattFill>
        <a:effectLst/>
      </p:bgPr>
    </p:bg>
    <p:spTree>
      <p:nvGrpSpPr>
        <p:cNvPr id="1" name="">
          <a:extLst>
            <a:ext uri="{FF2B5EF4-FFF2-40B4-BE49-F238E27FC236}">
              <a16:creationId xmlns:a16="http://schemas.microsoft.com/office/drawing/2014/main" id="{80D93A09-3D05-FA91-E2ED-50B2BB571AD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02E5FF8-1330-0A05-07F6-6E692625A711}"/>
              </a:ext>
            </a:extLst>
          </p:cNvPr>
          <p:cNvSpPr txBox="1"/>
          <p:nvPr/>
        </p:nvSpPr>
        <p:spPr>
          <a:xfrm>
            <a:off x="223306" y="3136810"/>
            <a:ext cx="9838800" cy="1277088"/>
          </a:xfrm>
          <a:prstGeom prst="rect">
            <a:avLst/>
          </a:prstGeom>
          <a:ln/>
        </p:spPr>
        <p:style>
          <a:lnRef idx="1">
            <a:schemeClr val="accent6"/>
          </a:lnRef>
          <a:fillRef idx="2">
            <a:schemeClr val="accent6"/>
          </a:fillRef>
          <a:effectRef idx="1">
            <a:schemeClr val="accent6"/>
          </a:effectRef>
          <a:fontRef idx="minor">
            <a:schemeClr val="dk1"/>
          </a:fontRef>
        </p:style>
        <p:txBody>
          <a:bodyPr wrap="square" rtlCol="0" anchor="ctr">
            <a:noAutofit/>
          </a:bodyPr>
          <a:lstStyle/>
          <a:p>
            <a:pPr algn="r"/>
            <a:r>
              <a:rPr lang="en-GB" sz="5400" b="1" dirty="0"/>
              <a:t>Python List vs NumPy Speed!</a:t>
            </a:r>
            <a:endParaRPr lang="en-GB" sz="5400" b="1" spc="50" dirty="0">
              <a:ln w="0"/>
              <a:solidFill>
                <a:schemeClr val="bg2"/>
              </a:solidFill>
              <a:effectLst>
                <a:innerShdw blurRad="63500" dist="50800" dir="13500000">
                  <a:srgbClr val="000000">
                    <a:alpha val="50000"/>
                  </a:srgbClr>
                </a:innerShdw>
              </a:effectLst>
              <a:latin typeface="Patrick Hand" pitchFamily="2" charset="77"/>
            </a:endParaRPr>
          </a:p>
        </p:txBody>
      </p:sp>
      <p:pic>
        <p:nvPicPr>
          <p:cNvPr id="5" name="Picture 4">
            <a:extLst>
              <a:ext uri="{FF2B5EF4-FFF2-40B4-BE49-F238E27FC236}">
                <a16:creationId xmlns:a16="http://schemas.microsoft.com/office/drawing/2014/main" id="{704F8B27-0B96-FCB3-60D6-56C84FC28B01}"/>
              </a:ext>
            </a:extLst>
          </p:cNvPr>
          <p:cNvPicPr>
            <a:picLocks noChangeAspect="1"/>
          </p:cNvPicPr>
          <p:nvPr/>
        </p:nvPicPr>
        <p:blipFill>
          <a:blip r:embed="rId2"/>
          <a:stretch>
            <a:fillRect/>
          </a:stretch>
        </p:blipFill>
        <p:spPr>
          <a:xfrm>
            <a:off x="383921" y="3246060"/>
            <a:ext cx="1063167" cy="1063167"/>
          </a:xfrm>
          <a:prstGeom prst="rect">
            <a:avLst/>
          </a:prstGeom>
        </p:spPr>
      </p:pic>
      <p:pic>
        <p:nvPicPr>
          <p:cNvPr id="3" name="Picture 2">
            <a:extLst>
              <a:ext uri="{FF2B5EF4-FFF2-40B4-BE49-F238E27FC236}">
                <a16:creationId xmlns:a16="http://schemas.microsoft.com/office/drawing/2014/main" id="{E61FAC62-F65C-C231-701B-20428659F705}"/>
              </a:ext>
            </a:extLst>
          </p:cNvPr>
          <p:cNvPicPr>
            <a:picLocks noChangeAspect="1"/>
          </p:cNvPicPr>
          <p:nvPr/>
        </p:nvPicPr>
        <p:blipFill rotWithShape="1">
          <a:blip r:embed="rId3"/>
          <a:srcRect l="16385" t="17034" r="10605" b="10442"/>
          <a:stretch>
            <a:fillRect/>
          </a:stretch>
        </p:blipFill>
        <p:spPr>
          <a:xfrm>
            <a:off x="223306" y="4523148"/>
            <a:ext cx="9838800" cy="9419602"/>
          </a:xfrm>
          <a:prstGeom prst="rect">
            <a:avLst/>
          </a:prstGeom>
        </p:spPr>
      </p:pic>
      <p:cxnSp>
        <p:nvCxnSpPr>
          <p:cNvPr id="8" name="Straight Connector 7">
            <a:extLst>
              <a:ext uri="{FF2B5EF4-FFF2-40B4-BE49-F238E27FC236}">
                <a16:creationId xmlns:a16="http://schemas.microsoft.com/office/drawing/2014/main" id="{CD7BA47D-E5BF-228D-CBB1-0FE20BAE200D}"/>
              </a:ext>
            </a:extLst>
          </p:cNvPr>
          <p:cNvCxnSpPr>
            <a:cxnSpLocks/>
          </p:cNvCxnSpPr>
          <p:nvPr/>
        </p:nvCxnSpPr>
        <p:spPr>
          <a:xfrm>
            <a:off x="223579" y="11784854"/>
            <a:ext cx="9838255" cy="0"/>
          </a:xfrm>
          <a:prstGeom prst="line">
            <a:avLst/>
          </a:prstGeom>
          <a:ln w="38100">
            <a:solidFill>
              <a:schemeClr val="bg1"/>
            </a:solidFill>
            <a:headEnd type="none"/>
            <a:tailEnd type="none" w="lg" len="lg"/>
          </a:ln>
        </p:spPr>
        <p:style>
          <a:lnRef idx="1">
            <a:schemeClr val="accent1"/>
          </a:lnRef>
          <a:fillRef idx="0">
            <a:schemeClr val="accent1"/>
          </a:fillRef>
          <a:effectRef idx="0">
            <a:schemeClr val="accent1"/>
          </a:effectRef>
          <a:fontRef idx="minor">
            <a:schemeClr val="tx1"/>
          </a:fontRef>
        </p:style>
      </p:cxnSp>
      <p:pic>
        <p:nvPicPr>
          <p:cNvPr id="9" name="Graphic 8" descr="Shield Tick with solid fill">
            <a:extLst>
              <a:ext uri="{FF2B5EF4-FFF2-40B4-BE49-F238E27FC236}">
                <a16:creationId xmlns:a16="http://schemas.microsoft.com/office/drawing/2014/main" id="{47B9E05F-AF19-8DD6-D44E-B2E3B23053D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632967" y="12874121"/>
            <a:ext cx="914400" cy="914400"/>
          </a:xfrm>
          <a:prstGeom prst="rect">
            <a:avLst/>
          </a:prstGeom>
        </p:spPr>
      </p:pic>
      <p:pic>
        <p:nvPicPr>
          <p:cNvPr id="10" name="Graphic 9" descr="Close with solid fill">
            <a:extLst>
              <a:ext uri="{FF2B5EF4-FFF2-40B4-BE49-F238E27FC236}">
                <a16:creationId xmlns:a16="http://schemas.microsoft.com/office/drawing/2014/main" id="{DBDE2528-5889-F4FA-079E-00A11FCC497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632967" y="9708156"/>
            <a:ext cx="914400" cy="914400"/>
          </a:xfrm>
          <a:prstGeom prst="rect">
            <a:avLst/>
          </a:prstGeom>
        </p:spPr>
      </p:pic>
      <p:cxnSp>
        <p:nvCxnSpPr>
          <p:cNvPr id="11" name="Straight Connector 10">
            <a:extLst>
              <a:ext uri="{FF2B5EF4-FFF2-40B4-BE49-F238E27FC236}">
                <a16:creationId xmlns:a16="http://schemas.microsoft.com/office/drawing/2014/main" id="{AA4D9A3E-11E8-6291-FFB9-B2B49D40274F}"/>
              </a:ext>
            </a:extLst>
          </p:cNvPr>
          <p:cNvCxnSpPr>
            <a:cxnSpLocks/>
          </p:cNvCxnSpPr>
          <p:nvPr/>
        </p:nvCxnSpPr>
        <p:spPr>
          <a:xfrm>
            <a:off x="214618" y="9480927"/>
            <a:ext cx="9838255" cy="0"/>
          </a:xfrm>
          <a:prstGeom prst="line">
            <a:avLst/>
          </a:prstGeom>
          <a:ln w="38100">
            <a:solidFill>
              <a:schemeClr val="bg1"/>
            </a:solidFill>
            <a:headEnd type="none"/>
            <a:tailEnd type="non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4160741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4">
                <a:lumMod val="89000"/>
              </a:schemeClr>
            </a:gs>
            <a:gs pos="23000">
              <a:schemeClr val="accent4">
                <a:lumMod val="89000"/>
              </a:schemeClr>
            </a:gs>
            <a:gs pos="69000">
              <a:schemeClr val="accent4">
                <a:lumMod val="75000"/>
              </a:schemeClr>
            </a:gs>
            <a:gs pos="97000">
              <a:schemeClr val="accent4">
                <a:lumMod val="70000"/>
              </a:schemeClr>
            </a:gs>
          </a:gsLst>
          <a:path path="circle">
            <a:fillToRect l="50000" t="50000" r="50000" b="50000"/>
          </a:path>
          <a:tileRect/>
        </a:gradFill>
        <a:effectLst/>
      </p:bgPr>
    </p:bg>
    <p:spTree>
      <p:nvGrpSpPr>
        <p:cNvPr id="1" name="">
          <a:extLst>
            <a:ext uri="{FF2B5EF4-FFF2-40B4-BE49-F238E27FC236}">
              <a16:creationId xmlns:a16="http://schemas.microsoft.com/office/drawing/2014/main" id="{90E8A6CC-776A-94B3-FAED-43DE97B088C2}"/>
            </a:ext>
          </a:extLst>
        </p:cNvPr>
        <p:cNvGrpSpPr/>
        <p:nvPr/>
      </p:nvGrpSpPr>
      <p:grpSpPr>
        <a:xfrm>
          <a:off x="0" y="0"/>
          <a:ext cx="0" cy="0"/>
          <a:chOff x="0" y="0"/>
          <a:chExt cx="0" cy="0"/>
        </a:xfrm>
      </p:grpSpPr>
      <p:pic>
        <p:nvPicPr>
          <p:cNvPr id="12" name="Picture 11">
            <a:extLst>
              <a:ext uri="{FF2B5EF4-FFF2-40B4-BE49-F238E27FC236}">
                <a16:creationId xmlns:a16="http://schemas.microsoft.com/office/drawing/2014/main" id="{6FDFE46A-D6F2-79A7-9CE5-8006323C9750}"/>
              </a:ext>
            </a:extLst>
          </p:cNvPr>
          <p:cNvPicPr>
            <a:picLocks noChangeAspect="1"/>
          </p:cNvPicPr>
          <p:nvPr/>
        </p:nvPicPr>
        <p:blipFill rotWithShape="1">
          <a:blip r:embed="rId2"/>
          <a:srcRect l="17800" t="20450" r="12605" b="12216"/>
          <a:stretch>
            <a:fillRect/>
          </a:stretch>
        </p:blipFill>
        <p:spPr>
          <a:xfrm>
            <a:off x="223306" y="4523148"/>
            <a:ext cx="9838800" cy="8448532"/>
          </a:xfrm>
          <a:prstGeom prst="rect">
            <a:avLst/>
          </a:prstGeom>
        </p:spPr>
      </p:pic>
      <p:sp>
        <p:nvSpPr>
          <p:cNvPr id="4" name="TextBox 3">
            <a:extLst>
              <a:ext uri="{FF2B5EF4-FFF2-40B4-BE49-F238E27FC236}">
                <a16:creationId xmlns:a16="http://schemas.microsoft.com/office/drawing/2014/main" id="{10FC548D-622D-378F-A0F3-E63D8E6DC82A}"/>
              </a:ext>
            </a:extLst>
          </p:cNvPr>
          <p:cNvSpPr txBox="1"/>
          <p:nvPr/>
        </p:nvSpPr>
        <p:spPr>
          <a:xfrm>
            <a:off x="223306" y="3136810"/>
            <a:ext cx="9838800" cy="1277088"/>
          </a:xfrm>
          <a:prstGeom prst="rect">
            <a:avLst/>
          </a:prstGeom>
          <a:ln/>
        </p:spPr>
        <p:style>
          <a:lnRef idx="2">
            <a:schemeClr val="accent4">
              <a:shade val="15000"/>
            </a:schemeClr>
          </a:lnRef>
          <a:fillRef idx="1">
            <a:schemeClr val="accent4"/>
          </a:fillRef>
          <a:effectRef idx="0">
            <a:schemeClr val="accent4"/>
          </a:effectRef>
          <a:fontRef idx="minor">
            <a:schemeClr val="lt1"/>
          </a:fontRef>
        </p:style>
        <p:txBody>
          <a:bodyPr wrap="square" rtlCol="0" anchor="ctr">
            <a:noAutofit/>
          </a:bodyPr>
          <a:lstStyle/>
          <a:p>
            <a:pPr algn="r"/>
            <a:r>
              <a:rPr lang="en-GB" sz="5400" dirty="0">
                <a:ln w="0"/>
                <a:solidFill>
                  <a:schemeClr val="tx1"/>
                </a:solidFill>
                <a:effectLst>
                  <a:outerShdw blurRad="38100" dist="19050" dir="2700000" algn="tl" rotWithShape="0">
                    <a:schemeClr val="dk1">
                      <a:alpha val="40000"/>
                    </a:schemeClr>
                  </a:outerShdw>
                </a:effectLst>
              </a:rPr>
              <a:t>Python List vs NumPy Speed!</a:t>
            </a:r>
            <a:endParaRPr lang="en-GB" sz="5400" dirty="0">
              <a:ln w="0"/>
              <a:solidFill>
                <a:schemeClr val="tx1"/>
              </a:solidFill>
              <a:effectLst>
                <a:outerShdw blurRad="38100" dist="19050" dir="2700000" algn="tl" rotWithShape="0">
                  <a:schemeClr val="dk1">
                    <a:alpha val="40000"/>
                  </a:schemeClr>
                </a:outerShdw>
              </a:effectLst>
              <a:latin typeface="Patrick Hand" pitchFamily="2" charset="77"/>
            </a:endParaRPr>
          </a:p>
        </p:txBody>
      </p:sp>
      <p:pic>
        <p:nvPicPr>
          <p:cNvPr id="5" name="Picture 4">
            <a:extLst>
              <a:ext uri="{FF2B5EF4-FFF2-40B4-BE49-F238E27FC236}">
                <a16:creationId xmlns:a16="http://schemas.microsoft.com/office/drawing/2014/main" id="{E34BA670-8FD1-251A-6252-3087A60C32B0}"/>
              </a:ext>
            </a:extLst>
          </p:cNvPr>
          <p:cNvPicPr>
            <a:picLocks noChangeAspect="1"/>
          </p:cNvPicPr>
          <p:nvPr/>
        </p:nvPicPr>
        <p:blipFill>
          <a:blip r:embed="rId3"/>
          <a:stretch>
            <a:fillRect/>
          </a:stretch>
        </p:blipFill>
        <p:spPr>
          <a:xfrm>
            <a:off x="383921" y="3246060"/>
            <a:ext cx="1063167" cy="1063167"/>
          </a:xfrm>
          <a:prstGeom prst="rect">
            <a:avLst/>
          </a:prstGeom>
        </p:spPr>
      </p:pic>
      <p:cxnSp>
        <p:nvCxnSpPr>
          <p:cNvPr id="8" name="Straight Connector 7">
            <a:extLst>
              <a:ext uri="{FF2B5EF4-FFF2-40B4-BE49-F238E27FC236}">
                <a16:creationId xmlns:a16="http://schemas.microsoft.com/office/drawing/2014/main" id="{50251100-DE4C-6943-D041-E25ECDD43F74}"/>
              </a:ext>
            </a:extLst>
          </p:cNvPr>
          <p:cNvCxnSpPr>
            <a:cxnSpLocks/>
          </p:cNvCxnSpPr>
          <p:nvPr/>
        </p:nvCxnSpPr>
        <p:spPr>
          <a:xfrm>
            <a:off x="223579" y="10499743"/>
            <a:ext cx="9838255" cy="0"/>
          </a:xfrm>
          <a:prstGeom prst="line">
            <a:avLst/>
          </a:prstGeom>
          <a:ln w="38100">
            <a:solidFill>
              <a:schemeClr val="bg1"/>
            </a:solidFill>
            <a:headEnd type="none"/>
            <a:tailEnd type="none" w="lg" len="lg"/>
          </a:ln>
        </p:spPr>
        <p:style>
          <a:lnRef idx="1">
            <a:schemeClr val="accent1"/>
          </a:lnRef>
          <a:fillRef idx="0">
            <a:schemeClr val="accent1"/>
          </a:fillRef>
          <a:effectRef idx="0">
            <a:schemeClr val="accent1"/>
          </a:effectRef>
          <a:fontRef idx="minor">
            <a:schemeClr val="tx1"/>
          </a:fontRef>
        </p:style>
      </p:cxnSp>
      <p:pic>
        <p:nvPicPr>
          <p:cNvPr id="9" name="Graphic 8" descr="Shield Tick with solid fill">
            <a:extLst>
              <a:ext uri="{FF2B5EF4-FFF2-40B4-BE49-F238E27FC236}">
                <a16:creationId xmlns:a16="http://schemas.microsoft.com/office/drawing/2014/main" id="{81E2123A-F121-B038-91EA-DF360AC84E2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251639" y="11199904"/>
            <a:ext cx="914400" cy="914400"/>
          </a:xfrm>
          <a:prstGeom prst="rect">
            <a:avLst/>
          </a:prstGeom>
        </p:spPr>
      </p:pic>
      <p:pic>
        <p:nvPicPr>
          <p:cNvPr id="10" name="Graphic 9" descr="Close with solid fill">
            <a:extLst>
              <a:ext uri="{FF2B5EF4-FFF2-40B4-BE49-F238E27FC236}">
                <a16:creationId xmlns:a16="http://schemas.microsoft.com/office/drawing/2014/main" id="{A8A2DCC6-3669-2036-C7D6-6FB03F1FA87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251639" y="8423045"/>
            <a:ext cx="914400" cy="914400"/>
          </a:xfrm>
          <a:prstGeom prst="rect">
            <a:avLst/>
          </a:prstGeom>
        </p:spPr>
      </p:pic>
      <p:cxnSp>
        <p:nvCxnSpPr>
          <p:cNvPr id="11" name="Straight Connector 10">
            <a:extLst>
              <a:ext uri="{FF2B5EF4-FFF2-40B4-BE49-F238E27FC236}">
                <a16:creationId xmlns:a16="http://schemas.microsoft.com/office/drawing/2014/main" id="{F394E2D3-E0C7-F79F-44AA-2FF862DE77B3}"/>
              </a:ext>
            </a:extLst>
          </p:cNvPr>
          <p:cNvCxnSpPr>
            <a:cxnSpLocks/>
          </p:cNvCxnSpPr>
          <p:nvPr/>
        </p:nvCxnSpPr>
        <p:spPr>
          <a:xfrm>
            <a:off x="214618" y="6885993"/>
            <a:ext cx="9838255" cy="0"/>
          </a:xfrm>
          <a:prstGeom prst="line">
            <a:avLst/>
          </a:prstGeom>
          <a:ln w="38100">
            <a:solidFill>
              <a:schemeClr val="bg1"/>
            </a:solidFill>
            <a:headEnd type="none"/>
            <a:tailEnd type="none" w="lg" len="lg"/>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04496C97-D5EC-43C3-03AC-FF05F459B7D3}"/>
              </a:ext>
            </a:extLst>
          </p:cNvPr>
          <p:cNvSpPr txBox="1"/>
          <p:nvPr/>
        </p:nvSpPr>
        <p:spPr>
          <a:xfrm>
            <a:off x="223306" y="13057340"/>
            <a:ext cx="9838800" cy="1938992"/>
          </a:xfrm>
          <a:prstGeom prst="rect">
            <a:avLst/>
          </a:prstGeom>
          <a:noFill/>
        </p:spPr>
        <p:txBody>
          <a:bodyPr wrap="square" rtlCol="0">
            <a:spAutoFit/>
          </a:bodyPr>
          <a:lstStyle/>
          <a:p>
            <a:pPr algn="ctr"/>
            <a:r>
              <a:rPr lang="en-GB" sz="6000" b="1"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latin typeface="Patrick Hand" pitchFamily="2" charset="77"/>
              </a:rPr>
              <a:t>Use Boolean Masks for instant data manipulation</a:t>
            </a:r>
          </a:p>
        </p:txBody>
      </p:sp>
    </p:spTree>
    <p:extLst>
      <p:ext uri="{BB962C8B-B14F-4D97-AF65-F5344CB8AC3E}">
        <p14:creationId xmlns:p14="http://schemas.microsoft.com/office/powerpoint/2010/main" val="360860654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a:extLst>
            <a:ext uri="{FF2B5EF4-FFF2-40B4-BE49-F238E27FC236}">
              <a16:creationId xmlns:a16="http://schemas.microsoft.com/office/drawing/2014/main" id="{656F2E0E-FFBE-6249-EF00-B6BD98726155}"/>
            </a:ext>
          </a:extLst>
        </p:cNvPr>
        <p:cNvGrpSpPr/>
        <p:nvPr/>
      </p:nvGrpSpPr>
      <p:grpSpPr>
        <a:xfrm>
          <a:off x="0" y="0"/>
          <a:ext cx="0" cy="0"/>
          <a:chOff x="0" y="0"/>
          <a:chExt cx="0" cy="0"/>
        </a:xfrm>
      </p:grpSpPr>
      <p:pic>
        <p:nvPicPr>
          <p:cNvPr id="41" name="Picture 40">
            <a:extLst>
              <a:ext uri="{FF2B5EF4-FFF2-40B4-BE49-F238E27FC236}">
                <a16:creationId xmlns:a16="http://schemas.microsoft.com/office/drawing/2014/main" id="{9FAAFB94-6F8B-B795-F4CF-8BD094558F2F}"/>
              </a:ext>
            </a:extLst>
          </p:cNvPr>
          <p:cNvPicPr>
            <a:picLocks noChangeAspect="1"/>
          </p:cNvPicPr>
          <p:nvPr/>
        </p:nvPicPr>
        <p:blipFill rotWithShape="1">
          <a:blip r:embed="rId3"/>
          <a:srcRect l="17775" t="17533" r="12089" b="11256"/>
          <a:stretch>
            <a:fillRect/>
          </a:stretch>
        </p:blipFill>
        <p:spPr>
          <a:xfrm>
            <a:off x="223579" y="5898182"/>
            <a:ext cx="9838255" cy="10224757"/>
          </a:xfrm>
          <a:prstGeom prst="rect">
            <a:avLst/>
          </a:prstGeom>
        </p:spPr>
      </p:pic>
      <p:sp>
        <p:nvSpPr>
          <p:cNvPr id="4" name="TextBox 3">
            <a:extLst>
              <a:ext uri="{FF2B5EF4-FFF2-40B4-BE49-F238E27FC236}">
                <a16:creationId xmlns:a16="http://schemas.microsoft.com/office/drawing/2014/main" id="{93411C09-F441-2209-3B70-426112066B8E}"/>
              </a:ext>
            </a:extLst>
          </p:cNvPr>
          <p:cNvSpPr txBox="1"/>
          <p:nvPr/>
        </p:nvSpPr>
        <p:spPr>
          <a:xfrm>
            <a:off x="223306" y="4592415"/>
            <a:ext cx="9838800" cy="1236996"/>
          </a:xfrm>
          <a:prstGeom prst="rect">
            <a:avLst/>
          </a:prstGeom>
          <a:ln>
            <a:solidFill>
              <a:schemeClr val="tx1"/>
            </a:solidFill>
          </a:ln>
        </p:spPr>
        <p:style>
          <a:lnRef idx="1">
            <a:schemeClr val="accent4"/>
          </a:lnRef>
          <a:fillRef idx="3">
            <a:schemeClr val="accent4"/>
          </a:fillRef>
          <a:effectRef idx="2">
            <a:schemeClr val="accent4"/>
          </a:effectRef>
          <a:fontRef idx="minor">
            <a:schemeClr val="lt1"/>
          </a:fontRef>
        </p:style>
        <p:txBody>
          <a:bodyPr wrap="square" rtlCol="0" anchor="ctr" anchorCtr="0">
            <a:noAutofit/>
          </a:bodyPr>
          <a:lstStyle/>
          <a:p>
            <a:pPr algn="r"/>
            <a:r>
              <a:rPr lang="en-GB" sz="4400" dirty="0">
                <a:ln w="0"/>
                <a:solidFill>
                  <a:schemeClr val="tx1"/>
                </a:solidFill>
                <a:effectLst>
                  <a:outerShdw blurRad="38100" dist="19050" dir="2700000" algn="tl" rotWithShape="0">
                    <a:schemeClr val="dk1">
                      <a:alpha val="40000"/>
                    </a:schemeClr>
                  </a:outerShdw>
                </a:effectLst>
              </a:rPr>
              <a:t>Write Reusable Code with Generics</a:t>
            </a:r>
            <a:endParaRPr lang="en-GB" sz="4400" dirty="0">
              <a:ln w="0"/>
              <a:solidFill>
                <a:schemeClr val="tx1"/>
              </a:solidFill>
              <a:effectLst>
                <a:outerShdw blurRad="38100" dist="19050" dir="2700000" algn="tl" rotWithShape="0">
                  <a:schemeClr val="dk1">
                    <a:alpha val="40000"/>
                  </a:schemeClr>
                </a:outerShdw>
              </a:effectLst>
              <a:latin typeface="Patrick Hand" pitchFamily="2" charset="77"/>
            </a:endParaRPr>
          </a:p>
        </p:txBody>
      </p:sp>
      <p:sp>
        <p:nvSpPr>
          <p:cNvPr id="13" name="TextBox 12">
            <a:extLst>
              <a:ext uri="{FF2B5EF4-FFF2-40B4-BE49-F238E27FC236}">
                <a16:creationId xmlns:a16="http://schemas.microsoft.com/office/drawing/2014/main" id="{2FE2217F-C2F1-2F4F-83A7-73EBD6CE883E}"/>
              </a:ext>
            </a:extLst>
          </p:cNvPr>
          <p:cNvSpPr txBox="1"/>
          <p:nvPr/>
        </p:nvSpPr>
        <p:spPr>
          <a:xfrm>
            <a:off x="296796" y="16172366"/>
            <a:ext cx="9691820" cy="923330"/>
          </a:xfrm>
          <a:prstGeom prst="rect">
            <a:avLst/>
          </a:prstGeom>
          <a:noFill/>
        </p:spPr>
        <p:txBody>
          <a:bodyPr wrap="none" rtlCol="0">
            <a:spAutoFit/>
          </a:bodyPr>
          <a:lstStyle/>
          <a:p>
            <a:r>
              <a:rPr lang="en-GB" sz="5400" dirty="0"/>
              <a:t>Write type-safe generic functions.</a:t>
            </a:r>
          </a:p>
        </p:txBody>
      </p:sp>
      <p:cxnSp>
        <p:nvCxnSpPr>
          <p:cNvPr id="17" name="Straight Connector 16">
            <a:extLst>
              <a:ext uri="{FF2B5EF4-FFF2-40B4-BE49-F238E27FC236}">
                <a16:creationId xmlns:a16="http://schemas.microsoft.com/office/drawing/2014/main" id="{9AB62778-ADFC-8F9C-FB2F-C6552796C562}"/>
              </a:ext>
            </a:extLst>
          </p:cNvPr>
          <p:cNvCxnSpPr>
            <a:cxnSpLocks/>
          </p:cNvCxnSpPr>
          <p:nvPr/>
        </p:nvCxnSpPr>
        <p:spPr>
          <a:xfrm>
            <a:off x="223579" y="11366518"/>
            <a:ext cx="9838255" cy="0"/>
          </a:xfrm>
          <a:prstGeom prst="line">
            <a:avLst/>
          </a:prstGeom>
          <a:ln w="38100">
            <a:solidFill>
              <a:schemeClr val="bg1"/>
            </a:solidFill>
            <a:headEnd type="none"/>
            <a:tailEnd type="none" w="lg" len="lg"/>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632B8096-E902-961A-15A8-93FEB8CB072D}"/>
              </a:ext>
            </a:extLst>
          </p:cNvPr>
          <p:cNvPicPr>
            <a:picLocks noChangeAspect="1"/>
          </p:cNvPicPr>
          <p:nvPr/>
        </p:nvPicPr>
        <p:blipFill>
          <a:blip r:embed="rId4"/>
          <a:stretch>
            <a:fillRect/>
          </a:stretch>
        </p:blipFill>
        <p:spPr>
          <a:xfrm>
            <a:off x="319838" y="4712613"/>
            <a:ext cx="1062000" cy="1062000"/>
          </a:xfrm>
          <a:prstGeom prst="rect">
            <a:avLst/>
          </a:prstGeom>
        </p:spPr>
      </p:pic>
    </p:spTree>
    <p:extLst>
      <p:ext uri="{BB962C8B-B14F-4D97-AF65-F5344CB8AC3E}">
        <p14:creationId xmlns:p14="http://schemas.microsoft.com/office/powerpoint/2010/main" val="765848037"/>
      </p:ext>
    </p:extLst>
  </p:cSld>
  <p:clrMapOvr>
    <a:masterClrMapping/>
  </p:clrMapOvr>
  <p:extLst>
    <p:ext uri="{6950BFC3-D8DA-4A85-94F7-54DA5524770B}">
      <p188:commentRel xmlns:p188="http://schemas.microsoft.com/office/powerpoint/2018/8/main" r:id="rId2"/>
    </p:ext>
  </p:extLst>
</p:sld>
</file>

<file path=ppt/slides/slide42.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
          <a:extLst>
            <a:ext uri="{FF2B5EF4-FFF2-40B4-BE49-F238E27FC236}">
              <a16:creationId xmlns:a16="http://schemas.microsoft.com/office/drawing/2014/main" id="{A7DFCB3F-DBDA-5E9F-CEE7-A29D2E947F67}"/>
            </a:ext>
          </a:extLst>
        </p:cNvPr>
        <p:cNvGrpSpPr/>
        <p:nvPr/>
      </p:nvGrpSpPr>
      <p:grpSpPr>
        <a:xfrm>
          <a:off x="0" y="0"/>
          <a:ext cx="0" cy="0"/>
          <a:chOff x="0" y="0"/>
          <a:chExt cx="0" cy="0"/>
        </a:xfrm>
      </p:grpSpPr>
      <p:pic>
        <p:nvPicPr>
          <p:cNvPr id="68" name="Picture 67">
            <a:extLst>
              <a:ext uri="{FF2B5EF4-FFF2-40B4-BE49-F238E27FC236}">
                <a16:creationId xmlns:a16="http://schemas.microsoft.com/office/drawing/2014/main" id="{F3CE120D-ACBB-D3F1-0486-DEADB0753081}"/>
              </a:ext>
            </a:extLst>
          </p:cNvPr>
          <p:cNvPicPr>
            <a:picLocks noChangeAspect="1"/>
          </p:cNvPicPr>
          <p:nvPr/>
        </p:nvPicPr>
        <p:blipFill rotWithShape="1">
          <a:blip r:embed="rId4"/>
          <a:srcRect l="14078" t="16802" r="9945" b="11314"/>
          <a:stretch>
            <a:fillRect/>
          </a:stretch>
        </p:blipFill>
        <p:spPr>
          <a:xfrm>
            <a:off x="223306" y="4511386"/>
            <a:ext cx="9838800" cy="7131479"/>
          </a:xfrm>
          <a:prstGeom prst="rect">
            <a:avLst/>
          </a:prstGeom>
        </p:spPr>
      </p:pic>
      <p:sp>
        <p:nvSpPr>
          <p:cNvPr id="4" name="TextBox 3">
            <a:extLst>
              <a:ext uri="{FF2B5EF4-FFF2-40B4-BE49-F238E27FC236}">
                <a16:creationId xmlns:a16="http://schemas.microsoft.com/office/drawing/2014/main" id="{8E69985D-32A1-133A-560E-545071650182}"/>
              </a:ext>
            </a:extLst>
          </p:cNvPr>
          <p:cNvSpPr txBox="1"/>
          <p:nvPr/>
        </p:nvSpPr>
        <p:spPr>
          <a:xfrm>
            <a:off x="223306" y="3178906"/>
            <a:ext cx="9838800" cy="1236996"/>
          </a:xfrm>
          <a:prstGeom prst="rect">
            <a:avLst/>
          </a:prstGeom>
          <a:ln>
            <a:solidFill>
              <a:schemeClr val="tx1"/>
            </a:solidFill>
          </a:ln>
        </p:spPr>
        <p:style>
          <a:lnRef idx="1">
            <a:schemeClr val="accent4"/>
          </a:lnRef>
          <a:fillRef idx="3">
            <a:schemeClr val="accent4"/>
          </a:fillRef>
          <a:effectRef idx="2">
            <a:schemeClr val="accent4"/>
          </a:effectRef>
          <a:fontRef idx="minor">
            <a:schemeClr val="lt1"/>
          </a:fontRef>
        </p:style>
        <p:txBody>
          <a:bodyPr wrap="square" rtlCol="0" anchor="ctr" anchorCtr="0">
            <a:noAutofit/>
          </a:bodyPr>
          <a:lstStyle/>
          <a:p>
            <a:pPr algn="ctr"/>
            <a:r>
              <a:rPr lang="en-GB" sz="6600" dirty="0" err="1">
                <a:ln w="0"/>
                <a:solidFill>
                  <a:schemeClr val="tx1"/>
                </a:solidFill>
                <a:effectLst>
                  <a:outerShdw blurRad="38100" dist="19050" dir="2700000" algn="tl" rotWithShape="0">
                    <a:schemeClr val="dk1">
                      <a:alpha val="40000"/>
                    </a:schemeClr>
                  </a:outerShdw>
                </a:effectLst>
                <a:latin typeface="+mj-lt"/>
              </a:rPr>
              <a:t>enum</a:t>
            </a:r>
            <a:r>
              <a:rPr lang="en-GB" sz="6600" dirty="0">
                <a:ln w="0"/>
                <a:solidFill>
                  <a:schemeClr val="tx1"/>
                </a:solidFill>
                <a:effectLst>
                  <a:outerShdw blurRad="38100" dist="19050" dir="2700000" algn="tl" rotWithShape="0">
                    <a:schemeClr val="dk1">
                      <a:alpha val="40000"/>
                    </a:schemeClr>
                  </a:outerShdw>
                </a:effectLst>
                <a:latin typeface="+mj-lt"/>
              </a:rPr>
              <a:t> </a:t>
            </a:r>
            <a:r>
              <a:rPr lang="en-GB" sz="6600" dirty="0">
                <a:ln w="0"/>
                <a:solidFill>
                  <a:srgbClr val="FF0000"/>
                </a:solidFill>
                <a:effectLst>
                  <a:outerShdw blurRad="38100" dist="19050" dir="2700000" algn="tl" rotWithShape="0">
                    <a:schemeClr val="dk1">
                      <a:alpha val="40000"/>
                    </a:schemeClr>
                  </a:outerShdw>
                </a:effectLst>
                <a:latin typeface="+mj-lt"/>
              </a:rPr>
              <a:t>vs</a:t>
            </a:r>
            <a:r>
              <a:rPr lang="en-GB" sz="6600" dirty="0">
                <a:ln w="0"/>
                <a:solidFill>
                  <a:schemeClr val="tx1"/>
                </a:solidFill>
                <a:effectLst>
                  <a:outerShdw blurRad="38100" dist="19050" dir="2700000" algn="tl" rotWithShape="0">
                    <a:schemeClr val="dk1">
                      <a:alpha val="40000"/>
                    </a:schemeClr>
                  </a:outerShdw>
                </a:effectLst>
                <a:latin typeface="+mj-lt"/>
              </a:rPr>
              <a:t> </a:t>
            </a:r>
            <a:r>
              <a:rPr lang="en-GB" sz="6600" dirty="0" err="1">
                <a:ln w="0"/>
                <a:solidFill>
                  <a:schemeClr val="tx1"/>
                </a:solidFill>
                <a:effectLst>
                  <a:outerShdw blurRad="38100" dist="19050" dir="2700000" algn="tl" rotWithShape="0">
                    <a:schemeClr val="dk1">
                      <a:alpha val="40000"/>
                    </a:schemeClr>
                  </a:outerShdw>
                </a:effectLst>
                <a:latin typeface="+mj-lt"/>
              </a:rPr>
              <a:t>const</a:t>
            </a:r>
            <a:r>
              <a:rPr lang="en-GB" sz="6600" dirty="0">
                <a:ln w="0"/>
                <a:solidFill>
                  <a:schemeClr val="tx1"/>
                </a:solidFill>
                <a:effectLst>
                  <a:outerShdw blurRad="38100" dist="19050" dir="2700000" algn="tl" rotWithShape="0">
                    <a:schemeClr val="dk1">
                      <a:alpha val="40000"/>
                    </a:schemeClr>
                  </a:outerShdw>
                </a:effectLst>
                <a:latin typeface="+mj-lt"/>
              </a:rPr>
              <a:t> object</a:t>
            </a:r>
            <a:endParaRPr lang="en-GB" dirty="0">
              <a:ln w="0"/>
              <a:solidFill>
                <a:schemeClr val="tx1"/>
              </a:solidFill>
              <a:effectLst>
                <a:outerShdw blurRad="38100" dist="19050" dir="2700000" algn="tl" rotWithShape="0">
                  <a:schemeClr val="dk1">
                    <a:alpha val="40000"/>
                  </a:schemeClr>
                </a:outerShdw>
              </a:effectLst>
              <a:latin typeface="+mj-lt"/>
            </a:endParaRPr>
          </a:p>
        </p:txBody>
      </p:sp>
      <p:sp>
        <p:nvSpPr>
          <p:cNvPr id="13" name="TextBox 12">
            <a:extLst>
              <a:ext uri="{FF2B5EF4-FFF2-40B4-BE49-F238E27FC236}">
                <a16:creationId xmlns:a16="http://schemas.microsoft.com/office/drawing/2014/main" id="{F3BD1735-8985-8256-67B3-05BD77A49ADA}"/>
              </a:ext>
            </a:extLst>
          </p:cNvPr>
          <p:cNvSpPr txBox="1"/>
          <p:nvPr/>
        </p:nvSpPr>
        <p:spPr>
          <a:xfrm>
            <a:off x="103506" y="11899238"/>
            <a:ext cx="10078400" cy="1200329"/>
          </a:xfrm>
          <a:prstGeom prst="rect">
            <a:avLst/>
          </a:prstGeom>
          <a:noFill/>
        </p:spPr>
        <p:txBody>
          <a:bodyPr wrap="none" rtlCol="0">
            <a:spAutoFit/>
          </a:bodyPr>
          <a:lstStyle/>
          <a:p>
            <a:r>
              <a:rPr lang="en-GB" sz="7200" dirty="0">
                <a:latin typeface="Patrick Hand" pitchFamily="2" charset="77"/>
              </a:rPr>
              <a:t>Stop using TypeScript </a:t>
            </a:r>
            <a:r>
              <a:rPr lang="en-GB" sz="7200" dirty="0" err="1">
                <a:latin typeface="Patrick Hand" pitchFamily="2" charset="77"/>
              </a:rPr>
              <a:t>enums</a:t>
            </a:r>
            <a:r>
              <a:rPr lang="en-GB" sz="7200" dirty="0">
                <a:latin typeface="Patrick Hand" pitchFamily="2" charset="77"/>
              </a:rPr>
              <a:t> </a:t>
            </a:r>
            <a:endParaRPr lang="en-DE" sz="7200" dirty="0">
              <a:latin typeface="Patrick Hand" pitchFamily="2" charset="77"/>
            </a:endParaRPr>
          </a:p>
        </p:txBody>
      </p:sp>
      <p:pic>
        <p:nvPicPr>
          <p:cNvPr id="3" name="Picture 2">
            <a:extLst>
              <a:ext uri="{FF2B5EF4-FFF2-40B4-BE49-F238E27FC236}">
                <a16:creationId xmlns:a16="http://schemas.microsoft.com/office/drawing/2014/main" id="{265DA11A-38F0-02D1-8A40-0EC8D8F1B8C0}"/>
              </a:ext>
            </a:extLst>
          </p:cNvPr>
          <p:cNvPicPr>
            <a:picLocks noChangeAspect="1"/>
          </p:cNvPicPr>
          <p:nvPr/>
        </p:nvPicPr>
        <p:blipFill>
          <a:blip r:embed="rId5"/>
          <a:stretch>
            <a:fillRect/>
          </a:stretch>
        </p:blipFill>
        <p:spPr>
          <a:xfrm>
            <a:off x="295124" y="3274390"/>
            <a:ext cx="1062000" cy="1062000"/>
          </a:xfrm>
          <a:prstGeom prst="rect">
            <a:avLst/>
          </a:prstGeom>
        </p:spPr>
      </p:pic>
      <p:cxnSp>
        <p:nvCxnSpPr>
          <p:cNvPr id="20" name="Straight Connector 19">
            <a:extLst>
              <a:ext uri="{FF2B5EF4-FFF2-40B4-BE49-F238E27FC236}">
                <a16:creationId xmlns:a16="http://schemas.microsoft.com/office/drawing/2014/main" id="{4098081C-27D8-0BFB-DDFB-CCA6621438D0}"/>
              </a:ext>
            </a:extLst>
          </p:cNvPr>
          <p:cNvCxnSpPr>
            <a:cxnSpLocks/>
          </p:cNvCxnSpPr>
          <p:nvPr/>
        </p:nvCxnSpPr>
        <p:spPr>
          <a:xfrm>
            <a:off x="216954" y="7740971"/>
            <a:ext cx="9838255" cy="0"/>
          </a:xfrm>
          <a:prstGeom prst="line">
            <a:avLst/>
          </a:prstGeom>
          <a:ln w="38100">
            <a:solidFill>
              <a:schemeClr val="bg1"/>
            </a:solidFill>
            <a:headEnd type="none"/>
            <a:tailEnd type="non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51649369"/>
      </p:ext>
    </p:extLst>
  </p:cSld>
  <p:clrMapOvr>
    <a:masterClrMapping/>
  </p:clrMapOvr>
  <p:extLst>
    <p:ext uri="{6950BFC3-D8DA-4A85-94F7-54DA5524770B}">
      <p188:commentRel xmlns:p188="http://schemas.microsoft.com/office/powerpoint/2018/8/main" r:id="rId2"/>
    </p:ext>
  </p:extLst>
</p:sld>
</file>

<file path=ppt/slides/slide43.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tile tx="0" ty="0" sx="100000" sy="100000" flip="none" algn="tl"/>
        </a:blipFill>
        <a:effectLst/>
      </p:bgPr>
    </p:bg>
    <p:spTree>
      <p:nvGrpSpPr>
        <p:cNvPr id="1" name="">
          <a:extLst>
            <a:ext uri="{FF2B5EF4-FFF2-40B4-BE49-F238E27FC236}">
              <a16:creationId xmlns:a16="http://schemas.microsoft.com/office/drawing/2014/main" id="{A218F880-590C-26F1-99BB-2A48DF80D1F0}"/>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0F1DA6CD-952E-9986-B832-F85293F720C5}"/>
              </a:ext>
            </a:extLst>
          </p:cNvPr>
          <p:cNvPicPr>
            <a:picLocks noChangeAspect="1"/>
          </p:cNvPicPr>
          <p:nvPr/>
        </p:nvPicPr>
        <p:blipFill rotWithShape="1">
          <a:blip r:embed="rId4"/>
          <a:srcRect l="18832" t="19224" r="11084" b="11724"/>
          <a:stretch>
            <a:fillRect/>
          </a:stretch>
        </p:blipFill>
        <p:spPr>
          <a:xfrm>
            <a:off x="460906" y="4437787"/>
            <a:ext cx="9363600" cy="8491006"/>
          </a:xfrm>
          <a:prstGeom prst="rect">
            <a:avLst/>
          </a:prstGeom>
        </p:spPr>
      </p:pic>
      <p:sp>
        <p:nvSpPr>
          <p:cNvPr id="4" name="TextBox 3">
            <a:extLst>
              <a:ext uri="{FF2B5EF4-FFF2-40B4-BE49-F238E27FC236}">
                <a16:creationId xmlns:a16="http://schemas.microsoft.com/office/drawing/2014/main" id="{C37098FD-4147-4F55-8BEF-B0FCC793F657}"/>
              </a:ext>
            </a:extLst>
          </p:cNvPr>
          <p:cNvSpPr txBox="1"/>
          <p:nvPr/>
        </p:nvSpPr>
        <p:spPr>
          <a:xfrm>
            <a:off x="462706" y="3105307"/>
            <a:ext cx="9360000" cy="1236996"/>
          </a:xfrm>
          <a:prstGeom prst="rect">
            <a:avLst/>
          </a:prstGeom>
          <a:gradFill flip="none" rotWithShape="1">
            <a:gsLst>
              <a:gs pos="0">
                <a:schemeClr val="accent4">
                  <a:lumMod val="67000"/>
                </a:schemeClr>
              </a:gs>
              <a:gs pos="48000">
                <a:schemeClr val="accent4">
                  <a:lumMod val="97000"/>
                  <a:lumOff val="3000"/>
                </a:schemeClr>
              </a:gs>
              <a:gs pos="100000">
                <a:schemeClr val="accent4">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nchor="ctr" anchorCtr="0">
            <a:noAutofit/>
          </a:bodyPr>
          <a:lstStyle/>
          <a:p>
            <a:pPr marL="0" algn="ctr" defTabSz="457200" rtl="0" eaLnBrk="1" latinLnBrk="0" hangingPunct="1"/>
            <a:r>
              <a:rPr lang="en-US" sz="8000" b="1" dirty="0">
                <a:ln w="0"/>
                <a:solidFill>
                  <a:schemeClr val="tx1"/>
                </a:solidFill>
                <a:effectLst>
                  <a:outerShdw blurRad="38100" dist="19050" dir="2700000" algn="tl" rotWithShape="0">
                    <a:schemeClr val="dk1">
                      <a:alpha val="40000"/>
                    </a:schemeClr>
                  </a:outerShdw>
                </a:effectLst>
                <a:latin typeface="+mj-lt"/>
              </a:rPr>
              <a:t>as </a:t>
            </a:r>
            <a:r>
              <a:rPr lang="en-US" sz="80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mj-lt"/>
              </a:rPr>
              <a:t>vs </a:t>
            </a:r>
            <a:r>
              <a:rPr lang="en-US" sz="8000" b="1" dirty="0">
                <a:ln w="0"/>
                <a:solidFill>
                  <a:schemeClr val="tx1"/>
                </a:solidFill>
                <a:effectLst>
                  <a:outerShdw blurRad="38100" dist="19050" dir="2700000" algn="tl" rotWithShape="0">
                    <a:schemeClr val="dk1">
                      <a:alpha val="40000"/>
                    </a:schemeClr>
                  </a:outerShdw>
                </a:effectLst>
                <a:latin typeface="+mj-lt"/>
              </a:rPr>
              <a:t>satisfies</a:t>
            </a:r>
            <a:endParaRPr lang="en-GB" sz="7200" b="1" dirty="0">
              <a:ln w="0"/>
              <a:solidFill>
                <a:schemeClr val="tx1"/>
              </a:solidFill>
              <a:effectLst>
                <a:outerShdw blurRad="38100" dist="19050" dir="2700000" algn="tl" rotWithShape="0">
                  <a:schemeClr val="dk1">
                    <a:alpha val="40000"/>
                  </a:schemeClr>
                </a:outerShdw>
              </a:effectLst>
              <a:latin typeface="+mj-lt"/>
            </a:endParaRPr>
          </a:p>
        </p:txBody>
      </p:sp>
      <p:sp>
        <p:nvSpPr>
          <p:cNvPr id="13" name="TextBox 12">
            <a:extLst>
              <a:ext uri="{FF2B5EF4-FFF2-40B4-BE49-F238E27FC236}">
                <a16:creationId xmlns:a16="http://schemas.microsoft.com/office/drawing/2014/main" id="{61CBFAA9-4023-9E23-F9CF-34BA937F076A}"/>
              </a:ext>
            </a:extLst>
          </p:cNvPr>
          <p:cNvSpPr txBox="1"/>
          <p:nvPr/>
        </p:nvSpPr>
        <p:spPr>
          <a:xfrm>
            <a:off x="374789" y="13317722"/>
            <a:ext cx="9535835" cy="1236995"/>
          </a:xfrm>
          <a:prstGeom prst="rect">
            <a:avLst/>
          </a:prstGeom>
          <a:noFill/>
        </p:spPr>
        <p:txBody>
          <a:bodyPr wrap="square" rtlCol="0">
            <a:noAutofit/>
          </a:bodyPr>
          <a:lstStyle/>
          <a:p>
            <a:pPr algn="ctr"/>
            <a:r>
              <a:rPr lang="en-GB" sz="6000" b="1" dirty="0">
                <a:latin typeface="Patrick Hand" pitchFamily="2" charset="77"/>
              </a:rPr>
              <a:t>Stop lying to TypeScript with as</a:t>
            </a:r>
            <a:endParaRPr lang="en-DE" sz="6000" b="1" dirty="0">
              <a:latin typeface="Patrick Hand" pitchFamily="2" charset="77"/>
            </a:endParaRPr>
          </a:p>
        </p:txBody>
      </p:sp>
      <p:cxnSp>
        <p:nvCxnSpPr>
          <p:cNvPr id="17" name="Straight Connector 16">
            <a:extLst>
              <a:ext uri="{FF2B5EF4-FFF2-40B4-BE49-F238E27FC236}">
                <a16:creationId xmlns:a16="http://schemas.microsoft.com/office/drawing/2014/main" id="{E9368333-45B9-51BC-1E83-3F4D7D4C3812}"/>
              </a:ext>
            </a:extLst>
          </p:cNvPr>
          <p:cNvCxnSpPr>
            <a:cxnSpLocks/>
          </p:cNvCxnSpPr>
          <p:nvPr/>
        </p:nvCxnSpPr>
        <p:spPr>
          <a:xfrm>
            <a:off x="460906" y="9222471"/>
            <a:ext cx="9361800" cy="0"/>
          </a:xfrm>
          <a:prstGeom prst="line">
            <a:avLst/>
          </a:prstGeom>
          <a:ln w="38100">
            <a:solidFill>
              <a:schemeClr val="bg1"/>
            </a:solidFill>
            <a:headEnd type="none"/>
            <a:tailEnd type="none" w="lg" len="lg"/>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80689270-E209-C450-2549-F140E393E679}"/>
              </a:ext>
            </a:extLst>
          </p:cNvPr>
          <p:cNvPicPr>
            <a:picLocks noChangeAspect="1"/>
          </p:cNvPicPr>
          <p:nvPr/>
        </p:nvPicPr>
        <p:blipFill>
          <a:blip r:embed="rId5"/>
          <a:stretch>
            <a:fillRect/>
          </a:stretch>
        </p:blipFill>
        <p:spPr>
          <a:xfrm>
            <a:off x="603482" y="3183206"/>
            <a:ext cx="1062000" cy="1062000"/>
          </a:xfrm>
          <a:prstGeom prst="rect">
            <a:avLst/>
          </a:prstGeom>
        </p:spPr>
      </p:pic>
    </p:spTree>
    <p:extLst>
      <p:ext uri="{BB962C8B-B14F-4D97-AF65-F5344CB8AC3E}">
        <p14:creationId xmlns:p14="http://schemas.microsoft.com/office/powerpoint/2010/main" val="755062863"/>
      </p:ext>
    </p:extLst>
  </p:cSld>
  <p:clrMapOvr>
    <a:masterClrMapping/>
  </p:clrMapOvr>
  <p:extLst>
    <p:ext uri="{6950BFC3-D8DA-4A85-94F7-54DA5524770B}">
      <p188:commentRel xmlns:p188="http://schemas.microsoft.com/office/powerpoint/2018/8/main" r:id="rId2"/>
    </p:ext>
  </p:extLst>
</p:sld>
</file>

<file path=ppt/slides/slide44.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a:extLst>
            <a:ext uri="{FF2B5EF4-FFF2-40B4-BE49-F238E27FC236}">
              <a16:creationId xmlns:a16="http://schemas.microsoft.com/office/drawing/2014/main" id="{3CF58B12-DCCE-EEF4-0317-2F8AE8C6084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B7E48DE-BF68-8E47-84A4-08F1E639C289}"/>
              </a:ext>
            </a:extLst>
          </p:cNvPr>
          <p:cNvSpPr txBox="1"/>
          <p:nvPr/>
        </p:nvSpPr>
        <p:spPr>
          <a:xfrm>
            <a:off x="223306" y="3178906"/>
            <a:ext cx="9838800" cy="1236996"/>
          </a:xfrm>
          <a:prstGeom prst="rect">
            <a:avLst/>
          </a:prstGeom>
          <a:ln>
            <a:solidFill>
              <a:schemeClr val="tx1"/>
            </a:solidFill>
          </a:ln>
        </p:spPr>
        <p:style>
          <a:lnRef idx="1">
            <a:schemeClr val="accent4"/>
          </a:lnRef>
          <a:fillRef idx="3">
            <a:schemeClr val="accent4"/>
          </a:fillRef>
          <a:effectRef idx="2">
            <a:schemeClr val="accent4"/>
          </a:effectRef>
          <a:fontRef idx="minor">
            <a:schemeClr val="lt1"/>
          </a:fontRef>
        </p:style>
        <p:txBody>
          <a:bodyPr wrap="square" rtlCol="0" anchor="ctr" anchorCtr="0">
            <a:noAutofit/>
          </a:bodyPr>
          <a:lstStyle/>
          <a:p>
            <a:pPr algn="r"/>
            <a:r>
              <a:rPr lang="en-GB" sz="4400" b="1" dirty="0">
                <a:ln w="0"/>
                <a:solidFill>
                  <a:schemeClr val="tx1"/>
                </a:solidFill>
                <a:effectLst>
                  <a:outerShdw blurRad="38100" dist="19050" dir="2700000" algn="tl" rotWithShape="0">
                    <a:schemeClr val="dk1">
                      <a:alpha val="40000"/>
                    </a:schemeClr>
                  </a:outerShdw>
                </a:effectLst>
                <a:latin typeface="+mj-lt"/>
              </a:rPr>
              <a:t>Stop Defining Your Union Types Twice</a:t>
            </a:r>
          </a:p>
        </p:txBody>
      </p:sp>
      <p:pic>
        <p:nvPicPr>
          <p:cNvPr id="3" name="Picture 2">
            <a:extLst>
              <a:ext uri="{FF2B5EF4-FFF2-40B4-BE49-F238E27FC236}">
                <a16:creationId xmlns:a16="http://schemas.microsoft.com/office/drawing/2014/main" id="{2BE9D88D-02D1-1A3F-9B31-285212FD6012}"/>
              </a:ext>
            </a:extLst>
          </p:cNvPr>
          <p:cNvPicPr>
            <a:picLocks noChangeAspect="1"/>
          </p:cNvPicPr>
          <p:nvPr/>
        </p:nvPicPr>
        <p:blipFill>
          <a:blip r:embed="rId3"/>
          <a:stretch>
            <a:fillRect/>
          </a:stretch>
        </p:blipFill>
        <p:spPr>
          <a:xfrm>
            <a:off x="295124" y="3274390"/>
            <a:ext cx="1062000" cy="1062000"/>
          </a:xfrm>
          <a:prstGeom prst="rect">
            <a:avLst/>
          </a:prstGeom>
        </p:spPr>
      </p:pic>
      <p:pic>
        <p:nvPicPr>
          <p:cNvPr id="5" name="Picture 4">
            <a:extLst>
              <a:ext uri="{FF2B5EF4-FFF2-40B4-BE49-F238E27FC236}">
                <a16:creationId xmlns:a16="http://schemas.microsoft.com/office/drawing/2014/main" id="{F1D9A34C-9ECF-C1E5-1DC6-3ABD21C82FF7}"/>
              </a:ext>
            </a:extLst>
          </p:cNvPr>
          <p:cNvPicPr preferRelativeResize="0">
            <a:picLocks/>
          </p:cNvPicPr>
          <p:nvPr/>
        </p:nvPicPr>
        <p:blipFill rotWithShape="1">
          <a:blip r:embed="rId4"/>
          <a:srcRect l="18681" t="19585" r="12797" b="13286"/>
          <a:stretch>
            <a:fillRect/>
          </a:stretch>
        </p:blipFill>
        <p:spPr>
          <a:xfrm>
            <a:off x="223306" y="4511386"/>
            <a:ext cx="9838800" cy="9000000"/>
          </a:xfrm>
          <a:prstGeom prst="rect">
            <a:avLst/>
          </a:prstGeom>
        </p:spPr>
      </p:pic>
    </p:spTree>
    <p:extLst>
      <p:ext uri="{BB962C8B-B14F-4D97-AF65-F5344CB8AC3E}">
        <p14:creationId xmlns:p14="http://schemas.microsoft.com/office/powerpoint/2010/main" val="160173632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a:extLst>
            <a:ext uri="{FF2B5EF4-FFF2-40B4-BE49-F238E27FC236}">
              <a16:creationId xmlns:a16="http://schemas.microsoft.com/office/drawing/2014/main" id="{5231C1D6-49F7-9B7F-E3ED-78F80A84B9A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371A339-D3D8-A3A6-F1B6-BF1386184657}"/>
              </a:ext>
            </a:extLst>
          </p:cNvPr>
          <p:cNvSpPr txBox="1"/>
          <p:nvPr/>
        </p:nvSpPr>
        <p:spPr>
          <a:xfrm>
            <a:off x="223306" y="3178906"/>
            <a:ext cx="9838800" cy="1236996"/>
          </a:xfrm>
          <a:prstGeom prst="rect">
            <a:avLst/>
          </a:prstGeom>
          <a:ln>
            <a:solidFill>
              <a:schemeClr val="tx1"/>
            </a:solidFill>
          </a:ln>
        </p:spPr>
        <p:style>
          <a:lnRef idx="1">
            <a:schemeClr val="accent4"/>
          </a:lnRef>
          <a:fillRef idx="3">
            <a:schemeClr val="accent4"/>
          </a:fillRef>
          <a:effectRef idx="2">
            <a:schemeClr val="accent4"/>
          </a:effectRef>
          <a:fontRef idx="minor">
            <a:schemeClr val="lt1"/>
          </a:fontRef>
        </p:style>
        <p:txBody>
          <a:bodyPr wrap="square" rtlCol="0" anchor="ctr" anchorCtr="0">
            <a:noAutofit/>
          </a:bodyPr>
          <a:lstStyle/>
          <a:p>
            <a:pPr algn="r"/>
            <a:r>
              <a:rPr lang="en-GB" sz="4400" b="1" dirty="0">
                <a:ln w="0"/>
                <a:solidFill>
                  <a:schemeClr val="tx1"/>
                </a:solidFill>
                <a:effectLst>
                  <a:outerShdw blurRad="38100" dist="19050" dir="2700000" algn="tl" rotWithShape="0">
                    <a:schemeClr val="dk1">
                      <a:alpha val="40000"/>
                    </a:schemeClr>
                  </a:outerShdw>
                </a:effectLst>
                <a:latin typeface="+mj-lt"/>
              </a:rPr>
              <a:t>Stop Defining Your Union Types Twice</a:t>
            </a:r>
          </a:p>
        </p:txBody>
      </p:sp>
      <p:pic>
        <p:nvPicPr>
          <p:cNvPr id="3" name="Picture 2">
            <a:extLst>
              <a:ext uri="{FF2B5EF4-FFF2-40B4-BE49-F238E27FC236}">
                <a16:creationId xmlns:a16="http://schemas.microsoft.com/office/drawing/2014/main" id="{116A5176-5812-6261-2BC6-3D5992E9E8E5}"/>
              </a:ext>
            </a:extLst>
          </p:cNvPr>
          <p:cNvPicPr>
            <a:picLocks noChangeAspect="1"/>
          </p:cNvPicPr>
          <p:nvPr/>
        </p:nvPicPr>
        <p:blipFill>
          <a:blip r:embed="rId3"/>
          <a:stretch>
            <a:fillRect/>
          </a:stretch>
        </p:blipFill>
        <p:spPr>
          <a:xfrm>
            <a:off x="295124" y="3274390"/>
            <a:ext cx="1062000" cy="1062000"/>
          </a:xfrm>
          <a:prstGeom prst="rect">
            <a:avLst/>
          </a:prstGeom>
        </p:spPr>
      </p:pic>
      <p:pic>
        <p:nvPicPr>
          <p:cNvPr id="6" name="Picture 5">
            <a:extLst>
              <a:ext uri="{FF2B5EF4-FFF2-40B4-BE49-F238E27FC236}">
                <a16:creationId xmlns:a16="http://schemas.microsoft.com/office/drawing/2014/main" id="{45B7BCEE-E446-0DC0-4AFB-853DCA689C78}"/>
              </a:ext>
            </a:extLst>
          </p:cNvPr>
          <p:cNvPicPr preferRelativeResize="0">
            <a:picLocks/>
          </p:cNvPicPr>
          <p:nvPr/>
        </p:nvPicPr>
        <p:blipFill rotWithShape="1">
          <a:blip r:embed="rId4"/>
          <a:srcRect l="17122" t="20099" r="12080" b="12973"/>
          <a:stretch>
            <a:fillRect/>
          </a:stretch>
        </p:blipFill>
        <p:spPr>
          <a:xfrm>
            <a:off x="223305" y="4511385"/>
            <a:ext cx="9838800" cy="9000000"/>
          </a:xfrm>
          <a:prstGeom prst="rect">
            <a:avLst/>
          </a:prstGeom>
        </p:spPr>
      </p:pic>
    </p:spTree>
    <p:extLst>
      <p:ext uri="{BB962C8B-B14F-4D97-AF65-F5344CB8AC3E}">
        <p14:creationId xmlns:p14="http://schemas.microsoft.com/office/powerpoint/2010/main" val="296620901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pattFill prst="solidDmnd">
          <a:fgClr>
            <a:srgbClr val="FFC000"/>
          </a:fgClr>
          <a:bgClr>
            <a:schemeClr val="bg1"/>
          </a:bgClr>
        </a:pattFill>
        <a:effectLst/>
      </p:bgPr>
    </p:bg>
    <p:spTree>
      <p:nvGrpSpPr>
        <p:cNvPr id="1" name="">
          <a:extLst>
            <a:ext uri="{FF2B5EF4-FFF2-40B4-BE49-F238E27FC236}">
              <a16:creationId xmlns:a16="http://schemas.microsoft.com/office/drawing/2014/main" id="{35230050-251E-AE82-8B8A-EB5D9B4CA9D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811E92D-7FE7-68BE-A941-C44D5C12C85F}"/>
              </a:ext>
            </a:extLst>
          </p:cNvPr>
          <p:cNvSpPr txBox="1"/>
          <p:nvPr/>
        </p:nvSpPr>
        <p:spPr>
          <a:xfrm>
            <a:off x="223306" y="3178906"/>
            <a:ext cx="9838800" cy="1236996"/>
          </a:xfrm>
          <a:prstGeom prst="rect">
            <a:avLst/>
          </a:prstGeom>
          <a:ln>
            <a:solidFill>
              <a:schemeClr val="tx1"/>
            </a:solidFill>
          </a:ln>
        </p:spPr>
        <p:style>
          <a:lnRef idx="1">
            <a:schemeClr val="accent4"/>
          </a:lnRef>
          <a:fillRef idx="3">
            <a:schemeClr val="accent4"/>
          </a:fillRef>
          <a:effectRef idx="2">
            <a:schemeClr val="accent4"/>
          </a:effectRef>
          <a:fontRef idx="minor">
            <a:schemeClr val="lt1"/>
          </a:fontRef>
        </p:style>
        <p:txBody>
          <a:bodyPr wrap="square" rtlCol="0" anchor="ctr" anchorCtr="0">
            <a:noAutofit/>
          </a:bodyPr>
          <a:lstStyle/>
          <a:p>
            <a:pPr algn="r"/>
            <a:r>
              <a:rPr lang="en-GB" sz="6600" b="1" dirty="0">
                <a:ln w="0"/>
                <a:solidFill>
                  <a:schemeClr val="tx1"/>
                </a:solidFill>
                <a:effectLst>
                  <a:outerShdw blurRad="38100" dist="19050" dir="2700000" algn="tl" rotWithShape="0">
                    <a:schemeClr val="dk1">
                      <a:alpha val="40000"/>
                    </a:schemeClr>
                  </a:outerShdw>
                </a:effectLst>
                <a:latin typeface="+mj-lt"/>
              </a:rPr>
              <a:t>Boilerplate Constructors</a:t>
            </a:r>
          </a:p>
        </p:txBody>
      </p:sp>
      <p:pic>
        <p:nvPicPr>
          <p:cNvPr id="3" name="Picture 2">
            <a:extLst>
              <a:ext uri="{FF2B5EF4-FFF2-40B4-BE49-F238E27FC236}">
                <a16:creationId xmlns:a16="http://schemas.microsoft.com/office/drawing/2014/main" id="{F0D59821-886F-AB76-F279-03652F7BCB8E}"/>
              </a:ext>
            </a:extLst>
          </p:cNvPr>
          <p:cNvPicPr>
            <a:picLocks noChangeAspect="1"/>
          </p:cNvPicPr>
          <p:nvPr/>
        </p:nvPicPr>
        <p:blipFill>
          <a:blip r:embed="rId2"/>
          <a:stretch>
            <a:fillRect/>
          </a:stretch>
        </p:blipFill>
        <p:spPr>
          <a:xfrm>
            <a:off x="295124" y="3274390"/>
            <a:ext cx="1062000" cy="1062000"/>
          </a:xfrm>
          <a:prstGeom prst="rect">
            <a:avLst/>
          </a:prstGeom>
        </p:spPr>
      </p:pic>
      <p:pic>
        <p:nvPicPr>
          <p:cNvPr id="2" name="Picture 1">
            <a:extLst>
              <a:ext uri="{FF2B5EF4-FFF2-40B4-BE49-F238E27FC236}">
                <a16:creationId xmlns:a16="http://schemas.microsoft.com/office/drawing/2014/main" id="{0B729A66-405A-A6C2-BB4B-B0817AE3731D}"/>
              </a:ext>
            </a:extLst>
          </p:cNvPr>
          <p:cNvPicPr preferRelativeResize="0">
            <a:picLocks/>
          </p:cNvPicPr>
          <p:nvPr/>
        </p:nvPicPr>
        <p:blipFill rotWithShape="1">
          <a:blip r:embed="rId3"/>
          <a:srcRect l="17457" t="21491" r="12351" b="13203"/>
          <a:stretch>
            <a:fillRect/>
          </a:stretch>
        </p:blipFill>
        <p:spPr>
          <a:xfrm>
            <a:off x="223306" y="4549486"/>
            <a:ext cx="9838800" cy="7200000"/>
          </a:xfrm>
          <a:prstGeom prst="rect">
            <a:avLst/>
          </a:prstGeom>
        </p:spPr>
      </p:pic>
      <p:sp>
        <p:nvSpPr>
          <p:cNvPr id="7" name="Right Arrow 6">
            <a:extLst>
              <a:ext uri="{FF2B5EF4-FFF2-40B4-BE49-F238E27FC236}">
                <a16:creationId xmlns:a16="http://schemas.microsoft.com/office/drawing/2014/main" id="{FC1BBC9F-2B2C-06B9-94AF-F024644F1143}"/>
              </a:ext>
            </a:extLst>
          </p:cNvPr>
          <p:cNvSpPr/>
          <p:nvPr/>
        </p:nvSpPr>
        <p:spPr>
          <a:xfrm>
            <a:off x="4238228" y="12401550"/>
            <a:ext cx="1808956" cy="876300"/>
          </a:xfrm>
          <a:prstGeom prst="rightArrow">
            <a:avLst/>
          </a:prstGeom>
          <a:ln>
            <a:solidFill>
              <a:schemeClr val="tx1"/>
            </a:solidFill>
          </a:ln>
        </p:spPr>
        <p:style>
          <a:lnRef idx="1">
            <a:schemeClr val="accent4"/>
          </a:lnRef>
          <a:fillRef idx="3">
            <a:schemeClr val="accent4"/>
          </a:fillRef>
          <a:effectRef idx="2">
            <a:schemeClr val="accent4"/>
          </a:effectRef>
          <a:fontRef idx="minor">
            <a:schemeClr val="lt1"/>
          </a:fontRef>
        </p:style>
        <p:txBody>
          <a:bodyPr wrap="square" rtlCol="0" anchor="ctr" anchorCtr="0">
            <a:noAutofit/>
          </a:bodyPr>
          <a:lstStyle/>
          <a:p>
            <a:pPr marL="0" algn="l" defTabSz="457200" rtl="0" eaLnBrk="1" latinLnBrk="0" hangingPunct="1"/>
            <a:endParaRPr lang="en-DE" sz="6600" b="1" dirty="0">
              <a:ln w="0"/>
              <a:solidFill>
                <a:schemeClr val="tx1"/>
              </a:solidFill>
              <a:effectLst>
                <a:outerShdw blurRad="38100" dist="19050" dir="2700000" algn="tl" rotWithShape="0">
                  <a:schemeClr val="dk1">
                    <a:alpha val="40000"/>
                  </a:schemeClr>
                </a:outerShdw>
              </a:effectLst>
              <a:latin typeface="+mj-lt"/>
            </a:endParaRPr>
          </a:p>
        </p:txBody>
      </p:sp>
    </p:spTree>
    <p:extLst>
      <p:ext uri="{BB962C8B-B14F-4D97-AF65-F5344CB8AC3E}">
        <p14:creationId xmlns:p14="http://schemas.microsoft.com/office/powerpoint/2010/main" val="248207087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pattFill prst="solidDmnd">
          <a:fgClr>
            <a:srgbClr val="FFC000"/>
          </a:fgClr>
          <a:bgClr>
            <a:schemeClr val="bg1"/>
          </a:bgClr>
        </a:pattFill>
        <a:effectLst/>
      </p:bgPr>
    </p:bg>
    <p:spTree>
      <p:nvGrpSpPr>
        <p:cNvPr id="1" name="">
          <a:extLst>
            <a:ext uri="{FF2B5EF4-FFF2-40B4-BE49-F238E27FC236}">
              <a16:creationId xmlns:a16="http://schemas.microsoft.com/office/drawing/2014/main" id="{367D3725-E485-066A-DFD4-3B3D25175E9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BFB7E05-3D9E-7FA5-A634-1CDA1D142F79}"/>
              </a:ext>
            </a:extLst>
          </p:cNvPr>
          <p:cNvSpPr txBox="1"/>
          <p:nvPr/>
        </p:nvSpPr>
        <p:spPr>
          <a:xfrm>
            <a:off x="223306" y="3178906"/>
            <a:ext cx="9838800" cy="1236996"/>
          </a:xfrm>
          <a:prstGeom prst="rect">
            <a:avLst/>
          </a:prstGeom>
          <a:ln>
            <a:solidFill>
              <a:schemeClr val="tx1"/>
            </a:solidFill>
          </a:ln>
        </p:spPr>
        <p:style>
          <a:lnRef idx="1">
            <a:schemeClr val="accent4"/>
          </a:lnRef>
          <a:fillRef idx="3">
            <a:schemeClr val="accent4"/>
          </a:fillRef>
          <a:effectRef idx="2">
            <a:schemeClr val="accent4"/>
          </a:effectRef>
          <a:fontRef idx="minor">
            <a:schemeClr val="lt1"/>
          </a:fontRef>
        </p:style>
        <p:txBody>
          <a:bodyPr wrap="square" rtlCol="0" anchor="ctr" anchorCtr="0">
            <a:noAutofit/>
          </a:bodyPr>
          <a:lstStyle/>
          <a:p>
            <a:pPr algn="ctr"/>
            <a:r>
              <a:rPr lang="en-GB" sz="6600" b="1" dirty="0">
                <a:ln w="0"/>
                <a:solidFill>
                  <a:schemeClr val="tx1"/>
                </a:solidFill>
                <a:effectLst>
                  <a:outerShdw blurRad="38100" dist="19050" dir="2700000" algn="tl" rotWithShape="0">
                    <a:schemeClr val="dk1">
                      <a:alpha val="40000"/>
                    </a:schemeClr>
                  </a:outerShdw>
                </a:effectLst>
                <a:latin typeface="+mj-lt"/>
              </a:rPr>
              <a:t>Parameter Properties</a:t>
            </a:r>
          </a:p>
        </p:txBody>
      </p:sp>
      <p:pic>
        <p:nvPicPr>
          <p:cNvPr id="3" name="Picture 2">
            <a:extLst>
              <a:ext uri="{FF2B5EF4-FFF2-40B4-BE49-F238E27FC236}">
                <a16:creationId xmlns:a16="http://schemas.microsoft.com/office/drawing/2014/main" id="{E9909B3A-1639-0B18-F14F-6E965D01CE0C}"/>
              </a:ext>
            </a:extLst>
          </p:cNvPr>
          <p:cNvPicPr>
            <a:picLocks noChangeAspect="1"/>
          </p:cNvPicPr>
          <p:nvPr/>
        </p:nvPicPr>
        <p:blipFill>
          <a:blip r:embed="rId2"/>
          <a:stretch>
            <a:fillRect/>
          </a:stretch>
        </p:blipFill>
        <p:spPr>
          <a:xfrm>
            <a:off x="295124" y="3274390"/>
            <a:ext cx="1062000" cy="1062000"/>
          </a:xfrm>
          <a:prstGeom prst="rect">
            <a:avLst/>
          </a:prstGeom>
        </p:spPr>
      </p:pic>
      <p:pic>
        <p:nvPicPr>
          <p:cNvPr id="6" name="Picture 5">
            <a:extLst>
              <a:ext uri="{FF2B5EF4-FFF2-40B4-BE49-F238E27FC236}">
                <a16:creationId xmlns:a16="http://schemas.microsoft.com/office/drawing/2014/main" id="{D7C02C88-796B-C2C3-575E-82D3F8F3FC77}"/>
              </a:ext>
            </a:extLst>
          </p:cNvPr>
          <p:cNvPicPr preferRelativeResize="0">
            <a:picLocks/>
          </p:cNvPicPr>
          <p:nvPr/>
        </p:nvPicPr>
        <p:blipFill rotWithShape="1">
          <a:blip r:embed="rId3"/>
          <a:srcRect l="17478" t="28173" r="12078" b="18028"/>
          <a:stretch>
            <a:fillRect/>
          </a:stretch>
        </p:blipFill>
        <p:spPr>
          <a:xfrm>
            <a:off x="223306" y="4549486"/>
            <a:ext cx="9838800" cy="7200000"/>
          </a:xfrm>
          <a:prstGeom prst="rect">
            <a:avLst/>
          </a:prstGeom>
        </p:spPr>
      </p:pic>
    </p:spTree>
    <p:extLst>
      <p:ext uri="{BB962C8B-B14F-4D97-AF65-F5344CB8AC3E}">
        <p14:creationId xmlns:p14="http://schemas.microsoft.com/office/powerpoint/2010/main" val="423423981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pattFill prst="diagBrick">
          <a:fgClr>
            <a:schemeClr val="accent3"/>
          </a:fgClr>
          <a:bgClr>
            <a:schemeClr val="bg1"/>
          </a:bgClr>
        </a:pattFill>
        <a:effectLst/>
      </p:bgPr>
    </p:bg>
    <p:spTree>
      <p:nvGrpSpPr>
        <p:cNvPr id="1" name="">
          <a:extLst>
            <a:ext uri="{FF2B5EF4-FFF2-40B4-BE49-F238E27FC236}">
              <a16:creationId xmlns:a16="http://schemas.microsoft.com/office/drawing/2014/main" id="{C6F5C373-0FDD-19EF-6BF8-FCCB7265811D}"/>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7BAE6144-CFA8-2390-5E64-4F0F624805D5}"/>
              </a:ext>
            </a:extLst>
          </p:cNvPr>
          <p:cNvPicPr>
            <a:picLocks noChangeAspect="1"/>
          </p:cNvPicPr>
          <p:nvPr/>
        </p:nvPicPr>
        <p:blipFill rotWithShape="1">
          <a:blip r:embed="rId3"/>
          <a:srcRect l="20250" t="17146" r="17442" b="14853"/>
          <a:stretch>
            <a:fillRect/>
          </a:stretch>
        </p:blipFill>
        <p:spPr>
          <a:xfrm>
            <a:off x="462706" y="4392260"/>
            <a:ext cx="9360000" cy="12190693"/>
          </a:xfrm>
          <a:prstGeom prst="rect">
            <a:avLst/>
          </a:prstGeom>
        </p:spPr>
      </p:pic>
      <p:sp>
        <p:nvSpPr>
          <p:cNvPr id="4" name="TextBox 3">
            <a:extLst>
              <a:ext uri="{FF2B5EF4-FFF2-40B4-BE49-F238E27FC236}">
                <a16:creationId xmlns:a16="http://schemas.microsoft.com/office/drawing/2014/main" id="{7C70B594-D22D-ACB6-998B-6388692A6559}"/>
              </a:ext>
            </a:extLst>
          </p:cNvPr>
          <p:cNvSpPr txBox="1"/>
          <p:nvPr/>
        </p:nvSpPr>
        <p:spPr>
          <a:xfrm>
            <a:off x="462706" y="3113568"/>
            <a:ext cx="9360000" cy="1236996"/>
          </a:xfrm>
          <a:prstGeom prst="rect">
            <a:avLst/>
          </a:prstGeom>
          <a:ln>
            <a:solidFill>
              <a:schemeClr val="tx1"/>
            </a:solidFill>
          </a:ln>
        </p:spPr>
        <p:style>
          <a:lnRef idx="1">
            <a:schemeClr val="accent6"/>
          </a:lnRef>
          <a:fillRef idx="2">
            <a:schemeClr val="accent6"/>
          </a:fillRef>
          <a:effectRef idx="1">
            <a:schemeClr val="accent6"/>
          </a:effectRef>
          <a:fontRef idx="minor">
            <a:schemeClr val="dk1"/>
          </a:fontRef>
        </p:style>
        <p:txBody>
          <a:bodyPr wrap="square" rtlCol="0" anchor="ctr" anchorCtr="0">
            <a:noAutofit/>
          </a:bodyPr>
          <a:lstStyle/>
          <a:p>
            <a:pPr marL="0" algn="ctr" defTabSz="457200" rtl="0" eaLnBrk="1" latinLnBrk="0" hangingPunct="1"/>
            <a:r>
              <a:rPr lang="en-US" sz="7200" b="1" dirty="0">
                <a:ln w="0"/>
                <a:solidFill>
                  <a:schemeClr val="tx1"/>
                </a:solidFill>
                <a:effectLst>
                  <a:outerShdw blurRad="38100" dist="19050" dir="2700000" algn="tl" rotWithShape="0">
                    <a:schemeClr val="dk1">
                      <a:alpha val="40000"/>
                    </a:schemeClr>
                  </a:outerShdw>
                </a:effectLst>
                <a:latin typeface="+mj-lt"/>
              </a:rPr>
              <a:t>Stop using </a:t>
            </a:r>
            <a:r>
              <a:rPr lang="en-US" sz="72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mj-lt"/>
              </a:rPr>
              <a:t>any</a:t>
            </a:r>
            <a:endParaRPr lang="en-GB" sz="6600" b="1" dirty="0">
              <a:ln w="0"/>
              <a:solidFill>
                <a:schemeClr val="tx1"/>
              </a:solidFill>
              <a:effectLst>
                <a:outerShdw blurRad="38100" dist="19050" dir="2700000" algn="tl" rotWithShape="0">
                  <a:schemeClr val="dk1">
                    <a:alpha val="40000"/>
                  </a:schemeClr>
                </a:outerShdw>
              </a:effectLst>
              <a:latin typeface="+mj-lt"/>
            </a:endParaRPr>
          </a:p>
        </p:txBody>
      </p:sp>
      <p:pic>
        <p:nvPicPr>
          <p:cNvPr id="3" name="Picture 2">
            <a:extLst>
              <a:ext uri="{FF2B5EF4-FFF2-40B4-BE49-F238E27FC236}">
                <a16:creationId xmlns:a16="http://schemas.microsoft.com/office/drawing/2014/main" id="{14DD1110-638E-980C-71C6-C00001B8E77E}"/>
              </a:ext>
            </a:extLst>
          </p:cNvPr>
          <p:cNvPicPr>
            <a:picLocks noChangeAspect="1"/>
          </p:cNvPicPr>
          <p:nvPr/>
        </p:nvPicPr>
        <p:blipFill>
          <a:blip r:embed="rId4"/>
          <a:stretch>
            <a:fillRect/>
          </a:stretch>
        </p:blipFill>
        <p:spPr>
          <a:xfrm>
            <a:off x="572703" y="3209052"/>
            <a:ext cx="1062000" cy="1062000"/>
          </a:xfrm>
          <a:prstGeom prst="rect">
            <a:avLst/>
          </a:prstGeom>
        </p:spPr>
      </p:pic>
      <p:cxnSp>
        <p:nvCxnSpPr>
          <p:cNvPr id="5" name="Straight Connector 4">
            <a:extLst>
              <a:ext uri="{FF2B5EF4-FFF2-40B4-BE49-F238E27FC236}">
                <a16:creationId xmlns:a16="http://schemas.microsoft.com/office/drawing/2014/main" id="{6A1CE049-F0C9-01B6-F3C3-B00EEDA1A696}"/>
              </a:ext>
            </a:extLst>
          </p:cNvPr>
          <p:cNvCxnSpPr>
            <a:cxnSpLocks/>
          </p:cNvCxnSpPr>
          <p:nvPr/>
        </p:nvCxnSpPr>
        <p:spPr>
          <a:xfrm>
            <a:off x="460906" y="6999232"/>
            <a:ext cx="9361800" cy="0"/>
          </a:xfrm>
          <a:prstGeom prst="line">
            <a:avLst/>
          </a:prstGeom>
          <a:ln w="38100">
            <a:solidFill>
              <a:schemeClr val="bg1"/>
            </a:solidFill>
            <a:headEnd type="none"/>
            <a:tailEnd type="none" w="lg" len="lg"/>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9F50EFF4-7510-AFD2-0DB0-3B661E2C773B}"/>
              </a:ext>
            </a:extLst>
          </p:cNvPr>
          <p:cNvCxnSpPr>
            <a:cxnSpLocks/>
          </p:cNvCxnSpPr>
          <p:nvPr/>
        </p:nvCxnSpPr>
        <p:spPr>
          <a:xfrm>
            <a:off x="469872" y="10845088"/>
            <a:ext cx="9361800" cy="0"/>
          </a:xfrm>
          <a:prstGeom prst="line">
            <a:avLst/>
          </a:prstGeom>
          <a:ln w="38100">
            <a:solidFill>
              <a:schemeClr val="bg1"/>
            </a:solidFill>
            <a:headEnd type="none"/>
            <a:tailEnd type="non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90698737"/>
      </p:ext>
    </p:extLst>
  </p:cSld>
  <p:clrMapOvr>
    <a:masterClrMapping/>
  </p:clrMapOvr>
  <p:extLst>
    <p:ext uri="{6950BFC3-D8DA-4A85-94F7-54DA5524770B}">
      <p188:commentRel xmlns:p188="http://schemas.microsoft.com/office/powerpoint/2018/8/main" r:id="rId2"/>
    </p:ext>
  </p:extLst>
</p:sld>
</file>

<file path=ppt/slides/slide49.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effectLst/>
      </p:bgPr>
    </p:bg>
    <p:spTree>
      <p:nvGrpSpPr>
        <p:cNvPr id="1" name="">
          <a:extLst>
            <a:ext uri="{FF2B5EF4-FFF2-40B4-BE49-F238E27FC236}">
              <a16:creationId xmlns:a16="http://schemas.microsoft.com/office/drawing/2014/main" id="{E4B702BD-0757-966A-536F-76E7476D421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320FBFD-F3C6-1494-EA76-D086BCED2656}"/>
              </a:ext>
            </a:extLst>
          </p:cNvPr>
          <p:cNvSpPr txBox="1"/>
          <p:nvPr/>
        </p:nvSpPr>
        <p:spPr>
          <a:xfrm>
            <a:off x="282706" y="3171267"/>
            <a:ext cx="9720000" cy="1236996"/>
          </a:xfrm>
          <a:prstGeom prst="rect">
            <a:avLst/>
          </a:prstGeom>
          <a:ln>
            <a:solidFill>
              <a:schemeClr val="tx1"/>
            </a:solidFill>
          </a:ln>
        </p:spPr>
        <p:style>
          <a:lnRef idx="1">
            <a:schemeClr val="accent5"/>
          </a:lnRef>
          <a:fillRef idx="2">
            <a:schemeClr val="accent5"/>
          </a:fillRef>
          <a:effectRef idx="1">
            <a:schemeClr val="accent5"/>
          </a:effectRef>
          <a:fontRef idx="minor">
            <a:schemeClr val="dk1"/>
          </a:fontRef>
        </p:style>
        <p:txBody>
          <a:bodyPr wrap="square" lIns="90000" rtlCol="0" anchor="ctr" anchorCtr="0">
            <a:noAutofit/>
          </a:bodyPr>
          <a:lstStyle/>
          <a:p>
            <a:pPr algn="r"/>
            <a:r>
              <a:rPr lang="en-US" sz="5400" b="1" dirty="0">
                <a:ln w="0"/>
                <a:solidFill>
                  <a:schemeClr val="tx1"/>
                </a:solidFill>
                <a:effectLst>
                  <a:outerShdw blurRad="38100" dist="19050" dir="2700000" algn="tl" rotWithShape="0">
                    <a:schemeClr val="dk1">
                      <a:alpha val="40000"/>
                    </a:schemeClr>
                  </a:outerShdw>
                </a:effectLst>
                <a:latin typeface="+mj-lt"/>
              </a:rPr>
              <a:t>Don't Use Capitalized Types</a:t>
            </a:r>
            <a:endParaRPr lang="en-GB" sz="4800" b="1" u="sng" dirty="0">
              <a:ln w="0"/>
              <a:solidFill>
                <a:schemeClr val="tx1"/>
              </a:solidFill>
              <a:effectLst>
                <a:outerShdw blurRad="38100" dist="19050" dir="2700000" algn="tl" rotWithShape="0">
                  <a:schemeClr val="dk1">
                    <a:alpha val="40000"/>
                  </a:schemeClr>
                </a:outerShdw>
              </a:effectLst>
              <a:latin typeface="+mj-lt"/>
            </a:endParaRPr>
          </a:p>
        </p:txBody>
      </p:sp>
      <p:sp>
        <p:nvSpPr>
          <p:cNvPr id="13" name="TextBox 12">
            <a:extLst>
              <a:ext uri="{FF2B5EF4-FFF2-40B4-BE49-F238E27FC236}">
                <a16:creationId xmlns:a16="http://schemas.microsoft.com/office/drawing/2014/main" id="{DA2E68E7-2083-C2A6-F130-5A7706C87C7B}"/>
              </a:ext>
            </a:extLst>
          </p:cNvPr>
          <p:cNvSpPr txBox="1"/>
          <p:nvPr/>
        </p:nvSpPr>
        <p:spPr>
          <a:xfrm>
            <a:off x="0" y="11614283"/>
            <a:ext cx="10285413" cy="1966526"/>
          </a:xfrm>
          <a:prstGeom prst="rect">
            <a:avLst/>
          </a:prstGeom>
          <a:noFill/>
        </p:spPr>
        <p:txBody>
          <a:bodyPr wrap="square" rtlCol="0">
            <a:noAutofit/>
          </a:bodyPr>
          <a:lstStyle/>
          <a:p>
            <a:pPr algn="ctr"/>
            <a:r>
              <a:rPr lang="en-GB" sz="60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Patrick Hand" pitchFamily="2" charset="77"/>
              </a:rPr>
              <a:t>Stop Using Number, String, Boolean in TypeScript</a:t>
            </a:r>
            <a:endParaRPr lang="en-DE" sz="60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Patrick Hand" pitchFamily="2" charset="77"/>
            </a:endParaRPr>
          </a:p>
        </p:txBody>
      </p:sp>
      <p:pic>
        <p:nvPicPr>
          <p:cNvPr id="3" name="Picture 2">
            <a:extLst>
              <a:ext uri="{FF2B5EF4-FFF2-40B4-BE49-F238E27FC236}">
                <a16:creationId xmlns:a16="http://schemas.microsoft.com/office/drawing/2014/main" id="{AF82BE81-68F0-9AE3-2EF2-8F7ACAFEA132}"/>
              </a:ext>
            </a:extLst>
          </p:cNvPr>
          <p:cNvPicPr>
            <a:picLocks noChangeAspect="1"/>
          </p:cNvPicPr>
          <p:nvPr/>
        </p:nvPicPr>
        <p:blipFill>
          <a:blip r:embed="rId2"/>
          <a:stretch>
            <a:fillRect/>
          </a:stretch>
        </p:blipFill>
        <p:spPr>
          <a:xfrm>
            <a:off x="402973" y="3266751"/>
            <a:ext cx="1062000" cy="1062000"/>
          </a:xfrm>
          <a:prstGeom prst="rect">
            <a:avLst/>
          </a:prstGeom>
        </p:spPr>
      </p:pic>
      <p:pic>
        <p:nvPicPr>
          <p:cNvPr id="2" name="Picture 1">
            <a:extLst>
              <a:ext uri="{FF2B5EF4-FFF2-40B4-BE49-F238E27FC236}">
                <a16:creationId xmlns:a16="http://schemas.microsoft.com/office/drawing/2014/main" id="{06A170A4-987A-F9E9-A678-72EFCE37BD9C}"/>
              </a:ext>
            </a:extLst>
          </p:cNvPr>
          <p:cNvPicPr>
            <a:picLocks noChangeAspect="1"/>
          </p:cNvPicPr>
          <p:nvPr/>
        </p:nvPicPr>
        <p:blipFill rotWithShape="1">
          <a:blip r:embed="rId3"/>
          <a:srcRect l="16211" t="19975" r="11426" b="15940"/>
          <a:stretch>
            <a:fillRect/>
          </a:stretch>
        </p:blipFill>
        <p:spPr>
          <a:xfrm>
            <a:off x="282706" y="4503746"/>
            <a:ext cx="9720000" cy="7022503"/>
          </a:xfrm>
          <a:prstGeom prst="rect">
            <a:avLst/>
          </a:prstGeom>
        </p:spPr>
      </p:pic>
      <p:cxnSp>
        <p:nvCxnSpPr>
          <p:cNvPr id="5" name="Straight Connector 4">
            <a:extLst>
              <a:ext uri="{FF2B5EF4-FFF2-40B4-BE49-F238E27FC236}">
                <a16:creationId xmlns:a16="http://schemas.microsoft.com/office/drawing/2014/main" id="{B8D733A5-C210-3AA7-06D2-38C10B9A8729}"/>
              </a:ext>
            </a:extLst>
          </p:cNvPr>
          <p:cNvCxnSpPr>
            <a:cxnSpLocks/>
          </p:cNvCxnSpPr>
          <p:nvPr/>
        </p:nvCxnSpPr>
        <p:spPr>
          <a:xfrm>
            <a:off x="248296" y="7928622"/>
            <a:ext cx="9739979" cy="0"/>
          </a:xfrm>
          <a:prstGeom prst="line">
            <a:avLst/>
          </a:prstGeom>
          <a:ln w="38100">
            <a:solidFill>
              <a:schemeClr val="bg1"/>
            </a:solidFill>
            <a:headEnd type="none"/>
            <a:tailEnd type="none" w="lg" len="lg"/>
          </a:ln>
        </p:spPr>
        <p:style>
          <a:lnRef idx="1">
            <a:schemeClr val="accent1"/>
          </a:lnRef>
          <a:fillRef idx="0">
            <a:schemeClr val="accent1"/>
          </a:fillRef>
          <a:effectRef idx="0">
            <a:schemeClr val="accent1"/>
          </a:effectRef>
          <a:fontRef idx="minor">
            <a:schemeClr val="tx1"/>
          </a:fontRef>
        </p:style>
      </p:cxnSp>
      <p:pic>
        <p:nvPicPr>
          <p:cNvPr id="7" name="Graphic 6" descr="Shield Tick with solid fill">
            <a:extLst>
              <a:ext uri="{FF2B5EF4-FFF2-40B4-BE49-F238E27FC236}">
                <a16:creationId xmlns:a16="http://schemas.microsoft.com/office/drawing/2014/main" id="{DB9234E6-4D75-B78D-1305-094B82ABD24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425763" y="9707437"/>
            <a:ext cx="914400" cy="914400"/>
          </a:xfrm>
          <a:prstGeom prst="rect">
            <a:avLst/>
          </a:prstGeom>
        </p:spPr>
      </p:pic>
      <p:pic>
        <p:nvPicPr>
          <p:cNvPr id="8" name="Graphic 7" descr="Close with solid fill">
            <a:extLst>
              <a:ext uri="{FF2B5EF4-FFF2-40B4-BE49-F238E27FC236}">
                <a16:creationId xmlns:a16="http://schemas.microsoft.com/office/drawing/2014/main" id="{42B697DC-9187-FF81-1FA5-55AE6E44412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425763" y="6050587"/>
            <a:ext cx="914400" cy="914400"/>
          </a:xfrm>
          <a:prstGeom prst="rect">
            <a:avLst/>
          </a:prstGeom>
        </p:spPr>
      </p:pic>
    </p:spTree>
    <p:extLst>
      <p:ext uri="{BB962C8B-B14F-4D97-AF65-F5344CB8AC3E}">
        <p14:creationId xmlns:p14="http://schemas.microsoft.com/office/powerpoint/2010/main" val="108155906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50000"/>
            <a:lum/>
          </a:blip>
          <a:srcRect/>
          <a:tile tx="0" ty="0" sx="100000" sy="100000" flip="none" algn="tl"/>
        </a:blipFill>
        <a:effectLst/>
      </p:bgPr>
    </p:bg>
    <p:spTree>
      <p:nvGrpSpPr>
        <p:cNvPr id="1" name="">
          <a:extLst>
            <a:ext uri="{FF2B5EF4-FFF2-40B4-BE49-F238E27FC236}">
              <a16:creationId xmlns:a16="http://schemas.microsoft.com/office/drawing/2014/main" id="{ACCAD94B-817E-A155-61D3-6891D2303A1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633A1C1-5BD8-6EA4-2916-2C36567F4C7A}"/>
              </a:ext>
            </a:extLst>
          </p:cNvPr>
          <p:cNvSpPr txBox="1"/>
          <p:nvPr/>
        </p:nvSpPr>
        <p:spPr>
          <a:xfrm>
            <a:off x="223306" y="3295311"/>
            <a:ext cx="9838800" cy="1236996"/>
          </a:xfrm>
          <a:prstGeom prst="rect">
            <a:avLst/>
          </a:prstGeom>
          <a:ln/>
        </p:spPr>
        <p:style>
          <a:lnRef idx="0">
            <a:schemeClr val="accent2"/>
          </a:lnRef>
          <a:fillRef idx="3">
            <a:schemeClr val="accent2"/>
          </a:fillRef>
          <a:effectRef idx="3">
            <a:schemeClr val="accent2"/>
          </a:effectRef>
          <a:fontRef idx="minor">
            <a:schemeClr val="lt1"/>
          </a:fontRef>
        </p:style>
        <p:txBody>
          <a:bodyPr wrap="square" rtlCol="0" anchor="ctr" anchorCtr="0">
            <a:noAutofit/>
          </a:bodyPr>
          <a:lstStyle/>
          <a:p>
            <a:pPr algn="ctr"/>
            <a:r>
              <a:rPr lang="en-US" sz="5400" b="1" dirty="0">
                <a:ln w="0"/>
                <a:solidFill>
                  <a:schemeClr val="tx1"/>
                </a:solidFill>
                <a:effectLst>
                  <a:outerShdw blurRad="38100" dist="19050" dir="2700000" algn="tl" rotWithShape="0">
                    <a:schemeClr val="dk1">
                      <a:alpha val="40000"/>
                    </a:schemeClr>
                  </a:outerShdw>
                </a:effectLst>
                <a:latin typeface="+mj-lt"/>
              </a:rPr>
              <a:t>Callback Types: any vs void</a:t>
            </a:r>
            <a:endParaRPr lang="en-GB" sz="4800" b="1" u="sng" dirty="0">
              <a:ln w="0"/>
              <a:solidFill>
                <a:schemeClr val="tx1"/>
              </a:solidFill>
              <a:effectLst>
                <a:outerShdw blurRad="38100" dist="19050" dir="2700000" algn="tl" rotWithShape="0">
                  <a:schemeClr val="dk1">
                    <a:alpha val="40000"/>
                  </a:schemeClr>
                </a:outerShdw>
              </a:effectLst>
              <a:latin typeface="+mj-lt"/>
            </a:endParaRPr>
          </a:p>
        </p:txBody>
      </p:sp>
      <p:sp>
        <p:nvSpPr>
          <p:cNvPr id="13" name="TextBox 12">
            <a:extLst>
              <a:ext uri="{FF2B5EF4-FFF2-40B4-BE49-F238E27FC236}">
                <a16:creationId xmlns:a16="http://schemas.microsoft.com/office/drawing/2014/main" id="{CD9B6027-BD01-9C18-5050-9867721F947E}"/>
              </a:ext>
            </a:extLst>
          </p:cNvPr>
          <p:cNvSpPr txBox="1"/>
          <p:nvPr/>
        </p:nvSpPr>
        <p:spPr>
          <a:xfrm>
            <a:off x="337263" y="9248929"/>
            <a:ext cx="9610887" cy="1966526"/>
          </a:xfrm>
          <a:prstGeom prst="rect">
            <a:avLst/>
          </a:prstGeom>
          <a:noFill/>
        </p:spPr>
        <p:txBody>
          <a:bodyPr wrap="square" rtlCol="0">
            <a:noAutofit/>
          </a:bodyPr>
          <a:lstStyle/>
          <a:p>
            <a:pPr algn="ctr"/>
            <a:r>
              <a:rPr lang="en-GB" sz="7200" dirty="0">
                <a:ln w="0"/>
                <a:solidFill>
                  <a:srgbClr val="C00000"/>
                </a:solidFill>
                <a:effectLst>
                  <a:outerShdw blurRad="38100" dist="25400" dir="5400000" algn="ctr" rotWithShape="0">
                    <a:srgbClr val="6E747A">
                      <a:alpha val="43000"/>
                    </a:srgbClr>
                  </a:outerShdw>
                </a:effectLst>
                <a:latin typeface="Patrick Hand" pitchFamily="2" charset="77"/>
              </a:rPr>
              <a:t>Stop Using 'any' in TypeScript Callbacks</a:t>
            </a:r>
            <a:endParaRPr lang="en-DE" sz="7200" dirty="0">
              <a:ln w="0"/>
              <a:solidFill>
                <a:srgbClr val="C00000"/>
              </a:solidFill>
              <a:effectLst>
                <a:outerShdw blurRad="38100" dist="25400" dir="5400000" algn="ctr" rotWithShape="0">
                  <a:srgbClr val="6E747A">
                    <a:alpha val="43000"/>
                  </a:srgbClr>
                </a:outerShdw>
              </a:effectLst>
              <a:latin typeface="Patrick Hand" pitchFamily="2" charset="77"/>
            </a:endParaRPr>
          </a:p>
        </p:txBody>
      </p:sp>
      <p:pic>
        <p:nvPicPr>
          <p:cNvPr id="3" name="Picture 2">
            <a:extLst>
              <a:ext uri="{FF2B5EF4-FFF2-40B4-BE49-F238E27FC236}">
                <a16:creationId xmlns:a16="http://schemas.microsoft.com/office/drawing/2014/main" id="{326B7D05-2BFC-7B0D-D597-F7A7B03126CF}"/>
              </a:ext>
            </a:extLst>
          </p:cNvPr>
          <p:cNvPicPr>
            <a:picLocks noChangeAspect="1"/>
          </p:cNvPicPr>
          <p:nvPr/>
        </p:nvPicPr>
        <p:blipFill>
          <a:blip r:embed="rId4"/>
          <a:stretch>
            <a:fillRect/>
          </a:stretch>
        </p:blipFill>
        <p:spPr>
          <a:xfrm>
            <a:off x="321693" y="3390795"/>
            <a:ext cx="1062000" cy="1062000"/>
          </a:xfrm>
          <a:prstGeom prst="rect">
            <a:avLst/>
          </a:prstGeom>
        </p:spPr>
      </p:pic>
      <p:pic>
        <p:nvPicPr>
          <p:cNvPr id="2" name="Picture 1">
            <a:extLst>
              <a:ext uri="{FF2B5EF4-FFF2-40B4-BE49-F238E27FC236}">
                <a16:creationId xmlns:a16="http://schemas.microsoft.com/office/drawing/2014/main" id="{51CE5434-848C-FCE7-0A7E-C0BC9651101C}"/>
              </a:ext>
            </a:extLst>
          </p:cNvPr>
          <p:cNvPicPr>
            <a:picLocks noChangeAspect="1"/>
          </p:cNvPicPr>
          <p:nvPr/>
        </p:nvPicPr>
        <p:blipFill rotWithShape="1">
          <a:blip r:embed="rId5"/>
          <a:srcRect l="15128" t="25694" r="10494" b="19880"/>
          <a:stretch>
            <a:fillRect/>
          </a:stretch>
        </p:blipFill>
        <p:spPr>
          <a:xfrm>
            <a:off x="228168" y="4627790"/>
            <a:ext cx="9829077" cy="4366305"/>
          </a:xfrm>
          <a:prstGeom prst="rect">
            <a:avLst/>
          </a:prstGeom>
        </p:spPr>
      </p:pic>
      <p:cxnSp>
        <p:nvCxnSpPr>
          <p:cNvPr id="5" name="Straight Connector 4">
            <a:extLst>
              <a:ext uri="{FF2B5EF4-FFF2-40B4-BE49-F238E27FC236}">
                <a16:creationId xmlns:a16="http://schemas.microsoft.com/office/drawing/2014/main" id="{D30B8567-5C2F-BF22-C5C5-549CF6D17AE3}"/>
              </a:ext>
            </a:extLst>
          </p:cNvPr>
          <p:cNvCxnSpPr>
            <a:cxnSpLocks/>
          </p:cNvCxnSpPr>
          <p:nvPr/>
        </p:nvCxnSpPr>
        <p:spPr>
          <a:xfrm>
            <a:off x="248296" y="6789375"/>
            <a:ext cx="9739979" cy="0"/>
          </a:xfrm>
          <a:prstGeom prst="line">
            <a:avLst/>
          </a:prstGeom>
          <a:ln w="38100">
            <a:solidFill>
              <a:schemeClr val="bg1"/>
            </a:solidFill>
            <a:headEnd type="none"/>
            <a:tailEnd type="none" w="lg" len="lg"/>
          </a:ln>
        </p:spPr>
        <p:style>
          <a:lnRef idx="1">
            <a:schemeClr val="accent1"/>
          </a:lnRef>
          <a:fillRef idx="0">
            <a:schemeClr val="accent1"/>
          </a:fillRef>
          <a:effectRef idx="0">
            <a:schemeClr val="accent1"/>
          </a:effectRef>
          <a:fontRef idx="minor">
            <a:schemeClr val="tx1"/>
          </a:fontRef>
        </p:style>
      </p:cxnSp>
      <p:pic>
        <p:nvPicPr>
          <p:cNvPr id="6" name="Graphic 5" descr="Shield Tick with solid fill">
            <a:extLst>
              <a:ext uri="{FF2B5EF4-FFF2-40B4-BE49-F238E27FC236}">
                <a16:creationId xmlns:a16="http://schemas.microsoft.com/office/drawing/2014/main" id="{CED034E5-55F1-723E-D426-963F1E6FFFD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425763" y="7878644"/>
            <a:ext cx="914400" cy="914400"/>
          </a:xfrm>
          <a:prstGeom prst="rect">
            <a:avLst/>
          </a:prstGeom>
        </p:spPr>
      </p:pic>
      <p:pic>
        <p:nvPicPr>
          <p:cNvPr id="7" name="Graphic 6" descr="Close with solid fill">
            <a:extLst>
              <a:ext uri="{FF2B5EF4-FFF2-40B4-BE49-F238E27FC236}">
                <a16:creationId xmlns:a16="http://schemas.microsoft.com/office/drawing/2014/main" id="{9610F1C5-2BFF-BA90-5ED2-600E6423D28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425763" y="5720806"/>
            <a:ext cx="914400" cy="914400"/>
          </a:xfrm>
          <a:prstGeom prst="rect">
            <a:avLst/>
          </a:prstGeom>
        </p:spPr>
      </p:pic>
    </p:spTree>
    <p:extLst>
      <p:ext uri="{BB962C8B-B14F-4D97-AF65-F5344CB8AC3E}">
        <p14:creationId xmlns:p14="http://schemas.microsoft.com/office/powerpoint/2010/main" val="3202284055"/>
      </p:ext>
    </p:extLst>
  </p:cSld>
  <p:clrMapOvr>
    <a:masterClrMapping/>
  </p:clrMapOvr>
  <p:extLst>
    <p:ext uri="{6950BFC3-D8DA-4A85-94F7-54DA5524770B}">
      <p188:commentRel xmlns:p188="http://schemas.microsoft.com/office/powerpoint/2018/8/main" r:id="rId2"/>
    </p:ext>
  </p:extLst>
</p:sld>
</file>

<file path=ppt/slides/slide51.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effectLst/>
      </p:bgPr>
    </p:bg>
    <p:spTree>
      <p:nvGrpSpPr>
        <p:cNvPr id="1" name="">
          <a:extLst>
            <a:ext uri="{FF2B5EF4-FFF2-40B4-BE49-F238E27FC236}">
              <a16:creationId xmlns:a16="http://schemas.microsoft.com/office/drawing/2014/main" id="{1AFB35A8-885F-AF4B-58B9-DB3E3173A6D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31E7C04-70FD-2A4F-96AD-2F42C2422963}"/>
              </a:ext>
            </a:extLst>
          </p:cNvPr>
          <p:cNvSpPr txBox="1"/>
          <p:nvPr/>
        </p:nvSpPr>
        <p:spPr>
          <a:xfrm>
            <a:off x="282706" y="3171267"/>
            <a:ext cx="9720000" cy="1236996"/>
          </a:xfrm>
          <a:prstGeom prst="rect">
            <a:avLst/>
          </a:prstGeom>
          <a:ln>
            <a:solidFill>
              <a:schemeClr val="tx1"/>
            </a:solidFill>
          </a:ln>
        </p:spPr>
        <p:style>
          <a:lnRef idx="1">
            <a:schemeClr val="accent5"/>
          </a:lnRef>
          <a:fillRef idx="2">
            <a:schemeClr val="accent5"/>
          </a:fillRef>
          <a:effectRef idx="1">
            <a:schemeClr val="accent5"/>
          </a:effectRef>
          <a:fontRef idx="minor">
            <a:schemeClr val="dk1"/>
          </a:fontRef>
        </p:style>
        <p:txBody>
          <a:bodyPr wrap="square" lIns="90000" rtlCol="0" anchor="ctr" anchorCtr="0">
            <a:noAutofit/>
          </a:bodyPr>
          <a:lstStyle/>
          <a:p>
            <a:pPr algn="ctr"/>
            <a:r>
              <a:rPr lang="en-US" sz="5400" b="1" dirty="0">
                <a:ln w="0"/>
                <a:solidFill>
                  <a:schemeClr val="tx1"/>
                </a:solidFill>
                <a:effectLst>
                  <a:outerShdw blurRad="38100" dist="19050" dir="2700000" algn="tl" rotWithShape="0">
                    <a:schemeClr val="dk1">
                      <a:alpha val="40000"/>
                    </a:schemeClr>
                  </a:outerShdw>
                </a:effectLst>
                <a:latin typeface="+mj-lt"/>
              </a:rPr>
              <a:t>Use Type Guards</a:t>
            </a:r>
            <a:endParaRPr lang="en-GB" sz="4800" b="1" u="sng" dirty="0">
              <a:ln w="0"/>
              <a:solidFill>
                <a:schemeClr val="tx1"/>
              </a:solidFill>
              <a:effectLst>
                <a:outerShdw blurRad="38100" dist="19050" dir="2700000" algn="tl" rotWithShape="0">
                  <a:schemeClr val="dk1">
                    <a:alpha val="40000"/>
                  </a:schemeClr>
                </a:outerShdw>
              </a:effectLst>
              <a:latin typeface="+mj-lt"/>
            </a:endParaRPr>
          </a:p>
        </p:txBody>
      </p:sp>
      <p:sp>
        <p:nvSpPr>
          <p:cNvPr id="13" name="TextBox 12">
            <a:extLst>
              <a:ext uri="{FF2B5EF4-FFF2-40B4-BE49-F238E27FC236}">
                <a16:creationId xmlns:a16="http://schemas.microsoft.com/office/drawing/2014/main" id="{A1AF0C9D-2FA5-75D8-645B-F9D9447D5C01}"/>
              </a:ext>
            </a:extLst>
          </p:cNvPr>
          <p:cNvSpPr txBox="1"/>
          <p:nvPr/>
        </p:nvSpPr>
        <p:spPr>
          <a:xfrm>
            <a:off x="282706" y="4440891"/>
            <a:ext cx="9720000" cy="6065775"/>
          </a:xfrm>
          <a:prstGeom prst="rect">
            <a:avLst/>
          </a:prstGeom>
          <a:noFill/>
        </p:spPr>
        <p:txBody>
          <a:bodyPr wrap="square" rtlCol="0">
            <a:noAutofit/>
          </a:bodyPr>
          <a:lstStyle/>
          <a:p>
            <a:pPr algn="just"/>
            <a:r>
              <a:rPr lang="en-GB" sz="4000" dirty="0">
                <a:ln w="0"/>
                <a:solidFill>
                  <a:srgbClr val="FF0000"/>
                </a:solidFill>
                <a:effectLst>
                  <a:outerShdw blurRad="38100" dist="19050" dir="2700000" algn="tl" rotWithShape="0">
                    <a:schemeClr val="dk1">
                      <a:alpha val="40000"/>
                    </a:schemeClr>
                  </a:outerShdw>
                </a:effectLst>
                <a:latin typeface="+mj-lt"/>
              </a:rPr>
              <a:t>Type guards </a:t>
            </a:r>
            <a:r>
              <a:rPr lang="en-GB" sz="4000" dirty="0">
                <a:ln w="0"/>
                <a:effectLst>
                  <a:outerShdw blurRad="38100" dist="19050" dir="2700000" algn="tl" rotWithShape="0">
                    <a:schemeClr val="dk1">
                      <a:alpha val="40000"/>
                    </a:schemeClr>
                  </a:outerShdw>
                </a:effectLst>
                <a:latin typeface="+mj-lt"/>
              </a:rPr>
              <a:t>are a powerful feature in</a:t>
            </a:r>
          </a:p>
          <a:p>
            <a:pPr algn="just"/>
            <a:r>
              <a:rPr lang="en-GB" sz="4000" dirty="0">
                <a:ln w="0"/>
                <a:effectLst>
                  <a:outerShdw blurRad="38100" dist="19050" dir="2700000" algn="tl" rotWithShape="0">
                    <a:schemeClr val="dk1">
                      <a:alpha val="40000"/>
                    </a:schemeClr>
                  </a:outerShdw>
                </a:effectLst>
                <a:latin typeface="+mj-lt"/>
              </a:rPr>
              <a:t>TypeScript that allow you to narrow down</a:t>
            </a:r>
          </a:p>
          <a:p>
            <a:pPr algn="just"/>
            <a:r>
              <a:rPr lang="en-GB" sz="4000" dirty="0">
                <a:ln w="0"/>
                <a:effectLst>
                  <a:outerShdw blurRad="38100" dist="19050" dir="2700000" algn="tl" rotWithShape="0">
                    <a:schemeClr val="dk1">
                      <a:alpha val="40000"/>
                    </a:schemeClr>
                  </a:outerShdw>
                </a:effectLst>
                <a:latin typeface="+mj-lt"/>
              </a:rPr>
              <a:t>the type of an object within a conditional block.</a:t>
            </a:r>
          </a:p>
          <a:p>
            <a:pPr algn="just"/>
            <a:endParaRPr lang="en-GB" sz="4000" dirty="0">
              <a:ln w="0"/>
              <a:effectLst>
                <a:outerShdw blurRad="38100" dist="19050" dir="2700000" algn="tl" rotWithShape="0">
                  <a:schemeClr val="dk1">
                    <a:alpha val="40000"/>
                  </a:schemeClr>
                </a:outerShdw>
              </a:effectLst>
              <a:latin typeface="+mj-lt"/>
            </a:endParaRPr>
          </a:p>
          <a:p>
            <a:pPr algn="just"/>
            <a:r>
              <a:rPr lang="en-GB" sz="4000" dirty="0">
                <a:ln w="0"/>
                <a:effectLst>
                  <a:outerShdw blurRad="38100" dist="19050" dir="2700000" algn="tl" rotWithShape="0">
                    <a:schemeClr val="dk1">
                      <a:alpha val="40000"/>
                    </a:schemeClr>
                  </a:outerShdw>
                </a:effectLst>
                <a:latin typeface="+mj-lt"/>
              </a:rPr>
              <a:t>This is particularly useful when dealing with</a:t>
            </a:r>
          </a:p>
          <a:p>
            <a:pPr algn="just"/>
            <a:r>
              <a:rPr lang="en-GB" sz="4000" dirty="0">
                <a:ln w="0"/>
                <a:effectLst>
                  <a:outerShdw blurRad="38100" dist="19050" dir="2700000" algn="tl" rotWithShape="0">
                    <a:schemeClr val="dk1">
                      <a:alpha val="40000"/>
                    </a:schemeClr>
                  </a:outerShdw>
                </a:effectLst>
                <a:latin typeface="+mj-lt"/>
              </a:rPr>
              <a:t>values of type </a:t>
            </a:r>
            <a:r>
              <a:rPr lang="en-GB" sz="4000" dirty="0">
                <a:ln w="0"/>
                <a:solidFill>
                  <a:srgbClr val="FF0000"/>
                </a:solidFill>
                <a:effectLst>
                  <a:outerShdw blurRad="38100" dist="19050" dir="2700000" algn="tl" rotWithShape="0">
                    <a:schemeClr val="dk1">
                      <a:alpha val="40000"/>
                    </a:schemeClr>
                  </a:outerShdw>
                </a:effectLst>
                <a:latin typeface="+mj-lt"/>
              </a:rPr>
              <a:t>unknown</a:t>
            </a:r>
            <a:r>
              <a:rPr lang="en-GB" sz="4000" dirty="0">
                <a:ln w="0"/>
                <a:effectLst>
                  <a:outerShdw blurRad="38100" dist="19050" dir="2700000" algn="tl" rotWithShape="0">
                    <a:schemeClr val="dk1">
                      <a:alpha val="40000"/>
                    </a:schemeClr>
                  </a:outerShdw>
                </a:effectLst>
                <a:latin typeface="+mj-lt"/>
              </a:rPr>
              <a:t> or </a:t>
            </a:r>
            <a:r>
              <a:rPr lang="en-GB" sz="4000" dirty="0">
                <a:ln w="0"/>
                <a:solidFill>
                  <a:srgbClr val="FF0000"/>
                </a:solidFill>
                <a:effectLst>
                  <a:outerShdw blurRad="38100" dist="19050" dir="2700000" algn="tl" rotWithShape="0">
                    <a:schemeClr val="dk1">
                      <a:alpha val="40000"/>
                    </a:schemeClr>
                  </a:outerShdw>
                </a:effectLst>
                <a:latin typeface="+mj-lt"/>
              </a:rPr>
              <a:t>any</a:t>
            </a:r>
            <a:r>
              <a:rPr lang="en-GB" sz="4000" dirty="0">
                <a:ln w="0"/>
                <a:effectLst>
                  <a:outerShdw blurRad="38100" dist="19050" dir="2700000" algn="tl" rotWithShape="0">
                    <a:schemeClr val="dk1">
                      <a:alpha val="40000"/>
                    </a:schemeClr>
                  </a:outerShdw>
                </a:effectLst>
                <a:latin typeface="+mj-lt"/>
              </a:rPr>
              <a:t>, ensuring type safety</a:t>
            </a:r>
          </a:p>
          <a:p>
            <a:pPr algn="just"/>
            <a:r>
              <a:rPr lang="en-GB" sz="4000" dirty="0">
                <a:ln w="0"/>
                <a:effectLst>
                  <a:outerShdw blurRad="38100" dist="19050" dir="2700000" algn="tl" rotWithShape="0">
                    <a:schemeClr val="dk1">
                      <a:alpha val="40000"/>
                    </a:schemeClr>
                  </a:outerShdw>
                </a:effectLst>
                <a:latin typeface="+mj-lt"/>
              </a:rPr>
              <a:t> before accessing properties of the object.</a:t>
            </a:r>
            <a:endParaRPr lang="en-DE" sz="4000" dirty="0">
              <a:ln w="0"/>
              <a:effectLst>
                <a:outerShdw blurRad="38100" dist="19050" dir="2700000" algn="tl" rotWithShape="0">
                  <a:schemeClr val="dk1">
                    <a:alpha val="40000"/>
                  </a:schemeClr>
                </a:outerShdw>
              </a:effectLst>
              <a:latin typeface="+mj-lt"/>
            </a:endParaRPr>
          </a:p>
        </p:txBody>
      </p:sp>
      <p:pic>
        <p:nvPicPr>
          <p:cNvPr id="3" name="Picture 2">
            <a:extLst>
              <a:ext uri="{FF2B5EF4-FFF2-40B4-BE49-F238E27FC236}">
                <a16:creationId xmlns:a16="http://schemas.microsoft.com/office/drawing/2014/main" id="{65BC2FCD-5FD6-A699-B1D4-D5746ED09FE6}"/>
              </a:ext>
            </a:extLst>
          </p:cNvPr>
          <p:cNvPicPr>
            <a:picLocks noChangeAspect="1"/>
          </p:cNvPicPr>
          <p:nvPr/>
        </p:nvPicPr>
        <p:blipFill>
          <a:blip r:embed="rId2"/>
          <a:stretch>
            <a:fillRect/>
          </a:stretch>
        </p:blipFill>
        <p:spPr>
          <a:xfrm>
            <a:off x="402973" y="3266751"/>
            <a:ext cx="1062000" cy="1062000"/>
          </a:xfrm>
          <a:prstGeom prst="rect">
            <a:avLst/>
          </a:prstGeom>
        </p:spPr>
      </p:pic>
      <p:sp>
        <p:nvSpPr>
          <p:cNvPr id="21" name="TextBox 20">
            <a:extLst>
              <a:ext uri="{FF2B5EF4-FFF2-40B4-BE49-F238E27FC236}">
                <a16:creationId xmlns:a16="http://schemas.microsoft.com/office/drawing/2014/main" id="{96CF3F9B-68EB-7199-63DB-D8E823C8D3EC}"/>
              </a:ext>
            </a:extLst>
          </p:cNvPr>
          <p:cNvSpPr txBox="1"/>
          <p:nvPr/>
        </p:nvSpPr>
        <p:spPr>
          <a:xfrm>
            <a:off x="282706" y="10725663"/>
            <a:ext cx="9720000" cy="2347785"/>
          </a:xfrm>
          <a:prstGeom prst="rect">
            <a:avLst/>
          </a:prstGeom>
          <a:noFill/>
        </p:spPr>
        <p:txBody>
          <a:bodyPr wrap="square" rtlCol="0">
            <a:noAutofit/>
          </a:bodyPr>
          <a:lstStyle/>
          <a:p>
            <a:r>
              <a:rPr lang="en-GB" sz="3600" dirty="0">
                <a:latin typeface="Monaco" pitchFamily="2" charset="77"/>
                <a:ea typeface="Menlo" panose="020B0609030804020204" pitchFamily="49" charset="0"/>
                <a:cs typeface="Menlo" panose="020B0609030804020204" pitchFamily="49" charset="0"/>
              </a:rPr>
              <a:t>type Response = {</a:t>
            </a:r>
          </a:p>
          <a:p>
            <a:r>
              <a:rPr lang="en-GB" sz="3600" dirty="0">
                <a:latin typeface="Monaco" pitchFamily="2" charset="77"/>
                <a:ea typeface="Menlo" panose="020B0609030804020204" pitchFamily="49" charset="0"/>
                <a:cs typeface="Menlo" panose="020B0609030804020204" pitchFamily="49" charset="0"/>
              </a:rPr>
              <a:t>status: number;</a:t>
            </a:r>
          </a:p>
          <a:p>
            <a:r>
              <a:rPr lang="en-GB" sz="3600" dirty="0">
                <a:latin typeface="Monaco" pitchFamily="2" charset="77"/>
                <a:ea typeface="Menlo" panose="020B0609030804020204" pitchFamily="49" charset="0"/>
                <a:cs typeface="Menlo" panose="020B0609030804020204" pitchFamily="49" charset="0"/>
              </a:rPr>
              <a:t>message?: string;</a:t>
            </a:r>
          </a:p>
          <a:p>
            <a:r>
              <a:rPr lang="en-GB" sz="3600" dirty="0">
                <a:latin typeface="Monaco" pitchFamily="2" charset="77"/>
                <a:ea typeface="Menlo" panose="020B0609030804020204" pitchFamily="49" charset="0"/>
                <a:cs typeface="Menlo" panose="020B0609030804020204" pitchFamily="49" charset="0"/>
              </a:rPr>
              <a:t>};</a:t>
            </a:r>
          </a:p>
          <a:p>
            <a:br>
              <a:rPr lang="en-GB" sz="3600" dirty="0">
                <a:latin typeface="Monaco" pitchFamily="2" charset="77"/>
                <a:ea typeface="Menlo" panose="020B0609030804020204" pitchFamily="49" charset="0"/>
                <a:cs typeface="Menlo" panose="020B0609030804020204" pitchFamily="49" charset="0"/>
              </a:rPr>
            </a:br>
            <a:endParaRPr lang="en-GB" sz="3600" dirty="0">
              <a:latin typeface="Monaco" pitchFamily="2" charset="77"/>
              <a:ea typeface="Menlo" panose="020B0609030804020204" pitchFamily="49" charset="0"/>
              <a:cs typeface="Menlo" panose="020B0609030804020204" pitchFamily="49" charset="0"/>
            </a:endParaRPr>
          </a:p>
        </p:txBody>
      </p:sp>
    </p:spTree>
    <p:extLst>
      <p:ext uri="{BB962C8B-B14F-4D97-AF65-F5344CB8AC3E}">
        <p14:creationId xmlns:p14="http://schemas.microsoft.com/office/powerpoint/2010/main" val="351835306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effectLst/>
      </p:bgPr>
    </p:bg>
    <p:spTree>
      <p:nvGrpSpPr>
        <p:cNvPr id="1" name="">
          <a:extLst>
            <a:ext uri="{FF2B5EF4-FFF2-40B4-BE49-F238E27FC236}">
              <a16:creationId xmlns:a16="http://schemas.microsoft.com/office/drawing/2014/main" id="{504716E5-4C43-CF1C-AA7B-6E605359423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2F8BA8F-867C-CB22-00CF-766478D20AAF}"/>
              </a:ext>
            </a:extLst>
          </p:cNvPr>
          <p:cNvSpPr txBox="1"/>
          <p:nvPr/>
        </p:nvSpPr>
        <p:spPr>
          <a:xfrm>
            <a:off x="282706" y="3171267"/>
            <a:ext cx="9720000" cy="1236996"/>
          </a:xfrm>
          <a:prstGeom prst="rect">
            <a:avLst/>
          </a:prstGeom>
          <a:ln>
            <a:solidFill>
              <a:schemeClr val="tx1"/>
            </a:solidFill>
          </a:ln>
        </p:spPr>
        <p:style>
          <a:lnRef idx="1">
            <a:schemeClr val="accent5"/>
          </a:lnRef>
          <a:fillRef idx="2">
            <a:schemeClr val="accent5"/>
          </a:fillRef>
          <a:effectRef idx="1">
            <a:schemeClr val="accent5"/>
          </a:effectRef>
          <a:fontRef idx="minor">
            <a:schemeClr val="dk1"/>
          </a:fontRef>
        </p:style>
        <p:txBody>
          <a:bodyPr wrap="square" lIns="90000" rtlCol="0" anchor="ctr" anchorCtr="0">
            <a:noAutofit/>
          </a:bodyPr>
          <a:lstStyle/>
          <a:p>
            <a:pPr algn="ctr"/>
            <a:r>
              <a:rPr lang="en-US" sz="5400" b="1" dirty="0">
                <a:ln w="0"/>
                <a:solidFill>
                  <a:schemeClr val="tx1"/>
                </a:solidFill>
                <a:effectLst>
                  <a:outerShdw blurRad="38100" dist="19050" dir="2700000" algn="tl" rotWithShape="0">
                    <a:schemeClr val="dk1">
                      <a:alpha val="40000"/>
                    </a:schemeClr>
                  </a:outerShdw>
                </a:effectLst>
                <a:latin typeface="+mj-lt"/>
              </a:rPr>
              <a:t>Use Type Guards</a:t>
            </a:r>
            <a:endParaRPr lang="en-GB" sz="4800" b="1" u="sng" dirty="0">
              <a:ln w="0"/>
              <a:solidFill>
                <a:schemeClr val="tx1"/>
              </a:solidFill>
              <a:effectLst>
                <a:outerShdw blurRad="38100" dist="19050" dir="2700000" algn="tl" rotWithShape="0">
                  <a:schemeClr val="dk1">
                    <a:alpha val="40000"/>
                  </a:schemeClr>
                </a:outerShdw>
              </a:effectLst>
              <a:latin typeface="+mj-lt"/>
            </a:endParaRPr>
          </a:p>
        </p:txBody>
      </p:sp>
      <p:sp>
        <p:nvSpPr>
          <p:cNvPr id="13" name="TextBox 12">
            <a:extLst>
              <a:ext uri="{FF2B5EF4-FFF2-40B4-BE49-F238E27FC236}">
                <a16:creationId xmlns:a16="http://schemas.microsoft.com/office/drawing/2014/main" id="{A6F237B3-0B1E-F524-E2A2-E1B3B381B3F5}"/>
              </a:ext>
            </a:extLst>
          </p:cNvPr>
          <p:cNvSpPr txBox="1"/>
          <p:nvPr/>
        </p:nvSpPr>
        <p:spPr>
          <a:xfrm>
            <a:off x="282706" y="4425392"/>
            <a:ext cx="9720000" cy="1499148"/>
          </a:xfrm>
          <a:prstGeom prst="rect">
            <a:avLst/>
          </a:prstGeom>
          <a:noFill/>
        </p:spPr>
        <p:txBody>
          <a:bodyPr wrap="square" rtlCol="0">
            <a:noAutofit/>
          </a:bodyPr>
          <a:lstStyle/>
          <a:p>
            <a:r>
              <a:rPr lang="en-GB" sz="3600" dirty="0">
                <a:ln w="0"/>
                <a:effectLst>
                  <a:outerShdw blurRad="38100" dist="19050" dir="2700000" algn="tl" rotWithShape="0">
                    <a:schemeClr val="dk1">
                      <a:alpha val="40000"/>
                    </a:schemeClr>
                  </a:outerShdw>
                </a:effectLst>
                <a:latin typeface="+mj-lt"/>
              </a:rPr>
              <a:t>This is a custom </a:t>
            </a:r>
            <a:r>
              <a:rPr lang="en-GB" sz="3600" dirty="0">
                <a:ln w="0"/>
                <a:solidFill>
                  <a:srgbClr val="FF0000"/>
                </a:solidFill>
                <a:effectLst>
                  <a:outerShdw blurRad="38100" dist="19050" dir="2700000" algn="tl" rotWithShape="0">
                    <a:schemeClr val="dk1">
                      <a:alpha val="40000"/>
                    </a:schemeClr>
                  </a:outerShdw>
                </a:effectLst>
                <a:latin typeface="+mj-lt"/>
              </a:rPr>
              <a:t>Type Guard</a:t>
            </a:r>
            <a:r>
              <a:rPr lang="en-GB" sz="3600" dirty="0">
                <a:ln w="0"/>
                <a:effectLst>
                  <a:outerShdw blurRad="38100" dist="19050" dir="2700000" algn="tl" rotWithShape="0">
                    <a:schemeClr val="dk1">
                      <a:alpha val="40000"/>
                    </a:schemeClr>
                  </a:outerShdw>
                </a:effectLst>
                <a:latin typeface="+mj-lt"/>
              </a:rPr>
              <a:t>. It checks</a:t>
            </a:r>
          </a:p>
          <a:p>
            <a:r>
              <a:rPr lang="en-GB" sz="3600" dirty="0">
                <a:ln w="0"/>
                <a:effectLst>
                  <a:outerShdw blurRad="38100" dist="19050" dir="2700000" algn="tl" rotWithShape="0">
                    <a:schemeClr val="dk1">
                      <a:alpha val="40000"/>
                    </a:schemeClr>
                  </a:outerShdw>
                </a:effectLst>
                <a:latin typeface="+mj-lt"/>
              </a:rPr>
              <a:t>if an unknown value is a Response object.</a:t>
            </a:r>
            <a:endParaRPr lang="en-DE" sz="3600" dirty="0">
              <a:ln w="0"/>
              <a:effectLst>
                <a:outerShdw blurRad="38100" dist="19050" dir="2700000" algn="tl" rotWithShape="0">
                  <a:schemeClr val="dk1">
                    <a:alpha val="40000"/>
                  </a:schemeClr>
                </a:outerShdw>
              </a:effectLst>
              <a:latin typeface="+mj-lt"/>
            </a:endParaRPr>
          </a:p>
        </p:txBody>
      </p:sp>
      <p:pic>
        <p:nvPicPr>
          <p:cNvPr id="3" name="Picture 2">
            <a:extLst>
              <a:ext uri="{FF2B5EF4-FFF2-40B4-BE49-F238E27FC236}">
                <a16:creationId xmlns:a16="http://schemas.microsoft.com/office/drawing/2014/main" id="{389149CF-EC33-E562-8504-DDB14E6E6237}"/>
              </a:ext>
            </a:extLst>
          </p:cNvPr>
          <p:cNvPicPr>
            <a:picLocks noChangeAspect="1"/>
          </p:cNvPicPr>
          <p:nvPr/>
        </p:nvPicPr>
        <p:blipFill>
          <a:blip r:embed="rId2"/>
          <a:stretch>
            <a:fillRect/>
          </a:stretch>
        </p:blipFill>
        <p:spPr>
          <a:xfrm>
            <a:off x="402973" y="3266751"/>
            <a:ext cx="1062000" cy="1062000"/>
          </a:xfrm>
          <a:prstGeom prst="rect">
            <a:avLst/>
          </a:prstGeom>
        </p:spPr>
      </p:pic>
      <p:pic>
        <p:nvPicPr>
          <p:cNvPr id="2" name="Picture 1">
            <a:extLst>
              <a:ext uri="{FF2B5EF4-FFF2-40B4-BE49-F238E27FC236}">
                <a16:creationId xmlns:a16="http://schemas.microsoft.com/office/drawing/2014/main" id="{06BC894D-A871-2FDF-B3DF-4E53E156E420}"/>
              </a:ext>
            </a:extLst>
          </p:cNvPr>
          <p:cNvPicPr>
            <a:picLocks noChangeAspect="1"/>
          </p:cNvPicPr>
          <p:nvPr/>
        </p:nvPicPr>
        <p:blipFill rotWithShape="1">
          <a:blip r:embed="rId3"/>
          <a:srcRect l="19258" t="23379" r="11218" b="19155"/>
          <a:stretch>
            <a:fillRect/>
          </a:stretch>
        </p:blipFill>
        <p:spPr>
          <a:xfrm>
            <a:off x="282706" y="5966847"/>
            <a:ext cx="9720000" cy="6434365"/>
          </a:xfrm>
          <a:prstGeom prst="rect">
            <a:avLst/>
          </a:prstGeom>
        </p:spPr>
      </p:pic>
    </p:spTree>
    <p:extLst>
      <p:ext uri="{BB962C8B-B14F-4D97-AF65-F5344CB8AC3E}">
        <p14:creationId xmlns:p14="http://schemas.microsoft.com/office/powerpoint/2010/main" val="134330867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effectLst/>
      </p:bgPr>
    </p:bg>
    <p:spTree>
      <p:nvGrpSpPr>
        <p:cNvPr id="1" name="">
          <a:extLst>
            <a:ext uri="{FF2B5EF4-FFF2-40B4-BE49-F238E27FC236}">
              <a16:creationId xmlns:a16="http://schemas.microsoft.com/office/drawing/2014/main" id="{02D01AB4-CB32-2536-9E50-1A91B6209C0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B478FDF-5ECB-A685-DA3C-86C9E9C80BE1}"/>
              </a:ext>
            </a:extLst>
          </p:cNvPr>
          <p:cNvSpPr txBox="1"/>
          <p:nvPr/>
        </p:nvSpPr>
        <p:spPr>
          <a:xfrm>
            <a:off x="282706" y="3171267"/>
            <a:ext cx="9720000" cy="1236996"/>
          </a:xfrm>
          <a:prstGeom prst="rect">
            <a:avLst/>
          </a:prstGeom>
          <a:ln>
            <a:solidFill>
              <a:schemeClr val="tx1"/>
            </a:solidFill>
          </a:ln>
        </p:spPr>
        <p:style>
          <a:lnRef idx="1">
            <a:schemeClr val="accent5"/>
          </a:lnRef>
          <a:fillRef idx="2">
            <a:schemeClr val="accent5"/>
          </a:fillRef>
          <a:effectRef idx="1">
            <a:schemeClr val="accent5"/>
          </a:effectRef>
          <a:fontRef idx="minor">
            <a:schemeClr val="dk1"/>
          </a:fontRef>
        </p:style>
        <p:txBody>
          <a:bodyPr wrap="square" lIns="90000" rtlCol="0" anchor="ctr" anchorCtr="0">
            <a:noAutofit/>
          </a:bodyPr>
          <a:lstStyle/>
          <a:p>
            <a:pPr algn="ctr"/>
            <a:r>
              <a:rPr lang="en-US" sz="5400" b="1" dirty="0">
                <a:ln w="0"/>
                <a:solidFill>
                  <a:schemeClr val="tx1"/>
                </a:solidFill>
                <a:effectLst>
                  <a:outerShdw blurRad="38100" dist="19050" dir="2700000" algn="tl" rotWithShape="0">
                    <a:schemeClr val="dk1">
                      <a:alpha val="40000"/>
                    </a:schemeClr>
                  </a:outerShdw>
                </a:effectLst>
                <a:latin typeface="+mj-lt"/>
              </a:rPr>
              <a:t>Use Type Guards</a:t>
            </a:r>
            <a:endParaRPr lang="en-GB" sz="4800" b="1" u="sng" dirty="0">
              <a:ln w="0"/>
              <a:solidFill>
                <a:schemeClr val="tx1"/>
              </a:solidFill>
              <a:effectLst>
                <a:outerShdw blurRad="38100" dist="19050" dir="2700000" algn="tl" rotWithShape="0">
                  <a:schemeClr val="dk1">
                    <a:alpha val="40000"/>
                  </a:schemeClr>
                </a:outerShdw>
              </a:effectLst>
              <a:latin typeface="+mj-lt"/>
            </a:endParaRPr>
          </a:p>
        </p:txBody>
      </p:sp>
      <p:sp>
        <p:nvSpPr>
          <p:cNvPr id="13" name="TextBox 12">
            <a:extLst>
              <a:ext uri="{FF2B5EF4-FFF2-40B4-BE49-F238E27FC236}">
                <a16:creationId xmlns:a16="http://schemas.microsoft.com/office/drawing/2014/main" id="{F992A551-552D-296B-B696-8E80E42A6021}"/>
              </a:ext>
            </a:extLst>
          </p:cNvPr>
          <p:cNvSpPr txBox="1"/>
          <p:nvPr/>
        </p:nvSpPr>
        <p:spPr>
          <a:xfrm>
            <a:off x="282706" y="4425392"/>
            <a:ext cx="9720000" cy="1499148"/>
          </a:xfrm>
          <a:prstGeom prst="rect">
            <a:avLst/>
          </a:prstGeom>
          <a:noFill/>
        </p:spPr>
        <p:txBody>
          <a:bodyPr wrap="square" rtlCol="0">
            <a:noAutofit/>
          </a:bodyPr>
          <a:lstStyle/>
          <a:p>
            <a:r>
              <a:rPr lang="en-GB" sz="3600" dirty="0">
                <a:ln w="0"/>
                <a:effectLst>
                  <a:outerShdw blurRad="38100" dist="19050" dir="2700000" algn="tl" rotWithShape="0">
                    <a:schemeClr val="dk1">
                      <a:alpha val="40000"/>
                    </a:schemeClr>
                  </a:outerShdw>
                </a:effectLst>
                <a:latin typeface="+mj-lt"/>
              </a:rPr>
              <a:t>Here is shown how to write the </a:t>
            </a:r>
            <a:r>
              <a:rPr lang="en-GB" sz="3600" dirty="0">
                <a:ln w="0"/>
                <a:solidFill>
                  <a:srgbClr val="FF0000"/>
                </a:solidFill>
                <a:effectLst>
                  <a:outerShdw blurRad="38100" dist="19050" dir="2700000" algn="tl" rotWithShape="0">
                    <a:schemeClr val="dk1">
                      <a:alpha val="40000"/>
                    </a:schemeClr>
                  </a:outerShdw>
                </a:effectLst>
                <a:latin typeface="+mj-lt"/>
              </a:rPr>
              <a:t>Type Guard </a:t>
            </a:r>
          </a:p>
          <a:p>
            <a:r>
              <a:rPr lang="en-GB" sz="3600" dirty="0">
                <a:ln w="0"/>
                <a:effectLst>
                  <a:outerShdw blurRad="38100" dist="19050" dir="2700000" algn="tl" rotWithShape="0">
                    <a:schemeClr val="dk1">
                      <a:alpha val="40000"/>
                    </a:schemeClr>
                  </a:outerShdw>
                </a:effectLst>
                <a:latin typeface="+mj-lt"/>
              </a:rPr>
              <a:t>Function that handles the response. </a:t>
            </a:r>
            <a:endParaRPr lang="en-DE" sz="3600" dirty="0">
              <a:ln w="0"/>
              <a:effectLst>
                <a:outerShdw blurRad="38100" dist="19050" dir="2700000" algn="tl" rotWithShape="0">
                  <a:schemeClr val="dk1">
                    <a:alpha val="40000"/>
                  </a:schemeClr>
                </a:outerShdw>
              </a:effectLst>
              <a:latin typeface="+mj-lt"/>
            </a:endParaRPr>
          </a:p>
        </p:txBody>
      </p:sp>
      <p:pic>
        <p:nvPicPr>
          <p:cNvPr id="3" name="Picture 2">
            <a:extLst>
              <a:ext uri="{FF2B5EF4-FFF2-40B4-BE49-F238E27FC236}">
                <a16:creationId xmlns:a16="http://schemas.microsoft.com/office/drawing/2014/main" id="{6FBFFC65-C30C-413D-3125-24867E1AECBA}"/>
              </a:ext>
            </a:extLst>
          </p:cNvPr>
          <p:cNvPicPr>
            <a:picLocks noChangeAspect="1"/>
          </p:cNvPicPr>
          <p:nvPr/>
        </p:nvPicPr>
        <p:blipFill>
          <a:blip r:embed="rId2"/>
          <a:stretch>
            <a:fillRect/>
          </a:stretch>
        </p:blipFill>
        <p:spPr>
          <a:xfrm>
            <a:off x="402973" y="3266751"/>
            <a:ext cx="1062000" cy="1062000"/>
          </a:xfrm>
          <a:prstGeom prst="rect">
            <a:avLst/>
          </a:prstGeom>
        </p:spPr>
      </p:pic>
      <p:pic>
        <p:nvPicPr>
          <p:cNvPr id="8" name="Picture 7">
            <a:extLst>
              <a:ext uri="{FF2B5EF4-FFF2-40B4-BE49-F238E27FC236}">
                <a16:creationId xmlns:a16="http://schemas.microsoft.com/office/drawing/2014/main" id="{F2667FC8-FB7E-6F0F-E4E7-5D8CFC39602E}"/>
              </a:ext>
            </a:extLst>
          </p:cNvPr>
          <p:cNvPicPr>
            <a:picLocks noChangeAspect="1"/>
          </p:cNvPicPr>
          <p:nvPr/>
        </p:nvPicPr>
        <p:blipFill rotWithShape="1">
          <a:blip r:embed="rId3"/>
          <a:srcRect l="21630" t="27409" r="14989" b="21320"/>
          <a:stretch>
            <a:fillRect/>
          </a:stretch>
        </p:blipFill>
        <p:spPr>
          <a:xfrm>
            <a:off x="282706" y="5924540"/>
            <a:ext cx="9720000" cy="6764767"/>
          </a:xfrm>
          <a:prstGeom prst="rect">
            <a:avLst/>
          </a:prstGeom>
        </p:spPr>
      </p:pic>
    </p:spTree>
    <p:extLst>
      <p:ext uri="{BB962C8B-B14F-4D97-AF65-F5344CB8AC3E}">
        <p14:creationId xmlns:p14="http://schemas.microsoft.com/office/powerpoint/2010/main" val="411903953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60000"/>
            <a:lum/>
          </a:blip>
          <a:srcRect/>
          <a:tile tx="0" ty="0" sx="100000" sy="100000" flip="none" algn="tl"/>
        </a:blipFill>
        <a:effectLst/>
      </p:bgPr>
    </p:bg>
    <p:spTree>
      <p:nvGrpSpPr>
        <p:cNvPr id="1" name="">
          <a:extLst>
            <a:ext uri="{FF2B5EF4-FFF2-40B4-BE49-F238E27FC236}">
              <a16:creationId xmlns:a16="http://schemas.microsoft.com/office/drawing/2014/main" id="{862DF4B5-F7DB-6126-41BF-D2BB7472934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E28C539-AD26-6326-DE64-8B3F986BF37E}"/>
              </a:ext>
            </a:extLst>
          </p:cNvPr>
          <p:cNvSpPr txBox="1"/>
          <p:nvPr/>
        </p:nvSpPr>
        <p:spPr>
          <a:xfrm>
            <a:off x="223306" y="3089361"/>
            <a:ext cx="9838800" cy="1236996"/>
          </a:xfrm>
          <a:prstGeom prst="rect">
            <a:avLst/>
          </a:prstGeom>
          <a:gradFill>
            <a:gsLst>
              <a:gs pos="100000">
                <a:srgbClr val="7030A0"/>
              </a:gs>
              <a:gs pos="0">
                <a:schemeClr val="accent2">
                  <a:satMod val="103000"/>
                  <a:lumMod val="102000"/>
                  <a:tint val="94000"/>
                </a:schemeClr>
              </a:gs>
              <a:gs pos="21000">
                <a:schemeClr val="accent2">
                  <a:satMod val="110000"/>
                  <a:lumMod val="100000"/>
                  <a:shade val="100000"/>
                </a:schemeClr>
              </a:gs>
              <a:gs pos="100000">
                <a:schemeClr val="accent2">
                  <a:lumMod val="99000"/>
                  <a:satMod val="120000"/>
                  <a:shade val="78000"/>
                </a:schemeClr>
              </a:gs>
            </a:gsLst>
          </a:gradFill>
          <a:ln/>
        </p:spPr>
        <p:style>
          <a:lnRef idx="0">
            <a:schemeClr val="accent2"/>
          </a:lnRef>
          <a:fillRef idx="3">
            <a:schemeClr val="accent2"/>
          </a:fillRef>
          <a:effectRef idx="3">
            <a:schemeClr val="accent2"/>
          </a:effectRef>
          <a:fontRef idx="minor">
            <a:schemeClr val="lt1"/>
          </a:fontRef>
        </p:style>
        <p:txBody>
          <a:bodyPr wrap="square" rtlCol="0" anchor="ctr" anchorCtr="0">
            <a:no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6600" b="1" dirty="0">
                <a:ln w="12700">
                  <a:solidFill>
                    <a:schemeClr val="bg1"/>
                  </a:solidFill>
                  <a:prstDash val="solid"/>
                </a:ln>
                <a:solidFill>
                  <a:schemeClr val="bg1"/>
                </a:solidFill>
                <a:effectLst>
                  <a:outerShdw dist="38100" dir="2640000" algn="bl" rotWithShape="0">
                    <a:schemeClr val="tx2">
                      <a:lumMod val="75000"/>
                    </a:schemeClr>
                  </a:outerShdw>
                </a:effectLst>
                <a:latin typeface="+mj-lt"/>
              </a:rPr>
              <a:t>Callbacks: avoid ?:</a:t>
            </a:r>
            <a:endParaRPr lang="en-GB" sz="6000" b="1" dirty="0">
              <a:ln w="12700">
                <a:solidFill>
                  <a:schemeClr val="bg1"/>
                </a:solidFill>
                <a:prstDash val="solid"/>
              </a:ln>
              <a:solidFill>
                <a:schemeClr val="bg1"/>
              </a:solidFill>
              <a:effectLst>
                <a:outerShdw dist="38100" dir="2640000" algn="bl" rotWithShape="0">
                  <a:schemeClr val="tx2">
                    <a:lumMod val="75000"/>
                  </a:schemeClr>
                </a:outerShdw>
              </a:effectLst>
              <a:latin typeface="+mj-lt"/>
            </a:endParaRPr>
          </a:p>
        </p:txBody>
      </p:sp>
      <p:sp>
        <p:nvSpPr>
          <p:cNvPr id="13" name="TextBox 12">
            <a:extLst>
              <a:ext uri="{FF2B5EF4-FFF2-40B4-BE49-F238E27FC236}">
                <a16:creationId xmlns:a16="http://schemas.microsoft.com/office/drawing/2014/main" id="{77E812A5-8A0B-85E2-7244-08BC4E774722}"/>
              </a:ext>
            </a:extLst>
          </p:cNvPr>
          <p:cNvSpPr txBox="1"/>
          <p:nvPr/>
        </p:nvSpPr>
        <p:spPr>
          <a:xfrm>
            <a:off x="403306" y="11698535"/>
            <a:ext cx="9478800" cy="1966526"/>
          </a:xfrm>
          <a:prstGeom prst="rect">
            <a:avLst/>
          </a:prstGeom>
          <a:noFill/>
        </p:spPr>
        <p:txBody>
          <a:bodyPr wrap="square" rtlCol="0">
            <a:noAutofit/>
          </a:bodyPr>
          <a:lstStyle/>
          <a:p>
            <a:pPr algn="ctr"/>
            <a:r>
              <a:rPr lang="en-GB" sz="6600" b="1" dirty="0">
                <a:ln w="22225">
                  <a:solidFill>
                    <a:srgbClr val="7030A0"/>
                  </a:solidFill>
                  <a:prstDash val="solid"/>
                </a:ln>
                <a:solidFill>
                  <a:schemeClr val="accent2">
                    <a:lumMod val="40000"/>
                    <a:lumOff val="60000"/>
                  </a:schemeClr>
                </a:solidFill>
                <a:latin typeface="Patrick Hand" pitchFamily="2" charset="77"/>
              </a:rPr>
              <a:t>Stop making callback params optional in TypeScript</a:t>
            </a:r>
            <a:endParaRPr lang="en-DE" sz="6600" b="1" dirty="0">
              <a:ln w="22225">
                <a:solidFill>
                  <a:srgbClr val="7030A0"/>
                </a:solidFill>
                <a:prstDash val="solid"/>
              </a:ln>
              <a:solidFill>
                <a:schemeClr val="accent2">
                  <a:lumMod val="40000"/>
                  <a:lumOff val="60000"/>
                </a:schemeClr>
              </a:solidFill>
              <a:latin typeface="Patrick Hand" pitchFamily="2" charset="77"/>
            </a:endParaRPr>
          </a:p>
        </p:txBody>
      </p:sp>
      <p:pic>
        <p:nvPicPr>
          <p:cNvPr id="3" name="Picture 2">
            <a:extLst>
              <a:ext uri="{FF2B5EF4-FFF2-40B4-BE49-F238E27FC236}">
                <a16:creationId xmlns:a16="http://schemas.microsoft.com/office/drawing/2014/main" id="{D4E8D533-A380-EB9B-7F61-2A4BBD14696E}"/>
              </a:ext>
            </a:extLst>
          </p:cNvPr>
          <p:cNvPicPr>
            <a:picLocks noChangeAspect="1"/>
          </p:cNvPicPr>
          <p:nvPr/>
        </p:nvPicPr>
        <p:blipFill>
          <a:blip r:embed="rId3"/>
          <a:stretch>
            <a:fillRect/>
          </a:stretch>
        </p:blipFill>
        <p:spPr>
          <a:xfrm>
            <a:off x="321693" y="3184845"/>
            <a:ext cx="1062000" cy="1062000"/>
          </a:xfrm>
          <a:prstGeom prst="rect">
            <a:avLst/>
          </a:prstGeom>
        </p:spPr>
      </p:pic>
      <p:pic>
        <p:nvPicPr>
          <p:cNvPr id="2" name="Picture 1">
            <a:extLst>
              <a:ext uri="{FF2B5EF4-FFF2-40B4-BE49-F238E27FC236}">
                <a16:creationId xmlns:a16="http://schemas.microsoft.com/office/drawing/2014/main" id="{3D52B6AB-9DAB-5B3E-861A-F1EF5121A58B}"/>
              </a:ext>
            </a:extLst>
          </p:cNvPr>
          <p:cNvPicPr>
            <a:picLocks noChangeAspect="1"/>
          </p:cNvPicPr>
          <p:nvPr/>
        </p:nvPicPr>
        <p:blipFill rotWithShape="1">
          <a:blip r:embed="rId4"/>
          <a:srcRect l="12556" t="15581" r="8949" b="12861"/>
          <a:stretch>
            <a:fillRect/>
          </a:stretch>
        </p:blipFill>
        <p:spPr>
          <a:xfrm>
            <a:off x="223306" y="4414909"/>
            <a:ext cx="9838800" cy="7107144"/>
          </a:xfrm>
          <a:prstGeom prst="rect">
            <a:avLst/>
          </a:prstGeom>
        </p:spPr>
      </p:pic>
      <p:cxnSp>
        <p:nvCxnSpPr>
          <p:cNvPr id="5" name="Straight Connector 4">
            <a:extLst>
              <a:ext uri="{FF2B5EF4-FFF2-40B4-BE49-F238E27FC236}">
                <a16:creationId xmlns:a16="http://schemas.microsoft.com/office/drawing/2014/main" id="{ABF597FB-7C4D-10C6-9E0E-1B1037C57E69}"/>
              </a:ext>
            </a:extLst>
          </p:cNvPr>
          <p:cNvCxnSpPr>
            <a:cxnSpLocks/>
          </p:cNvCxnSpPr>
          <p:nvPr/>
        </p:nvCxnSpPr>
        <p:spPr>
          <a:xfrm>
            <a:off x="233306" y="8258407"/>
            <a:ext cx="9813810" cy="0"/>
          </a:xfrm>
          <a:prstGeom prst="line">
            <a:avLst/>
          </a:prstGeom>
          <a:ln w="38100">
            <a:solidFill>
              <a:schemeClr val="bg1"/>
            </a:solidFill>
            <a:headEnd type="none"/>
            <a:tailEnd type="none" w="lg" len="lg"/>
          </a:ln>
        </p:spPr>
        <p:style>
          <a:lnRef idx="1">
            <a:schemeClr val="accent1"/>
          </a:lnRef>
          <a:fillRef idx="0">
            <a:schemeClr val="accent1"/>
          </a:fillRef>
          <a:effectRef idx="0">
            <a:schemeClr val="accent1"/>
          </a:effectRef>
          <a:fontRef idx="minor">
            <a:schemeClr val="tx1"/>
          </a:fontRef>
        </p:style>
      </p:cxnSp>
      <p:pic>
        <p:nvPicPr>
          <p:cNvPr id="6" name="Graphic 5" descr="Shield Tick with solid fill">
            <a:extLst>
              <a:ext uri="{FF2B5EF4-FFF2-40B4-BE49-F238E27FC236}">
                <a16:creationId xmlns:a16="http://schemas.microsoft.com/office/drawing/2014/main" id="{E3E1FC09-DDEB-ADBE-01B1-B9BEE0A103C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425763" y="9407636"/>
            <a:ext cx="914400" cy="914400"/>
          </a:xfrm>
          <a:prstGeom prst="rect">
            <a:avLst/>
          </a:prstGeom>
        </p:spPr>
      </p:pic>
      <p:pic>
        <p:nvPicPr>
          <p:cNvPr id="7" name="Graphic 6" descr="Close with solid fill">
            <a:extLst>
              <a:ext uri="{FF2B5EF4-FFF2-40B4-BE49-F238E27FC236}">
                <a16:creationId xmlns:a16="http://schemas.microsoft.com/office/drawing/2014/main" id="{01F7B3A8-6536-282D-0ADF-BB7B2FB1AEB4}"/>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425763" y="6410351"/>
            <a:ext cx="914400" cy="914400"/>
          </a:xfrm>
          <a:prstGeom prst="rect">
            <a:avLst/>
          </a:prstGeom>
        </p:spPr>
      </p:pic>
    </p:spTree>
    <p:extLst>
      <p:ext uri="{BB962C8B-B14F-4D97-AF65-F5344CB8AC3E}">
        <p14:creationId xmlns:p14="http://schemas.microsoft.com/office/powerpoint/2010/main" val="369984233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tile tx="0" ty="0" sx="100000" sy="100000" flip="none" algn="tl"/>
        </a:blipFill>
        <a:effectLst/>
      </p:bgPr>
    </p:bg>
    <p:spTree>
      <p:nvGrpSpPr>
        <p:cNvPr id="1" name="">
          <a:extLst>
            <a:ext uri="{FF2B5EF4-FFF2-40B4-BE49-F238E27FC236}">
              <a16:creationId xmlns:a16="http://schemas.microsoft.com/office/drawing/2014/main" id="{36EF0AC1-B289-95A9-B889-FE115C6DD1E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331AA02-2652-E0D7-4EDB-07645D7BC375}"/>
              </a:ext>
            </a:extLst>
          </p:cNvPr>
          <p:cNvSpPr txBox="1"/>
          <p:nvPr/>
        </p:nvSpPr>
        <p:spPr>
          <a:xfrm>
            <a:off x="128497" y="3188097"/>
            <a:ext cx="10028419" cy="1236996"/>
          </a:xfrm>
          <a:prstGeom prst="rect">
            <a:avLst/>
          </a:prstGeom>
          <a:gradFill flip="none" rotWithShape="1">
            <a:gsLst>
              <a:gs pos="0">
                <a:schemeClr val="accent6">
                  <a:lumMod val="5000"/>
                  <a:lumOff val="95000"/>
                </a:schemeClr>
              </a:gs>
              <a:gs pos="74000">
                <a:schemeClr val="accent6">
                  <a:lumMod val="45000"/>
                  <a:lumOff val="55000"/>
                </a:schemeClr>
              </a:gs>
              <a:gs pos="35000">
                <a:schemeClr val="accent6">
                  <a:lumMod val="45000"/>
                  <a:lumOff val="55000"/>
                </a:schemeClr>
              </a:gs>
              <a:gs pos="100000">
                <a:schemeClr val="accent6">
                  <a:lumMod val="30000"/>
                  <a:lumOff val="70000"/>
                </a:schemeClr>
              </a:gs>
            </a:gsLst>
            <a:lin ang="5400000" scaled="1"/>
            <a:tileRect/>
          </a:gradFill>
          <a:ln/>
        </p:spPr>
        <p:style>
          <a:lnRef idx="0">
            <a:schemeClr val="accent2"/>
          </a:lnRef>
          <a:fillRef idx="3">
            <a:schemeClr val="accent2"/>
          </a:fillRef>
          <a:effectRef idx="3">
            <a:schemeClr val="accent2"/>
          </a:effectRef>
          <a:fontRef idx="minor">
            <a:schemeClr val="lt1"/>
          </a:fontRef>
        </p:style>
        <p:txBody>
          <a:bodyPr wrap="square" rtlCol="0" anchor="ctr" anchorCtr="0">
            <a:noAutofit/>
            <a:scene3d>
              <a:camera prst="orthographicFront"/>
              <a:lightRig rig="harsh" dir="t"/>
            </a:scene3d>
            <a:sp3d extrusionH="57150" prstMaterial="matte">
              <a:bevelT w="63500" h="12700" prst="angle"/>
              <a:contourClr>
                <a:schemeClr val="bg1">
                  <a:lumMod val="65000"/>
                </a:schemeClr>
              </a:contourClr>
            </a:sp3d>
          </a:bodyPr>
          <a:lstStyle/>
          <a:p>
            <a:pPr algn="ctr"/>
            <a:r>
              <a:rPr lang="en-GB" sz="6000" b="1" dirty="0">
                <a:solidFill>
                  <a:srgbClr val="00B050"/>
                </a:solidFill>
              </a:rPr>
              <a:t>Verbose </a:t>
            </a:r>
            <a:r>
              <a:rPr lang="en-GB" sz="6000" b="1" dirty="0">
                <a:solidFill>
                  <a:srgbClr val="C00000"/>
                </a:solidFill>
              </a:rPr>
              <a:t>vs</a:t>
            </a:r>
            <a:r>
              <a:rPr lang="en-GB" sz="6000" b="1" dirty="0">
                <a:solidFill>
                  <a:srgbClr val="00B050"/>
                </a:solidFill>
              </a:rPr>
              <a:t> Short Class</a:t>
            </a:r>
            <a:endParaRPr lang="en-GB" sz="28700" b="1" dirty="0">
              <a:ln w="0"/>
              <a:solidFill>
                <a:srgbClr val="00B050"/>
              </a:solidFill>
              <a:effectLst>
                <a:outerShdw blurRad="38100" dist="19050" dir="2700000" algn="tl" rotWithShape="0">
                  <a:schemeClr val="dk1">
                    <a:alpha val="40000"/>
                  </a:schemeClr>
                </a:outerShdw>
              </a:effectLst>
              <a:latin typeface="+mj-lt"/>
            </a:endParaRPr>
          </a:p>
        </p:txBody>
      </p:sp>
      <p:sp>
        <p:nvSpPr>
          <p:cNvPr id="13" name="TextBox 12">
            <a:extLst>
              <a:ext uri="{FF2B5EF4-FFF2-40B4-BE49-F238E27FC236}">
                <a16:creationId xmlns:a16="http://schemas.microsoft.com/office/drawing/2014/main" id="{B3A8D337-E247-3880-F5F2-CBDD34E1EF8A}"/>
              </a:ext>
            </a:extLst>
          </p:cNvPr>
          <p:cNvSpPr txBox="1"/>
          <p:nvPr/>
        </p:nvSpPr>
        <p:spPr>
          <a:xfrm>
            <a:off x="0" y="11327846"/>
            <a:ext cx="9478800" cy="2189373"/>
          </a:xfrm>
          <a:prstGeom prst="rect">
            <a:avLst/>
          </a:prstGeom>
          <a:noFill/>
        </p:spPr>
        <p:txBody>
          <a:bodyPr wrap="square" rtlCol="0">
            <a:noAutofit/>
          </a:bodyPr>
          <a:lstStyle/>
          <a:p>
            <a:pPr algn="ctr"/>
            <a:r>
              <a:rPr lang="en-GB" sz="4800" dirty="0">
                <a:ln w="0"/>
                <a:effectLst>
                  <a:outerShdw blurRad="38100" dist="19050" dir="2700000" algn="tl" rotWithShape="0">
                    <a:schemeClr val="dk1">
                      <a:alpha val="40000"/>
                    </a:schemeClr>
                  </a:outerShdw>
                </a:effectLst>
              </a:rPr>
              <a:t>Create a new Type by selecting specific fields from an interface</a:t>
            </a:r>
            <a:endParaRPr lang="en-DE" sz="4800" dirty="0">
              <a:ln w="0"/>
              <a:effectLst>
                <a:outerShdw blurRad="38100" dist="19050" dir="2700000" algn="tl" rotWithShape="0">
                  <a:schemeClr val="dk1">
                    <a:alpha val="40000"/>
                  </a:schemeClr>
                </a:outerShdw>
              </a:effectLst>
            </a:endParaRPr>
          </a:p>
        </p:txBody>
      </p:sp>
      <p:pic>
        <p:nvPicPr>
          <p:cNvPr id="3" name="Picture 2">
            <a:extLst>
              <a:ext uri="{FF2B5EF4-FFF2-40B4-BE49-F238E27FC236}">
                <a16:creationId xmlns:a16="http://schemas.microsoft.com/office/drawing/2014/main" id="{8F3ECDF2-CF01-A1CC-47DD-F27F0E485058}"/>
              </a:ext>
            </a:extLst>
          </p:cNvPr>
          <p:cNvPicPr>
            <a:picLocks noChangeAspect="1"/>
          </p:cNvPicPr>
          <p:nvPr/>
        </p:nvPicPr>
        <p:blipFill>
          <a:blip r:embed="rId3"/>
          <a:stretch>
            <a:fillRect/>
          </a:stretch>
        </p:blipFill>
        <p:spPr>
          <a:xfrm>
            <a:off x="201773" y="3283581"/>
            <a:ext cx="1062000" cy="1062000"/>
          </a:xfrm>
          <a:prstGeom prst="rect">
            <a:avLst/>
          </a:prstGeom>
        </p:spPr>
      </p:pic>
      <p:pic>
        <p:nvPicPr>
          <p:cNvPr id="2" name="Picture 1">
            <a:extLst>
              <a:ext uri="{FF2B5EF4-FFF2-40B4-BE49-F238E27FC236}">
                <a16:creationId xmlns:a16="http://schemas.microsoft.com/office/drawing/2014/main" id="{25FB4109-0620-2F2D-FEFE-70FEEDC62514}"/>
              </a:ext>
            </a:extLst>
          </p:cNvPr>
          <p:cNvPicPr>
            <a:picLocks noChangeAspect="1"/>
          </p:cNvPicPr>
          <p:nvPr/>
        </p:nvPicPr>
        <p:blipFill rotWithShape="1">
          <a:blip r:embed="rId4"/>
          <a:srcRect l="17081" t="17341" r="11312" b="11476"/>
          <a:stretch>
            <a:fillRect/>
          </a:stretch>
        </p:blipFill>
        <p:spPr>
          <a:xfrm>
            <a:off x="127906" y="4520577"/>
            <a:ext cx="10029600" cy="9410753"/>
          </a:xfrm>
          <a:prstGeom prst="rect">
            <a:avLst/>
          </a:prstGeom>
        </p:spPr>
      </p:pic>
      <p:sp>
        <p:nvSpPr>
          <p:cNvPr id="5" name="TextBox 4">
            <a:extLst>
              <a:ext uri="{FF2B5EF4-FFF2-40B4-BE49-F238E27FC236}">
                <a16:creationId xmlns:a16="http://schemas.microsoft.com/office/drawing/2014/main" id="{F2E84A01-D94E-DF8E-9132-2584D4857955}"/>
              </a:ext>
            </a:extLst>
          </p:cNvPr>
          <p:cNvSpPr txBox="1"/>
          <p:nvPr/>
        </p:nvSpPr>
        <p:spPr>
          <a:xfrm>
            <a:off x="403306" y="13992025"/>
            <a:ext cx="9478800" cy="1107878"/>
          </a:xfrm>
          <a:prstGeom prst="rect">
            <a:avLst/>
          </a:prstGeom>
          <a:noFill/>
        </p:spPr>
        <p:txBody>
          <a:bodyPr wrap="square" rtlCol="0">
            <a:noAutofit/>
          </a:bodyPr>
          <a:lstStyle/>
          <a:p>
            <a:pPr algn="ctr"/>
            <a:r>
              <a:rPr lang="en-GB" sz="66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Patrick Hand" pitchFamily="2" charset="77"/>
              </a:rPr>
              <a:t>Which approach do you prefer?</a:t>
            </a:r>
            <a:endParaRPr lang="en-DE" sz="66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Patrick Hand" pitchFamily="2" charset="77"/>
            </a:endParaRPr>
          </a:p>
        </p:txBody>
      </p:sp>
      <p:cxnSp>
        <p:nvCxnSpPr>
          <p:cNvPr id="6" name="Straight Connector 5">
            <a:extLst>
              <a:ext uri="{FF2B5EF4-FFF2-40B4-BE49-F238E27FC236}">
                <a16:creationId xmlns:a16="http://schemas.microsoft.com/office/drawing/2014/main" id="{58737F9C-22C6-342B-1BF9-5BF8939687AC}"/>
              </a:ext>
            </a:extLst>
          </p:cNvPr>
          <p:cNvCxnSpPr>
            <a:cxnSpLocks/>
          </p:cNvCxnSpPr>
          <p:nvPr/>
        </p:nvCxnSpPr>
        <p:spPr>
          <a:xfrm>
            <a:off x="98396" y="9487598"/>
            <a:ext cx="10058520" cy="0"/>
          </a:xfrm>
          <a:prstGeom prst="line">
            <a:avLst/>
          </a:prstGeom>
          <a:ln w="38100">
            <a:solidFill>
              <a:schemeClr val="bg1"/>
            </a:solidFill>
            <a:headEnd type="none"/>
            <a:tailEnd type="non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2335339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60000"/>
            <a:lum/>
          </a:blip>
          <a:srcRect/>
          <a:tile tx="0" ty="0" sx="100000" sy="100000" flip="none" algn="tl"/>
        </a:blipFill>
        <a:effectLst/>
      </p:bgPr>
    </p:bg>
    <p:spTree>
      <p:nvGrpSpPr>
        <p:cNvPr id="1" name="">
          <a:extLst>
            <a:ext uri="{FF2B5EF4-FFF2-40B4-BE49-F238E27FC236}">
              <a16:creationId xmlns:a16="http://schemas.microsoft.com/office/drawing/2014/main" id="{9A284E5C-D69D-59E4-30C4-B21074DAFD33}"/>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A9807EC8-646C-8D0B-6C63-10DE26AF427F}"/>
              </a:ext>
            </a:extLst>
          </p:cNvPr>
          <p:cNvPicPr>
            <a:picLocks noChangeAspect="1"/>
          </p:cNvPicPr>
          <p:nvPr/>
        </p:nvPicPr>
        <p:blipFill rotWithShape="1">
          <a:blip r:embed="rId3"/>
          <a:srcRect l="18385" t="16592" r="12949" b="13415"/>
          <a:stretch>
            <a:fillRect/>
          </a:stretch>
        </p:blipFill>
        <p:spPr>
          <a:xfrm>
            <a:off x="223306" y="4421841"/>
            <a:ext cx="9838800" cy="11086779"/>
          </a:xfrm>
          <a:prstGeom prst="rect">
            <a:avLst/>
          </a:prstGeom>
        </p:spPr>
      </p:pic>
      <p:sp>
        <p:nvSpPr>
          <p:cNvPr id="4" name="TextBox 3">
            <a:extLst>
              <a:ext uri="{FF2B5EF4-FFF2-40B4-BE49-F238E27FC236}">
                <a16:creationId xmlns:a16="http://schemas.microsoft.com/office/drawing/2014/main" id="{3E2E7330-A4BA-7B66-10CB-B29D9D5FE80F}"/>
              </a:ext>
            </a:extLst>
          </p:cNvPr>
          <p:cNvSpPr txBox="1"/>
          <p:nvPr/>
        </p:nvSpPr>
        <p:spPr>
          <a:xfrm>
            <a:off x="223306" y="3089361"/>
            <a:ext cx="9838800" cy="1236996"/>
          </a:xfrm>
          <a:prstGeom prst="rect">
            <a:avLst/>
          </a:prstGeom>
          <a:gradFill>
            <a:gsLst>
              <a:gs pos="100000">
                <a:srgbClr val="7030A0"/>
              </a:gs>
              <a:gs pos="0">
                <a:schemeClr val="accent2">
                  <a:satMod val="103000"/>
                  <a:lumMod val="102000"/>
                  <a:tint val="94000"/>
                </a:schemeClr>
              </a:gs>
              <a:gs pos="21000">
                <a:schemeClr val="accent2">
                  <a:satMod val="110000"/>
                  <a:lumMod val="100000"/>
                  <a:shade val="100000"/>
                </a:schemeClr>
              </a:gs>
              <a:gs pos="100000">
                <a:schemeClr val="accent2">
                  <a:lumMod val="99000"/>
                  <a:satMod val="120000"/>
                  <a:shade val="78000"/>
                </a:schemeClr>
              </a:gs>
            </a:gsLst>
          </a:gradFill>
          <a:ln/>
        </p:spPr>
        <p:style>
          <a:lnRef idx="0">
            <a:schemeClr val="accent2"/>
          </a:lnRef>
          <a:fillRef idx="3">
            <a:schemeClr val="accent2"/>
          </a:fillRef>
          <a:effectRef idx="3">
            <a:schemeClr val="accent2"/>
          </a:effectRef>
          <a:fontRef idx="minor">
            <a:schemeClr val="lt1"/>
          </a:fontRef>
        </p:style>
        <p:txBody>
          <a:bodyPr wrap="square" rtlCol="0" anchor="ctr" anchorCtr="0">
            <a:no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6600" b="1" dirty="0">
                <a:ln w="12700">
                  <a:solidFill>
                    <a:schemeClr val="bg1"/>
                  </a:solidFill>
                  <a:prstDash val="solid"/>
                </a:ln>
                <a:solidFill>
                  <a:schemeClr val="bg1"/>
                </a:solidFill>
                <a:effectLst>
                  <a:outerShdw dist="38100" dir="2640000" algn="bl" rotWithShape="0">
                    <a:schemeClr val="tx2">
                      <a:lumMod val="75000"/>
                    </a:schemeClr>
                  </a:outerShdw>
                </a:effectLst>
                <a:latin typeface="+mj-lt"/>
              </a:rPr>
              <a:t>Don’t Use </a:t>
            </a:r>
            <a:r>
              <a:rPr lang="en-US" sz="6600" b="1" dirty="0" err="1">
                <a:ln w="12700">
                  <a:solidFill>
                    <a:schemeClr val="bg1"/>
                  </a:solidFill>
                  <a:prstDash val="solid"/>
                </a:ln>
                <a:solidFill>
                  <a:schemeClr val="bg1"/>
                </a:solidFill>
                <a:effectLst>
                  <a:outerShdw dist="38100" dir="2640000" algn="bl" rotWithShape="0">
                    <a:schemeClr val="tx2">
                      <a:lumMod val="75000"/>
                    </a:schemeClr>
                  </a:outerShdw>
                </a:effectLst>
                <a:latin typeface="+mj-lt"/>
              </a:rPr>
              <a:t>enum</a:t>
            </a:r>
            <a:endParaRPr lang="en-GB" sz="6000" b="1" dirty="0">
              <a:ln w="12700">
                <a:solidFill>
                  <a:schemeClr val="bg1"/>
                </a:solidFill>
                <a:prstDash val="solid"/>
              </a:ln>
              <a:solidFill>
                <a:schemeClr val="bg1"/>
              </a:solidFill>
              <a:effectLst>
                <a:outerShdw dist="38100" dir="2640000" algn="bl" rotWithShape="0">
                  <a:schemeClr val="tx2">
                    <a:lumMod val="75000"/>
                  </a:schemeClr>
                </a:outerShdw>
              </a:effectLst>
              <a:latin typeface="+mj-lt"/>
            </a:endParaRPr>
          </a:p>
        </p:txBody>
      </p:sp>
      <p:pic>
        <p:nvPicPr>
          <p:cNvPr id="3" name="Picture 2">
            <a:extLst>
              <a:ext uri="{FF2B5EF4-FFF2-40B4-BE49-F238E27FC236}">
                <a16:creationId xmlns:a16="http://schemas.microsoft.com/office/drawing/2014/main" id="{2B13A439-95BC-C319-88DD-7839A7BCCFB3}"/>
              </a:ext>
            </a:extLst>
          </p:cNvPr>
          <p:cNvPicPr>
            <a:picLocks noChangeAspect="1"/>
          </p:cNvPicPr>
          <p:nvPr/>
        </p:nvPicPr>
        <p:blipFill>
          <a:blip r:embed="rId4"/>
          <a:stretch>
            <a:fillRect/>
          </a:stretch>
        </p:blipFill>
        <p:spPr>
          <a:xfrm>
            <a:off x="321693" y="3184845"/>
            <a:ext cx="1062000" cy="1062000"/>
          </a:xfrm>
          <a:prstGeom prst="rect">
            <a:avLst/>
          </a:prstGeom>
        </p:spPr>
      </p:pic>
      <p:pic>
        <p:nvPicPr>
          <p:cNvPr id="7" name="Graphic 6" descr="Close with solid fill">
            <a:extLst>
              <a:ext uri="{FF2B5EF4-FFF2-40B4-BE49-F238E27FC236}">
                <a16:creationId xmlns:a16="http://schemas.microsoft.com/office/drawing/2014/main" id="{9D28F317-0EC2-8168-67F0-807D6344854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425763" y="8457814"/>
            <a:ext cx="914400" cy="914400"/>
          </a:xfrm>
          <a:prstGeom prst="rect">
            <a:avLst/>
          </a:prstGeom>
        </p:spPr>
      </p:pic>
    </p:spTree>
    <p:extLst>
      <p:ext uri="{BB962C8B-B14F-4D97-AF65-F5344CB8AC3E}">
        <p14:creationId xmlns:p14="http://schemas.microsoft.com/office/powerpoint/2010/main" val="275480183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60000"/>
            <a:lum/>
          </a:blip>
          <a:srcRect/>
          <a:tile tx="0" ty="0" sx="100000" sy="100000" flip="none" algn="tl"/>
        </a:blipFill>
        <a:effectLst/>
      </p:bgPr>
    </p:bg>
    <p:spTree>
      <p:nvGrpSpPr>
        <p:cNvPr id="1" name="">
          <a:extLst>
            <a:ext uri="{FF2B5EF4-FFF2-40B4-BE49-F238E27FC236}">
              <a16:creationId xmlns:a16="http://schemas.microsoft.com/office/drawing/2014/main" id="{D140C36E-B125-B5A5-B3E0-015105779E8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92B3CAC-DC87-7DE3-BB9B-636AA0942581}"/>
              </a:ext>
            </a:extLst>
          </p:cNvPr>
          <p:cNvSpPr txBox="1"/>
          <p:nvPr/>
        </p:nvSpPr>
        <p:spPr>
          <a:xfrm>
            <a:off x="223306" y="3089361"/>
            <a:ext cx="9838800" cy="1236996"/>
          </a:xfrm>
          <a:prstGeom prst="rect">
            <a:avLst/>
          </a:prstGeom>
          <a:gradFill>
            <a:gsLst>
              <a:gs pos="100000">
                <a:srgbClr val="7030A0"/>
              </a:gs>
              <a:gs pos="0">
                <a:schemeClr val="accent2">
                  <a:satMod val="103000"/>
                  <a:lumMod val="102000"/>
                  <a:tint val="94000"/>
                </a:schemeClr>
              </a:gs>
              <a:gs pos="21000">
                <a:schemeClr val="accent2">
                  <a:satMod val="110000"/>
                  <a:lumMod val="100000"/>
                  <a:shade val="100000"/>
                </a:schemeClr>
              </a:gs>
              <a:gs pos="100000">
                <a:schemeClr val="accent2">
                  <a:lumMod val="99000"/>
                  <a:satMod val="120000"/>
                  <a:shade val="78000"/>
                </a:schemeClr>
              </a:gs>
            </a:gsLst>
          </a:gradFill>
          <a:ln/>
        </p:spPr>
        <p:style>
          <a:lnRef idx="0">
            <a:schemeClr val="accent2"/>
          </a:lnRef>
          <a:fillRef idx="3">
            <a:schemeClr val="accent2"/>
          </a:fillRef>
          <a:effectRef idx="3">
            <a:schemeClr val="accent2"/>
          </a:effectRef>
          <a:fontRef idx="minor">
            <a:schemeClr val="lt1"/>
          </a:fontRef>
        </p:style>
        <p:txBody>
          <a:bodyPr wrap="square" rtlCol="0" anchor="ctr" anchorCtr="0">
            <a:no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6600" b="1" dirty="0">
                <a:ln w="12700">
                  <a:solidFill>
                    <a:schemeClr val="bg1"/>
                  </a:solidFill>
                  <a:prstDash val="solid"/>
                </a:ln>
                <a:solidFill>
                  <a:schemeClr val="bg1"/>
                </a:solidFill>
                <a:effectLst>
                  <a:outerShdw dist="38100" dir="2640000" algn="bl" rotWithShape="0">
                    <a:schemeClr val="tx2">
                      <a:lumMod val="75000"/>
                    </a:schemeClr>
                  </a:outerShdw>
                </a:effectLst>
                <a:latin typeface="+mj-lt"/>
              </a:rPr>
              <a:t>Use String Unions</a:t>
            </a:r>
            <a:endParaRPr lang="en-GB" sz="6000" b="1" dirty="0">
              <a:ln w="12700">
                <a:solidFill>
                  <a:schemeClr val="bg1"/>
                </a:solidFill>
                <a:prstDash val="solid"/>
              </a:ln>
              <a:solidFill>
                <a:schemeClr val="bg1"/>
              </a:solidFill>
              <a:effectLst>
                <a:outerShdw dist="38100" dir="2640000" algn="bl" rotWithShape="0">
                  <a:schemeClr val="tx2">
                    <a:lumMod val="75000"/>
                  </a:schemeClr>
                </a:outerShdw>
              </a:effectLst>
              <a:latin typeface="+mj-lt"/>
            </a:endParaRPr>
          </a:p>
        </p:txBody>
      </p:sp>
      <p:pic>
        <p:nvPicPr>
          <p:cNvPr id="3" name="Picture 2">
            <a:extLst>
              <a:ext uri="{FF2B5EF4-FFF2-40B4-BE49-F238E27FC236}">
                <a16:creationId xmlns:a16="http://schemas.microsoft.com/office/drawing/2014/main" id="{6CFE004A-B494-AD6E-DD27-86721A98CC44}"/>
              </a:ext>
            </a:extLst>
          </p:cNvPr>
          <p:cNvPicPr>
            <a:picLocks noChangeAspect="1"/>
          </p:cNvPicPr>
          <p:nvPr/>
        </p:nvPicPr>
        <p:blipFill>
          <a:blip r:embed="rId3"/>
          <a:stretch>
            <a:fillRect/>
          </a:stretch>
        </p:blipFill>
        <p:spPr>
          <a:xfrm>
            <a:off x="321693" y="3184845"/>
            <a:ext cx="1062000" cy="1062000"/>
          </a:xfrm>
          <a:prstGeom prst="rect">
            <a:avLst/>
          </a:prstGeom>
        </p:spPr>
      </p:pic>
      <p:pic>
        <p:nvPicPr>
          <p:cNvPr id="2" name="Graphic 1" descr="Shield Tick with solid fill">
            <a:extLst>
              <a:ext uri="{FF2B5EF4-FFF2-40B4-BE49-F238E27FC236}">
                <a16:creationId xmlns:a16="http://schemas.microsoft.com/office/drawing/2014/main" id="{49828D70-CE1B-444D-D170-C462C00F342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401124" y="8457814"/>
            <a:ext cx="914400" cy="914400"/>
          </a:xfrm>
          <a:prstGeom prst="rect">
            <a:avLst/>
          </a:prstGeom>
        </p:spPr>
      </p:pic>
      <p:pic>
        <p:nvPicPr>
          <p:cNvPr id="6" name="Picture 5">
            <a:extLst>
              <a:ext uri="{FF2B5EF4-FFF2-40B4-BE49-F238E27FC236}">
                <a16:creationId xmlns:a16="http://schemas.microsoft.com/office/drawing/2014/main" id="{FB39047D-27A6-CEE5-E2F9-5C02E51A3DB5}"/>
              </a:ext>
            </a:extLst>
          </p:cNvPr>
          <p:cNvPicPr>
            <a:picLocks noChangeAspect="1"/>
          </p:cNvPicPr>
          <p:nvPr/>
        </p:nvPicPr>
        <p:blipFill rotWithShape="1">
          <a:blip r:embed="rId5"/>
          <a:srcRect l="17027" t="16063" r="12132" b="13769"/>
          <a:stretch>
            <a:fillRect/>
          </a:stretch>
        </p:blipFill>
        <p:spPr>
          <a:xfrm>
            <a:off x="223306" y="4421841"/>
            <a:ext cx="9838800" cy="10661062"/>
          </a:xfrm>
          <a:prstGeom prst="rect">
            <a:avLst/>
          </a:prstGeom>
        </p:spPr>
      </p:pic>
    </p:spTree>
    <p:extLst>
      <p:ext uri="{BB962C8B-B14F-4D97-AF65-F5344CB8AC3E}">
        <p14:creationId xmlns:p14="http://schemas.microsoft.com/office/powerpoint/2010/main" val="163411229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pattFill prst="dashHorz">
          <a:fgClr>
            <a:schemeClr val="accent3"/>
          </a:fgClr>
          <a:bgClr>
            <a:schemeClr val="bg1"/>
          </a:bgClr>
        </a:pattFill>
        <a:effectLst/>
      </p:bgPr>
    </p:bg>
    <p:spTree>
      <p:nvGrpSpPr>
        <p:cNvPr id="1" name="">
          <a:extLst>
            <a:ext uri="{FF2B5EF4-FFF2-40B4-BE49-F238E27FC236}">
              <a16:creationId xmlns:a16="http://schemas.microsoft.com/office/drawing/2014/main" id="{00372228-5C20-1A3D-7531-7B77BC78F29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2903D5B-5472-9279-A8D3-052C328D0F14}"/>
              </a:ext>
            </a:extLst>
          </p:cNvPr>
          <p:cNvSpPr txBox="1"/>
          <p:nvPr/>
        </p:nvSpPr>
        <p:spPr>
          <a:xfrm>
            <a:off x="223306" y="3117142"/>
            <a:ext cx="9838800" cy="1236996"/>
          </a:xfrm>
          <a:prstGeom prst="rect">
            <a:avLst/>
          </a:prstGeom>
          <a:ln>
            <a:solidFill>
              <a:schemeClr val="tx1"/>
            </a:solidFill>
          </a:ln>
        </p:spPr>
        <p:style>
          <a:lnRef idx="1">
            <a:schemeClr val="accent6"/>
          </a:lnRef>
          <a:fillRef idx="2">
            <a:schemeClr val="accent6"/>
          </a:fillRef>
          <a:effectRef idx="1">
            <a:schemeClr val="accent6"/>
          </a:effectRef>
          <a:fontRef idx="minor">
            <a:schemeClr val="dk1"/>
          </a:fontRef>
        </p:style>
        <p:txBody>
          <a:bodyPr wrap="square" rtlCol="0" anchor="ctr" anchorCtr="0">
            <a:noAutofit/>
          </a:bodyPr>
          <a:lstStyle/>
          <a:p>
            <a:pPr marL="0" algn="ctr" defTabSz="457200" rtl="0" eaLnBrk="1" latinLnBrk="0" hangingPunct="1"/>
            <a:r>
              <a:rPr lang="en-US" sz="6000" b="1" dirty="0">
                <a:ln w="0"/>
                <a:solidFill>
                  <a:schemeClr val="tx1"/>
                </a:solidFill>
                <a:effectLst>
                  <a:outerShdw blurRad="38100" dist="19050" dir="2700000" algn="tl" rotWithShape="0">
                    <a:schemeClr val="dk1">
                      <a:alpha val="40000"/>
                    </a:schemeClr>
                  </a:outerShdw>
                </a:effectLst>
                <a:latin typeface="+mj-lt"/>
              </a:rPr>
              <a:t>Inline type import</a:t>
            </a:r>
            <a:endParaRPr lang="en-GB" sz="5400" b="1" dirty="0">
              <a:ln w="0"/>
              <a:solidFill>
                <a:schemeClr val="tx1"/>
              </a:solidFill>
              <a:effectLst>
                <a:outerShdw blurRad="38100" dist="19050" dir="2700000" algn="tl" rotWithShape="0">
                  <a:schemeClr val="dk1">
                    <a:alpha val="40000"/>
                  </a:schemeClr>
                </a:outerShdw>
              </a:effectLst>
              <a:latin typeface="+mj-lt"/>
            </a:endParaRPr>
          </a:p>
        </p:txBody>
      </p:sp>
      <p:sp>
        <p:nvSpPr>
          <p:cNvPr id="13" name="TextBox 12">
            <a:extLst>
              <a:ext uri="{FF2B5EF4-FFF2-40B4-BE49-F238E27FC236}">
                <a16:creationId xmlns:a16="http://schemas.microsoft.com/office/drawing/2014/main" id="{424BC52E-C5C1-17BD-977B-3EF9D2E6D1D8}"/>
              </a:ext>
            </a:extLst>
          </p:cNvPr>
          <p:cNvSpPr txBox="1"/>
          <p:nvPr/>
        </p:nvSpPr>
        <p:spPr>
          <a:xfrm>
            <a:off x="337263" y="11093815"/>
            <a:ext cx="9610887" cy="3303829"/>
          </a:xfrm>
          <a:prstGeom prst="rect">
            <a:avLst/>
          </a:prstGeom>
          <a:noFill/>
        </p:spPr>
        <p:txBody>
          <a:bodyPr wrap="square" rtlCol="0">
            <a:noAutofit/>
          </a:bodyPr>
          <a:lstStyle/>
          <a:p>
            <a:pPr algn="ctr"/>
            <a:r>
              <a:rPr lang="en-GB" sz="7200" b="1" dirty="0">
                <a:ln w="9525">
                  <a:solidFill>
                    <a:schemeClr val="bg1"/>
                  </a:solidFill>
                  <a:prstDash val="solid"/>
                </a:ln>
                <a:effectLst>
                  <a:outerShdw blurRad="12700" dist="38100" dir="2700000" algn="tl" rotWithShape="0">
                    <a:schemeClr val="bg1">
                      <a:lumMod val="50000"/>
                    </a:schemeClr>
                  </a:outerShdw>
                </a:effectLst>
                <a:latin typeface="Patrick Hand" pitchFamily="2" charset="77"/>
              </a:rPr>
              <a:t>Emitted JS: `User` is erased, only the module is imported (side-effect).</a:t>
            </a:r>
            <a:endParaRPr lang="en-DE" sz="7200" b="1" dirty="0">
              <a:ln w="9525">
                <a:solidFill>
                  <a:schemeClr val="bg1"/>
                </a:solidFill>
                <a:prstDash val="solid"/>
              </a:ln>
              <a:effectLst>
                <a:outerShdw blurRad="12700" dist="38100" dir="2700000" algn="tl" rotWithShape="0">
                  <a:schemeClr val="bg1">
                    <a:lumMod val="50000"/>
                  </a:schemeClr>
                </a:outerShdw>
              </a:effectLst>
              <a:latin typeface="Patrick Hand" pitchFamily="2" charset="77"/>
            </a:endParaRPr>
          </a:p>
        </p:txBody>
      </p:sp>
      <p:pic>
        <p:nvPicPr>
          <p:cNvPr id="3" name="Picture 2">
            <a:extLst>
              <a:ext uri="{FF2B5EF4-FFF2-40B4-BE49-F238E27FC236}">
                <a16:creationId xmlns:a16="http://schemas.microsoft.com/office/drawing/2014/main" id="{1A05A3AE-9C15-3C93-F300-FBBC4983AB1A}"/>
              </a:ext>
            </a:extLst>
          </p:cNvPr>
          <p:cNvPicPr>
            <a:picLocks noChangeAspect="1"/>
          </p:cNvPicPr>
          <p:nvPr/>
        </p:nvPicPr>
        <p:blipFill>
          <a:blip r:embed="rId2"/>
          <a:stretch>
            <a:fillRect/>
          </a:stretch>
        </p:blipFill>
        <p:spPr>
          <a:xfrm>
            <a:off x="321693" y="3212626"/>
            <a:ext cx="1062000" cy="1062000"/>
          </a:xfrm>
          <a:prstGeom prst="rect">
            <a:avLst/>
          </a:prstGeom>
        </p:spPr>
      </p:pic>
      <p:sp>
        <p:nvSpPr>
          <p:cNvPr id="6" name="Down Arrow 5">
            <a:extLst>
              <a:ext uri="{FF2B5EF4-FFF2-40B4-BE49-F238E27FC236}">
                <a16:creationId xmlns:a16="http://schemas.microsoft.com/office/drawing/2014/main" id="{30E91099-BFDF-26CC-77D0-5395547BF942}"/>
              </a:ext>
            </a:extLst>
          </p:cNvPr>
          <p:cNvSpPr/>
          <p:nvPr/>
        </p:nvSpPr>
        <p:spPr>
          <a:xfrm>
            <a:off x="4851761" y="7215449"/>
            <a:ext cx="581891" cy="838771"/>
          </a:xfrm>
          <a:prstGeom prst="downArrow">
            <a:avLst/>
          </a:prstGeom>
          <a:solidFill>
            <a:schemeClr val="accent2"/>
          </a:solidFill>
          <a:ln w="31750">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457200" rtl="0" eaLnBrk="1" latinLnBrk="0" hangingPunct="1"/>
            <a:endParaRPr lang="en-DE" dirty="0">
              <a:ln w="0"/>
              <a:solidFill>
                <a:srgbClr val="FF0000"/>
              </a:solidFill>
              <a:effectLst>
                <a:outerShdw blurRad="38100" dist="19050" dir="2700000" algn="tl" rotWithShape="0">
                  <a:schemeClr val="dk1">
                    <a:alpha val="40000"/>
                  </a:schemeClr>
                </a:outerShdw>
              </a:effectLst>
              <a:latin typeface="Patrick Hand" pitchFamily="2" charset="77"/>
            </a:endParaRPr>
          </a:p>
        </p:txBody>
      </p:sp>
      <p:pic>
        <p:nvPicPr>
          <p:cNvPr id="7" name="Picture 6">
            <a:extLst>
              <a:ext uri="{FF2B5EF4-FFF2-40B4-BE49-F238E27FC236}">
                <a16:creationId xmlns:a16="http://schemas.microsoft.com/office/drawing/2014/main" id="{0B8FAA34-C55B-BE9E-A91F-0F0FDC0283CE}"/>
              </a:ext>
            </a:extLst>
          </p:cNvPr>
          <p:cNvPicPr>
            <a:picLocks noChangeAspect="1"/>
          </p:cNvPicPr>
          <p:nvPr/>
        </p:nvPicPr>
        <p:blipFill rotWithShape="1">
          <a:blip r:embed="rId3"/>
          <a:srcRect l="12284" t="34501" r="9947" b="29111"/>
          <a:stretch>
            <a:fillRect/>
          </a:stretch>
        </p:blipFill>
        <p:spPr>
          <a:xfrm>
            <a:off x="223306" y="4449622"/>
            <a:ext cx="9838800" cy="1822903"/>
          </a:xfrm>
          <a:prstGeom prst="rect">
            <a:avLst/>
          </a:prstGeom>
        </p:spPr>
      </p:pic>
      <p:pic>
        <p:nvPicPr>
          <p:cNvPr id="8" name="Picture 7">
            <a:extLst>
              <a:ext uri="{FF2B5EF4-FFF2-40B4-BE49-F238E27FC236}">
                <a16:creationId xmlns:a16="http://schemas.microsoft.com/office/drawing/2014/main" id="{D650CF42-39A5-8C5F-8733-BFA6D76D3A55}"/>
              </a:ext>
            </a:extLst>
          </p:cNvPr>
          <p:cNvPicPr>
            <a:picLocks noChangeAspect="1"/>
          </p:cNvPicPr>
          <p:nvPr/>
        </p:nvPicPr>
        <p:blipFill rotWithShape="1">
          <a:blip r:embed="rId4"/>
          <a:srcRect l="13035" t="34636" r="9318" b="24464"/>
          <a:stretch>
            <a:fillRect/>
          </a:stretch>
        </p:blipFill>
        <p:spPr>
          <a:xfrm>
            <a:off x="223306" y="8969960"/>
            <a:ext cx="9838800" cy="2052121"/>
          </a:xfrm>
          <a:prstGeom prst="rect">
            <a:avLst/>
          </a:prstGeom>
        </p:spPr>
      </p:pic>
      <p:sp>
        <p:nvSpPr>
          <p:cNvPr id="9" name="TextBox 8">
            <a:extLst>
              <a:ext uri="{FF2B5EF4-FFF2-40B4-BE49-F238E27FC236}">
                <a16:creationId xmlns:a16="http://schemas.microsoft.com/office/drawing/2014/main" id="{07C7F848-3185-C204-EE5F-532CA539ACFF}"/>
              </a:ext>
            </a:extLst>
          </p:cNvPr>
          <p:cNvSpPr txBox="1"/>
          <p:nvPr/>
        </p:nvSpPr>
        <p:spPr>
          <a:xfrm>
            <a:off x="337263" y="6272526"/>
            <a:ext cx="9610887" cy="779048"/>
          </a:xfrm>
          <a:prstGeom prst="rect">
            <a:avLst/>
          </a:prstGeom>
          <a:noFill/>
        </p:spPr>
        <p:txBody>
          <a:bodyPr wrap="square" rtlCol="0">
            <a:noAutofit/>
          </a:bodyPr>
          <a:lstStyle/>
          <a:p>
            <a:pPr algn="ctr"/>
            <a:r>
              <a:rPr lang="en-GB" sz="5400" b="1" dirty="0" err="1">
                <a:ln w="9525">
                  <a:solidFill>
                    <a:schemeClr val="bg1"/>
                  </a:solidFill>
                  <a:prstDash val="solid"/>
                </a:ln>
                <a:effectLst>
                  <a:outerShdw blurRad="12700" dist="38100" dir="2700000" algn="tl" rotWithShape="0">
                    <a:schemeClr val="bg1">
                      <a:lumMod val="50000"/>
                    </a:schemeClr>
                  </a:outerShdw>
                </a:effectLst>
                <a:latin typeface="Patrick Hand" pitchFamily="2" charset="77"/>
              </a:rPr>
              <a:t>npm</a:t>
            </a:r>
            <a:r>
              <a:rPr lang="en-GB" sz="5400" b="1" dirty="0">
                <a:ln w="9525">
                  <a:solidFill>
                    <a:schemeClr val="bg1"/>
                  </a:solidFill>
                  <a:prstDash val="solid"/>
                </a:ln>
                <a:effectLst>
                  <a:outerShdw blurRad="12700" dist="38100" dir="2700000" algn="tl" rotWithShape="0">
                    <a:schemeClr val="bg1">
                      <a:lumMod val="50000"/>
                    </a:schemeClr>
                  </a:outerShdw>
                </a:effectLst>
                <a:latin typeface="Patrick Hand" pitchFamily="2" charset="77"/>
              </a:rPr>
              <a:t> run build</a:t>
            </a:r>
            <a:endParaRPr lang="en-DE" sz="5400" b="1" dirty="0">
              <a:ln w="9525">
                <a:solidFill>
                  <a:schemeClr val="bg1"/>
                </a:solidFill>
                <a:prstDash val="solid"/>
              </a:ln>
              <a:effectLst>
                <a:outerShdw blurRad="12700" dist="38100" dir="2700000" algn="tl" rotWithShape="0">
                  <a:schemeClr val="bg1">
                    <a:lumMod val="50000"/>
                  </a:schemeClr>
                </a:outerShdw>
              </a:effectLst>
              <a:latin typeface="Patrick Hand" pitchFamily="2" charset="77"/>
            </a:endParaRPr>
          </a:p>
        </p:txBody>
      </p:sp>
      <p:sp>
        <p:nvSpPr>
          <p:cNvPr id="10" name="TextBox 9">
            <a:extLst>
              <a:ext uri="{FF2B5EF4-FFF2-40B4-BE49-F238E27FC236}">
                <a16:creationId xmlns:a16="http://schemas.microsoft.com/office/drawing/2014/main" id="{05E93C66-ABCA-BFCE-FB95-75DF774847A1}"/>
              </a:ext>
            </a:extLst>
          </p:cNvPr>
          <p:cNvSpPr txBox="1"/>
          <p:nvPr/>
        </p:nvSpPr>
        <p:spPr>
          <a:xfrm>
            <a:off x="337263" y="8054221"/>
            <a:ext cx="9610887" cy="779048"/>
          </a:xfrm>
          <a:prstGeom prst="rect">
            <a:avLst/>
          </a:prstGeom>
          <a:noFill/>
        </p:spPr>
        <p:txBody>
          <a:bodyPr wrap="square" rtlCol="0">
            <a:noAutofit/>
          </a:bodyPr>
          <a:lstStyle/>
          <a:p>
            <a:pPr algn="ctr"/>
            <a:r>
              <a:rPr lang="en-GB" sz="5400" b="1" dirty="0">
                <a:ln w="9525">
                  <a:solidFill>
                    <a:schemeClr val="bg1"/>
                  </a:solidFill>
                  <a:prstDash val="solid"/>
                </a:ln>
                <a:effectLst>
                  <a:outerShdw blurRad="12700" dist="38100" dir="2700000" algn="tl" rotWithShape="0">
                    <a:schemeClr val="bg1">
                      <a:lumMod val="50000"/>
                    </a:schemeClr>
                  </a:outerShdw>
                </a:effectLst>
                <a:latin typeface="Patrick Hand" pitchFamily="2" charset="77"/>
              </a:rPr>
              <a:t>generated </a:t>
            </a:r>
            <a:r>
              <a:rPr lang="en-GB" sz="5400" b="1" dirty="0" err="1">
                <a:ln w="9525">
                  <a:solidFill>
                    <a:schemeClr val="bg1"/>
                  </a:solidFill>
                  <a:prstDash val="solid"/>
                </a:ln>
                <a:effectLst>
                  <a:outerShdw blurRad="12700" dist="38100" dir="2700000" algn="tl" rotWithShape="0">
                    <a:schemeClr val="bg1">
                      <a:lumMod val="50000"/>
                    </a:schemeClr>
                  </a:outerShdw>
                </a:effectLst>
                <a:latin typeface="Patrick Hand" pitchFamily="2" charset="77"/>
              </a:rPr>
              <a:t>js</a:t>
            </a:r>
            <a:r>
              <a:rPr lang="en-GB" sz="5400" b="1" dirty="0">
                <a:ln w="9525">
                  <a:solidFill>
                    <a:schemeClr val="bg1"/>
                  </a:solidFill>
                  <a:prstDash val="solid"/>
                </a:ln>
                <a:effectLst>
                  <a:outerShdw blurRad="12700" dist="38100" dir="2700000" algn="tl" rotWithShape="0">
                    <a:schemeClr val="bg1">
                      <a:lumMod val="50000"/>
                    </a:schemeClr>
                  </a:outerShdw>
                </a:effectLst>
                <a:latin typeface="Patrick Hand" pitchFamily="2" charset="77"/>
              </a:rPr>
              <a:t> file</a:t>
            </a:r>
            <a:endParaRPr lang="en-DE" sz="5400" b="1" dirty="0">
              <a:ln w="9525">
                <a:solidFill>
                  <a:schemeClr val="bg1"/>
                </a:solidFill>
                <a:prstDash val="solid"/>
              </a:ln>
              <a:effectLst>
                <a:outerShdw blurRad="12700" dist="38100" dir="2700000" algn="tl" rotWithShape="0">
                  <a:schemeClr val="bg1">
                    <a:lumMod val="50000"/>
                  </a:schemeClr>
                </a:outerShdw>
              </a:effectLst>
              <a:latin typeface="Patrick Hand" pitchFamily="2" charset="77"/>
            </a:endParaRPr>
          </a:p>
        </p:txBody>
      </p:sp>
    </p:spTree>
    <p:extLst>
      <p:ext uri="{BB962C8B-B14F-4D97-AF65-F5344CB8AC3E}">
        <p14:creationId xmlns:p14="http://schemas.microsoft.com/office/powerpoint/2010/main" val="287555579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tile tx="0" ty="0" sx="100000" sy="100000" flip="none" algn="tl"/>
        </a:blipFill>
        <a:effectLst/>
      </p:bgPr>
    </p:bg>
    <p:spTree>
      <p:nvGrpSpPr>
        <p:cNvPr id="1" name="">
          <a:extLst>
            <a:ext uri="{FF2B5EF4-FFF2-40B4-BE49-F238E27FC236}">
              <a16:creationId xmlns:a16="http://schemas.microsoft.com/office/drawing/2014/main" id="{5C7D7448-EC05-B638-3AF3-3052660292DE}"/>
            </a:ext>
          </a:extLst>
        </p:cNvPr>
        <p:cNvGrpSpPr/>
        <p:nvPr/>
      </p:nvGrpSpPr>
      <p:grpSpPr>
        <a:xfrm>
          <a:off x="0" y="0"/>
          <a:ext cx="0" cy="0"/>
          <a:chOff x="0" y="0"/>
          <a:chExt cx="0" cy="0"/>
        </a:xfrm>
      </p:grpSpPr>
      <p:pic>
        <p:nvPicPr>
          <p:cNvPr id="32" name="Picture 31">
            <a:extLst>
              <a:ext uri="{FF2B5EF4-FFF2-40B4-BE49-F238E27FC236}">
                <a16:creationId xmlns:a16="http://schemas.microsoft.com/office/drawing/2014/main" id="{0DF4302D-60BB-6BC4-704A-4CD160192A79}"/>
              </a:ext>
            </a:extLst>
          </p:cNvPr>
          <p:cNvPicPr>
            <a:picLocks noChangeAspect="1"/>
          </p:cNvPicPr>
          <p:nvPr/>
        </p:nvPicPr>
        <p:blipFill rotWithShape="1">
          <a:blip r:embed="rId3"/>
          <a:srcRect l="13143" t="18610" r="9173" b="19682"/>
          <a:stretch>
            <a:fillRect/>
          </a:stretch>
        </p:blipFill>
        <p:spPr>
          <a:xfrm>
            <a:off x="223306" y="4540886"/>
            <a:ext cx="9838800" cy="5778485"/>
          </a:xfrm>
          <a:prstGeom prst="rect">
            <a:avLst/>
          </a:prstGeom>
        </p:spPr>
      </p:pic>
      <p:sp>
        <p:nvSpPr>
          <p:cNvPr id="4" name="TextBox 3">
            <a:extLst>
              <a:ext uri="{FF2B5EF4-FFF2-40B4-BE49-F238E27FC236}">
                <a16:creationId xmlns:a16="http://schemas.microsoft.com/office/drawing/2014/main" id="{8673C2C8-6B03-1C25-784B-C102B01D7C53}"/>
              </a:ext>
            </a:extLst>
          </p:cNvPr>
          <p:cNvSpPr txBox="1"/>
          <p:nvPr/>
        </p:nvSpPr>
        <p:spPr>
          <a:xfrm>
            <a:off x="223306" y="3188097"/>
            <a:ext cx="9838800" cy="1236996"/>
          </a:xfrm>
          <a:prstGeom prst="rect">
            <a:avLst/>
          </a:prstGeom>
          <a:gradFill flip="none" rotWithShape="1">
            <a:gsLst>
              <a:gs pos="0">
                <a:schemeClr val="accent6">
                  <a:lumMod val="5000"/>
                  <a:lumOff val="95000"/>
                </a:schemeClr>
              </a:gs>
              <a:gs pos="74000">
                <a:schemeClr val="accent6">
                  <a:lumMod val="45000"/>
                  <a:lumOff val="55000"/>
                </a:schemeClr>
              </a:gs>
              <a:gs pos="35000">
                <a:schemeClr val="accent6">
                  <a:lumMod val="45000"/>
                  <a:lumOff val="55000"/>
                </a:schemeClr>
              </a:gs>
              <a:gs pos="100000">
                <a:schemeClr val="accent6">
                  <a:lumMod val="30000"/>
                  <a:lumOff val="70000"/>
                </a:schemeClr>
              </a:gs>
            </a:gsLst>
            <a:lin ang="5400000" scaled="1"/>
            <a:tileRect/>
          </a:gradFill>
          <a:ln/>
        </p:spPr>
        <p:style>
          <a:lnRef idx="0">
            <a:schemeClr val="accent2"/>
          </a:lnRef>
          <a:fillRef idx="3">
            <a:schemeClr val="accent2"/>
          </a:fillRef>
          <a:effectRef idx="3">
            <a:schemeClr val="accent2"/>
          </a:effectRef>
          <a:fontRef idx="minor">
            <a:schemeClr val="lt1"/>
          </a:fontRef>
        </p:style>
        <p:txBody>
          <a:bodyPr wrap="square" rtlCol="0" anchor="ctr" anchorCtr="0">
            <a:noAutofit/>
            <a:scene3d>
              <a:camera prst="orthographicFront"/>
              <a:lightRig rig="harsh" dir="t"/>
            </a:scene3d>
            <a:sp3d extrusionH="57150" prstMaterial="matte">
              <a:bevelT w="63500" h="12700" prst="angle"/>
              <a:contourClr>
                <a:schemeClr val="bg1">
                  <a:lumMod val="65000"/>
                </a:schemeClr>
              </a:contourClr>
            </a:sp3d>
          </a:bodyPr>
          <a:lstStyle/>
          <a:p>
            <a:pPr algn="ctr"/>
            <a:r>
              <a:rPr lang="en-GB" sz="4400" b="1" dirty="0">
                <a:solidFill>
                  <a:srgbClr val="00B050"/>
                </a:solidFill>
              </a:rPr>
              <a:t>Stop Using as any for </a:t>
            </a:r>
            <a:r>
              <a:rPr lang="en-GB" sz="4400" b="1" dirty="0" err="1">
                <a:solidFill>
                  <a:srgbClr val="00B050"/>
                </a:solidFill>
              </a:rPr>
              <a:t>JSON.parse</a:t>
            </a:r>
            <a:endParaRPr lang="en-GB" sz="16600" b="1" dirty="0">
              <a:ln w="0"/>
              <a:solidFill>
                <a:srgbClr val="00B050"/>
              </a:solidFill>
              <a:effectLst>
                <a:outerShdw blurRad="38100" dist="19050" dir="2700000" algn="tl" rotWithShape="0">
                  <a:schemeClr val="dk1">
                    <a:alpha val="40000"/>
                  </a:schemeClr>
                </a:outerShdw>
              </a:effectLst>
              <a:latin typeface="+mj-lt"/>
            </a:endParaRPr>
          </a:p>
        </p:txBody>
      </p:sp>
      <p:pic>
        <p:nvPicPr>
          <p:cNvPr id="3" name="Picture 2">
            <a:extLst>
              <a:ext uri="{FF2B5EF4-FFF2-40B4-BE49-F238E27FC236}">
                <a16:creationId xmlns:a16="http://schemas.microsoft.com/office/drawing/2014/main" id="{5BE44388-80D8-3CA8-3F12-FFCFCA1E36B7}"/>
              </a:ext>
            </a:extLst>
          </p:cNvPr>
          <p:cNvPicPr>
            <a:picLocks noChangeAspect="1"/>
          </p:cNvPicPr>
          <p:nvPr/>
        </p:nvPicPr>
        <p:blipFill>
          <a:blip r:embed="rId4"/>
          <a:stretch>
            <a:fillRect/>
          </a:stretch>
        </p:blipFill>
        <p:spPr>
          <a:xfrm>
            <a:off x="265941" y="3267539"/>
            <a:ext cx="1062000" cy="1062000"/>
          </a:xfrm>
          <a:prstGeom prst="rect">
            <a:avLst/>
          </a:prstGeom>
        </p:spPr>
      </p:pic>
      <p:sp>
        <p:nvSpPr>
          <p:cNvPr id="33" name="TextBox 32">
            <a:extLst>
              <a:ext uri="{FF2B5EF4-FFF2-40B4-BE49-F238E27FC236}">
                <a16:creationId xmlns:a16="http://schemas.microsoft.com/office/drawing/2014/main" id="{4ED3E644-F118-C0F6-BE76-AED1688C2C47}"/>
              </a:ext>
            </a:extLst>
          </p:cNvPr>
          <p:cNvSpPr txBox="1"/>
          <p:nvPr/>
        </p:nvSpPr>
        <p:spPr>
          <a:xfrm>
            <a:off x="403306" y="10547458"/>
            <a:ext cx="9478800" cy="3377090"/>
          </a:xfrm>
          <a:prstGeom prst="rect">
            <a:avLst/>
          </a:prstGeom>
          <a:noFill/>
        </p:spPr>
        <p:txBody>
          <a:bodyPr wrap="square" rtlCol="0">
            <a:noAutofit/>
          </a:bodyPr>
          <a:lstStyle/>
          <a:p>
            <a:pPr algn="ctr"/>
            <a:r>
              <a:rPr lang="en-GB" sz="66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Patrick Hand" pitchFamily="2" charset="77"/>
              </a:rPr>
              <a:t>How to use </a:t>
            </a:r>
            <a:r>
              <a:rPr lang="en-GB" sz="6600" b="1" dirty="0">
                <a:ln w="13462">
                  <a:solidFill>
                    <a:schemeClr val="bg1"/>
                  </a:solidFill>
                  <a:prstDash val="solid"/>
                </a:ln>
                <a:solidFill>
                  <a:srgbClr val="FF0000"/>
                </a:solidFill>
                <a:effectLst>
                  <a:outerShdw dist="38100" dir="2700000" algn="bl" rotWithShape="0">
                    <a:schemeClr val="accent5"/>
                  </a:outerShdw>
                </a:effectLst>
                <a:latin typeface="Patrick Hand" pitchFamily="2" charset="77"/>
              </a:rPr>
              <a:t>unknown</a:t>
            </a:r>
            <a:r>
              <a:rPr lang="en-GB" sz="66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Patrick Hand" pitchFamily="2" charset="77"/>
              </a:rPr>
              <a:t> and </a:t>
            </a:r>
            <a:r>
              <a:rPr lang="en-GB" sz="6600" b="1" dirty="0" err="1">
                <a:ln w="13462">
                  <a:solidFill>
                    <a:schemeClr val="bg1"/>
                  </a:solidFill>
                  <a:prstDash val="solid"/>
                </a:ln>
                <a:solidFill>
                  <a:srgbClr val="FF0000"/>
                </a:solidFill>
                <a:effectLst>
                  <a:outerShdw dist="38100" dir="2700000" algn="bl" rotWithShape="0">
                    <a:schemeClr val="accent5"/>
                  </a:outerShdw>
                </a:effectLst>
                <a:latin typeface="Patrick Hand" pitchFamily="2" charset="77"/>
              </a:rPr>
              <a:t>ReturnType</a:t>
            </a:r>
            <a:r>
              <a:rPr lang="en-GB" sz="66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Patrick Hand" pitchFamily="2" charset="77"/>
              </a:rPr>
              <a:t> in TypeScript when handling fetched data.</a:t>
            </a:r>
            <a:endParaRPr lang="en-DE" sz="66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Patrick Hand" pitchFamily="2" charset="77"/>
            </a:endParaRPr>
          </a:p>
        </p:txBody>
      </p:sp>
      <p:sp>
        <p:nvSpPr>
          <p:cNvPr id="34" name="Right Arrow 33">
            <a:extLst>
              <a:ext uri="{FF2B5EF4-FFF2-40B4-BE49-F238E27FC236}">
                <a16:creationId xmlns:a16="http://schemas.microsoft.com/office/drawing/2014/main" id="{5C0307BB-9A19-3BF4-264E-C2F01AB66948}"/>
              </a:ext>
            </a:extLst>
          </p:cNvPr>
          <p:cNvSpPr/>
          <p:nvPr/>
        </p:nvSpPr>
        <p:spPr>
          <a:xfrm>
            <a:off x="3490369" y="15546833"/>
            <a:ext cx="3304674" cy="1024662"/>
          </a:xfrm>
          <a:prstGeom prst="rightArrow">
            <a:avLst/>
          </a:prstGeom>
          <a:solidFill>
            <a:srgbClr val="00B0F0"/>
          </a:solidFill>
          <a:ln w="31750">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457200" rtl="0" eaLnBrk="1" latinLnBrk="0" hangingPunct="1"/>
            <a:r>
              <a:rPr lang="en-DE" sz="3600" dirty="0">
                <a:solidFill>
                  <a:schemeClr val="tx1"/>
                </a:solidFill>
                <a:latin typeface="Patrick Hand" pitchFamily="2" charset="77"/>
              </a:rPr>
              <a:t>Next</a:t>
            </a:r>
          </a:p>
        </p:txBody>
      </p:sp>
    </p:spTree>
    <p:extLst>
      <p:ext uri="{BB962C8B-B14F-4D97-AF65-F5344CB8AC3E}">
        <p14:creationId xmlns:p14="http://schemas.microsoft.com/office/powerpoint/2010/main" val="163054696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tile tx="0" ty="0" sx="100000" sy="100000" flip="none" algn="tl"/>
        </a:blipFill>
        <a:effectLst/>
      </p:bgPr>
    </p:bg>
    <p:spTree>
      <p:nvGrpSpPr>
        <p:cNvPr id="1" name="">
          <a:extLst>
            <a:ext uri="{FF2B5EF4-FFF2-40B4-BE49-F238E27FC236}">
              <a16:creationId xmlns:a16="http://schemas.microsoft.com/office/drawing/2014/main" id="{87C8B6FA-2876-17A4-B537-49C32D3DD55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9E4EC4F-5DBD-FDA1-D1EF-AEAA4EB211E5}"/>
              </a:ext>
            </a:extLst>
          </p:cNvPr>
          <p:cNvPicPr>
            <a:picLocks noChangeAspect="1"/>
          </p:cNvPicPr>
          <p:nvPr/>
        </p:nvPicPr>
        <p:blipFill rotWithShape="1">
          <a:blip r:embed="rId3"/>
          <a:srcRect l="13388" t="20094" r="9009" b="13085"/>
          <a:stretch>
            <a:fillRect/>
          </a:stretch>
        </p:blipFill>
        <p:spPr>
          <a:xfrm>
            <a:off x="223306" y="4539281"/>
            <a:ext cx="9838800" cy="7038900"/>
          </a:xfrm>
          <a:prstGeom prst="rect">
            <a:avLst/>
          </a:prstGeom>
        </p:spPr>
      </p:pic>
      <p:sp>
        <p:nvSpPr>
          <p:cNvPr id="4" name="TextBox 3">
            <a:extLst>
              <a:ext uri="{FF2B5EF4-FFF2-40B4-BE49-F238E27FC236}">
                <a16:creationId xmlns:a16="http://schemas.microsoft.com/office/drawing/2014/main" id="{73C6060F-1E9B-B3A2-1208-44813D4D0D7B}"/>
              </a:ext>
            </a:extLst>
          </p:cNvPr>
          <p:cNvSpPr txBox="1"/>
          <p:nvPr/>
        </p:nvSpPr>
        <p:spPr>
          <a:xfrm>
            <a:off x="223306" y="3188097"/>
            <a:ext cx="9838800" cy="1236996"/>
          </a:xfrm>
          <a:prstGeom prst="rect">
            <a:avLst/>
          </a:prstGeom>
          <a:gradFill flip="none" rotWithShape="1">
            <a:gsLst>
              <a:gs pos="0">
                <a:schemeClr val="accent6">
                  <a:lumMod val="5000"/>
                  <a:lumOff val="95000"/>
                </a:schemeClr>
              </a:gs>
              <a:gs pos="74000">
                <a:schemeClr val="accent6">
                  <a:lumMod val="45000"/>
                  <a:lumOff val="55000"/>
                </a:schemeClr>
              </a:gs>
              <a:gs pos="35000">
                <a:schemeClr val="accent6">
                  <a:lumMod val="45000"/>
                  <a:lumOff val="55000"/>
                </a:schemeClr>
              </a:gs>
              <a:gs pos="100000">
                <a:schemeClr val="accent6">
                  <a:lumMod val="30000"/>
                  <a:lumOff val="70000"/>
                </a:schemeClr>
              </a:gs>
            </a:gsLst>
            <a:lin ang="5400000" scaled="1"/>
            <a:tileRect/>
          </a:gradFill>
          <a:ln/>
        </p:spPr>
        <p:style>
          <a:lnRef idx="0">
            <a:schemeClr val="accent2"/>
          </a:lnRef>
          <a:fillRef idx="3">
            <a:schemeClr val="accent2"/>
          </a:fillRef>
          <a:effectRef idx="3">
            <a:schemeClr val="accent2"/>
          </a:effectRef>
          <a:fontRef idx="minor">
            <a:schemeClr val="lt1"/>
          </a:fontRef>
        </p:style>
        <p:txBody>
          <a:bodyPr wrap="square" rtlCol="0" anchor="ctr" anchorCtr="0">
            <a:noAutofit/>
            <a:scene3d>
              <a:camera prst="orthographicFront"/>
              <a:lightRig rig="harsh" dir="t"/>
            </a:scene3d>
            <a:sp3d extrusionH="57150" prstMaterial="matte">
              <a:bevelT w="63500" h="12700" prst="angle"/>
              <a:contourClr>
                <a:schemeClr val="bg1">
                  <a:lumMod val="65000"/>
                </a:schemeClr>
              </a:contourClr>
            </a:sp3d>
          </a:bodyPr>
          <a:lstStyle/>
          <a:p>
            <a:pPr algn="ctr"/>
            <a:r>
              <a:rPr lang="en-GB" sz="4400" b="1" dirty="0">
                <a:solidFill>
                  <a:srgbClr val="00B050"/>
                </a:solidFill>
              </a:rPr>
              <a:t>Stop Using as any for </a:t>
            </a:r>
            <a:r>
              <a:rPr lang="en-GB" sz="4400" b="1" dirty="0" err="1">
                <a:solidFill>
                  <a:srgbClr val="00B050"/>
                </a:solidFill>
              </a:rPr>
              <a:t>JSON.parse</a:t>
            </a:r>
            <a:endParaRPr lang="en-GB" sz="16600" b="1" dirty="0">
              <a:ln w="0"/>
              <a:solidFill>
                <a:srgbClr val="00B050"/>
              </a:solidFill>
              <a:effectLst>
                <a:outerShdw blurRad="38100" dist="19050" dir="2700000" algn="tl" rotWithShape="0">
                  <a:schemeClr val="dk1">
                    <a:alpha val="40000"/>
                  </a:schemeClr>
                </a:outerShdw>
              </a:effectLst>
              <a:latin typeface="+mj-lt"/>
            </a:endParaRPr>
          </a:p>
        </p:txBody>
      </p:sp>
      <p:pic>
        <p:nvPicPr>
          <p:cNvPr id="3" name="Picture 2">
            <a:extLst>
              <a:ext uri="{FF2B5EF4-FFF2-40B4-BE49-F238E27FC236}">
                <a16:creationId xmlns:a16="http://schemas.microsoft.com/office/drawing/2014/main" id="{4FD853DF-2460-131E-4A13-ADC955A2099D}"/>
              </a:ext>
            </a:extLst>
          </p:cNvPr>
          <p:cNvPicPr>
            <a:picLocks noChangeAspect="1"/>
          </p:cNvPicPr>
          <p:nvPr/>
        </p:nvPicPr>
        <p:blipFill>
          <a:blip r:embed="rId4"/>
          <a:stretch>
            <a:fillRect/>
          </a:stretch>
        </p:blipFill>
        <p:spPr>
          <a:xfrm>
            <a:off x="265941" y="3267539"/>
            <a:ext cx="1062000" cy="1062000"/>
          </a:xfrm>
          <a:prstGeom prst="rect">
            <a:avLst/>
          </a:prstGeom>
        </p:spPr>
      </p:pic>
      <p:cxnSp>
        <p:nvCxnSpPr>
          <p:cNvPr id="19" name="Straight Connector 18">
            <a:extLst>
              <a:ext uri="{FF2B5EF4-FFF2-40B4-BE49-F238E27FC236}">
                <a16:creationId xmlns:a16="http://schemas.microsoft.com/office/drawing/2014/main" id="{25F35631-C177-8E12-9618-0783C72DCC90}"/>
              </a:ext>
            </a:extLst>
          </p:cNvPr>
          <p:cNvCxnSpPr>
            <a:cxnSpLocks/>
          </p:cNvCxnSpPr>
          <p:nvPr/>
        </p:nvCxnSpPr>
        <p:spPr>
          <a:xfrm>
            <a:off x="233306" y="5916659"/>
            <a:ext cx="9813810" cy="0"/>
          </a:xfrm>
          <a:prstGeom prst="line">
            <a:avLst/>
          </a:prstGeom>
          <a:ln w="38100">
            <a:solidFill>
              <a:schemeClr val="bg1"/>
            </a:solidFill>
            <a:headEnd type="none"/>
            <a:tailEnd type="none" w="lg" len="lg"/>
          </a:ln>
        </p:spPr>
        <p:style>
          <a:lnRef idx="1">
            <a:schemeClr val="accent1"/>
          </a:lnRef>
          <a:fillRef idx="0">
            <a:schemeClr val="accent1"/>
          </a:fillRef>
          <a:effectRef idx="0">
            <a:schemeClr val="accent1"/>
          </a:effectRef>
          <a:fontRef idx="minor">
            <a:schemeClr val="tx1"/>
          </a:fontRef>
        </p:style>
      </p:cxnSp>
      <p:pic>
        <p:nvPicPr>
          <p:cNvPr id="20" name="Graphic 19" descr="Shield Tick with solid fill">
            <a:extLst>
              <a:ext uri="{FF2B5EF4-FFF2-40B4-BE49-F238E27FC236}">
                <a16:creationId xmlns:a16="http://schemas.microsoft.com/office/drawing/2014/main" id="{BEC52408-C27A-6C30-F374-C8F49C085BE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872426" y="10121916"/>
            <a:ext cx="914400" cy="914400"/>
          </a:xfrm>
          <a:prstGeom prst="rect">
            <a:avLst/>
          </a:prstGeom>
        </p:spPr>
      </p:pic>
      <p:pic>
        <p:nvPicPr>
          <p:cNvPr id="21" name="Graphic 20" descr="Close with solid fill">
            <a:extLst>
              <a:ext uri="{FF2B5EF4-FFF2-40B4-BE49-F238E27FC236}">
                <a16:creationId xmlns:a16="http://schemas.microsoft.com/office/drawing/2014/main" id="{8EB56F4B-4192-C30A-13E8-69E88794BB4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872426" y="4534776"/>
            <a:ext cx="914400" cy="914400"/>
          </a:xfrm>
          <a:prstGeom prst="rect">
            <a:avLst/>
          </a:prstGeom>
        </p:spPr>
      </p:pic>
      <p:cxnSp>
        <p:nvCxnSpPr>
          <p:cNvPr id="27" name="Straight Connector 26">
            <a:extLst>
              <a:ext uri="{FF2B5EF4-FFF2-40B4-BE49-F238E27FC236}">
                <a16:creationId xmlns:a16="http://schemas.microsoft.com/office/drawing/2014/main" id="{D7BA29D7-C437-B428-61A5-2218F182F57F}"/>
              </a:ext>
            </a:extLst>
          </p:cNvPr>
          <p:cNvCxnSpPr>
            <a:cxnSpLocks/>
          </p:cNvCxnSpPr>
          <p:nvPr/>
        </p:nvCxnSpPr>
        <p:spPr>
          <a:xfrm>
            <a:off x="241328" y="9004765"/>
            <a:ext cx="9813810" cy="0"/>
          </a:xfrm>
          <a:prstGeom prst="line">
            <a:avLst/>
          </a:prstGeom>
          <a:ln w="38100">
            <a:solidFill>
              <a:schemeClr val="bg1"/>
            </a:solidFill>
            <a:headEnd type="none"/>
            <a:tailEnd type="none" w="lg" len="lg"/>
          </a:ln>
        </p:spPr>
        <p:style>
          <a:lnRef idx="1">
            <a:schemeClr val="accent1"/>
          </a:lnRef>
          <a:fillRef idx="0">
            <a:schemeClr val="accent1"/>
          </a:fillRef>
          <a:effectRef idx="0">
            <a:schemeClr val="accent1"/>
          </a:effectRef>
          <a:fontRef idx="minor">
            <a:schemeClr val="tx1"/>
          </a:fontRef>
        </p:style>
      </p:cxnSp>
      <p:pic>
        <p:nvPicPr>
          <p:cNvPr id="28" name="Graphic 27" descr="Close with solid fill">
            <a:extLst>
              <a:ext uri="{FF2B5EF4-FFF2-40B4-BE49-F238E27FC236}">
                <a16:creationId xmlns:a16="http://schemas.microsoft.com/office/drawing/2014/main" id="{197931BA-57F5-4372-8914-6632E4872547}"/>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872426" y="6608698"/>
            <a:ext cx="914400" cy="914400"/>
          </a:xfrm>
          <a:prstGeom prst="rect">
            <a:avLst/>
          </a:prstGeom>
        </p:spPr>
      </p:pic>
    </p:spTree>
    <p:extLst>
      <p:ext uri="{BB962C8B-B14F-4D97-AF65-F5344CB8AC3E}">
        <p14:creationId xmlns:p14="http://schemas.microsoft.com/office/powerpoint/2010/main" val="44912380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pattFill prst="dashHorz">
          <a:fgClr>
            <a:schemeClr val="accent3"/>
          </a:fgClr>
          <a:bgClr>
            <a:schemeClr val="bg1"/>
          </a:bgClr>
        </a:pattFill>
        <a:effectLst/>
      </p:bgPr>
    </p:bg>
    <p:spTree>
      <p:nvGrpSpPr>
        <p:cNvPr id="1" name="">
          <a:extLst>
            <a:ext uri="{FF2B5EF4-FFF2-40B4-BE49-F238E27FC236}">
              <a16:creationId xmlns:a16="http://schemas.microsoft.com/office/drawing/2014/main" id="{3BB9E19D-ADAB-0ACD-6139-843C4E8044B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D5BD5D8-B2FC-DD3A-216A-B8AF60DAD9F8}"/>
              </a:ext>
            </a:extLst>
          </p:cNvPr>
          <p:cNvSpPr txBox="1"/>
          <p:nvPr/>
        </p:nvSpPr>
        <p:spPr>
          <a:xfrm>
            <a:off x="223306" y="3117142"/>
            <a:ext cx="9838800" cy="1236996"/>
          </a:xfrm>
          <a:prstGeom prst="rect">
            <a:avLst/>
          </a:prstGeom>
          <a:ln>
            <a:solidFill>
              <a:schemeClr val="tx1"/>
            </a:solidFill>
          </a:ln>
        </p:spPr>
        <p:style>
          <a:lnRef idx="1">
            <a:schemeClr val="accent6"/>
          </a:lnRef>
          <a:fillRef idx="2">
            <a:schemeClr val="accent6"/>
          </a:fillRef>
          <a:effectRef idx="1">
            <a:schemeClr val="accent6"/>
          </a:effectRef>
          <a:fontRef idx="minor">
            <a:schemeClr val="dk1"/>
          </a:fontRef>
        </p:style>
        <p:txBody>
          <a:bodyPr wrap="square" rtlCol="0" anchor="ctr" anchorCtr="0">
            <a:noAutofit/>
          </a:bodyPr>
          <a:lstStyle/>
          <a:p>
            <a:pPr algn="r"/>
            <a:r>
              <a:rPr lang="en-US" sz="6000" b="1" dirty="0">
                <a:ln w="0"/>
                <a:solidFill>
                  <a:schemeClr val="tx1"/>
                </a:solidFill>
                <a:effectLst>
                  <a:outerShdw blurRad="38100" dist="19050" dir="2700000" algn="tl" rotWithShape="0">
                    <a:schemeClr val="dk1">
                      <a:alpha val="40000"/>
                    </a:schemeClr>
                  </a:outerShdw>
                </a:effectLst>
                <a:latin typeface="+mj-lt"/>
              </a:rPr>
              <a:t>statement level type import</a:t>
            </a:r>
            <a:endParaRPr lang="en-GB" sz="5400" b="1" dirty="0">
              <a:ln w="0"/>
              <a:solidFill>
                <a:schemeClr val="tx1"/>
              </a:solidFill>
              <a:effectLst>
                <a:outerShdw blurRad="38100" dist="19050" dir="2700000" algn="tl" rotWithShape="0">
                  <a:schemeClr val="dk1">
                    <a:alpha val="40000"/>
                  </a:schemeClr>
                </a:outerShdw>
              </a:effectLst>
              <a:latin typeface="+mj-lt"/>
            </a:endParaRPr>
          </a:p>
        </p:txBody>
      </p:sp>
      <p:sp>
        <p:nvSpPr>
          <p:cNvPr id="13" name="TextBox 12">
            <a:extLst>
              <a:ext uri="{FF2B5EF4-FFF2-40B4-BE49-F238E27FC236}">
                <a16:creationId xmlns:a16="http://schemas.microsoft.com/office/drawing/2014/main" id="{3546F947-6628-4AC3-609A-3FC12C72FDE1}"/>
              </a:ext>
            </a:extLst>
          </p:cNvPr>
          <p:cNvSpPr txBox="1"/>
          <p:nvPr/>
        </p:nvSpPr>
        <p:spPr>
          <a:xfrm>
            <a:off x="337263" y="11093814"/>
            <a:ext cx="9610887" cy="3420207"/>
          </a:xfrm>
          <a:prstGeom prst="rect">
            <a:avLst/>
          </a:prstGeom>
          <a:noFill/>
        </p:spPr>
        <p:txBody>
          <a:bodyPr wrap="square" rtlCol="0">
            <a:noAutofit/>
          </a:bodyPr>
          <a:lstStyle/>
          <a:p>
            <a:pPr algn="ctr"/>
            <a:r>
              <a:rPr lang="en-GB" sz="7200" b="1" dirty="0">
                <a:ln w="9525">
                  <a:solidFill>
                    <a:schemeClr val="bg1"/>
                  </a:solidFill>
                  <a:prstDash val="solid"/>
                </a:ln>
                <a:effectLst>
                  <a:outerShdw blurRad="12700" dist="38100" dir="2700000" algn="tl" rotWithShape="0">
                    <a:schemeClr val="bg1">
                      <a:lumMod val="50000"/>
                    </a:schemeClr>
                  </a:outerShdw>
                </a:effectLst>
                <a:latin typeface="Patrick Hand" pitchFamily="2" charset="77"/>
              </a:rPr>
              <a:t>Emitted JS: `User` type is completely erased (no import statement remains).</a:t>
            </a:r>
            <a:endParaRPr lang="en-DE" sz="7200" b="1" dirty="0">
              <a:ln w="9525">
                <a:solidFill>
                  <a:schemeClr val="bg1"/>
                </a:solidFill>
                <a:prstDash val="solid"/>
              </a:ln>
              <a:effectLst>
                <a:outerShdw blurRad="12700" dist="38100" dir="2700000" algn="tl" rotWithShape="0">
                  <a:schemeClr val="bg1">
                    <a:lumMod val="50000"/>
                  </a:schemeClr>
                </a:outerShdw>
              </a:effectLst>
              <a:latin typeface="Patrick Hand" pitchFamily="2" charset="77"/>
            </a:endParaRPr>
          </a:p>
        </p:txBody>
      </p:sp>
      <p:pic>
        <p:nvPicPr>
          <p:cNvPr id="3" name="Picture 2">
            <a:extLst>
              <a:ext uri="{FF2B5EF4-FFF2-40B4-BE49-F238E27FC236}">
                <a16:creationId xmlns:a16="http://schemas.microsoft.com/office/drawing/2014/main" id="{E8064E8A-AAFD-B8B9-5C97-139429C0F3F1}"/>
              </a:ext>
            </a:extLst>
          </p:cNvPr>
          <p:cNvPicPr>
            <a:picLocks noChangeAspect="1"/>
          </p:cNvPicPr>
          <p:nvPr/>
        </p:nvPicPr>
        <p:blipFill>
          <a:blip r:embed="rId2"/>
          <a:stretch>
            <a:fillRect/>
          </a:stretch>
        </p:blipFill>
        <p:spPr>
          <a:xfrm>
            <a:off x="321693" y="3212626"/>
            <a:ext cx="1062000" cy="1062000"/>
          </a:xfrm>
          <a:prstGeom prst="rect">
            <a:avLst/>
          </a:prstGeom>
        </p:spPr>
      </p:pic>
      <p:sp>
        <p:nvSpPr>
          <p:cNvPr id="6" name="Down Arrow 5">
            <a:extLst>
              <a:ext uri="{FF2B5EF4-FFF2-40B4-BE49-F238E27FC236}">
                <a16:creationId xmlns:a16="http://schemas.microsoft.com/office/drawing/2014/main" id="{0A9C9538-6477-A01C-A0E6-F001698CA892}"/>
              </a:ext>
            </a:extLst>
          </p:cNvPr>
          <p:cNvSpPr/>
          <p:nvPr/>
        </p:nvSpPr>
        <p:spPr>
          <a:xfrm>
            <a:off x="4851761" y="7215449"/>
            <a:ext cx="581891" cy="838771"/>
          </a:xfrm>
          <a:prstGeom prst="downArrow">
            <a:avLst/>
          </a:prstGeom>
          <a:solidFill>
            <a:schemeClr val="accent2"/>
          </a:solidFill>
          <a:ln w="31750">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457200" rtl="0" eaLnBrk="1" latinLnBrk="0" hangingPunct="1"/>
            <a:endParaRPr lang="en-DE" dirty="0">
              <a:ln w="0"/>
              <a:solidFill>
                <a:srgbClr val="FF0000"/>
              </a:solidFill>
              <a:effectLst>
                <a:outerShdw blurRad="38100" dist="19050" dir="2700000" algn="tl" rotWithShape="0">
                  <a:schemeClr val="dk1">
                    <a:alpha val="40000"/>
                  </a:schemeClr>
                </a:outerShdw>
              </a:effectLst>
              <a:latin typeface="Patrick Hand" pitchFamily="2" charset="77"/>
            </a:endParaRPr>
          </a:p>
        </p:txBody>
      </p:sp>
      <p:sp>
        <p:nvSpPr>
          <p:cNvPr id="9" name="TextBox 8">
            <a:extLst>
              <a:ext uri="{FF2B5EF4-FFF2-40B4-BE49-F238E27FC236}">
                <a16:creationId xmlns:a16="http://schemas.microsoft.com/office/drawing/2014/main" id="{0325E51B-9979-F00C-2B0F-A8615F0D64B2}"/>
              </a:ext>
            </a:extLst>
          </p:cNvPr>
          <p:cNvSpPr txBox="1"/>
          <p:nvPr/>
        </p:nvSpPr>
        <p:spPr>
          <a:xfrm>
            <a:off x="337263" y="6272526"/>
            <a:ext cx="9610887" cy="779048"/>
          </a:xfrm>
          <a:prstGeom prst="rect">
            <a:avLst/>
          </a:prstGeom>
          <a:noFill/>
        </p:spPr>
        <p:txBody>
          <a:bodyPr wrap="square" rtlCol="0">
            <a:noAutofit/>
          </a:bodyPr>
          <a:lstStyle/>
          <a:p>
            <a:pPr algn="ctr"/>
            <a:r>
              <a:rPr lang="en-GB" sz="5400" b="1" dirty="0" err="1">
                <a:ln w="9525">
                  <a:solidFill>
                    <a:schemeClr val="bg1"/>
                  </a:solidFill>
                  <a:prstDash val="solid"/>
                </a:ln>
                <a:effectLst>
                  <a:outerShdw blurRad="12700" dist="38100" dir="2700000" algn="tl" rotWithShape="0">
                    <a:schemeClr val="bg1">
                      <a:lumMod val="50000"/>
                    </a:schemeClr>
                  </a:outerShdw>
                </a:effectLst>
                <a:latin typeface="Patrick Hand" pitchFamily="2" charset="77"/>
              </a:rPr>
              <a:t>npm</a:t>
            </a:r>
            <a:r>
              <a:rPr lang="en-GB" sz="5400" b="1" dirty="0">
                <a:ln w="9525">
                  <a:solidFill>
                    <a:schemeClr val="bg1"/>
                  </a:solidFill>
                  <a:prstDash val="solid"/>
                </a:ln>
                <a:effectLst>
                  <a:outerShdw blurRad="12700" dist="38100" dir="2700000" algn="tl" rotWithShape="0">
                    <a:schemeClr val="bg1">
                      <a:lumMod val="50000"/>
                    </a:schemeClr>
                  </a:outerShdw>
                </a:effectLst>
                <a:latin typeface="Patrick Hand" pitchFamily="2" charset="77"/>
              </a:rPr>
              <a:t> run build</a:t>
            </a:r>
            <a:endParaRPr lang="en-DE" sz="5400" b="1" dirty="0">
              <a:ln w="9525">
                <a:solidFill>
                  <a:schemeClr val="bg1"/>
                </a:solidFill>
                <a:prstDash val="solid"/>
              </a:ln>
              <a:effectLst>
                <a:outerShdw blurRad="12700" dist="38100" dir="2700000" algn="tl" rotWithShape="0">
                  <a:schemeClr val="bg1">
                    <a:lumMod val="50000"/>
                  </a:schemeClr>
                </a:outerShdw>
              </a:effectLst>
              <a:latin typeface="Patrick Hand" pitchFamily="2" charset="77"/>
            </a:endParaRPr>
          </a:p>
        </p:txBody>
      </p:sp>
      <p:sp>
        <p:nvSpPr>
          <p:cNvPr id="10" name="TextBox 9">
            <a:extLst>
              <a:ext uri="{FF2B5EF4-FFF2-40B4-BE49-F238E27FC236}">
                <a16:creationId xmlns:a16="http://schemas.microsoft.com/office/drawing/2014/main" id="{5654786D-356C-5F03-4F98-2B09AEDD6D83}"/>
              </a:ext>
            </a:extLst>
          </p:cNvPr>
          <p:cNvSpPr txBox="1"/>
          <p:nvPr/>
        </p:nvSpPr>
        <p:spPr>
          <a:xfrm>
            <a:off x="337263" y="8054221"/>
            <a:ext cx="9610887" cy="779048"/>
          </a:xfrm>
          <a:prstGeom prst="rect">
            <a:avLst/>
          </a:prstGeom>
          <a:noFill/>
        </p:spPr>
        <p:txBody>
          <a:bodyPr wrap="square" rtlCol="0">
            <a:noAutofit/>
          </a:bodyPr>
          <a:lstStyle/>
          <a:p>
            <a:pPr algn="ctr"/>
            <a:r>
              <a:rPr lang="en-GB" sz="5400" b="1" dirty="0">
                <a:ln w="9525">
                  <a:solidFill>
                    <a:schemeClr val="bg1"/>
                  </a:solidFill>
                  <a:prstDash val="solid"/>
                </a:ln>
                <a:effectLst>
                  <a:outerShdw blurRad="12700" dist="38100" dir="2700000" algn="tl" rotWithShape="0">
                    <a:schemeClr val="bg1">
                      <a:lumMod val="50000"/>
                    </a:schemeClr>
                  </a:outerShdw>
                </a:effectLst>
                <a:latin typeface="Patrick Hand" pitchFamily="2" charset="77"/>
              </a:rPr>
              <a:t>generated </a:t>
            </a:r>
            <a:r>
              <a:rPr lang="en-GB" sz="5400" b="1" dirty="0" err="1">
                <a:ln w="9525">
                  <a:solidFill>
                    <a:schemeClr val="bg1"/>
                  </a:solidFill>
                  <a:prstDash val="solid"/>
                </a:ln>
                <a:effectLst>
                  <a:outerShdw blurRad="12700" dist="38100" dir="2700000" algn="tl" rotWithShape="0">
                    <a:schemeClr val="bg1">
                      <a:lumMod val="50000"/>
                    </a:schemeClr>
                  </a:outerShdw>
                </a:effectLst>
                <a:latin typeface="Patrick Hand" pitchFamily="2" charset="77"/>
              </a:rPr>
              <a:t>js</a:t>
            </a:r>
            <a:r>
              <a:rPr lang="en-GB" sz="5400" b="1" dirty="0">
                <a:ln w="9525">
                  <a:solidFill>
                    <a:schemeClr val="bg1"/>
                  </a:solidFill>
                  <a:prstDash val="solid"/>
                </a:ln>
                <a:effectLst>
                  <a:outerShdw blurRad="12700" dist="38100" dir="2700000" algn="tl" rotWithShape="0">
                    <a:schemeClr val="bg1">
                      <a:lumMod val="50000"/>
                    </a:schemeClr>
                  </a:outerShdw>
                </a:effectLst>
                <a:latin typeface="Patrick Hand" pitchFamily="2" charset="77"/>
              </a:rPr>
              <a:t> file</a:t>
            </a:r>
            <a:endParaRPr lang="en-DE" sz="5400" b="1" dirty="0">
              <a:ln w="9525">
                <a:solidFill>
                  <a:schemeClr val="bg1"/>
                </a:solidFill>
                <a:prstDash val="solid"/>
              </a:ln>
              <a:effectLst>
                <a:outerShdw blurRad="12700" dist="38100" dir="2700000" algn="tl" rotWithShape="0">
                  <a:schemeClr val="bg1">
                    <a:lumMod val="50000"/>
                  </a:schemeClr>
                </a:outerShdw>
              </a:effectLst>
              <a:latin typeface="Patrick Hand" pitchFamily="2" charset="77"/>
            </a:endParaRPr>
          </a:p>
        </p:txBody>
      </p:sp>
      <p:pic>
        <p:nvPicPr>
          <p:cNvPr id="17" name="Picture 16">
            <a:extLst>
              <a:ext uri="{FF2B5EF4-FFF2-40B4-BE49-F238E27FC236}">
                <a16:creationId xmlns:a16="http://schemas.microsoft.com/office/drawing/2014/main" id="{8BB79D39-1E59-8E80-0A64-1110633E14E6}"/>
              </a:ext>
            </a:extLst>
          </p:cNvPr>
          <p:cNvPicPr>
            <a:picLocks noChangeAspect="1"/>
          </p:cNvPicPr>
          <p:nvPr/>
        </p:nvPicPr>
        <p:blipFill rotWithShape="1">
          <a:blip r:embed="rId3"/>
          <a:srcRect l="10553" t="32743" r="8334" b="23173"/>
          <a:stretch>
            <a:fillRect/>
          </a:stretch>
        </p:blipFill>
        <p:spPr>
          <a:xfrm>
            <a:off x="223306" y="4401230"/>
            <a:ext cx="9838800" cy="1703034"/>
          </a:xfrm>
          <a:prstGeom prst="rect">
            <a:avLst/>
          </a:prstGeom>
        </p:spPr>
      </p:pic>
      <p:pic>
        <p:nvPicPr>
          <p:cNvPr id="18" name="Picture 17">
            <a:extLst>
              <a:ext uri="{FF2B5EF4-FFF2-40B4-BE49-F238E27FC236}">
                <a16:creationId xmlns:a16="http://schemas.microsoft.com/office/drawing/2014/main" id="{A63FDE4B-C66E-422C-9953-6D5692122708}"/>
              </a:ext>
            </a:extLst>
          </p:cNvPr>
          <p:cNvPicPr>
            <a:picLocks noChangeAspect="1"/>
          </p:cNvPicPr>
          <p:nvPr/>
        </p:nvPicPr>
        <p:blipFill rotWithShape="1">
          <a:blip r:embed="rId4"/>
          <a:srcRect l="11571" t="34525" r="9386" b="38519"/>
          <a:stretch>
            <a:fillRect/>
          </a:stretch>
        </p:blipFill>
        <p:spPr>
          <a:xfrm>
            <a:off x="43306" y="9256372"/>
            <a:ext cx="10198800" cy="1377219"/>
          </a:xfrm>
          <a:prstGeom prst="rect">
            <a:avLst/>
          </a:prstGeom>
        </p:spPr>
      </p:pic>
    </p:spTree>
    <p:extLst>
      <p:ext uri="{BB962C8B-B14F-4D97-AF65-F5344CB8AC3E}">
        <p14:creationId xmlns:p14="http://schemas.microsoft.com/office/powerpoint/2010/main" val="36172570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pattFill prst="pct40">
          <a:fgClr>
            <a:schemeClr val="accent3"/>
          </a:fgClr>
          <a:bgClr>
            <a:schemeClr val="bg1"/>
          </a:bgClr>
        </a:pattFill>
        <a:effectLst/>
      </p:bgPr>
    </p:bg>
    <p:spTree>
      <p:nvGrpSpPr>
        <p:cNvPr id="1" name="">
          <a:extLst>
            <a:ext uri="{FF2B5EF4-FFF2-40B4-BE49-F238E27FC236}">
              <a16:creationId xmlns:a16="http://schemas.microsoft.com/office/drawing/2014/main" id="{475D75AF-C942-2167-03F2-2A4DE861955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FDA9D54-B6ED-5D3A-1625-877E1E8F9F35}"/>
              </a:ext>
            </a:extLst>
          </p:cNvPr>
          <p:cNvSpPr txBox="1"/>
          <p:nvPr/>
        </p:nvSpPr>
        <p:spPr>
          <a:xfrm>
            <a:off x="223306" y="4812572"/>
            <a:ext cx="9838800" cy="1236996"/>
          </a:xfrm>
          <a:prstGeom prst="rect">
            <a:avLst/>
          </a:prstGeom>
          <a:ln/>
        </p:spPr>
        <p:style>
          <a:lnRef idx="1">
            <a:schemeClr val="dk1"/>
          </a:lnRef>
          <a:fillRef idx="3">
            <a:schemeClr val="dk1"/>
          </a:fillRef>
          <a:effectRef idx="2">
            <a:schemeClr val="dk1"/>
          </a:effectRef>
          <a:fontRef idx="minor">
            <a:schemeClr val="lt1"/>
          </a:fontRef>
        </p:style>
        <p:txBody>
          <a:bodyPr wrap="square" rtlCol="0" anchor="ctr" anchorCtr="0">
            <a:noAutofit/>
          </a:bodyPr>
          <a:lstStyle/>
          <a:p>
            <a:pPr marL="0" algn="ctr" defTabSz="457200" rtl="0" eaLnBrk="1" latinLnBrk="0" hangingPunct="1"/>
            <a:r>
              <a:rPr lang="en-US" sz="60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mj-lt"/>
              </a:rPr>
              <a:t>Dynamic String Types</a:t>
            </a:r>
            <a:endParaRPr lang="en-GB" sz="54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mj-lt"/>
            </a:endParaRPr>
          </a:p>
        </p:txBody>
      </p:sp>
      <p:sp>
        <p:nvSpPr>
          <p:cNvPr id="13" name="TextBox 12">
            <a:extLst>
              <a:ext uri="{FF2B5EF4-FFF2-40B4-BE49-F238E27FC236}">
                <a16:creationId xmlns:a16="http://schemas.microsoft.com/office/drawing/2014/main" id="{00075860-7859-F036-1C60-6CB0F75A71BF}"/>
              </a:ext>
            </a:extLst>
          </p:cNvPr>
          <p:cNvSpPr txBox="1"/>
          <p:nvPr/>
        </p:nvSpPr>
        <p:spPr>
          <a:xfrm>
            <a:off x="223306" y="11308584"/>
            <a:ext cx="9610887" cy="2767913"/>
          </a:xfrm>
          <a:prstGeom prst="rect">
            <a:avLst/>
          </a:prstGeom>
          <a:noFill/>
        </p:spPr>
        <p:txBody>
          <a:bodyPr wrap="square" rtlCol="0">
            <a:noAutofit/>
          </a:bodyPr>
          <a:lstStyle/>
          <a:p>
            <a:pPr algn="ctr"/>
            <a:r>
              <a:rPr lang="en-GB" sz="8000" dirty="0">
                <a:ln w="0"/>
                <a:effectLst>
                  <a:outerShdw blurRad="38100" dist="19050" dir="2700000" algn="tl" rotWithShape="0">
                    <a:schemeClr val="dk1">
                      <a:alpha val="40000"/>
                    </a:schemeClr>
                  </a:outerShdw>
                </a:effectLst>
                <a:latin typeface="Patrick Hand" pitchFamily="2" charset="77"/>
              </a:rPr>
              <a:t>Combine multiple types into new string formats</a:t>
            </a:r>
            <a:endParaRPr lang="en-DE" sz="8000" dirty="0">
              <a:ln w="0"/>
              <a:effectLst>
                <a:outerShdw blurRad="38100" dist="19050" dir="2700000" algn="tl" rotWithShape="0">
                  <a:schemeClr val="dk1">
                    <a:alpha val="40000"/>
                  </a:schemeClr>
                </a:outerShdw>
              </a:effectLst>
              <a:latin typeface="Patrick Hand" pitchFamily="2" charset="77"/>
            </a:endParaRPr>
          </a:p>
        </p:txBody>
      </p:sp>
      <p:pic>
        <p:nvPicPr>
          <p:cNvPr id="3" name="Picture 2">
            <a:extLst>
              <a:ext uri="{FF2B5EF4-FFF2-40B4-BE49-F238E27FC236}">
                <a16:creationId xmlns:a16="http://schemas.microsoft.com/office/drawing/2014/main" id="{D34D1018-82F4-7719-B5E1-7B2D130C7438}"/>
              </a:ext>
            </a:extLst>
          </p:cNvPr>
          <p:cNvPicPr>
            <a:picLocks noChangeAspect="1"/>
          </p:cNvPicPr>
          <p:nvPr/>
        </p:nvPicPr>
        <p:blipFill>
          <a:blip r:embed="rId2"/>
          <a:stretch>
            <a:fillRect/>
          </a:stretch>
        </p:blipFill>
        <p:spPr>
          <a:xfrm>
            <a:off x="321693" y="4908056"/>
            <a:ext cx="1062000" cy="1062000"/>
          </a:xfrm>
          <a:prstGeom prst="rect">
            <a:avLst/>
          </a:prstGeom>
        </p:spPr>
      </p:pic>
    </p:spTree>
    <p:extLst>
      <p:ext uri="{BB962C8B-B14F-4D97-AF65-F5344CB8AC3E}">
        <p14:creationId xmlns:p14="http://schemas.microsoft.com/office/powerpoint/2010/main" val="214489993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a:extLst>
            <a:ext uri="{FF2B5EF4-FFF2-40B4-BE49-F238E27FC236}">
              <a16:creationId xmlns:a16="http://schemas.microsoft.com/office/drawing/2014/main" id="{C31FB3A1-E3CC-EF33-6973-752C04781EF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0F79E95-C028-2C30-2EDA-27EC53019AB6}"/>
              </a:ext>
            </a:extLst>
          </p:cNvPr>
          <p:cNvSpPr txBox="1"/>
          <p:nvPr/>
        </p:nvSpPr>
        <p:spPr>
          <a:xfrm>
            <a:off x="223306" y="3181473"/>
            <a:ext cx="9838800" cy="1236996"/>
          </a:xfrm>
          <a:prstGeom prst="rect">
            <a:avLst/>
          </a:prstGeom>
          <a:ln/>
        </p:spPr>
        <p:style>
          <a:lnRef idx="1">
            <a:schemeClr val="dk1"/>
          </a:lnRef>
          <a:fillRef idx="3">
            <a:schemeClr val="dk1"/>
          </a:fillRef>
          <a:effectRef idx="2">
            <a:schemeClr val="dk1"/>
          </a:effectRef>
          <a:fontRef idx="minor">
            <a:schemeClr val="lt1"/>
          </a:fontRef>
        </p:style>
        <p:txBody>
          <a:bodyPr wrap="square" rtlCol="0" anchor="ctr" anchorCtr="0">
            <a:noAutofit/>
          </a:bodyPr>
          <a:lstStyle/>
          <a:p>
            <a:pPr marL="0" algn="ctr" defTabSz="457200" rtl="0" eaLnBrk="1" latinLnBrk="0" hangingPunct="1"/>
            <a:r>
              <a:rPr lang="en-US" sz="60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mj-lt"/>
              </a:rPr>
              <a:t>Use Exclude</a:t>
            </a:r>
            <a:endParaRPr lang="en-GB" sz="54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mj-lt"/>
            </a:endParaRPr>
          </a:p>
        </p:txBody>
      </p:sp>
      <p:sp>
        <p:nvSpPr>
          <p:cNvPr id="13" name="TextBox 12">
            <a:extLst>
              <a:ext uri="{FF2B5EF4-FFF2-40B4-BE49-F238E27FC236}">
                <a16:creationId xmlns:a16="http://schemas.microsoft.com/office/drawing/2014/main" id="{23E6B0E0-EC85-9DE6-9437-740695057568}"/>
              </a:ext>
            </a:extLst>
          </p:cNvPr>
          <p:cNvSpPr txBox="1"/>
          <p:nvPr/>
        </p:nvSpPr>
        <p:spPr>
          <a:xfrm>
            <a:off x="337263" y="14357072"/>
            <a:ext cx="9610887" cy="2767913"/>
          </a:xfrm>
          <a:prstGeom prst="rect">
            <a:avLst/>
          </a:prstGeom>
          <a:noFill/>
        </p:spPr>
        <p:txBody>
          <a:bodyPr wrap="square" rtlCol="0">
            <a:noAutofit/>
          </a:bodyPr>
          <a:lstStyle/>
          <a:p>
            <a:pPr algn="ctr"/>
            <a:r>
              <a:rPr lang="en-GB" sz="8000" dirty="0">
                <a:ln w="0"/>
                <a:effectLst>
                  <a:outerShdw blurRad="38100" dist="19050" dir="2700000" algn="tl" rotWithShape="0">
                    <a:schemeClr val="dk1">
                      <a:alpha val="40000"/>
                    </a:schemeClr>
                  </a:outerShdw>
                </a:effectLst>
                <a:latin typeface="Patrick Hand" pitchFamily="2" charset="77"/>
              </a:rPr>
              <a:t>Declare a type</a:t>
            </a:r>
          </a:p>
          <a:p>
            <a:pPr algn="ctr"/>
            <a:r>
              <a:rPr lang="en-GB" sz="8000" dirty="0">
                <a:ln w="0"/>
                <a:effectLst>
                  <a:outerShdw blurRad="38100" dist="19050" dir="2700000" algn="tl" rotWithShape="0">
                    <a:schemeClr val="dk1">
                      <a:alpha val="40000"/>
                    </a:schemeClr>
                  </a:outerShdw>
                </a:effectLst>
                <a:latin typeface="Patrick Hand" pitchFamily="2" charset="77"/>
              </a:rPr>
              <a:t>Exclude </a:t>
            </a:r>
            <a:endParaRPr lang="en-DE" sz="8000" dirty="0">
              <a:ln w="0"/>
              <a:effectLst>
                <a:outerShdw blurRad="38100" dist="19050" dir="2700000" algn="tl" rotWithShape="0">
                  <a:schemeClr val="dk1">
                    <a:alpha val="40000"/>
                  </a:schemeClr>
                </a:outerShdw>
              </a:effectLst>
              <a:latin typeface="Patrick Hand" pitchFamily="2" charset="77"/>
            </a:endParaRPr>
          </a:p>
        </p:txBody>
      </p:sp>
      <p:pic>
        <p:nvPicPr>
          <p:cNvPr id="3" name="Picture 2">
            <a:extLst>
              <a:ext uri="{FF2B5EF4-FFF2-40B4-BE49-F238E27FC236}">
                <a16:creationId xmlns:a16="http://schemas.microsoft.com/office/drawing/2014/main" id="{91A060AF-7DA4-C8A9-2999-0FF5BAC85566}"/>
              </a:ext>
            </a:extLst>
          </p:cNvPr>
          <p:cNvPicPr>
            <a:picLocks noChangeAspect="1"/>
          </p:cNvPicPr>
          <p:nvPr/>
        </p:nvPicPr>
        <p:blipFill>
          <a:blip r:embed="rId3"/>
          <a:stretch>
            <a:fillRect/>
          </a:stretch>
        </p:blipFill>
        <p:spPr>
          <a:xfrm>
            <a:off x="321693" y="3276957"/>
            <a:ext cx="1062000" cy="1062000"/>
          </a:xfrm>
          <a:prstGeom prst="rect">
            <a:avLst/>
          </a:prstGeom>
        </p:spPr>
      </p:pic>
      <p:pic>
        <p:nvPicPr>
          <p:cNvPr id="22" name="Picture 21">
            <a:extLst>
              <a:ext uri="{FF2B5EF4-FFF2-40B4-BE49-F238E27FC236}">
                <a16:creationId xmlns:a16="http://schemas.microsoft.com/office/drawing/2014/main" id="{42274E07-A0FF-9907-ED31-2D5D4208CB9B}"/>
              </a:ext>
            </a:extLst>
          </p:cNvPr>
          <p:cNvPicPr>
            <a:picLocks noChangeAspect="1"/>
          </p:cNvPicPr>
          <p:nvPr/>
        </p:nvPicPr>
        <p:blipFill rotWithShape="1">
          <a:blip r:embed="rId4"/>
          <a:srcRect l="22335" t="24787" r="14510" b="20510"/>
          <a:stretch>
            <a:fillRect/>
          </a:stretch>
        </p:blipFill>
        <p:spPr>
          <a:xfrm>
            <a:off x="223306" y="4491640"/>
            <a:ext cx="9838800" cy="9838800"/>
          </a:xfrm>
          <a:prstGeom prst="rect">
            <a:avLst/>
          </a:prstGeom>
        </p:spPr>
      </p:pic>
    </p:spTree>
    <p:extLst>
      <p:ext uri="{BB962C8B-B14F-4D97-AF65-F5344CB8AC3E}">
        <p14:creationId xmlns:p14="http://schemas.microsoft.com/office/powerpoint/2010/main" val="371146022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a:extLst>
            <a:ext uri="{FF2B5EF4-FFF2-40B4-BE49-F238E27FC236}">
              <a16:creationId xmlns:a16="http://schemas.microsoft.com/office/drawing/2014/main" id="{D1C8E17D-516F-62BF-128A-CAE4639A86F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9E64849-4294-B6BD-2FD8-D41313D905A5}"/>
              </a:ext>
            </a:extLst>
          </p:cNvPr>
          <p:cNvSpPr txBox="1"/>
          <p:nvPr/>
        </p:nvSpPr>
        <p:spPr>
          <a:xfrm>
            <a:off x="223306" y="3181473"/>
            <a:ext cx="9838800" cy="1236996"/>
          </a:xfrm>
          <a:prstGeom prst="rect">
            <a:avLst/>
          </a:prstGeom>
          <a:ln/>
        </p:spPr>
        <p:style>
          <a:lnRef idx="1">
            <a:schemeClr val="dk1"/>
          </a:lnRef>
          <a:fillRef idx="3">
            <a:schemeClr val="dk1"/>
          </a:fillRef>
          <a:effectRef idx="2">
            <a:schemeClr val="dk1"/>
          </a:effectRef>
          <a:fontRef idx="minor">
            <a:schemeClr val="lt1"/>
          </a:fontRef>
        </p:style>
        <p:txBody>
          <a:bodyPr wrap="square" rtlCol="0" anchor="ctr" anchorCtr="0">
            <a:noAutofit/>
          </a:bodyPr>
          <a:lstStyle/>
          <a:p>
            <a:pPr marL="0" algn="ctr" defTabSz="457200" rtl="0" eaLnBrk="1" latinLnBrk="0" hangingPunct="1"/>
            <a:r>
              <a:rPr lang="en-US" sz="60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mj-lt"/>
              </a:rPr>
              <a:t>Use Exclude</a:t>
            </a:r>
            <a:endParaRPr lang="en-GB" sz="54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mj-lt"/>
            </a:endParaRPr>
          </a:p>
        </p:txBody>
      </p:sp>
      <p:sp>
        <p:nvSpPr>
          <p:cNvPr id="13" name="TextBox 12">
            <a:extLst>
              <a:ext uri="{FF2B5EF4-FFF2-40B4-BE49-F238E27FC236}">
                <a16:creationId xmlns:a16="http://schemas.microsoft.com/office/drawing/2014/main" id="{BA965C23-9667-0DE3-2572-E8EE88D143FF}"/>
              </a:ext>
            </a:extLst>
          </p:cNvPr>
          <p:cNvSpPr txBox="1"/>
          <p:nvPr/>
        </p:nvSpPr>
        <p:spPr>
          <a:xfrm>
            <a:off x="337263" y="14339143"/>
            <a:ext cx="9610887" cy="2767913"/>
          </a:xfrm>
          <a:prstGeom prst="rect">
            <a:avLst/>
          </a:prstGeom>
          <a:noFill/>
        </p:spPr>
        <p:txBody>
          <a:bodyPr wrap="square" rtlCol="0">
            <a:noAutofit/>
          </a:bodyPr>
          <a:lstStyle/>
          <a:p>
            <a:pPr algn="ctr"/>
            <a:r>
              <a:rPr lang="en-GB" sz="8000" dirty="0">
                <a:ln w="0"/>
                <a:effectLst>
                  <a:outerShdw blurRad="38100" dist="19050" dir="2700000" algn="tl" rotWithShape="0">
                    <a:schemeClr val="dk1">
                      <a:alpha val="40000"/>
                    </a:schemeClr>
                  </a:outerShdw>
                </a:effectLst>
                <a:latin typeface="Patrick Hand" pitchFamily="2" charset="77"/>
              </a:rPr>
              <a:t>Have you ever used Exclude?</a:t>
            </a:r>
            <a:endParaRPr lang="en-DE" sz="8000" dirty="0">
              <a:ln w="0"/>
              <a:effectLst>
                <a:outerShdw blurRad="38100" dist="19050" dir="2700000" algn="tl" rotWithShape="0">
                  <a:schemeClr val="dk1">
                    <a:alpha val="40000"/>
                  </a:schemeClr>
                </a:outerShdw>
              </a:effectLst>
              <a:latin typeface="Patrick Hand" pitchFamily="2" charset="77"/>
            </a:endParaRPr>
          </a:p>
        </p:txBody>
      </p:sp>
      <p:pic>
        <p:nvPicPr>
          <p:cNvPr id="3" name="Picture 2">
            <a:extLst>
              <a:ext uri="{FF2B5EF4-FFF2-40B4-BE49-F238E27FC236}">
                <a16:creationId xmlns:a16="http://schemas.microsoft.com/office/drawing/2014/main" id="{F06E7447-ADC4-3AD2-C334-5F083FB89255}"/>
              </a:ext>
            </a:extLst>
          </p:cNvPr>
          <p:cNvPicPr>
            <a:picLocks noChangeAspect="1"/>
          </p:cNvPicPr>
          <p:nvPr/>
        </p:nvPicPr>
        <p:blipFill>
          <a:blip r:embed="rId3"/>
          <a:stretch>
            <a:fillRect/>
          </a:stretch>
        </p:blipFill>
        <p:spPr>
          <a:xfrm>
            <a:off x="321693" y="3276957"/>
            <a:ext cx="1062000" cy="1062000"/>
          </a:xfrm>
          <a:prstGeom prst="rect">
            <a:avLst/>
          </a:prstGeom>
        </p:spPr>
      </p:pic>
      <p:pic>
        <p:nvPicPr>
          <p:cNvPr id="2" name="Picture 1">
            <a:extLst>
              <a:ext uri="{FF2B5EF4-FFF2-40B4-BE49-F238E27FC236}">
                <a16:creationId xmlns:a16="http://schemas.microsoft.com/office/drawing/2014/main" id="{2E6F80D2-ED30-3542-C57A-B0C1C2EE3765}"/>
              </a:ext>
            </a:extLst>
          </p:cNvPr>
          <p:cNvPicPr>
            <a:picLocks noChangeAspect="1"/>
          </p:cNvPicPr>
          <p:nvPr/>
        </p:nvPicPr>
        <p:blipFill rotWithShape="1">
          <a:blip r:embed="rId4"/>
          <a:srcRect l="16656" t="15682" r="11745" b="10103"/>
          <a:stretch>
            <a:fillRect/>
          </a:stretch>
        </p:blipFill>
        <p:spPr>
          <a:xfrm>
            <a:off x="223306" y="4478095"/>
            <a:ext cx="9838800" cy="9838800"/>
          </a:xfrm>
          <a:prstGeom prst="rect">
            <a:avLst/>
          </a:prstGeom>
        </p:spPr>
      </p:pic>
    </p:spTree>
    <p:extLst>
      <p:ext uri="{BB962C8B-B14F-4D97-AF65-F5344CB8AC3E}">
        <p14:creationId xmlns:p14="http://schemas.microsoft.com/office/powerpoint/2010/main" val="381564940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effectLst/>
      </p:bgPr>
    </p:bg>
    <p:spTree>
      <p:nvGrpSpPr>
        <p:cNvPr id="1" name="">
          <a:extLst>
            <a:ext uri="{FF2B5EF4-FFF2-40B4-BE49-F238E27FC236}">
              <a16:creationId xmlns:a16="http://schemas.microsoft.com/office/drawing/2014/main" id="{96194011-EE77-B1DE-7E1D-7788F9551BB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DB50ED9-B7A7-9720-EA4C-F461AD2AE4DB}"/>
              </a:ext>
            </a:extLst>
          </p:cNvPr>
          <p:cNvSpPr txBox="1"/>
          <p:nvPr/>
        </p:nvSpPr>
        <p:spPr>
          <a:xfrm>
            <a:off x="223306" y="3181473"/>
            <a:ext cx="9838800" cy="1236996"/>
          </a:xfrm>
          <a:prstGeom prst="rect">
            <a:avLst/>
          </a:prstGeom>
          <a:ln/>
        </p:spPr>
        <p:style>
          <a:lnRef idx="0">
            <a:schemeClr val="accent6"/>
          </a:lnRef>
          <a:fillRef idx="3">
            <a:schemeClr val="accent6"/>
          </a:fillRef>
          <a:effectRef idx="3">
            <a:schemeClr val="accent6"/>
          </a:effectRef>
          <a:fontRef idx="minor">
            <a:schemeClr val="lt1"/>
          </a:fontRef>
        </p:style>
        <p:txBody>
          <a:bodyPr wrap="square" rtlCol="0" anchor="ctr" anchorCtr="0">
            <a:noAutofit/>
          </a:bodyPr>
          <a:lstStyle/>
          <a:p>
            <a:pPr algn="ctr"/>
            <a:r>
              <a:rPr lang="en-GB" sz="5400" b="1" dirty="0">
                <a:ln w="0"/>
                <a:solidFill>
                  <a:schemeClr val="tx1"/>
                </a:solidFill>
                <a:effectLst>
                  <a:outerShdw blurRad="38100" dist="19050" dir="2700000" algn="tl" rotWithShape="0">
                    <a:schemeClr val="dk1">
                      <a:alpha val="40000"/>
                    </a:schemeClr>
                  </a:outerShdw>
                </a:effectLst>
                <a:latin typeface="+mj-lt"/>
              </a:rPr>
              <a:t>Long</a:t>
            </a:r>
            <a:r>
              <a:rPr lang="en-GB" sz="5400" dirty="0">
                <a:ln w="0"/>
                <a:solidFill>
                  <a:schemeClr val="tx1"/>
                </a:solidFill>
                <a:effectLst>
                  <a:outerShdw blurRad="38100" dist="19050" dir="2700000" algn="tl" rotWithShape="0">
                    <a:schemeClr val="dk1">
                      <a:alpha val="40000"/>
                    </a:schemeClr>
                  </a:outerShdw>
                </a:effectLst>
                <a:latin typeface="+mj-lt"/>
              </a:rPr>
              <a:t> </a:t>
            </a:r>
            <a:r>
              <a:rPr lang="en-GB" sz="5400" b="1" dirty="0">
                <a:ln w="0"/>
                <a:solidFill>
                  <a:schemeClr val="tx1"/>
                </a:solidFill>
                <a:effectLst>
                  <a:outerShdw blurRad="38100" dist="19050" dir="2700000" algn="tl" rotWithShape="0">
                    <a:schemeClr val="dk1">
                      <a:alpha val="40000"/>
                    </a:schemeClr>
                  </a:outerShdw>
                </a:effectLst>
                <a:latin typeface="+mj-lt"/>
              </a:rPr>
              <a:t>if/else </a:t>
            </a:r>
            <a:r>
              <a:rPr lang="en-GB" sz="5400"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mj-lt"/>
              </a:rPr>
              <a:t>vs</a:t>
            </a:r>
            <a:r>
              <a:rPr lang="en-GB" sz="5400" dirty="0">
                <a:ln w="0"/>
                <a:solidFill>
                  <a:schemeClr val="tx1"/>
                </a:solidFill>
                <a:effectLst>
                  <a:outerShdw blurRad="38100" dist="19050" dir="2700000" algn="tl" rotWithShape="0">
                    <a:schemeClr val="dk1">
                      <a:alpha val="40000"/>
                    </a:schemeClr>
                  </a:outerShdw>
                </a:effectLst>
                <a:latin typeface="+mj-lt"/>
              </a:rPr>
              <a:t> </a:t>
            </a:r>
            <a:r>
              <a:rPr lang="en-GB" sz="5400" b="1" dirty="0">
                <a:ln w="0"/>
                <a:solidFill>
                  <a:schemeClr val="tx1"/>
                </a:solidFill>
                <a:effectLst>
                  <a:outerShdw blurRad="38100" dist="19050" dir="2700000" algn="tl" rotWithShape="0">
                    <a:schemeClr val="dk1">
                      <a:alpha val="40000"/>
                    </a:schemeClr>
                  </a:outerShdw>
                </a:effectLst>
                <a:latin typeface="+mj-lt"/>
              </a:rPr>
              <a:t>Object Map</a:t>
            </a:r>
          </a:p>
        </p:txBody>
      </p:sp>
      <p:sp>
        <p:nvSpPr>
          <p:cNvPr id="13" name="TextBox 12">
            <a:extLst>
              <a:ext uri="{FF2B5EF4-FFF2-40B4-BE49-F238E27FC236}">
                <a16:creationId xmlns:a16="http://schemas.microsoft.com/office/drawing/2014/main" id="{33B7B4B2-2319-CE62-94D3-CD6E9BD0C46C}"/>
              </a:ext>
            </a:extLst>
          </p:cNvPr>
          <p:cNvSpPr txBox="1"/>
          <p:nvPr/>
        </p:nvSpPr>
        <p:spPr>
          <a:xfrm>
            <a:off x="337263" y="15434360"/>
            <a:ext cx="9610887" cy="1070560"/>
          </a:xfrm>
          <a:prstGeom prst="rect">
            <a:avLst/>
          </a:prstGeom>
          <a:noFill/>
        </p:spPr>
        <p:txBody>
          <a:bodyPr wrap="square" rtlCol="0">
            <a:noAutofit/>
          </a:bodyPr>
          <a:lstStyle/>
          <a:p>
            <a:pPr algn="ctr"/>
            <a:r>
              <a:rPr lang="en-GB" sz="6000" b="1" spc="50" dirty="0">
                <a:ln w="9525" cmpd="sng">
                  <a:solidFill>
                    <a:schemeClr val="accent1"/>
                  </a:solidFill>
                  <a:prstDash val="solid"/>
                </a:ln>
                <a:solidFill>
                  <a:srgbClr val="70AD47">
                    <a:tint val="1000"/>
                  </a:srgbClr>
                </a:solidFill>
                <a:effectLst>
                  <a:glow rad="38100">
                    <a:schemeClr val="accent1">
                      <a:alpha val="40000"/>
                    </a:schemeClr>
                  </a:glow>
                </a:effectLst>
                <a:latin typeface="Patrick Hand" pitchFamily="2" charset="77"/>
              </a:rPr>
              <a:t>Cleaner, shorter, easier to scale</a:t>
            </a:r>
          </a:p>
        </p:txBody>
      </p:sp>
      <p:pic>
        <p:nvPicPr>
          <p:cNvPr id="3" name="Picture 2">
            <a:extLst>
              <a:ext uri="{FF2B5EF4-FFF2-40B4-BE49-F238E27FC236}">
                <a16:creationId xmlns:a16="http://schemas.microsoft.com/office/drawing/2014/main" id="{877F7C96-67E9-8567-C4A8-1E1A278D4CFA}"/>
              </a:ext>
            </a:extLst>
          </p:cNvPr>
          <p:cNvPicPr>
            <a:picLocks noChangeAspect="1"/>
          </p:cNvPicPr>
          <p:nvPr/>
        </p:nvPicPr>
        <p:blipFill>
          <a:blip r:embed="rId2"/>
          <a:stretch>
            <a:fillRect/>
          </a:stretch>
        </p:blipFill>
        <p:spPr>
          <a:xfrm>
            <a:off x="321693" y="3276957"/>
            <a:ext cx="1062000" cy="1062000"/>
          </a:xfrm>
          <a:prstGeom prst="rect">
            <a:avLst/>
          </a:prstGeom>
        </p:spPr>
      </p:pic>
      <p:pic>
        <p:nvPicPr>
          <p:cNvPr id="6" name="Picture 5">
            <a:extLst>
              <a:ext uri="{FF2B5EF4-FFF2-40B4-BE49-F238E27FC236}">
                <a16:creationId xmlns:a16="http://schemas.microsoft.com/office/drawing/2014/main" id="{1832A0F1-898B-1400-C0D4-05D479198F82}"/>
              </a:ext>
            </a:extLst>
          </p:cNvPr>
          <p:cNvPicPr>
            <a:picLocks noChangeAspect="1"/>
          </p:cNvPicPr>
          <p:nvPr/>
        </p:nvPicPr>
        <p:blipFill rotWithShape="1">
          <a:blip r:embed="rId3"/>
          <a:srcRect l="18642" t="18077" r="13358" b="11401"/>
          <a:stretch>
            <a:fillRect/>
          </a:stretch>
        </p:blipFill>
        <p:spPr>
          <a:xfrm>
            <a:off x="223306" y="4513953"/>
            <a:ext cx="9838800" cy="10824923"/>
          </a:xfrm>
          <a:prstGeom prst="rect">
            <a:avLst/>
          </a:prstGeom>
        </p:spPr>
      </p:pic>
      <p:cxnSp>
        <p:nvCxnSpPr>
          <p:cNvPr id="7" name="Straight Connector 6">
            <a:extLst>
              <a:ext uri="{FF2B5EF4-FFF2-40B4-BE49-F238E27FC236}">
                <a16:creationId xmlns:a16="http://schemas.microsoft.com/office/drawing/2014/main" id="{6F235370-0961-B40F-567D-00DAA594398A}"/>
              </a:ext>
            </a:extLst>
          </p:cNvPr>
          <p:cNvCxnSpPr>
            <a:cxnSpLocks/>
          </p:cNvCxnSpPr>
          <p:nvPr/>
        </p:nvCxnSpPr>
        <p:spPr>
          <a:xfrm>
            <a:off x="233306" y="11093047"/>
            <a:ext cx="9813810" cy="0"/>
          </a:xfrm>
          <a:prstGeom prst="line">
            <a:avLst/>
          </a:prstGeom>
          <a:ln w="38100">
            <a:solidFill>
              <a:schemeClr val="bg1"/>
            </a:solidFill>
            <a:headEnd type="none"/>
            <a:tailEnd type="none" w="lg" len="lg"/>
          </a:ln>
        </p:spPr>
        <p:style>
          <a:lnRef idx="1">
            <a:schemeClr val="accent1"/>
          </a:lnRef>
          <a:fillRef idx="0">
            <a:schemeClr val="accent1"/>
          </a:fillRef>
          <a:effectRef idx="0">
            <a:schemeClr val="accent1"/>
          </a:effectRef>
          <a:fontRef idx="minor">
            <a:schemeClr val="tx1"/>
          </a:fontRef>
        </p:style>
      </p:cxnSp>
      <p:pic>
        <p:nvPicPr>
          <p:cNvPr id="8" name="Graphic 7" descr="Shield Tick with solid fill">
            <a:extLst>
              <a:ext uri="{FF2B5EF4-FFF2-40B4-BE49-F238E27FC236}">
                <a16:creationId xmlns:a16="http://schemas.microsoft.com/office/drawing/2014/main" id="{FF1CCC7C-E97F-CA35-FE08-12DBE807339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989643" y="13065236"/>
            <a:ext cx="914400" cy="914400"/>
          </a:xfrm>
          <a:prstGeom prst="rect">
            <a:avLst/>
          </a:prstGeom>
        </p:spPr>
      </p:pic>
      <p:pic>
        <p:nvPicPr>
          <p:cNvPr id="9" name="Graphic 8" descr="Close with solid fill">
            <a:extLst>
              <a:ext uri="{FF2B5EF4-FFF2-40B4-BE49-F238E27FC236}">
                <a16:creationId xmlns:a16="http://schemas.microsoft.com/office/drawing/2014/main" id="{3395B209-718B-1445-D7A9-CEB48284549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989643" y="8482991"/>
            <a:ext cx="914400" cy="914400"/>
          </a:xfrm>
          <a:prstGeom prst="rect">
            <a:avLst/>
          </a:prstGeom>
        </p:spPr>
      </p:pic>
      <p:cxnSp>
        <p:nvCxnSpPr>
          <p:cNvPr id="10" name="Straight Connector 9">
            <a:extLst>
              <a:ext uri="{FF2B5EF4-FFF2-40B4-BE49-F238E27FC236}">
                <a16:creationId xmlns:a16="http://schemas.microsoft.com/office/drawing/2014/main" id="{C574DBED-7EE6-1AD0-5701-EA515A5028EA}"/>
              </a:ext>
            </a:extLst>
          </p:cNvPr>
          <p:cNvCxnSpPr>
            <a:cxnSpLocks/>
          </p:cNvCxnSpPr>
          <p:nvPr/>
        </p:nvCxnSpPr>
        <p:spPr>
          <a:xfrm>
            <a:off x="233306" y="5972407"/>
            <a:ext cx="9813810" cy="0"/>
          </a:xfrm>
          <a:prstGeom prst="line">
            <a:avLst/>
          </a:prstGeom>
          <a:ln w="38100">
            <a:solidFill>
              <a:schemeClr val="bg1"/>
            </a:solidFill>
            <a:headEnd type="none"/>
            <a:tailEnd type="non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427603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pattFill prst="pct40">
          <a:fgClr>
            <a:schemeClr val="accent3"/>
          </a:fgClr>
          <a:bgClr>
            <a:schemeClr val="bg1"/>
          </a:bgClr>
        </a:pattFill>
        <a:effectLst/>
      </p:bgPr>
    </p:bg>
    <p:spTree>
      <p:nvGrpSpPr>
        <p:cNvPr id="1" name="">
          <a:extLst>
            <a:ext uri="{FF2B5EF4-FFF2-40B4-BE49-F238E27FC236}">
              <a16:creationId xmlns:a16="http://schemas.microsoft.com/office/drawing/2014/main" id="{2F2C6F44-8BCF-666F-26ED-F3F125E69A9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2DF8666-1EF2-6DA3-56C6-1E271437269A}"/>
              </a:ext>
            </a:extLst>
          </p:cNvPr>
          <p:cNvSpPr txBox="1"/>
          <p:nvPr/>
        </p:nvSpPr>
        <p:spPr>
          <a:xfrm>
            <a:off x="223306" y="2407302"/>
            <a:ext cx="9838800" cy="1236996"/>
          </a:xfrm>
          <a:prstGeom prst="rect">
            <a:avLst/>
          </a:prstGeom>
          <a:ln/>
        </p:spPr>
        <p:style>
          <a:lnRef idx="1">
            <a:schemeClr val="dk1"/>
          </a:lnRef>
          <a:fillRef idx="3">
            <a:schemeClr val="dk1"/>
          </a:fillRef>
          <a:effectRef idx="2">
            <a:schemeClr val="dk1"/>
          </a:effectRef>
          <a:fontRef idx="minor">
            <a:schemeClr val="lt1"/>
          </a:fontRef>
        </p:style>
        <p:txBody>
          <a:bodyPr wrap="square" rtlCol="0" anchor="ctr" anchorCtr="0">
            <a:noAutofit/>
          </a:bodyPr>
          <a:lstStyle/>
          <a:p>
            <a:pPr marL="0" algn="ctr" defTabSz="457200" rtl="0" eaLnBrk="1" latinLnBrk="0" hangingPunct="1"/>
            <a:r>
              <a:rPr lang="en-US" sz="60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mj-lt"/>
              </a:rPr>
              <a:t>…….</a:t>
            </a:r>
            <a:endParaRPr lang="en-GB" sz="54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mj-lt"/>
            </a:endParaRPr>
          </a:p>
        </p:txBody>
      </p:sp>
      <p:sp>
        <p:nvSpPr>
          <p:cNvPr id="25" name="TextBox 24">
            <a:extLst>
              <a:ext uri="{FF2B5EF4-FFF2-40B4-BE49-F238E27FC236}">
                <a16:creationId xmlns:a16="http://schemas.microsoft.com/office/drawing/2014/main" id="{44EA632D-0D94-CF0B-CD75-30ABE2A5C8A5}"/>
              </a:ext>
            </a:extLst>
          </p:cNvPr>
          <p:cNvSpPr txBox="1"/>
          <p:nvPr/>
        </p:nvSpPr>
        <p:spPr>
          <a:xfrm>
            <a:off x="-7857400" y="2527667"/>
            <a:ext cx="2566728" cy="830997"/>
          </a:xfrm>
          <a:prstGeom prst="rect">
            <a:avLst/>
          </a:prstGeom>
        </p:spPr>
        <p:style>
          <a:lnRef idx="1">
            <a:schemeClr val="accent2"/>
          </a:lnRef>
          <a:fillRef idx="2">
            <a:schemeClr val="accent2"/>
          </a:fillRef>
          <a:effectRef idx="1">
            <a:schemeClr val="accent2"/>
          </a:effectRef>
          <a:fontRef idx="minor">
            <a:schemeClr val="dk1"/>
          </a:fontRef>
        </p:style>
        <p:txBody>
          <a:bodyPr wrap="none" rtlCol="0">
            <a:spAutoFit/>
          </a:bodyPr>
          <a:lstStyle/>
          <a:p>
            <a:r>
              <a:rPr lang="en-US" sz="4800" dirty="0">
                <a:solidFill>
                  <a:srgbClr val="FF0000"/>
                </a:solidFill>
                <a:latin typeface="Patrick Hand" pitchFamily="2" charset="77"/>
              </a:rPr>
              <a:t>rt_001_te</a:t>
            </a:r>
            <a:endParaRPr lang="en-DE" sz="4800" dirty="0">
              <a:solidFill>
                <a:srgbClr val="FF0000"/>
              </a:solidFill>
              <a:latin typeface="Patrick Hand" pitchFamily="2" charset="77"/>
            </a:endParaRPr>
          </a:p>
        </p:txBody>
      </p:sp>
      <p:pic>
        <p:nvPicPr>
          <p:cNvPr id="5" name="Picture 4">
            <a:extLst>
              <a:ext uri="{FF2B5EF4-FFF2-40B4-BE49-F238E27FC236}">
                <a16:creationId xmlns:a16="http://schemas.microsoft.com/office/drawing/2014/main" id="{4F7F5860-C93F-2D02-1BD0-C31979E398A5}"/>
              </a:ext>
            </a:extLst>
          </p:cNvPr>
          <p:cNvPicPr>
            <a:picLocks noChangeAspect="1"/>
          </p:cNvPicPr>
          <p:nvPr/>
        </p:nvPicPr>
        <p:blipFill>
          <a:blip r:embed="rId2"/>
          <a:stretch>
            <a:fillRect/>
          </a:stretch>
        </p:blipFill>
        <p:spPr>
          <a:xfrm>
            <a:off x="397482" y="2494800"/>
            <a:ext cx="1062000" cy="1062000"/>
          </a:xfrm>
          <a:prstGeom prst="rect">
            <a:avLst/>
          </a:prstGeom>
        </p:spPr>
      </p:pic>
    </p:spTree>
    <p:extLst>
      <p:ext uri="{BB962C8B-B14F-4D97-AF65-F5344CB8AC3E}">
        <p14:creationId xmlns:p14="http://schemas.microsoft.com/office/powerpoint/2010/main" val="83948437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a:extLst>
            <a:ext uri="{FF2B5EF4-FFF2-40B4-BE49-F238E27FC236}">
              <a16:creationId xmlns:a16="http://schemas.microsoft.com/office/drawing/2014/main" id="{C1EC06F2-27D7-6698-2C8D-77B39943CEC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EE29565-AFE8-6E93-A1CE-8778D4C453ED}"/>
              </a:ext>
            </a:extLst>
          </p:cNvPr>
          <p:cNvSpPr txBox="1"/>
          <p:nvPr/>
        </p:nvSpPr>
        <p:spPr>
          <a:xfrm>
            <a:off x="223306" y="3103042"/>
            <a:ext cx="9838800" cy="1236996"/>
          </a:xfrm>
          <a:prstGeom prst="rect">
            <a:avLst/>
          </a:prstGeom>
          <a:ln/>
        </p:spPr>
        <p:style>
          <a:lnRef idx="1">
            <a:schemeClr val="dk1"/>
          </a:lnRef>
          <a:fillRef idx="3">
            <a:schemeClr val="dk1"/>
          </a:fillRef>
          <a:effectRef idx="2">
            <a:schemeClr val="dk1"/>
          </a:effectRef>
          <a:fontRef idx="minor">
            <a:schemeClr val="lt1"/>
          </a:fontRef>
        </p:style>
        <p:txBody>
          <a:bodyPr wrap="square" rtlCol="0" anchor="ctr" anchorCtr="0">
            <a:noAutofit/>
          </a:bodyPr>
          <a:lstStyle/>
          <a:p>
            <a:pPr algn="r"/>
            <a:r>
              <a:rPr lang="en-US" sz="48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mj-lt"/>
              </a:rPr>
              <a:t>How to Test a React Component </a:t>
            </a:r>
            <a:endParaRPr lang="en-GB" sz="44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mj-lt"/>
            </a:endParaRPr>
          </a:p>
        </p:txBody>
      </p:sp>
      <p:sp>
        <p:nvSpPr>
          <p:cNvPr id="25" name="TextBox 24">
            <a:extLst>
              <a:ext uri="{FF2B5EF4-FFF2-40B4-BE49-F238E27FC236}">
                <a16:creationId xmlns:a16="http://schemas.microsoft.com/office/drawing/2014/main" id="{43C018E2-48FC-3D9D-7370-97A2BD2A6A2F}"/>
              </a:ext>
            </a:extLst>
          </p:cNvPr>
          <p:cNvSpPr txBox="1"/>
          <p:nvPr/>
        </p:nvSpPr>
        <p:spPr>
          <a:xfrm>
            <a:off x="-10475910" y="2463702"/>
            <a:ext cx="8189910" cy="1569660"/>
          </a:xfrm>
          <a:prstGeom prst="rect">
            <a:avLst/>
          </a:prstGeom>
        </p:spPr>
        <p:style>
          <a:lnRef idx="1">
            <a:schemeClr val="accent6"/>
          </a:lnRef>
          <a:fillRef idx="2">
            <a:schemeClr val="accent6"/>
          </a:fillRef>
          <a:effectRef idx="1">
            <a:schemeClr val="accent6"/>
          </a:effectRef>
          <a:fontRef idx="minor">
            <a:schemeClr val="dk1"/>
          </a:fontRef>
        </p:style>
        <p:txBody>
          <a:bodyPr wrap="square" rtlCol="0">
            <a:spAutoFit/>
          </a:bodyPr>
          <a:lstStyle/>
          <a:p>
            <a:r>
              <a:rPr lang="en-US" sz="4800" dirty="0">
                <a:ln w="0"/>
                <a:solidFill>
                  <a:schemeClr val="tx1"/>
                </a:solidFill>
                <a:effectLst>
                  <a:outerShdw blurRad="38100" dist="19050" dir="2700000" algn="tl" rotWithShape="0">
                    <a:schemeClr val="dk1">
                      <a:alpha val="40000"/>
                    </a:schemeClr>
                  </a:outerShdw>
                </a:effectLst>
                <a:latin typeface="Patrick Hand" pitchFamily="2" charset="77"/>
              </a:rPr>
              <a:t>Image: vitest_002_test_react_component</a:t>
            </a:r>
            <a:endParaRPr lang="en-DE" sz="4800" dirty="0">
              <a:ln w="0"/>
              <a:solidFill>
                <a:schemeClr val="tx1"/>
              </a:solidFill>
              <a:effectLst>
                <a:outerShdw blurRad="38100" dist="19050" dir="2700000" algn="tl" rotWithShape="0">
                  <a:schemeClr val="dk1">
                    <a:alpha val="40000"/>
                  </a:schemeClr>
                </a:outerShdw>
              </a:effectLst>
              <a:latin typeface="Patrick Hand" pitchFamily="2" charset="77"/>
            </a:endParaRPr>
          </a:p>
        </p:txBody>
      </p:sp>
      <p:pic>
        <p:nvPicPr>
          <p:cNvPr id="7" name="Picture 6">
            <a:extLst>
              <a:ext uri="{FF2B5EF4-FFF2-40B4-BE49-F238E27FC236}">
                <a16:creationId xmlns:a16="http://schemas.microsoft.com/office/drawing/2014/main" id="{C01F29B2-3AB1-D03B-675A-AB7071D08B54}"/>
              </a:ext>
            </a:extLst>
          </p:cNvPr>
          <p:cNvPicPr>
            <a:picLocks noChangeAspect="1"/>
          </p:cNvPicPr>
          <p:nvPr/>
        </p:nvPicPr>
        <p:blipFill>
          <a:blip r:embed="rId3"/>
          <a:stretch>
            <a:fillRect/>
          </a:stretch>
        </p:blipFill>
        <p:spPr>
          <a:xfrm>
            <a:off x="405750" y="3190540"/>
            <a:ext cx="1062000" cy="1062000"/>
          </a:xfrm>
          <a:prstGeom prst="rect">
            <a:avLst/>
          </a:prstGeom>
        </p:spPr>
      </p:pic>
      <p:sp>
        <p:nvSpPr>
          <p:cNvPr id="8" name="TextBox 7">
            <a:extLst>
              <a:ext uri="{FF2B5EF4-FFF2-40B4-BE49-F238E27FC236}">
                <a16:creationId xmlns:a16="http://schemas.microsoft.com/office/drawing/2014/main" id="{9AD4F8CF-ED38-FA9F-03B3-3D41703ABEA1}"/>
              </a:ext>
            </a:extLst>
          </p:cNvPr>
          <p:cNvSpPr txBox="1"/>
          <p:nvPr/>
        </p:nvSpPr>
        <p:spPr>
          <a:xfrm>
            <a:off x="337263" y="11434479"/>
            <a:ext cx="9610887" cy="3797586"/>
          </a:xfrm>
          <a:prstGeom prst="rect">
            <a:avLst/>
          </a:prstGeom>
          <a:noFill/>
        </p:spPr>
        <p:txBody>
          <a:bodyPr wrap="square" rtlCol="0">
            <a:noAutofit/>
          </a:bodyPr>
          <a:lstStyle/>
          <a:p>
            <a:pPr algn="ctr"/>
            <a:r>
              <a:rPr lang="en-GB" sz="7200" dirty="0">
                <a:latin typeface="Patrick Hand" pitchFamily="2" charset="77"/>
              </a:rPr>
              <a:t>Use </a:t>
            </a:r>
            <a:r>
              <a:rPr lang="en-GB" sz="7200" dirty="0" err="1">
                <a:latin typeface="Patrick Hand" pitchFamily="2" charset="77"/>
              </a:rPr>
              <a:t>screen.getByRole</a:t>
            </a:r>
            <a:r>
              <a:rPr lang="en-GB" sz="7200" dirty="0">
                <a:latin typeface="Patrick Hand" pitchFamily="2" charset="77"/>
              </a:rPr>
              <a:t> to find an element by its ARIA role</a:t>
            </a:r>
            <a:endParaRPr lang="en-DE" sz="7200" dirty="0">
              <a:ln w="0"/>
              <a:effectLst>
                <a:outerShdw blurRad="38100" dist="19050" dir="2700000" algn="tl" rotWithShape="0">
                  <a:schemeClr val="dk1">
                    <a:alpha val="40000"/>
                  </a:schemeClr>
                </a:outerShdw>
              </a:effectLst>
              <a:latin typeface="Patrick Hand" pitchFamily="2" charset="77"/>
            </a:endParaRPr>
          </a:p>
        </p:txBody>
      </p:sp>
      <p:pic>
        <p:nvPicPr>
          <p:cNvPr id="2" name="Picture 1">
            <a:extLst>
              <a:ext uri="{FF2B5EF4-FFF2-40B4-BE49-F238E27FC236}">
                <a16:creationId xmlns:a16="http://schemas.microsoft.com/office/drawing/2014/main" id="{D81B2A9B-7086-5554-69D9-3FFCA759B380}"/>
              </a:ext>
            </a:extLst>
          </p:cNvPr>
          <p:cNvPicPr>
            <a:picLocks noChangeAspect="1"/>
          </p:cNvPicPr>
          <p:nvPr/>
        </p:nvPicPr>
        <p:blipFill rotWithShape="1">
          <a:blip r:embed="rId4"/>
          <a:srcRect l="16743" t="19905" r="11644" b="17358"/>
          <a:stretch>
            <a:fillRect/>
          </a:stretch>
        </p:blipFill>
        <p:spPr>
          <a:xfrm>
            <a:off x="226708" y="4387779"/>
            <a:ext cx="9831997" cy="7026822"/>
          </a:xfrm>
          <a:prstGeom prst="rect">
            <a:avLst/>
          </a:prstGeom>
        </p:spPr>
      </p:pic>
    </p:spTree>
    <p:extLst>
      <p:ext uri="{BB962C8B-B14F-4D97-AF65-F5344CB8AC3E}">
        <p14:creationId xmlns:p14="http://schemas.microsoft.com/office/powerpoint/2010/main" val="397417557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a:extLst>
            <a:ext uri="{FF2B5EF4-FFF2-40B4-BE49-F238E27FC236}">
              <a16:creationId xmlns:a16="http://schemas.microsoft.com/office/drawing/2014/main" id="{B09B00A6-2E00-8851-1166-8590FA9169E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BBD37CC-A2D3-22DA-18D5-9CF7619A4CA7}"/>
              </a:ext>
            </a:extLst>
          </p:cNvPr>
          <p:cNvSpPr txBox="1"/>
          <p:nvPr/>
        </p:nvSpPr>
        <p:spPr>
          <a:xfrm>
            <a:off x="223306" y="2407302"/>
            <a:ext cx="9838800" cy="1236996"/>
          </a:xfrm>
          <a:prstGeom prst="rect">
            <a:avLst/>
          </a:prstGeom>
          <a:ln/>
        </p:spPr>
        <p:style>
          <a:lnRef idx="1">
            <a:schemeClr val="dk1"/>
          </a:lnRef>
          <a:fillRef idx="3">
            <a:schemeClr val="dk1"/>
          </a:fillRef>
          <a:effectRef idx="2">
            <a:schemeClr val="dk1"/>
          </a:effectRef>
          <a:fontRef idx="minor">
            <a:schemeClr val="lt1"/>
          </a:fontRef>
        </p:style>
        <p:txBody>
          <a:bodyPr wrap="square" rtlCol="0" anchor="ctr" anchorCtr="0">
            <a:noAutofit/>
          </a:bodyPr>
          <a:lstStyle/>
          <a:p>
            <a:pPr marL="0" algn="ctr" defTabSz="457200" rtl="0" eaLnBrk="1" latinLnBrk="0" hangingPunct="1"/>
            <a:r>
              <a:rPr lang="en-US" sz="54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mj-lt"/>
              </a:rPr>
              <a:t>Test Your Code with </a:t>
            </a:r>
            <a:r>
              <a:rPr lang="en-US" sz="5400" b="1" dirty="0" err="1">
                <a:ln w="10160">
                  <a:solidFill>
                    <a:schemeClr val="accent5"/>
                  </a:solidFill>
                  <a:prstDash val="solid"/>
                </a:ln>
                <a:solidFill>
                  <a:srgbClr val="FFFFFF"/>
                </a:solidFill>
                <a:effectLst>
                  <a:outerShdw blurRad="38100" dist="22860" dir="5400000" algn="tl" rotWithShape="0">
                    <a:srgbClr val="000000">
                      <a:alpha val="30000"/>
                    </a:srgbClr>
                  </a:outerShdw>
                </a:effectLst>
                <a:latin typeface="+mj-lt"/>
              </a:rPr>
              <a:t>Vitest</a:t>
            </a:r>
            <a:endParaRPr lang="en-GB" sz="48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mj-lt"/>
            </a:endParaRPr>
          </a:p>
        </p:txBody>
      </p:sp>
      <p:sp>
        <p:nvSpPr>
          <p:cNvPr id="25" name="TextBox 24">
            <a:extLst>
              <a:ext uri="{FF2B5EF4-FFF2-40B4-BE49-F238E27FC236}">
                <a16:creationId xmlns:a16="http://schemas.microsoft.com/office/drawing/2014/main" id="{E8F438F7-3DC4-B4BA-AFA9-1D607DE8A6EF}"/>
              </a:ext>
            </a:extLst>
          </p:cNvPr>
          <p:cNvSpPr txBox="1"/>
          <p:nvPr/>
        </p:nvSpPr>
        <p:spPr>
          <a:xfrm>
            <a:off x="-10475910" y="2463702"/>
            <a:ext cx="8132354" cy="830997"/>
          </a:xfrm>
          <a:prstGeom prst="rect">
            <a:avLst/>
          </a:prstGeom>
        </p:spPr>
        <p:style>
          <a:lnRef idx="1">
            <a:schemeClr val="accent6"/>
          </a:lnRef>
          <a:fillRef idx="2">
            <a:schemeClr val="accent6"/>
          </a:fillRef>
          <a:effectRef idx="1">
            <a:schemeClr val="accent6"/>
          </a:effectRef>
          <a:fontRef idx="minor">
            <a:schemeClr val="dk1"/>
          </a:fontRef>
        </p:style>
        <p:txBody>
          <a:bodyPr wrap="none" rtlCol="0">
            <a:spAutoFit/>
          </a:bodyPr>
          <a:lstStyle/>
          <a:p>
            <a:r>
              <a:rPr lang="en-US" sz="4800" dirty="0">
                <a:ln w="0"/>
                <a:solidFill>
                  <a:schemeClr val="tx1"/>
                </a:solidFill>
                <a:effectLst>
                  <a:outerShdw blurRad="38100" dist="19050" dir="2700000" algn="tl" rotWithShape="0">
                    <a:schemeClr val="dk1">
                      <a:alpha val="40000"/>
                    </a:schemeClr>
                  </a:outerShdw>
                </a:effectLst>
                <a:latin typeface="Patrick Hand" pitchFamily="2" charset="77"/>
              </a:rPr>
              <a:t>Image: vitest_001_test_your_code</a:t>
            </a:r>
            <a:endParaRPr lang="en-DE" sz="4800" dirty="0">
              <a:ln w="0"/>
              <a:solidFill>
                <a:schemeClr val="tx1"/>
              </a:solidFill>
              <a:effectLst>
                <a:outerShdw blurRad="38100" dist="19050" dir="2700000" algn="tl" rotWithShape="0">
                  <a:schemeClr val="dk1">
                    <a:alpha val="40000"/>
                  </a:schemeClr>
                </a:outerShdw>
              </a:effectLst>
              <a:latin typeface="Patrick Hand" pitchFamily="2" charset="77"/>
            </a:endParaRPr>
          </a:p>
        </p:txBody>
      </p:sp>
      <p:pic>
        <p:nvPicPr>
          <p:cNvPr id="7" name="Picture 6">
            <a:extLst>
              <a:ext uri="{FF2B5EF4-FFF2-40B4-BE49-F238E27FC236}">
                <a16:creationId xmlns:a16="http://schemas.microsoft.com/office/drawing/2014/main" id="{A5BCF53F-215D-5821-FC84-D51E9FF75C4B}"/>
              </a:ext>
            </a:extLst>
          </p:cNvPr>
          <p:cNvPicPr>
            <a:picLocks noChangeAspect="1"/>
          </p:cNvPicPr>
          <p:nvPr/>
        </p:nvPicPr>
        <p:blipFill>
          <a:blip r:embed="rId3"/>
          <a:stretch>
            <a:fillRect/>
          </a:stretch>
        </p:blipFill>
        <p:spPr>
          <a:xfrm>
            <a:off x="405750" y="2494800"/>
            <a:ext cx="1062000" cy="1062000"/>
          </a:xfrm>
          <a:prstGeom prst="rect">
            <a:avLst/>
          </a:prstGeom>
        </p:spPr>
      </p:pic>
      <p:pic>
        <p:nvPicPr>
          <p:cNvPr id="6" name="Picture 5">
            <a:extLst>
              <a:ext uri="{FF2B5EF4-FFF2-40B4-BE49-F238E27FC236}">
                <a16:creationId xmlns:a16="http://schemas.microsoft.com/office/drawing/2014/main" id="{4F141445-E983-3417-D33D-BD55AD12D97D}"/>
              </a:ext>
            </a:extLst>
          </p:cNvPr>
          <p:cNvPicPr>
            <a:picLocks noChangeAspect="1"/>
          </p:cNvPicPr>
          <p:nvPr/>
        </p:nvPicPr>
        <p:blipFill rotWithShape="1">
          <a:blip r:embed="rId4"/>
          <a:srcRect l="17267" t="26132" r="10243" b="13448"/>
          <a:stretch>
            <a:fillRect/>
          </a:stretch>
        </p:blipFill>
        <p:spPr>
          <a:xfrm>
            <a:off x="253100" y="3731796"/>
            <a:ext cx="9779213" cy="6465149"/>
          </a:xfrm>
          <a:prstGeom prst="rect">
            <a:avLst/>
          </a:prstGeom>
        </p:spPr>
      </p:pic>
      <p:sp>
        <p:nvSpPr>
          <p:cNvPr id="8" name="TextBox 7">
            <a:extLst>
              <a:ext uri="{FF2B5EF4-FFF2-40B4-BE49-F238E27FC236}">
                <a16:creationId xmlns:a16="http://schemas.microsoft.com/office/drawing/2014/main" id="{BF9EBB26-480D-81A5-EB25-5123070257B3}"/>
              </a:ext>
            </a:extLst>
          </p:cNvPr>
          <p:cNvSpPr txBox="1"/>
          <p:nvPr/>
        </p:nvSpPr>
        <p:spPr>
          <a:xfrm>
            <a:off x="337263" y="10758618"/>
            <a:ext cx="9610887" cy="2767913"/>
          </a:xfrm>
          <a:prstGeom prst="rect">
            <a:avLst/>
          </a:prstGeom>
          <a:noFill/>
        </p:spPr>
        <p:txBody>
          <a:bodyPr wrap="square" rtlCol="0">
            <a:noAutofit/>
          </a:bodyPr>
          <a:lstStyle/>
          <a:p>
            <a:pPr algn="ctr"/>
            <a:r>
              <a:rPr lang="en-GB" sz="8000" dirty="0">
                <a:latin typeface="Patrick Hand" pitchFamily="2" charset="77"/>
              </a:rPr>
              <a:t>Unit Testing Your TypeScript with </a:t>
            </a:r>
            <a:r>
              <a:rPr lang="en-GB" sz="8000" dirty="0" err="1">
                <a:latin typeface="Patrick Hand" pitchFamily="2" charset="77"/>
              </a:rPr>
              <a:t>Vitest</a:t>
            </a:r>
            <a:endParaRPr lang="en-DE" sz="8000" dirty="0">
              <a:ln w="0"/>
              <a:effectLst>
                <a:outerShdw blurRad="38100" dist="19050" dir="2700000" algn="tl" rotWithShape="0">
                  <a:schemeClr val="dk1">
                    <a:alpha val="40000"/>
                  </a:schemeClr>
                </a:outerShdw>
              </a:effectLst>
              <a:latin typeface="Patrick Hand" pitchFamily="2" charset="77"/>
            </a:endParaRPr>
          </a:p>
        </p:txBody>
      </p:sp>
    </p:spTree>
    <p:extLst>
      <p:ext uri="{BB962C8B-B14F-4D97-AF65-F5344CB8AC3E}">
        <p14:creationId xmlns:p14="http://schemas.microsoft.com/office/powerpoint/2010/main" val="368187712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a:extLst>
            <a:ext uri="{FF2B5EF4-FFF2-40B4-BE49-F238E27FC236}">
              <a16:creationId xmlns:a16="http://schemas.microsoft.com/office/drawing/2014/main" id="{22B8976F-8E5A-BA81-77BB-666A8AEFD6F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9CAD7BE-3672-66B3-F53D-E6BE0A0D1A7E}"/>
              </a:ext>
            </a:extLst>
          </p:cNvPr>
          <p:cNvSpPr txBox="1"/>
          <p:nvPr/>
        </p:nvSpPr>
        <p:spPr>
          <a:xfrm>
            <a:off x="223306" y="3103042"/>
            <a:ext cx="9838800" cy="1236996"/>
          </a:xfrm>
          <a:prstGeom prst="rect">
            <a:avLst/>
          </a:prstGeom>
          <a:ln/>
        </p:spPr>
        <p:style>
          <a:lnRef idx="1">
            <a:schemeClr val="dk1"/>
          </a:lnRef>
          <a:fillRef idx="3">
            <a:schemeClr val="dk1"/>
          </a:fillRef>
          <a:effectRef idx="2">
            <a:schemeClr val="dk1"/>
          </a:effectRef>
          <a:fontRef idx="minor">
            <a:schemeClr val="lt1"/>
          </a:fontRef>
        </p:style>
        <p:txBody>
          <a:bodyPr wrap="square" rtlCol="0" anchor="ctr" anchorCtr="0">
            <a:noAutofit/>
            <a:scene3d>
              <a:camera prst="orthographicFront"/>
              <a:lightRig rig="soft" dir="t">
                <a:rot lat="0" lon="0" rev="15600000"/>
              </a:lightRig>
            </a:scene3d>
            <a:sp3d extrusionH="57150" prstMaterial="softEdge">
              <a:bevelT w="25400" h="38100"/>
            </a:sp3d>
          </a:bodyPr>
          <a:lstStyle/>
          <a:p>
            <a:pPr algn="ctr"/>
            <a:r>
              <a:rPr lang="en-US" sz="8000" b="1" dirty="0">
                <a:ln/>
                <a:solidFill>
                  <a:schemeClr val="accent4"/>
                </a:solidFill>
                <a:latin typeface="+mj-lt"/>
              </a:rPr>
              <a:t>const, let or var</a:t>
            </a:r>
            <a:endParaRPr lang="en-GB" sz="7200" b="1" dirty="0">
              <a:ln/>
              <a:solidFill>
                <a:schemeClr val="accent4"/>
              </a:solidFill>
              <a:latin typeface="+mj-lt"/>
            </a:endParaRPr>
          </a:p>
        </p:txBody>
      </p:sp>
      <p:sp>
        <p:nvSpPr>
          <p:cNvPr id="25" name="TextBox 24">
            <a:extLst>
              <a:ext uri="{FF2B5EF4-FFF2-40B4-BE49-F238E27FC236}">
                <a16:creationId xmlns:a16="http://schemas.microsoft.com/office/drawing/2014/main" id="{3FB6AD61-66B3-DBD3-AEA7-C94FE0506243}"/>
              </a:ext>
            </a:extLst>
          </p:cNvPr>
          <p:cNvSpPr txBox="1"/>
          <p:nvPr/>
        </p:nvSpPr>
        <p:spPr>
          <a:xfrm>
            <a:off x="-7932735" y="3103042"/>
            <a:ext cx="7122244" cy="830997"/>
          </a:xfrm>
          <a:prstGeom prst="rect">
            <a:avLst/>
          </a:prstGeom>
        </p:spPr>
        <p:style>
          <a:lnRef idx="1">
            <a:schemeClr val="accent6"/>
          </a:lnRef>
          <a:fillRef idx="2">
            <a:schemeClr val="accent6"/>
          </a:fillRef>
          <a:effectRef idx="1">
            <a:schemeClr val="accent6"/>
          </a:effectRef>
          <a:fontRef idx="minor">
            <a:schemeClr val="dk1"/>
          </a:fontRef>
        </p:style>
        <p:txBody>
          <a:bodyPr wrap="square" rtlCol="0">
            <a:spAutoFit/>
          </a:bodyPr>
          <a:lstStyle/>
          <a:p>
            <a:r>
              <a:rPr lang="en-GB" sz="4800" dirty="0">
                <a:ln w="0"/>
                <a:solidFill>
                  <a:schemeClr val="tx1"/>
                </a:solidFill>
                <a:effectLst>
                  <a:outerShdw blurRad="38100" dist="19050" dir="2700000" algn="tl" rotWithShape="0">
                    <a:schemeClr val="dk1">
                      <a:alpha val="40000"/>
                    </a:schemeClr>
                  </a:outerShdw>
                </a:effectLst>
                <a:latin typeface="Patrick Hand" pitchFamily="2" charset="77"/>
              </a:rPr>
              <a:t>js_001_const_vs_var_vs_let</a:t>
            </a:r>
            <a:endParaRPr lang="en-DE" sz="4800" dirty="0">
              <a:ln w="0"/>
              <a:solidFill>
                <a:schemeClr val="tx1"/>
              </a:solidFill>
              <a:effectLst>
                <a:outerShdw blurRad="38100" dist="19050" dir="2700000" algn="tl" rotWithShape="0">
                  <a:schemeClr val="dk1">
                    <a:alpha val="40000"/>
                  </a:schemeClr>
                </a:outerShdw>
              </a:effectLst>
              <a:latin typeface="Patrick Hand" pitchFamily="2" charset="77"/>
            </a:endParaRPr>
          </a:p>
        </p:txBody>
      </p:sp>
      <p:sp>
        <p:nvSpPr>
          <p:cNvPr id="5" name="TextBox 4">
            <a:extLst>
              <a:ext uri="{FF2B5EF4-FFF2-40B4-BE49-F238E27FC236}">
                <a16:creationId xmlns:a16="http://schemas.microsoft.com/office/drawing/2014/main" id="{3DE2D7C1-F175-C398-3AC9-DAC3A1E7750B}"/>
              </a:ext>
            </a:extLst>
          </p:cNvPr>
          <p:cNvSpPr txBox="1"/>
          <p:nvPr/>
        </p:nvSpPr>
        <p:spPr>
          <a:xfrm>
            <a:off x="1145454" y="4984252"/>
            <a:ext cx="8408504" cy="1236996"/>
          </a:xfrm>
          <a:prstGeom prst="rect">
            <a:avLst/>
          </a:prstGeom>
          <a:noFill/>
        </p:spPr>
        <p:txBody>
          <a:bodyPr wrap="square" rtlCol="0">
            <a:noAutofit/>
          </a:bodyPr>
          <a:lstStyle/>
          <a:p>
            <a:pPr algn="ctr"/>
            <a:r>
              <a:rPr lang="en-DE" sz="5400" dirty="0">
                <a:ln w="0"/>
                <a:effectLst>
                  <a:outerShdw blurRad="38100" dist="19050" dir="2700000" algn="tl" rotWithShape="0">
                    <a:schemeClr val="dk1">
                      <a:alpha val="40000"/>
                    </a:schemeClr>
                  </a:outerShdw>
                </a:effectLst>
                <a:latin typeface="Patrick Hand" pitchFamily="2" charset="77"/>
              </a:rPr>
              <a:t>Are you still using </a:t>
            </a:r>
            <a:r>
              <a:rPr lang="en-DE" sz="5400" b="1" dirty="0">
                <a:ln w="0"/>
                <a:solidFill>
                  <a:schemeClr val="accent1"/>
                </a:solidFill>
                <a:effectLst>
                  <a:outerShdw blurRad="38100" dist="25400" dir="5400000" algn="ctr" rotWithShape="0">
                    <a:srgbClr val="6E747A">
                      <a:alpha val="43000"/>
                    </a:srgbClr>
                  </a:outerShdw>
                </a:effectLst>
                <a:latin typeface="Patrick Hand" pitchFamily="2" charset="77"/>
              </a:rPr>
              <a:t>var</a:t>
            </a:r>
            <a:r>
              <a:rPr lang="en-DE" sz="5400" dirty="0">
                <a:ln w="0"/>
                <a:effectLst>
                  <a:outerShdw blurRad="38100" dist="19050" dir="2700000" algn="tl" rotWithShape="0">
                    <a:schemeClr val="dk1">
                      <a:alpha val="40000"/>
                    </a:schemeClr>
                  </a:outerShdw>
                </a:effectLst>
                <a:latin typeface="Patrick Hand" pitchFamily="2" charset="77"/>
              </a:rPr>
              <a:t>?</a:t>
            </a:r>
          </a:p>
        </p:txBody>
      </p:sp>
      <p:pic>
        <p:nvPicPr>
          <p:cNvPr id="9" name="Picture 8">
            <a:extLst>
              <a:ext uri="{FF2B5EF4-FFF2-40B4-BE49-F238E27FC236}">
                <a16:creationId xmlns:a16="http://schemas.microsoft.com/office/drawing/2014/main" id="{16BB1B75-4D28-2A45-641D-D9DED76CBD5E}"/>
              </a:ext>
            </a:extLst>
          </p:cNvPr>
          <p:cNvPicPr>
            <a:picLocks noChangeAspect="1"/>
          </p:cNvPicPr>
          <p:nvPr/>
        </p:nvPicPr>
        <p:blipFill>
          <a:blip r:embed="rId3"/>
          <a:stretch>
            <a:fillRect/>
          </a:stretch>
        </p:blipFill>
        <p:spPr>
          <a:xfrm>
            <a:off x="312757" y="3190540"/>
            <a:ext cx="1062000" cy="1062000"/>
          </a:xfrm>
          <a:prstGeom prst="rect">
            <a:avLst/>
          </a:prstGeom>
        </p:spPr>
      </p:pic>
      <p:sp>
        <p:nvSpPr>
          <p:cNvPr id="10" name="TextBox 9">
            <a:extLst>
              <a:ext uri="{FF2B5EF4-FFF2-40B4-BE49-F238E27FC236}">
                <a16:creationId xmlns:a16="http://schemas.microsoft.com/office/drawing/2014/main" id="{E2DDE42E-7CE0-F0DE-9F70-34FCCEA0C96C}"/>
              </a:ext>
            </a:extLst>
          </p:cNvPr>
          <p:cNvSpPr txBox="1"/>
          <p:nvPr/>
        </p:nvSpPr>
        <p:spPr>
          <a:xfrm>
            <a:off x="1145454" y="13128022"/>
            <a:ext cx="8408504" cy="3044550"/>
          </a:xfrm>
          <a:prstGeom prst="rect">
            <a:avLst/>
          </a:prstGeom>
          <a:noFill/>
        </p:spPr>
        <p:txBody>
          <a:bodyPr wrap="square" rtlCol="0">
            <a:noAutofit/>
          </a:bodyPr>
          <a:lstStyle/>
          <a:p>
            <a:pPr algn="just"/>
            <a:r>
              <a:rPr lang="en-GB" sz="5400" b="1" dirty="0">
                <a:ln w="0"/>
                <a:solidFill>
                  <a:schemeClr val="accent1"/>
                </a:solidFill>
                <a:effectLst>
                  <a:outerShdw blurRad="38100" dist="25400" dir="5400000" algn="ctr" rotWithShape="0">
                    <a:srgbClr val="6E747A">
                      <a:alpha val="43000"/>
                    </a:srgbClr>
                  </a:outerShdw>
                </a:effectLst>
                <a:latin typeface="Patrick Hand" pitchFamily="2" charset="77"/>
              </a:rPr>
              <a:t>var</a:t>
            </a:r>
            <a:r>
              <a:rPr lang="en-GB" sz="5400" dirty="0">
                <a:ln w="0"/>
                <a:effectLst>
                  <a:outerShdw blurRad="38100" dist="19050" dir="2700000" algn="tl" rotWithShape="0">
                    <a:schemeClr val="dk1">
                      <a:alpha val="40000"/>
                    </a:schemeClr>
                  </a:outerShdw>
                </a:effectLst>
                <a:latin typeface="Patrick Hand" pitchFamily="2" charset="77"/>
              </a:rPr>
              <a:t> : Avoid this! It’s outdated, prone to bugs, and has confusing scoping rules.</a:t>
            </a:r>
            <a:endParaRPr lang="en-DE" sz="5400" dirty="0">
              <a:ln w="0"/>
              <a:effectLst>
                <a:outerShdw blurRad="38100" dist="19050" dir="2700000" algn="tl" rotWithShape="0">
                  <a:schemeClr val="dk1">
                    <a:alpha val="40000"/>
                  </a:schemeClr>
                </a:outerShdw>
              </a:effectLst>
              <a:latin typeface="Patrick Hand" pitchFamily="2" charset="77"/>
            </a:endParaRPr>
          </a:p>
        </p:txBody>
      </p:sp>
      <p:sp>
        <p:nvSpPr>
          <p:cNvPr id="11" name="TextBox 10">
            <a:extLst>
              <a:ext uri="{FF2B5EF4-FFF2-40B4-BE49-F238E27FC236}">
                <a16:creationId xmlns:a16="http://schemas.microsoft.com/office/drawing/2014/main" id="{4CBBCDDB-2C02-14AA-8060-BEA17CDF26C2}"/>
              </a:ext>
            </a:extLst>
          </p:cNvPr>
          <p:cNvSpPr txBox="1"/>
          <p:nvPr/>
        </p:nvSpPr>
        <p:spPr>
          <a:xfrm>
            <a:off x="1145454" y="6714302"/>
            <a:ext cx="8408504" cy="2713807"/>
          </a:xfrm>
          <a:prstGeom prst="rect">
            <a:avLst/>
          </a:prstGeom>
          <a:noFill/>
        </p:spPr>
        <p:txBody>
          <a:bodyPr wrap="square" rtlCol="0">
            <a:noAutofit/>
          </a:bodyPr>
          <a:lstStyle/>
          <a:p>
            <a:pPr algn="just"/>
            <a:r>
              <a:rPr lang="en-GB" sz="5400" b="1" dirty="0" err="1">
                <a:ln w="0"/>
                <a:solidFill>
                  <a:schemeClr val="accent1"/>
                </a:solidFill>
                <a:effectLst>
                  <a:outerShdw blurRad="38100" dist="25400" dir="5400000" algn="ctr" rotWithShape="0">
                    <a:srgbClr val="6E747A">
                      <a:alpha val="43000"/>
                    </a:srgbClr>
                  </a:outerShdw>
                </a:effectLst>
                <a:latin typeface="Patrick Hand" pitchFamily="2" charset="77"/>
              </a:rPr>
              <a:t>const</a:t>
            </a:r>
            <a:r>
              <a:rPr lang="en-GB" sz="5400" dirty="0">
                <a:ln w="0"/>
                <a:effectLst>
                  <a:outerShdw blurRad="38100" dist="19050" dir="2700000" algn="tl" rotWithShape="0">
                    <a:schemeClr val="dk1">
                      <a:alpha val="40000"/>
                    </a:schemeClr>
                  </a:outerShdw>
                </a:effectLst>
                <a:latin typeface="Patrick Hand" pitchFamily="2" charset="77"/>
              </a:rPr>
              <a:t> : </a:t>
            </a:r>
            <a:r>
              <a:rPr lang="en-US" sz="5400" dirty="0">
                <a:ln w="0"/>
                <a:effectLst>
                  <a:outerShdw blurRad="38100" dist="19050" dir="2700000" algn="tl" rotWithShape="0">
                    <a:schemeClr val="dk1">
                      <a:alpha val="40000"/>
                    </a:schemeClr>
                  </a:outerShdw>
                </a:effectLst>
                <a:latin typeface="Patrick Hand" pitchFamily="2" charset="77"/>
              </a:rPr>
              <a:t>Use this by default for variables and objects that shouldn’t be reassigned.</a:t>
            </a:r>
          </a:p>
        </p:txBody>
      </p:sp>
      <p:sp>
        <p:nvSpPr>
          <p:cNvPr id="12" name="TextBox 11">
            <a:extLst>
              <a:ext uri="{FF2B5EF4-FFF2-40B4-BE49-F238E27FC236}">
                <a16:creationId xmlns:a16="http://schemas.microsoft.com/office/drawing/2014/main" id="{B7C641B1-C950-339F-48C2-EBDCE0E47DE9}"/>
              </a:ext>
            </a:extLst>
          </p:cNvPr>
          <p:cNvSpPr txBox="1"/>
          <p:nvPr/>
        </p:nvSpPr>
        <p:spPr>
          <a:xfrm>
            <a:off x="1145454" y="9921163"/>
            <a:ext cx="8408504" cy="2713807"/>
          </a:xfrm>
          <a:prstGeom prst="rect">
            <a:avLst/>
          </a:prstGeom>
          <a:noFill/>
        </p:spPr>
        <p:txBody>
          <a:bodyPr wrap="square" rtlCol="0">
            <a:noAutofit/>
          </a:bodyPr>
          <a:lstStyle/>
          <a:p>
            <a:pPr algn="just"/>
            <a:r>
              <a:rPr lang="en-GB" sz="5400" b="1" dirty="0">
                <a:ln w="0"/>
                <a:solidFill>
                  <a:schemeClr val="accent1"/>
                </a:solidFill>
                <a:effectLst>
                  <a:outerShdw blurRad="38100" dist="25400" dir="5400000" algn="ctr" rotWithShape="0">
                    <a:srgbClr val="6E747A">
                      <a:alpha val="43000"/>
                    </a:srgbClr>
                  </a:outerShdw>
                </a:effectLst>
                <a:latin typeface="Patrick Hand" pitchFamily="2" charset="77"/>
              </a:rPr>
              <a:t>let</a:t>
            </a:r>
            <a:r>
              <a:rPr lang="en-GB" sz="5400" dirty="0">
                <a:ln w="0"/>
                <a:effectLst>
                  <a:outerShdw blurRad="38100" dist="19050" dir="2700000" algn="tl" rotWithShape="0">
                    <a:schemeClr val="dk1">
                      <a:alpha val="40000"/>
                    </a:schemeClr>
                  </a:outerShdw>
                </a:effectLst>
                <a:latin typeface="Patrick Hand" pitchFamily="2" charset="77"/>
              </a:rPr>
              <a:t> : Use this only when a value needs to change during the code lifecycle.</a:t>
            </a:r>
          </a:p>
        </p:txBody>
      </p:sp>
      <p:cxnSp>
        <p:nvCxnSpPr>
          <p:cNvPr id="15" name="Straight Connector 14">
            <a:extLst>
              <a:ext uri="{FF2B5EF4-FFF2-40B4-BE49-F238E27FC236}">
                <a16:creationId xmlns:a16="http://schemas.microsoft.com/office/drawing/2014/main" id="{F6A1C789-370D-893D-E10F-F284B63C7E04}"/>
              </a:ext>
            </a:extLst>
          </p:cNvPr>
          <p:cNvCxnSpPr>
            <a:cxnSpLocks/>
          </p:cNvCxnSpPr>
          <p:nvPr/>
        </p:nvCxnSpPr>
        <p:spPr>
          <a:xfrm>
            <a:off x="630381" y="9674636"/>
            <a:ext cx="9438651" cy="0"/>
          </a:xfrm>
          <a:prstGeom prst="line">
            <a:avLst/>
          </a:prstGeom>
          <a:ln w="50800">
            <a:solidFill>
              <a:schemeClr val="tx1"/>
            </a:solidFill>
            <a:headEnd type="none"/>
            <a:tailEnd type="none" w="lg" len="lg"/>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AFD6D5FD-05B9-36FF-FBC3-F9E184BDBA51}"/>
              </a:ext>
            </a:extLst>
          </p:cNvPr>
          <p:cNvCxnSpPr>
            <a:cxnSpLocks/>
          </p:cNvCxnSpPr>
          <p:nvPr/>
        </p:nvCxnSpPr>
        <p:spPr>
          <a:xfrm>
            <a:off x="630381" y="12881497"/>
            <a:ext cx="9438651" cy="0"/>
          </a:xfrm>
          <a:prstGeom prst="line">
            <a:avLst/>
          </a:prstGeom>
          <a:ln w="50800">
            <a:solidFill>
              <a:schemeClr val="tx1"/>
            </a:solidFill>
            <a:headEnd type="none"/>
            <a:tailEnd type="none" w="lg" len="lg"/>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57057F80-1A11-0912-9CFC-9DC73593D985}"/>
              </a:ext>
            </a:extLst>
          </p:cNvPr>
          <p:cNvCxnSpPr>
            <a:cxnSpLocks/>
          </p:cNvCxnSpPr>
          <p:nvPr/>
        </p:nvCxnSpPr>
        <p:spPr>
          <a:xfrm>
            <a:off x="630381" y="6467775"/>
            <a:ext cx="9438651" cy="0"/>
          </a:xfrm>
          <a:prstGeom prst="line">
            <a:avLst/>
          </a:prstGeom>
          <a:ln w="50800">
            <a:solidFill>
              <a:schemeClr val="tx1"/>
            </a:solidFill>
            <a:headEnd type="none"/>
            <a:tailEnd type="none" w="lg" len="lg"/>
          </a:ln>
        </p:spPr>
        <p:style>
          <a:lnRef idx="1">
            <a:schemeClr val="accent1"/>
          </a:lnRef>
          <a:fillRef idx="0">
            <a:schemeClr val="accent1"/>
          </a:fillRef>
          <a:effectRef idx="0">
            <a:schemeClr val="accent1"/>
          </a:effectRef>
          <a:fontRef idx="minor">
            <a:schemeClr val="tx1"/>
          </a:fontRef>
        </p:style>
      </p:cxnSp>
      <p:sp>
        <p:nvSpPr>
          <p:cNvPr id="18" name="Right Arrow 17">
            <a:extLst>
              <a:ext uri="{FF2B5EF4-FFF2-40B4-BE49-F238E27FC236}">
                <a16:creationId xmlns:a16="http://schemas.microsoft.com/office/drawing/2014/main" id="{B8252B83-0285-6886-149B-CB28573ED7FB}"/>
              </a:ext>
            </a:extLst>
          </p:cNvPr>
          <p:cNvSpPr/>
          <p:nvPr/>
        </p:nvSpPr>
        <p:spPr>
          <a:xfrm>
            <a:off x="4272551" y="16172572"/>
            <a:ext cx="1740310" cy="817570"/>
          </a:xfrm>
          <a:prstGeom prst="rightArrow">
            <a:avLst/>
          </a:prstGeom>
          <a:ln/>
        </p:spPr>
        <p:style>
          <a:lnRef idx="1">
            <a:schemeClr val="dk1"/>
          </a:lnRef>
          <a:fillRef idx="3">
            <a:schemeClr val="dk1"/>
          </a:fillRef>
          <a:effectRef idx="2">
            <a:schemeClr val="dk1"/>
          </a:effectRef>
          <a:fontRef idx="minor">
            <a:schemeClr val="lt1"/>
          </a:fontRef>
        </p:style>
        <p:txBody>
          <a:bodyPr wrap="square" rtlCol="0" anchor="ctr" anchorCtr="0">
            <a:noAutofit/>
            <a:scene3d>
              <a:camera prst="orthographicFront"/>
              <a:lightRig rig="soft" dir="t">
                <a:rot lat="0" lon="0" rev="15600000"/>
              </a:lightRig>
            </a:scene3d>
            <a:sp3d extrusionH="57150" prstMaterial="softEdge">
              <a:bevelT w="25400" h="38100"/>
            </a:sp3d>
          </a:bodyPr>
          <a:lstStyle/>
          <a:p>
            <a:pPr algn="ctr"/>
            <a:endParaRPr lang="en-DE" sz="8000" b="1" dirty="0">
              <a:ln/>
              <a:solidFill>
                <a:schemeClr val="accent4"/>
              </a:solidFill>
              <a:latin typeface="+mj-lt"/>
            </a:endParaRPr>
          </a:p>
        </p:txBody>
      </p:sp>
    </p:spTree>
    <p:extLst>
      <p:ext uri="{BB962C8B-B14F-4D97-AF65-F5344CB8AC3E}">
        <p14:creationId xmlns:p14="http://schemas.microsoft.com/office/powerpoint/2010/main" val="25700716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a:extLst>
            <a:ext uri="{FF2B5EF4-FFF2-40B4-BE49-F238E27FC236}">
              <a16:creationId xmlns:a16="http://schemas.microsoft.com/office/drawing/2014/main" id="{8182A447-7C22-2312-582C-6B74392302AD}"/>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E5BC4F6D-E6EC-AB95-2411-41363DB2ADAE}"/>
              </a:ext>
            </a:extLst>
          </p:cNvPr>
          <p:cNvPicPr>
            <a:picLocks noChangeAspect="1"/>
          </p:cNvPicPr>
          <p:nvPr/>
        </p:nvPicPr>
        <p:blipFill rotWithShape="1">
          <a:blip r:embed="rId3"/>
          <a:srcRect l="29281" t="27747" r="17647" b="23498"/>
          <a:stretch>
            <a:fillRect/>
          </a:stretch>
        </p:blipFill>
        <p:spPr>
          <a:xfrm>
            <a:off x="223306" y="4451600"/>
            <a:ext cx="9838800" cy="11153661"/>
          </a:xfrm>
          <a:prstGeom prst="rect">
            <a:avLst/>
          </a:prstGeom>
        </p:spPr>
      </p:pic>
      <p:sp>
        <p:nvSpPr>
          <p:cNvPr id="4" name="TextBox 3">
            <a:extLst>
              <a:ext uri="{FF2B5EF4-FFF2-40B4-BE49-F238E27FC236}">
                <a16:creationId xmlns:a16="http://schemas.microsoft.com/office/drawing/2014/main" id="{6B9D3CB9-04FA-A3F4-5E21-49CAD0882232}"/>
              </a:ext>
            </a:extLst>
          </p:cNvPr>
          <p:cNvSpPr txBox="1"/>
          <p:nvPr/>
        </p:nvSpPr>
        <p:spPr>
          <a:xfrm>
            <a:off x="223306" y="3103042"/>
            <a:ext cx="9838800" cy="1236996"/>
          </a:xfrm>
          <a:prstGeom prst="rect">
            <a:avLst/>
          </a:prstGeom>
          <a:ln/>
        </p:spPr>
        <p:style>
          <a:lnRef idx="1">
            <a:schemeClr val="dk1"/>
          </a:lnRef>
          <a:fillRef idx="3">
            <a:schemeClr val="dk1"/>
          </a:fillRef>
          <a:effectRef idx="2">
            <a:schemeClr val="dk1"/>
          </a:effectRef>
          <a:fontRef idx="minor">
            <a:schemeClr val="lt1"/>
          </a:fontRef>
        </p:style>
        <p:txBody>
          <a:bodyPr wrap="square" rtlCol="0" anchor="ctr" anchorCtr="0">
            <a:noAutofit/>
            <a:scene3d>
              <a:camera prst="orthographicFront"/>
              <a:lightRig rig="soft" dir="t">
                <a:rot lat="0" lon="0" rev="15600000"/>
              </a:lightRig>
            </a:scene3d>
            <a:sp3d extrusionH="57150" prstMaterial="softEdge">
              <a:bevelT w="25400" h="38100"/>
            </a:sp3d>
          </a:bodyPr>
          <a:lstStyle/>
          <a:p>
            <a:pPr algn="ctr"/>
            <a:r>
              <a:rPr lang="en-US" sz="8000" b="1" dirty="0">
                <a:ln/>
                <a:solidFill>
                  <a:schemeClr val="accent4"/>
                </a:solidFill>
                <a:latin typeface="+mj-lt"/>
              </a:rPr>
              <a:t>var vs const</a:t>
            </a:r>
            <a:endParaRPr lang="en-GB" sz="7200" b="1" dirty="0">
              <a:ln/>
              <a:solidFill>
                <a:schemeClr val="accent4"/>
              </a:solidFill>
              <a:latin typeface="+mj-lt"/>
            </a:endParaRPr>
          </a:p>
        </p:txBody>
      </p:sp>
      <p:sp>
        <p:nvSpPr>
          <p:cNvPr id="25" name="TextBox 24">
            <a:extLst>
              <a:ext uri="{FF2B5EF4-FFF2-40B4-BE49-F238E27FC236}">
                <a16:creationId xmlns:a16="http://schemas.microsoft.com/office/drawing/2014/main" id="{0D04F7E9-ED55-6C30-CDC4-774CCD9A6A30}"/>
              </a:ext>
            </a:extLst>
          </p:cNvPr>
          <p:cNvSpPr txBox="1"/>
          <p:nvPr/>
        </p:nvSpPr>
        <p:spPr>
          <a:xfrm>
            <a:off x="-10475910" y="2463702"/>
            <a:ext cx="8189910" cy="830997"/>
          </a:xfrm>
          <a:prstGeom prst="rect">
            <a:avLst/>
          </a:prstGeom>
        </p:spPr>
        <p:style>
          <a:lnRef idx="1">
            <a:schemeClr val="accent6"/>
          </a:lnRef>
          <a:fillRef idx="2">
            <a:schemeClr val="accent6"/>
          </a:fillRef>
          <a:effectRef idx="1">
            <a:schemeClr val="accent6"/>
          </a:effectRef>
          <a:fontRef idx="minor">
            <a:schemeClr val="dk1"/>
          </a:fontRef>
        </p:style>
        <p:txBody>
          <a:bodyPr wrap="square" rtlCol="0">
            <a:spAutoFit/>
          </a:bodyPr>
          <a:lstStyle/>
          <a:p>
            <a:r>
              <a:rPr lang="en-GB" sz="4800" dirty="0">
                <a:ln w="0"/>
                <a:solidFill>
                  <a:schemeClr val="tx1"/>
                </a:solidFill>
                <a:effectLst>
                  <a:outerShdw blurRad="38100" dist="19050" dir="2700000" algn="tl" rotWithShape="0">
                    <a:schemeClr val="dk1">
                      <a:alpha val="40000"/>
                    </a:schemeClr>
                  </a:outerShdw>
                </a:effectLst>
                <a:latin typeface="Patrick Hand" pitchFamily="2" charset="77"/>
              </a:rPr>
              <a:t>js_001_const_vs_var</a:t>
            </a:r>
            <a:endParaRPr lang="en-DE" sz="4800" dirty="0">
              <a:ln w="0"/>
              <a:solidFill>
                <a:schemeClr val="tx1"/>
              </a:solidFill>
              <a:effectLst>
                <a:outerShdw blurRad="38100" dist="19050" dir="2700000" algn="tl" rotWithShape="0">
                  <a:schemeClr val="dk1">
                    <a:alpha val="40000"/>
                  </a:schemeClr>
                </a:outerShdw>
              </a:effectLst>
              <a:latin typeface="Patrick Hand" pitchFamily="2" charset="77"/>
            </a:endParaRPr>
          </a:p>
        </p:txBody>
      </p:sp>
      <p:pic>
        <p:nvPicPr>
          <p:cNvPr id="2" name="Picture 1">
            <a:extLst>
              <a:ext uri="{FF2B5EF4-FFF2-40B4-BE49-F238E27FC236}">
                <a16:creationId xmlns:a16="http://schemas.microsoft.com/office/drawing/2014/main" id="{F37D4B84-8228-1188-3196-70098F4FDC29}"/>
              </a:ext>
            </a:extLst>
          </p:cNvPr>
          <p:cNvPicPr>
            <a:picLocks noChangeAspect="1"/>
          </p:cNvPicPr>
          <p:nvPr/>
        </p:nvPicPr>
        <p:blipFill>
          <a:blip r:embed="rId4"/>
          <a:stretch>
            <a:fillRect/>
          </a:stretch>
        </p:blipFill>
        <p:spPr>
          <a:xfrm>
            <a:off x="312757" y="3190540"/>
            <a:ext cx="1062000" cy="1062000"/>
          </a:xfrm>
          <a:prstGeom prst="rect">
            <a:avLst/>
          </a:prstGeom>
        </p:spPr>
      </p:pic>
      <p:cxnSp>
        <p:nvCxnSpPr>
          <p:cNvPr id="5" name="Straight Connector 4">
            <a:extLst>
              <a:ext uri="{FF2B5EF4-FFF2-40B4-BE49-F238E27FC236}">
                <a16:creationId xmlns:a16="http://schemas.microsoft.com/office/drawing/2014/main" id="{1F94149E-614F-D033-C1C7-1B29206D0C2B}"/>
              </a:ext>
            </a:extLst>
          </p:cNvPr>
          <p:cNvCxnSpPr>
            <a:cxnSpLocks/>
          </p:cNvCxnSpPr>
          <p:nvPr/>
        </p:nvCxnSpPr>
        <p:spPr>
          <a:xfrm>
            <a:off x="233306" y="10134045"/>
            <a:ext cx="9813810" cy="0"/>
          </a:xfrm>
          <a:prstGeom prst="line">
            <a:avLst/>
          </a:prstGeom>
          <a:ln w="38100">
            <a:solidFill>
              <a:schemeClr val="bg1"/>
            </a:solidFill>
            <a:headEnd type="none"/>
            <a:tailEnd type="none" w="lg" len="lg"/>
          </a:ln>
        </p:spPr>
        <p:style>
          <a:lnRef idx="1">
            <a:schemeClr val="accent1"/>
          </a:lnRef>
          <a:fillRef idx="0">
            <a:schemeClr val="accent1"/>
          </a:fillRef>
          <a:effectRef idx="0">
            <a:schemeClr val="accent1"/>
          </a:effectRef>
          <a:fontRef idx="minor">
            <a:schemeClr val="tx1"/>
          </a:fontRef>
        </p:style>
      </p:cxnSp>
      <p:pic>
        <p:nvPicPr>
          <p:cNvPr id="6" name="Graphic 5" descr="Shield Tick with solid fill">
            <a:extLst>
              <a:ext uri="{FF2B5EF4-FFF2-40B4-BE49-F238E27FC236}">
                <a16:creationId xmlns:a16="http://schemas.microsoft.com/office/drawing/2014/main" id="{FE98F297-4704-4F7E-553B-3CB737325C6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082462" y="11102626"/>
            <a:ext cx="914400" cy="914400"/>
          </a:xfrm>
          <a:prstGeom prst="rect">
            <a:avLst/>
          </a:prstGeom>
        </p:spPr>
      </p:pic>
      <p:pic>
        <p:nvPicPr>
          <p:cNvPr id="8" name="Graphic 7" descr="Close with solid fill">
            <a:extLst>
              <a:ext uri="{FF2B5EF4-FFF2-40B4-BE49-F238E27FC236}">
                <a16:creationId xmlns:a16="http://schemas.microsoft.com/office/drawing/2014/main" id="{092C0F8D-4B6E-B934-B9D0-0E3543FEE4E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082462" y="5360655"/>
            <a:ext cx="914400" cy="914400"/>
          </a:xfrm>
          <a:prstGeom prst="rect">
            <a:avLst/>
          </a:prstGeom>
        </p:spPr>
      </p:pic>
      <p:sp>
        <p:nvSpPr>
          <p:cNvPr id="9" name="Right Arrow 8">
            <a:extLst>
              <a:ext uri="{FF2B5EF4-FFF2-40B4-BE49-F238E27FC236}">
                <a16:creationId xmlns:a16="http://schemas.microsoft.com/office/drawing/2014/main" id="{C34A2B67-78B9-2C30-8234-95E22EC73724}"/>
              </a:ext>
            </a:extLst>
          </p:cNvPr>
          <p:cNvSpPr/>
          <p:nvPr/>
        </p:nvSpPr>
        <p:spPr>
          <a:xfrm>
            <a:off x="4272551" y="16172572"/>
            <a:ext cx="1740310" cy="817570"/>
          </a:xfrm>
          <a:prstGeom prst="rightArrow">
            <a:avLst/>
          </a:prstGeom>
          <a:ln/>
        </p:spPr>
        <p:style>
          <a:lnRef idx="1">
            <a:schemeClr val="dk1"/>
          </a:lnRef>
          <a:fillRef idx="3">
            <a:schemeClr val="dk1"/>
          </a:fillRef>
          <a:effectRef idx="2">
            <a:schemeClr val="dk1"/>
          </a:effectRef>
          <a:fontRef idx="minor">
            <a:schemeClr val="lt1"/>
          </a:fontRef>
        </p:style>
        <p:txBody>
          <a:bodyPr wrap="square" rtlCol="0" anchor="ctr" anchorCtr="0">
            <a:noAutofit/>
            <a:scene3d>
              <a:camera prst="orthographicFront"/>
              <a:lightRig rig="soft" dir="t">
                <a:rot lat="0" lon="0" rev="15600000"/>
              </a:lightRig>
            </a:scene3d>
            <a:sp3d extrusionH="57150" prstMaterial="softEdge">
              <a:bevelT w="25400" h="38100"/>
            </a:sp3d>
          </a:bodyPr>
          <a:lstStyle/>
          <a:p>
            <a:pPr algn="ctr"/>
            <a:endParaRPr lang="en-DE" sz="8000" b="1" dirty="0">
              <a:ln/>
              <a:solidFill>
                <a:schemeClr val="accent4"/>
              </a:solidFill>
              <a:latin typeface="+mj-lt"/>
            </a:endParaRPr>
          </a:p>
        </p:txBody>
      </p:sp>
    </p:spTree>
    <p:extLst>
      <p:ext uri="{BB962C8B-B14F-4D97-AF65-F5344CB8AC3E}">
        <p14:creationId xmlns:p14="http://schemas.microsoft.com/office/powerpoint/2010/main" val="186505340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a:extLst>
            <a:ext uri="{FF2B5EF4-FFF2-40B4-BE49-F238E27FC236}">
              <a16:creationId xmlns:a16="http://schemas.microsoft.com/office/drawing/2014/main" id="{D3C954C3-F83B-0BE5-03CB-AD15D01F7D8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FDA53FE-85E5-E3A7-23DF-CE064DB089EA}"/>
              </a:ext>
            </a:extLst>
          </p:cNvPr>
          <p:cNvSpPr txBox="1"/>
          <p:nvPr/>
        </p:nvSpPr>
        <p:spPr>
          <a:xfrm>
            <a:off x="223306" y="3103042"/>
            <a:ext cx="9838800" cy="1236996"/>
          </a:xfrm>
          <a:prstGeom prst="rect">
            <a:avLst/>
          </a:prstGeom>
          <a:ln/>
        </p:spPr>
        <p:style>
          <a:lnRef idx="1">
            <a:schemeClr val="dk1"/>
          </a:lnRef>
          <a:fillRef idx="3">
            <a:schemeClr val="dk1"/>
          </a:fillRef>
          <a:effectRef idx="2">
            <a:schemeClr val="dk1"/>
          </a:effectRef>
          <a:fontRef idx="minor">
            <a:schemeClr val="lt1"/>
          </a:fontRef>
        </p:style>
        <p:txBody>
          <a:bodyPr wrap="square" rtlCol="0" anchor="ctr" anchorCtr="0">
            <a:noAutofit/>
            <a:scene3d>
              <a:camera prst="orthographicFront"/>
              <a:lightRig rig="soft" dir="t">
                <a:rot lat="0" lon="0" rev="15600000"/>
              </a:lightRig>
            </a:scene3d>
            <a:sp3d extrusionH="57150" prstMaterial="softEdge">
              <a:bevelT w="25400" h="38100"/>
            </a:sp3d>
          </a:bodyPr>
          <a:lstStyle/>
          <a:p>
            <a:pPr algn="ctr"/>
            <a:r>
              <a:rPr lang="en-US" sz="8000" b="1" dirty="0">
                <a:ln/>
                <a:solidFill>
                  <a:schemeClr val="accent4"/>
                </a:solidFill>
                <a:latin typeface="+mj-lt"/>
              </a:rPr>
              <a:t>var vs let</a:t>
            </a:r>
            <a:endParaRPr lang="en-GB" sz="7200" b="1" dirty="0">
              <a:ln/>
              <a:solidFill>
                <a:schemeClr val="accent4"/>
              </a:solidFill>
              <a:latin typeface="+mj-lt"/>
            </a:endParaRPr>
          </a:p>
        </p:txBody>
      </p:sp>
      <p:sp>
        <p:nvSpPr>
          <p:cNvPr id="25" name="TextBox 24">
            <a:extLst>
              <a:ext uri="{FF2B5EF4-FFF2-40B4-BE49-F238E27FC236}">
                <a16:creationId xmlns:a16="http://schemas.microsoft.com/office/drawing/2014/main" id="{B2FE6413-CC36-C489-D7C0-97568204C7F0}"/>
              </a:ext>
            </a:extLst>
          </p:cNvPr>
          <p:cNvSpPr txBox="1"/>
          <p:nvPr/>
        </p:nvSpPr>
        <p:spPr>
          <a:xfrm>
            <a:off x="-10475910" y="2463702"/>
            <a:ext cx="8189910" cy="830997"/>
          </a:xfrm>
          <a:prstGeom prst="rect">
            <a:avLst/>
          </a:prstGeom>
        </p:spPr>
        <p:style>
          <a:lnRef idx="1">
            <a:schemeClr val="accent6"/>
          </a:lnRef>
          <a:fillRef idx="2">
            <a:schemeClr val="accent6"/>
          </a:fillRef>
          <a:effectRef idx="1">
            <a:schemeClr val="accent6"/>
          </a:effectRef>
          <a:fontRef idx="minor">
            <a:schemeClr val="dk1"/>
          </a:fontRef>
        </p:style>
        <p:txBody>
          <a:bodyPr wrap="square" rtlCol="0">
            <a:spAutoFit/>
          </a:bodyPr>
          <a:lstStyle/>
          <a:p>
            <a:r>
              <a:rPr lang="en-GB" sz="4800" dirty="0">
                <a:ln w="0"/>
                <a:solidFill>
                  <a:schemeClr val="tx1"/>
                </a:solidFill>
                <a:effectLst>
                  <a:outerShdw blurRad="38100" dist="19050" dir="2700000" algn="tl" rotWithShape="0">
                    <a:schemeClr val="dk1">
                      <a:alpha val="40000"/>
                    </a:schemeClr>
                  </a:outerShdw>
                </a:effectLst>
                <a:latin typeface="Patrick Hand" pitchFamily="2" charset="77"/>
              </a:rPr>
              <a:t>js_001_const_vs_var</a:t>
            </a:r>
            <a:endParaRPr lang="en-DE" sz="4800" dirty="0">
              <a:ln w="0"/>
              <a:solidFill>
                <a:schemeClr val="tx1"/>
              </a:solidFill>
              <a:effectLst>
                <a:outerShdw blurRad="38100" dist="19050" dir="2700000" algn="tl" rotWithShape="0">
                  <a:schemeClr val="dk1">
                    <a:alpha val="40000"/>
                  </a:schemeClr>
                </a:outerShdw>
              </a:effectLst>
              <a:latin typeface="Patrick Hand" pitchFamily="2" charset="77"/>
            </a:endParaRPr>
          </a:p>
        </p:txBody>
      </p:sp>
      <p:pic>
        <p:nvPicPr>
          <p:cNvPr id="2" name="Picture 1">
            <a:extLst>
              <a:ext uri="{FF2B5EF4-FFF2-40B4-BE49-F238E27FC236}">
                <a16:creationId xmlns:a16="http://schemas.microsoft.com/office/drawing/2014/main" id="{1FF2E926-B651-DD15-EA7D-A45614DE7A3C}"/>
              </a:ext>
            </a:extLst>
          </p:cNvPr>
          <p:cNvPicPr>
            <a:picLocks noChangeAspect="1"/>
          </p:cNvPicPr>
          <p:nvPr/>
        </p:nvPicPr>
        <p:blipFill rotWithShape="1">
          <a:blip r:embed="rId3"/>
          <a:srcRect l="24491" t="22920" r="15366" b="14228"/>
          <a:stretch>
            <a:fillRect/>
          </a:stretch>
        </p:blipFill>
        <p:spPr>
          <a:xfrm>
            <a:off x="223306" y="4427535"/>
            <a:ext cx="9838800" cy="11484082"/>
          </a:xfrm>
          <a:prstGeom prst="rect">
            <a:avLst/>
          </a:prstGeom>
        </p:spPr>
      </p:pic>
      <p:pic>
        <p:nvPicPr>
          <p:cNvPr id="5" name="Picture 4">
            <a:extLst>
              <a:ext uri="{FF2B5EF4-FFF2-40B4-BE49-F238E27FC236}">
                <a16:creationId xmlns:a16="http://schemas.microsoft.com/office/drawing/2014/main" id="{0DA02285-21AF-E7BA-4549-A8663813D0B1}"/>
              </a:ext>
            </a:extLst>
          </p:cNvPr>
          <p:cNvPicPr>
            <a:picLocks noChangeAspect="1"/>
          </p:cNvPicPr>
          <p:nvPr/>
        </p:nvPicPr>
        <p:blipFill>
          <a:blip r:embed="rId4"/>
          <a:stretch>
            <a:fillRect/>
          </a:stretch>
        </p:blipFill>
        <p:spPr>
          <a:xfrm>
            <a:off x="312757" y="3190540"/>
            <a:ext cx="1062000" cy="1062000"/>
          </a:xfrm>
          <a:prstGeom prst="rect">
            <a:avLst/>
          </a:prstGeom>
        </p:spPr>
      </p:pic>
      <p:cxnSp>
        <p:nvCxnSpPr>
          <p:cNvPr id="6" name="Straight Connector 5">
            <a:extLst>
              <a:ext uri="{FF2B5EF4-FFF2-40B4-BE49-F238E27FC236}">
                <a16:creationId xmlns:a16="http://schemas.microsoft.com/office/drawing/2014/main" id="{A9556AD9-924B-9A37-6386-DADCB03243E4}"/>
              </a:ext>
            </a:extLst>
          </p:cNvPr>
          <p:cNvCxnSpPr>
            <a:cxnSpLocks/>
          </p:cNvCxnSpPr>
          <p:nvPr/>
        </p:nvCxnSpPr>
        <p:spPr>
          <a:xfrm>
            <a:off x="233306" y="10290160"/>
            <a:ext cx="9813810" cy="0"/>
          </a:xfrm>
          <a:prstGeom prst="line">
            <a:avLst/>
          </a:prstGeom>
          <a:ln w="38100">
            <a:solidFill>
              <a:schemeClr val="bg1"/>
            </a:solidFill>
            <a:headEnd type="none"/>
            <a:tailEnd type="none" w="lg" len="lg"/>
          </a:ln>
        </p:spPr>
        <p:style>
          <a:lnRef idx="1">
            <a:schemeClr val="accent1"/>
          </a:lnRef>
          <a:fillRef idx="0">
            <a:schemeClr val="accent1"/>
          </a:fillRef>
          <a:effectRef idx="0">
            <a:schemeClr val="accent1"/>
          </a:effectRef>
          <a:fontRef idx="minor">
            <a:schemeClr val="tx1"/>
          </a:fontRef>
        </p:style>
      </p:cxnSp>
      <p:pic>
        <p:nvPicPr>
          <p:cNvPr id="8" name="Graphic 7" descr="Shield Tick with solid fill">
            <a:extLst>
              <a:ext uri="{FF2B5EF4-FFF2-40B4-BE49-F238E27FC236}">
                <a16:creationId xmlns:a16="http://schemas.microsoft.com/office/drawing/2014/main" id="{EB59C297-4C8A-2B6B-9AC8-89FF4CD6A50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082462" y="11637881"/>
            <a:ext cx="914400" cy="914400"/>
          </a:xfrm>
          <a:prstGeom prst="rect">
            <a:avLst/>
          </a:prstGeom>
        </p:spPr>
      </p:pic>
      <p:pic>
        <p:nvPicPr>
          <p:cNvPr id="9" name="Graphic 8" descr="Close with solid fill">
            <a:extLst>
              <a:ext uri="{FF2B5EF4-FFF2-40B4-BE49-F238E27FC236}">
                <a16:creationId xmlns:a16="http://schemas.microsoft.com/office/drawing/2014/main" id="{DB73DB4B-BFC0-0EA6-8B68-B47D457F919F}"/>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082462" y="5650582"/>
            <a:ext cx="914400" cy="914400"/>
          </a:xfrm>
          <a:prstGeom prst="rect">
            <a:avLst/>
          </a:prstGeom>
        </p:spPr>
      </p:pic>
      <p:sp>
        <p:nvSpPr>
          <p:cNvPr id="10" name="Right Arrow 9">
            <a:extLst>
              <a:ext uri="{FF2B5EF4-FFF2-40B4-BE49-F238E27FC236}">
                <a16:creationId xmlns:a16="http://schemas.microsoft.com/office/drawing/2014/main" id="{E23CC3DD-EE0E-07C8-6EB5-B98DB7788E28}"/>
              </a:ext>
            </a:extLst>
          </p:cNvPr>
          <p:cNvSpPr/>
          <p:nvPr/>
        </p:nvSpPr>
        <p:spPr>
          <a:xfrm>
            <a:off x="4272551" y="16172572"/>
            <a:ext cx="1740310" cy="817570"/>
          </a:xfrm>
          <a:prstGeom prst="rightArrow">
            <a:avLst/>
          </a:prstGeom>
          <a:ln/>
        </p:spPr>
        <p:style>
          <a:lnRef idx="1">
            <a:schemeClr val="dk1"/>
          </a:lnRef>
          <a:fillRef idx="3">
            <a:schemeClr val="dk1"/>
          </a:fillRef>
          <a:effectRef idx="2">
            <a:schemeClr val="dk1"/>
          </a:effectRef>
          <a:fontRef idx="minor">
            <a:schemeClr val="lt1"/>
          </a:fontRef>
        </p:style>
        <p:txBody>
          <a:bodyPr wrap="square" rtlCol="0" anchor="ctr" anchorCtr="0">
            <a:noAutofit/>
            <a:scene3d>
              <a:camera prst="orthographicFront"/>
              <a:lightRig rig="soft" dir="t">
                <a:rot lat="0" lon="0" rev="15600000"/>
              </a:lightRig>
            </a:scene3d>
            <a:sp3d extrusionH="57150" prstMaterial="softEdge">
              <a:bevelT w="25400" h="38100"/>
            </a:sp3d>
          </a:bodyPr>
          <a:lstStyle/>
          <a:p>
            <a:pPr algn="ctr"/>
            <a:endParaRPr lang="en-DE" sz="8000" b="1" dirty="0">
              <a:ln/>
              <a:solidFill>
                <a:schemeClr val="accent4"/>
              </a:solidFill>
              <a:latin typeface="+mj-lt"/>
            </a:endParaRPr>
          </a:p>
        </p:txBody>
      </p:sp>
    </p:spTree>
    <p:extLst>
      <p:ext uri="{BB962C8B-B14F-4D97-AF65-F5344CB8AC3E}">
        <p14:creationId xmlns:p14="http://schemas.microsoft.com/office/powerpoint/2010/main" val="102185053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a:extLst>
            <a:ext uri="{FF2B5EF4-FFF2-40B4-BE49-F238E27FC236}">
              <a16:creationId xmlns:a16="http://schemas.microsoft.com/office/drawing/2014/main" id="{96723B31-928E-01AD-0080-770C96EA577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DDD7E26-D329-C0DF-9C99-835FCF1A3463}"/>
              </a:ext>
            </a:extLst>
          </p:cNvPr>
          <p:cNvSpPr txBox="1"/>
          <p:nvPr/>
        </p:nvSpPr>
        <p:spPr>
          <a:xfrm>
            <a:off x="223306" y="3103042"/>
            <a:ext cx="9838800" cy="1236996"/>
          </a:xfrm>
          <a:prstGeom prst="rect">
            <a:avLst/>
          </a:prstGeom>
          <a:ln/>
        </p:spPr>
        <p:style>
          <a:lnRef idx="1">
            <a:schemeClr val="dk1"/>
          </a:lnRef>
          <a:fillRef idx="3">
            <a:schemeClr val="dk1"/>
          </a:fillRef>
          <a:effectRef idx="2">
            <a:schemeClr val="dk1"/>
          </a:effectRef>
          <a:fontRef idx="minor">
            <a:schemeClr val="lt1"/>
          </a:fontRef>
        </p:style>
        <p:txBody>
          <a:bodyPr wrap="square" rtlCol="0" anchor="ctr" anchorCtr="0">
            <a:noAutofit/>
            <a:scene3d>
              <a:camera prst="orthographicFront"/>
              <a:lightRig rig="soft" dir="t">
                <a:rot lat="0" lon="0" rev="15600000"/>
              </a:lightRig>
            </a:scene3d>
            <a:sp3d extrusionH="57150" prstMaterial="softEdge">
              <a:bevelT w="25400" h="38100"/>
            </a:sp3d>
          </a:bodyPr>
          <a:lstStyle/>
          <a:p>
            <a:pPr algn="ctr"/>
            <a:r>
              <a:rPr lang="en-US" sz="8000" b="1" dirty="0">
                <a:ln/>
                <a:solidFill>
                  <a:schemeClr val="accent4"/>
                </a:solidFill>
                <a:latin typeface="+mj-lt"/>
              </a:rPr>
              <a:t>const, let or var</a:t>
            </a:r>
            <a:endParaRPr lang="en-GB" sz="7200" b="1" dirty="0">
              <a:ln/>
              <a:solidFill>
                <a:schemeClr val="accent4"/>
              </a:solidFill>
              <a:latin typeface="+mj-lt"/>
            </a:endParaRPr>
          </a:p>
        </p:txBody>
      </p:sp>
      <p:sp>
        <p:nvSpPr>
          <p:cNvPr id="25" name="TextBox 24">
            <a:extLst>
              <a:ext uri="{FF2B5EF4-FFF2-40B4-BE49-F238E27FC236}">
                <a16:creationId xmlns:a16="http://schemas.microsoft.com/office/drawing/2014/main" id="{F98ACA1F-3645-9AA1-241B-2245AE69AD25}"/>
              </a:ext>
            </a:extLst>
          </p:cNvPr>
          <p:cNvSpPr txBox="1"/>
          <p:nvPr/>
        </p:nvSpPr>
        <p:spPr>
          <a:xfrm>
            <a:off x="-10475910" y="2463702"/>
            <a:ext cx="8189910" cy="830997"/>
          </a:xfrm>
          <a:prstGeom prst="rect">
            <a:avLst/>
          </a:prstGeom>
        </p:spPr>
        <p:style>
          <a:lnRef idx="1">
            <a:schemeClr val="accent6"/>
          </a:lnRef>
          <a:fillRef idx="2">
            <a:schemeClr val="accent6"/>
          </a:fillRef>
          <a:effectRef idx="1">
            <a:schemeClr val="accent6"/>
          </a:effectRef>
          <a:fontRef idx="minor">
            <a:schemeClr val="dk1"/>
          </a:fontRef>
        </p:style>
        <p:txBody>
          <a:bodyPr wrap="square" rtlCol="0">
            <a:spAutoFit/>
          </a:bodyPr>
          <a:lstStyle/>
          <a:p>
            <a:r>
              <a:rPr lang="en-GB" sz="4800" dirty="0">
                <a:ln w="0"/>
                <a:solidFill>
                  <a:schemeClr val="tx1"/>
                </a:solidFill>
                <a:effectLst>
                  <a:outerShdw blurRad="38100" dist="19050" dir="2700000" algn="tl" rotWithShape="0">
                    <a:schemeClr val="dk1">
                      <a:alpha val="40000"/>
                    </a:schemeClr>
                  </a:outerShdw>
                </a:effectLst>
                <a:latin typeface="Patrick Hand" pitchFamily="2" charset="77"/>
              </a:rPr>
              <a:t>js_001_const_vs_var</a:t>
            </a:r>
            <a:endParaRPr lang="en-DE" sz="4800" dirty="0">
              <a:ln w="0"/>
              <a:solidFill>
                <a:schemeClr val="tx1"/>
              </a:solidFill>
              <a:effectLst>
                <a:outerShdw blurRad="38100" dist="19050" dir="2700000" algn="tl" rotWithShape="0">
                  <a:schemeClr val="dk1">
                    <a:alpha val="40000"/>
                  </a:schemeClr>
                </a:outerShdw>
              </a:effectLst>
              <a:latin typeface="Patrick Hand" pitchFamily="2" charset="77"/>
            </a:endParaRPr>
          </a:p>
        </p:txBody>
      </p:sp>
      <p:sp>
        <p:nvSpPr>
          <p:cNvPr id="5" name="TextBox 4">
            <a:extLst>
              <a:ext uri="{FF2B5EF4-FFF2-40B4-BE49-F238E27FC236}">
                <a16:creationId xmlns:a16="http://schemas.microsoft.com/office/drawing/2014/main" id="{D9692809-F040-536A-D85F-0714CB3235DE}"/>
              </a:ext>
            </a:extLst>
          </p:cNvPr>
          <p:cNvSpPr txBox="1"/>
          <p:nvPr/>
        </p:nvSpPr>
        <p:spPr>
          <a:xfrm>
            <a:off x="223306" y="4984252"/>
            <a:ext cx="9838800" cy="3225470"/>
          </a:xfrm>
          <a:prstGeom prst="rect">
            <a:avLst/>
          </a:prstGeom>
          <a:noFill/>
        </p:spPr>
        <p:txBody>
          <a:bodyPr wrap="square" rtlCol="0">
            <a:noAutofit/>
          </a:bodyPr>
          <a:lstStyle/>
          <a:p>
            <a:pPr algn="ctr"/>
            <a:r>
              <a:rPr lang="en-DE" sz="7200" dirty="0">
                <a:ln w="0"/>
                <a:effectLst>
                  <a:outerShdw blurRad="38100" dist="19050" dir="2700000" algn="tl" rotWithShape="0">
                    <a:schemeClr val="dk1">
                      <a:alpha val="40000"/>
                    </a:schemeClr>
                  </a:outerShdw>
                </a:effectLst>
                <a:latin typeface="Patrick Hand" pitchFamily="2" charset="77"/>
              </a:rPr>
              <a:t>What are your preferences?</a:t>
            </a:r>
          </a:p>
          <a:p>
            <a:pPr algn="ctr"/>
            <a:endParaRPr lang="en-DE" sz="7200" dirty="0">
              <a:ln w="0"/>
              <a:effectLst>
                <a:outerShdw blurRad="38100" dist="19050" dir="2700000" algn="tl" rotWithShape="0">
                  <a:schemeClr val="dk1">
                    <a:alpha val="40000"/>
                  </a:schemeClr>
                </a:outerShdw>
              </a:effectLst>
              <a:latin typeface="Patrick Hand" pitchFamily="2" charset="77"/>
            </a:endParaRPr>
          </a:p>
          <a:p>
            <a:pPr algn="ctr"/>
            <a:r>
              <a:rPr lang="en-DE" sz="7200" dirty="0">
                <a:ln w="0"/>
                <a:effectLst>
                  <a:outerShdw blurRad="38100" dist="19050" dir="2700000" algn="tl" rotWithShape="0">
                    <a:schemeClr val="dk1">
                      <a:alpha val="40000"/>
                    </a:schemeClr>
                  </a:outerShdw>
                </a:effectLst>
                <a:latin typeface="Patrick Hand" pitchFamily="2" charset="77"/>
              </a:rPr>
              <a:t>Write in the comments !!!</a:t>
            </a:r>
          </a:p>
          <a:p>
            <a:pPr algn="ctr"/>
            <a:endParaRPr lang="en-DE" sz="7200" dirty="0">
              <a:ln w="0"/>
              <a:effectLst>
                <a:outerShdw blurRad="38100" dist="19050" dir="2700000" algn="tl" rotWithShape="0">
                  <a:schemeClr val="dk1">
                    <a:alpha val="40000"/>
                  </a:schemeClr>
                </a:outerShdw>
              </a:effectLst>
              <a:latin typeface="Patrick Hand" pitchFamily="2" charset="77"/>
            </a:endParaRPr>
          </a:p>
          <a:p>
            <a:pPr marL="685800" indent="-685800" algn="ctr">
              <a:buFont typeface="Arial" panose="020B0604020202020204" pitchFamily="34" charset="0"/>
              <a:buChar char="•"/>
            </a:pPr>
            <a:endParaRPr lang="en-GB" sz="7200" dirty="0">
              <a:ln w="0"/>
              <a:effectLst>
                <a:outerShdw blurRad="38100" dist="19050" dir="2700000" algn="tl" rotWithShape="0">
                  <a:schemeClr val="dk1">
                    <a:alpha val="40000"/>
                  </a:schemeClr>
                </a:outerShdw>
              </a:effectLst>
              <a:latin typeface="Patrick Hand" pitchFamily="2" charset="77"/>
            </a:endParaRPr>
          </a:p>
        </p:txBody>
      </p:sp>
      <p:pic>
        <p:nvPicPr>
          <p:cNvPr id="9" name="Picture 8">
            <a:extLst>
              <a:ext uri="{FF2B5EF4-FFF2-40B4-BE49-F238E27FC236}">
                <a16:creationId xmlns:a16="http://schemas.microsoft.com/office/drawing/2014/main" id="{B5F98B28-F456-EFEE-D52A-987FEEC0806F}"/>
              </a:ext>
            </a:extLst>
          </p:cNvPr>
          <p:cNvPicPr>
            <a:picLocks noChangeAspect="1"/>
          </p:cNvPicPr>
          <p:nvPr/>
        </p:nvPicPr>
        <p:blipFill>
          <a:blip r:embed="rId3"/>
          <a:stretch>
            <a:fillRect/>
          </a:stretch>
        </p:blipFill>
        <p:spPr>
          <a:xfrm>
            <a:off x="312757" y="3190540"/>
            <a:ext cx="1062000" cy="1062000"/>
          </a:xfrm>
          <a:prstGeom prst="rect">
            <a:avLst/>
          </a:prstGeom>
        </p:spPr>
      </p:pic>
    </p:spTree>
    <p:extLst>
      <p:ext uri="{BB962C8B-B14F-4D97-AF65-F5344CB8AC3E}">
        <p14:creationId xmlns:p14="http://schemas.microsoft.com/office/powerpoint/2010/main" val="262031058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a:extLst>
            <a:ext uri="{FF2B5EF4-FFF2-40B4-BE49-F238E27FC236}">
              <a16:creationId xmlns:a16="http://schemas.microsoft.com/office/drawing/2014/main" id="{6F3743C9-1A74-66D3-BB39-6AE6837D4A3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0E9F197-6271-D172-E290-40E620BA428D}"/>
              </a:ext>
            </a:extLst>
          </p:cNvPr>
          <p:cNvSpPr txBox="1"/>
          <p:nvPr/>
        </p:nvSpPr>
        <p:spPr>
          <a:xfrm>
            <a:off x="223306" y="3103042"/>
            <a:ext cx="9838800" cy="1236996"/>
          </a:xfrm>
          <a:prstGeom prst="rect">
            <a:avLst/>
          </a:prstGeom>
          <a:ln/>
        </p:spPr>
        <p:style>
          <a:lnRef idx="1">
            <a:schemeClr val="dk1"/>
          </a:lnRef>
          <a:fillRef idx="3">
            <a:schemeClr val="dk1"/>
          </a:fillRef>
          <a:effectRef idx="2">
            <a:schemeClr val="dk1"/>
          </a:effectRef>
          <a:fontRef idx="minor">
            <a:schemeClr val="lt1"/>
          </a:fontRef>
        </p:style>
        <p:txBody>
          <a:bodyPr wrap="square" rtlCol="0" anchor="ctr" anchorCtr="0">
            <a:noAutofit/>
            <a:scene3d>
              <a:camera prst="orthographicFront"/>
              <a:lightRig rig="soft" dir="t">
                <a:rot lat="0" lon="0" rev="15600000"/>
              </a:lightRig>
            </a:scene3d>
            <a:sp3d extrusionH="57150" prstMaterial="softEdge">
              <a:bevelT w="25400" h="38100"/>
            </a:sp3d>
          </a:bodyPr>
          <a:lstStyle/>
          <a:p>
            <a:pPr algn="ctr"/>
            <a:r>
              <a:rPr lang="en-US" sz="7200" b="1" dirty="0">
                <a:ln/>
                <a:solidFill>
                  <a:schemeClr val="accent4"/>
                </a:solidFill>
                <a:latin typeface="+mj-lt"/>
              </a:rPr>
              <a:t>Literal vs Constructor</a:t>
            </a:r>
            <a:endParaRPr lang="en-GB" sz="6600" b="1" dirty="0">
              <a:ln/>
              <a:solidFill>
                <a:schemeClr val="accent4"/>
              </a:solidFill>
              <a:latin typeface="+mj-lt"/>
            </a:endParaRPr>
          </a:p>
        </p:txBody>
      </p:sp>
      <p:sp>
        <p:nvSpPr>
          <p:cNvPr id="25" name="TextBox 24">
            <a:extLst>
              <a:ext uri="{FF2B5EF4-FFF2-40B4-BE49-F238E27FC236}">
                <a16:creationId xmlns:a16="http://schemas.microsoft.com/office/drawing/2014/main" id="{96CD4CE8-19CF-042A-C737-6530EDDB2B2F}"/>
              </a:ext>
            </a:extLst>
          </p:cNvPr>
          <p:cNvSpPr txBox="1"/>
          <p:nvPr/>
        </p:nvSpPr>
        <p:spPr>
          <a:xfrm>
            <a:off x="-10475910" y="2463702"/>
            <a:ext cx="8189910" cy="830997"/>
          </a:xfrm>
          <a:prstGeom prst="rect">
            <a:avLst/>
          </a:prstGeom>
        </p:spPr>
        <p:style>
          <a:lnRef idx="1">
            <a:schemeClr val="accent6"/>
          </a:lnRef>
          <a:fillRef idx="2">
            <a:schemeClr val="accent6"/>
          </a:fillRef>
          <a:effectRef idx="1">
            <a:schemeClr val="accent6"/>
          </a:effectRef>
          <a:fontRef idx="minor">
            <a:schemeClr val="dk1"/>
          </a:fontRef>
        </p:style>
        <p:txBody>
          <a:bodyPr wrap="square" rtlCol="0">
            <a:spAutoFit/>
          </a:bodyPr>
          <a:lstStyle/>
          <a:p>
            <a:r>
              <a:rPr lang="en-GB" sz="4800" dirty="0">
                <a:ln w="0"/>
                <a:solidFill>
                  <a:schemeClr val="tx1"/>
                </a:solidFill>
                <a:effectLst>
                  <a:outerShdw blurRad="38100" dist="19050" dir="2700000" algn="tl" rotWithShape="0">
                    <a:schemeClr val="dk1">
                      <a:alpha val="40000"/>
                    </a:schemeClr>
                  </a:outerShdw>
                </a:effectLst>
                <a:latin typeface="Patrick Hand" pitchFamily="2" charset="77"/>
              </a:rPr>
              <a:t>003_literal_vs_constructor</a:t>
            </a:r>
            <a:endParaRPr lang="en-DE" sz="4800" dirty="0">
              <a:ln w="0"/>
              <a:solidFill>
                <a:schemeClr val="tx1"/>
              </a:solidFill>
              <a:effectLst>
                <a:outerShdw blurRad="38100" dist="19050" dir="2700000" algn="tl" rotWithShape="0">
                  <a:schemeClr val="dk1">
                    <a:alpha val="40000"/>
                  </a:schemeClr>
                </a:outerShdw>
              </a:effectLst>
              <a:latin typeface="Patrick Hand" pitchFamily="2" charset="77"/>
            </a:endParaRPr>
          </a:p>
        </p:txBody>
      </p:sp>
      <p:sp>
        <p:nvSpPr>
          <p:cNvPr id="6" name="TextBox 5">
            <a:extLst>
              <a:ext uri="{FF2B5EF4-FFF2-40B4-BE49-F238E27FC236}">
                <a16:creationId xmlns:a16="http://schemas.microsoft.com/office/drawing/2014/main" id="{5C7BFA3D-823E-9764-0695-61D32DFE43F0}"/>
              </a:ext>
            </a:extLst>
          </p:cNvPr>
          <p:cNvSpPr txBox="1"/>
          <p:nvPr/>
        </p:nvSpPr>
        <p:spPr>
          <a:xfrm>
            <a:off x="223306" y="4651040"/>
            <a:ext cx="9749349" cy="8496924"/>
          </a:xfrm>
          <a:prstGeom prst="rect">
            <a:avLst/>
          </a:prstGeom>
          <a:noFill/>
        </p:spPr>
        <p:txBody>
          <a:bodyPr wrap="square" rtlCol="0">
            <a:noAutofit/>
          </a:bodyPr>
          <a:lstStyle/>
          <a:p>
            <a:pPr algn="just"/>
            <a:r>
              <a:rPr lang="en-US" sz="5400" dirty="0">
                <a:ln w="0"/>
                <a:effectLst>
                  <a:outerShdw blurRad="38100" dist="19050" dir="2700000" algn="tl" rotWithShape="0">
                    <a:schemeClr val="dk1">
                      <a:alpha val="40000"/>
                    </a:schemeClr>
                  </a:outerShdw>
                </a:effectLst>
                <a:latin typeface="Patrick Hand" pitchFamily="2" charset="77"/>
              </a:rPr>
              <a:t>Using a </a:t>
            </a:r>
            <a:r>
              <a:rPr lang="en-US" sz="54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Patrick Hand" pitchFamily="2" charset="77"/>
              </a:rPr>
              <a:t>constructor</a:t>
            </a:r>
            <a:r>
              <a:rPr lang="en-US" sz="5400" dirty="0">
                <a:ln w="0"/>
                <a:effectLst>
                  <a:outerShdw blurRad="38100" dist="19050" dir="2700000" algn="tl" rotWithShape="0">
                    <a:schemeClr val="dk1">
                      <a:alpha val="40000"/>
                    </a:schemeClr>
                  </a:outerShdw>
                </a:effectLst>
                <a:latin typeface="Patrick Hand" pitchFamily="2" charset="77"/>
              </a:rPr>
              <a:t> means creating a new object from a class and manually setting its properties. This is often unnecessary for simple objects. </a:t>
            </a:r>
          </a:p>
          <a:p>
            <a:pPr algn="just"/>
            <a:endParaRPr lang="en-US" sz="5400" dirty="0">
              <a:ln w="0"/>
              <a:effectLst>
                <a:outerShdw blurRad="38100" dist="19050" dir="2700000" algn="tl" rotWithShape="0">
                  <a:schemeClr val="dk1">
                    <a:alpha val="40000"/>
                  </a:schemeClr>
                </a:outerShdw>
              </a:effectLst>
              <a:latin typeface="Patrick Hand" pitchFamily="2" charset="77"/>
            </a:endParaRPr>
          </a:p>
          <a:p>
            <a:pPr algn="just"/>
            <a:r>
              <a:rPr lang="en-US" sz="5400" dirty="0">
                <a:ln w="0"/>
                <a:effectLst>
                  <a:outerShdw blurRad="38100" dist="19050" dir="2700000" algn="tl" rotWithShape="0">
                    <a:schemeClr val="dk1">
                      <a:alpha val="40000"/>
                    </a:schemeClr>
                  </a:outerShdw>
                </a:effectLst>
                <a:latin typeface="Patrick Hand" pitchFamily="2" charset="77"/>
              </a:rPr>
              <a:t>For example:</a:t>
            </a:r>
          </a:p>
          <a:p>
            <a:pPr algn="just"/>
            <a:endParaRPr lang="en-US" sz="5400" dirty="0">
              <a:ln w="0"/>
              <a:effectLst>
                <a:outerShdw blurRad="38100" dist="19050" dir="2700000" algn="tl" rotWithShape="0">
                  <a:schemeClr val="dk1">
                    <a:alpha val="40000"/>
                  </a:schemeClr>
                </a:outerShdw>
              </a:effectLst>
              <a:latin typeface="Patrick Hand" pitchFamily="2" charset="77"/>
            </a:endParaRPr>
          </a:p>
          <a:p>
            <a:pPr algn="just"/>
            <a:r>
              <a:rPr lang="en-US" sz="5400" dirty="0">
                <a:ln w="0"/>
                <a:effectLst>
                  <a:outerShdw blurRad="38100" dist="19050" dir="2700000" algn="tl" rotWithShape="0">
                    <a:schemeClr val="dk1">
                      <a:alpha val="40000"/>
                    </a:schemeClr>
                  </a:outerShdw>
                </a:effectLst>
                <a:latin typeface="Patrick Hand" pitchFamily="2" charset="77"/>
              </a:rPr>
              <a:t>const item = new Object();</a:t>
            </a:r>
          </a:p>
          <a:p>
            <a:pPr algn="just"/>
            <a:r>
              <a:rPr lang="en-US" sz="5400" dirty="0">
                <a:ln w="0"/>
                <a:effectLst>
                  <a:outerShdw blurRad="38100" dist="19050" dir="2700000" algn="tl" rotWithShape="0">
                    <a:schemeClr val="dk1">
                      <a:alpha val="40000"/>
                    </a:schemeClr>
                  </a:outerShdw>
                </a:effectLst>
                <a:latin typeface="Patrick Hand" pitchFamily="2" charset="77"/>
              </a:rPr>
              <a:t>OR</a:t>
            </a:r>
          </a:p>
          <a:p>
            <a:pPr algn="just"/>
            <a:r>
              <a:rPr lang="en-US" sz="5400" dirty="0">
                <a:ln w="0"/>
                <a:effectLst>
                  <a:outerShdw blurRad="38100" dist="19050" dir="2700000" algn="tl" rotWithShape="0">
                    <a:schemeClr val="dk1">
                      <a:alpha val="40000"/>
                    </a:schemeClr>
                  </a:outerShdw>
                </a:effectLst>
                <a:latin typeface="Patrick Hand" pitchFamily="2" charset="77"/>
              </a:rPr>
              <a:t>item = </a:t>
            </a:r>
            <a:r>
              <a:rPr lang="en-US" sz="5400" dirty="0" err="1">
                <a:ln w="0"/>
                <a:effectLst>
                  <a:outerShdw blurRad="38100" dist="19050" dir="2700000" algn="tl" rotWithShape="0">
                    <a:schemeClr val="dk1">
                      <a:alpha val="40000"/>
                    </a:schemeClr>
                  </a:outerShdw>
                </a:effectLst>
                <a:latin typeface="Patrick Hand" pitchFamily="2" charset="77"/>
              </a:rPr>
              <a:t>dict</a:t>
            </a:r>
            <a:r>
              <a:rPr lang="en-US" sz="5400" dirty="0">
                <a:ln w="0"/>
                <a:effectLst>
                  <a:outerShdw blurRad="38100" dist="19050" dir="2700000" algn="tl" rotWithShape="0">
                    <a:schemeClr val="dk1">
                      <a:alpha val="40000"/>
                    </a:schemeClr>
                  </a:outerShdw>
                </a:effectLst>
                <a:latin typeface="Patrick Hand" pitchFamily="2" charset="77"/>
              </a:rPr>
              <a:t>()</a:t>
            </a:r>
          </a:p>
        </p:txBody>
      </p:sp>
      <p:sp>
        <p:nvSpPr>
          <p:cNvPr id="12" name="Right Arrow 11">
            <a:extLst>
              <a:ext uri="{FF2B5EF4-FFF2-40B4-BE49-F238E27FC236}">
                <a16:creationId xmlns:a16="http://schemas.microsoft.com/office/drawing/2014/main" id="{6E76A62E-CF71-AFB9-CB2D-3ABCECA93A8A}"/>
              </a:ext>
            </a:extLst>
          </p:cNvPr>
          <p:cNvSpPr/>
          <p:nvPr/>
        </p:nvSpPr>
        <p:spPr>
          <a:xfrm>
            <a:off x="4272551" y="14179650"/>
            <a:ext cx="1740310" cy="817570"/>
          </a:xfrm>
          <a:prstGeom prst="rightArrow">
            <a:avLst/>
          </a:prstGeom>
          <a:ln/>
        </p:spPr>
        <p:style>
          <a:lnRef idx="1">
            <a:schemeClr val="dk1"/>
          </a:lnRef>
          <a:fillRef idx="3">
            <a:schemeClr val="dk1"/>
          </a:fillRef>
          <a:effectRef idx="2">
            <a:schemeClr val="dk1"/>
          </a:effectRef>
          <a:fontRef idx="minor">
            <a:schemeClr val="lt1"/>
          </a:fontRef>
        </p:style>
        <p:txBody>
          <a:bodyPr wrap="square" rtlCol="0" anchor="ctr" anchorCtr="0">
            <a:noAutofit/>
            <a:scene3d>
              <a:camera prst="orthographicFront"/>
              <a:lightRig rig="soft" dir="t">
                <a:rot lat="0" lon="0" rev="15600000"/>
              </a:lightRig>
            </a:scene3d>
            <a:sp3d extrusionH="57150" prstMaterial="softEdge">
              <a:bevelT w="25400" h="38100"/>
            </a:sp3d>
          </a:bodyPr>
          <a:lstStyle/>
          <a:p>
            <a:pPr algn="ctr"/>
            <a:endParaRPr lang="en-DE" sz="8000" b="1" dirty="0">
              <a:ln/>
              <a:solidFill>
                <a:schemeClr val="accent4"/>
              </a:solidFill>
              <a:latin typeface="+mj-lt"/>
            </a:endParaRPr>
          </a:p>
        </p:txBody>
      </p:sp>
    </p:spTree>
    <p:extLst>
      <p:ext uri="{BB962C8B-B14F-4D97-AF65-F5344CB8AC3E}">
        <p14:creationId xmlns:p14="http://schemas.microsoft.com/office/powerpoint/2010/main" val="260180048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a:extLst>
            <a:ext uri="{FF2B5EF4-FFF2-40B4-BE49-F238E27FC236}">
              <a16:creationId xmlns:a16="http://schemas.microsoft.com/office/drawing/2014/main" id="{347D0E4D-CB6D-633D-0B2F-88391B1F824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BC5621F-9C34-DC54-23D4-96BC263B86BB}"/>
              </a:ext>
            </a:extLst>
          </p:cNvPr>
          <p:cNvSpPr txBox="1"/>
          <p:nvPr/>
        </p:nvSpPr>
        <p:spPr>
          <a:xfrm>
            <a:off x="223306" y="3103042"/>
            <a:ext cx="9838800" cy="1236996"/>
          </a:xfrm>
          <a:prstGeom prst="rect">
            <a:avLst/>
          </a:prstGeom>
          <a:ln/>
        </p:spPr>
        <p:style>
          <a:lnRef idx="1">
            <a:schemeClr val="dk1"/>
          </a:lnRef>
          <a:fillRef idx="3">
            <a:schemeClr val="dk1"/>
          </a:fillRef>
          <a:effectRef idx="2">
            <a:schemeClr val="dk1"/>
          </a:effectRef>
          <a:fontRef idx="minor">
            <a:schemeClr val="lt1"/>
          </a:fontRef>
        </p:style>
        <p:txBody>
          <a:bodyPr wrap="square" rtlCol="0" anchor="ctr" anchorCtr="0">
            <a:noAutofit/>
            <a:scene3d>
              <a:camera prst="orthographicFront"/>
              <a:lightRig rig="soft" dir="t">
                <a:rot lat="0" lon="0" rev="15600000"/>
              </a:lightRig>
            </a:scene3d>
            <a:sp3d extrusionH="57150" prstMaterial="softEdge">
              <a:bevelT w="25400" h="38100"/>
            </a:sp3d>
          </a:bodyPr>
          <a:lstStyle/>
          <a:p>
            <a:pPr algn="r"/>
            <a:r>
              <a:rPr lang="en-US" sz="7200" b="1" dirty="0">
                <a:ln/>
                <a:solidFill>
                  <a:schemeClr val="accent4"/>
                </a:solidFill>
                <a:latin typeface="+mj-lt"/>
              </a:rPr>
              <a:t>Literal vs Constructor</a:t>
            </a:r>
            <a:endParaRPr lang="en-GB" sz="6600" b="1" dirty="0">
              <a:ln/>
              <a:solidFill>
                <a:schemeClr val="accent4"/>
              </a:solidFill>
              <a:latin typeface="+mj-lt"/>
            </a:endParaRPr>
          </a:p>
        </p:txBody>
      </p:sp>
      <p:sp>
        <p:nvSpPr>
          <p:cNvPr id="25" name="TextBox 24">
            <a:extLst>
              <a:ext uri="{FF2B5EF4-FFF2-40B4-BE49-F238E27FC236}">
                <a16:creationId xmlns:a16="http://schemas.microsoft.com/office/drawing/2014/main" id="{633FD707-5C91-06B7-A972-B64EE29FF5F2}"/>
              </a:ext>
            </a:extLst>
          </p:cNvPr>
          <p:cNvSpPr txBox="1"/>
          <p:nvPr/>
        </p:nvSpPr>
        <p:spPr>
          <a:xfrm>
            <a:off x="-10475910" y="2463702"/>
            <a:ext cx="8189910" cy="830997"/>
          </a:xfrm>
          <a:prstGeom prst="rect">
            <a:avLst/>
          </a:prstGeom>
        </p:spPr>
        <p:style>
          <a:lnRef idx="1">
            <a:schemeClr val="accent6"/>
          </a:lnRef>
          <a:fillRef idx="2">
            <a:schemeClr val="accent6"/>
          </a:fillRef>
          <a:effectRef idx="1">
            <a:schemeClr val="accent6"/>
          </a:effectRef>
          <a:fontRef idx="minor">
            <a:schemeClr val="dk1"/>
          </a:fontRef>
        </p:style>
        <p:txBody>
          <a:bodyPr wrap="square" rtlCol="0">
            <a:spAutoFit/>
          </a:bodyPr>
          <a:lstStyle/>
          <a:p>
            <a:r>
              <a:rPr lang="en-GB" sz="4800" dirty="0">
                <a:ln w="0"/>
                <a:solidFill>
                  <a:schemeClr val="tx1"/>
                </a:solidFill>
                <a:effectLst>
                  <a:outerShdw blurRad="38100" dist="19050" dir="2700000" algn="tl" rotWithShape="0">
                    <a:schemeClr val="dk1">
                      <a:alpha val="40000"/>
                    </a:schemeClr>
                  </a:outerShdw>
                </a:effectLst>
                <a:latin typeface="Patrick Hand" pitchFamily="2" charset="77"/>
              </a:rPr>
              <a:t>003_literal_vs_constructor</a:t>
            </a:r>
            <a:endParaRPr lang="en-DE" sz="4800" dirty="0">
              <a:ln w="0"/>
              <a:solidFill>
                <a:schemeClr val="tx1"/>
              </a:solidFill>
              <a:effectLst>
                <a:outerShdw blurRad="38100" dist="19050" dir="2700000" algn="tl" rotWithShape="0">
                  <a:schemeClr val="dk1">
                    <a:alpha val="40000"/>
                  </a:schemeClr>
                </a:outerShdw>
              </a:effectLst>
              <a:latin typeface="Patrick Hand" pitchFamily="2" charset="77"/>
            </a:endParaRPr>
          </a:p>
        </p:txBody>
      </p:sp>
      <p:pic>
        <p:nvPicPr>
          <p:cNvPr id="9" name="Picture 8">
            <a:extLst>
              <a:ext uri="{FF2B5EF4-FFF2-40B4-BE49-F238E27FC236}">
                <a16:creationId xmlns:a16="http://schemas.microsoft.com/office/drawing/2014/main" id="{C6C49E14-4090-3A0C-A7C9-C54A831F5023}"/>
              </a:ext>
            </a:extLst>
          </p:cNvPr>
          <p:cNvPicPr>
            <a:picLocks noChangeAspect="1"/>
          </p:cNvPicPr>
          <p:nvPr/>
        </p:nvPicPr>
        <p:blipFill>
          <a:blip r:embed="rId3"/>
          <a:stretch>
            <a:fillRect/>
          </a:stretch>
        </p:blipFill>
        <p:spPr>
          <a:xfrm>
            <a:off x="312757" y="3190540"/>
            <a:ext cx="1062000" cy="1062000"/>
          </a:xfrm>
          <a:prstGeom prst="rect">
            <a:avLst/>
          </a:prstGeom>
        </p:spPr>
      </p:pic>
      <p:pic>
        <p:nvPicPr>
          <p:cNvPr id="2" name="Picture 1">
            <a:extLst>
              <a:ext uri="{FF2B5EF4-FFF2-40B4-BE49-F238E27FC236}">
                <a16:creationId xmlns:a16="http://schemas.microsoft.com/office/drawing/2014/main" id="{2B86A6FA-9355-AE3E-D413-AC98C1D126B9}"/>
              </a:ext>
            </a:extLst>
          </p:cNvPr>
          <p:cNvPicPr preferRelativeResize="0">
            <a:picLocks/>
          </p:cNvPicPr>
          <p:nvPr/>
        </p:nvPicPr>
        <p:blipFill rotWithShape="1">
          <a:blip r:embed="rId4"/>
          <a:srcRect l="16795" t="30215" r="14044" b="26360"/>
          <a:stretch>
            <a:fillRect/>
          </a:stretch>
        </p:blipFill>
        <p:spPr>
          <a:xfrm>
            <a:off x="223305" y="4427535"/>
            <a:ext cx="9838800" cy="4680000"/>
          </a:xfrm>
          <a:prstGeom prst="rect">
            <a:avLst/>
          </a:prstGeom>
        </p:spPr>
      </p:pic>
      <p:cxnSp>
        <p:nvCxnSpPr>
          <p:cNvPr id="3" name="Straight Connector 2">
            <a:extLst>
              <a:ext uri="{FF2B5EF4-FFF2-40B4-BE49-F238E27FC236}">
                <a16:creationId xmlns:a16="http://schemas.microsoft.com/office/drawing/2014/main" id="{95AAFA2D-2583-15FC-2580-AAEC7EFB486A}"/>
              </a:ext>
            </a:extLst>
          </p:cNvPr>
          <p:cNvCxnSpPr>
            <a:cxnSpLocks/>
          </p:cNvCxnSpPr>
          <p:nvPr/>
        </p:nvCxnSpPr>
        <p:spPr>
          <a:xfrm>
            <a:off x="233306" y="6828141"/>
            <a:ext cx="9813810" cy="0"/>
          </a:xfrm>
          <a:prstGeom prst="line">
            <a:avLst/>
          </a:prstGeom>
          <a:ln w="38100">
            <a:solidFill>
              <a:schemeClr val="bg1"/>
            </a:solidFill>
            <a:headEnd type="none"/>
            <a:tailEnd type="none" w="lg" len="lg"/>
          </a:ln>
        </p:spPr>
        <p:style>
          <a:lnRef idx="1">
            <a:schemeClr val="accent1"/>
          </a:lnRef>
          <a:fillRef idx="0">
            <a:schemeClr val="accent1"/>
          </a:fillRef>
          <a:effectRef idx="0">
            <a:schemeClr val="accent1"/>
          </a:effectRef>
          <a:fontRef idx="minor">
            <a:schemeClr val="tx1"/>
          </a:fontRef>
        </p:style>
      </p:cxnSp>
      <p:sp>
        <p:nvSpPr>
          <p:cNvPr id="5" name="Right Arrow 4">
            <a:extLst>
              <a:ext uri="{FF2B5EF4-FFF2-40B4-BE49-F238E27FC236}">
                <a16:creationId xmlns:a16="http://schemas.microsoft.com/office/drawing/2014/main" id="{E435A217-F89B-85AF-BE3E-E923536EEB96}"/>
              </a:ext>
            </a:extLst>
          </p:cNvPr>
          <p:cNvSpPr/>
          <p:nvPr/>
        </p:nvSpPr>
        <p:spPr>
          <a:xfrm>
            <a:off x="4272551" y="14179650"/>
            <a:ext cx="1740310" cy="817570"/>
          </a:xfrm>
          <a:prstGeom prst="rightArrow">
            <a:avLst/>
          </a:prstGeom>
          <a:ln/>
        </p:spPr>
        <p:style>
          <a:lnRef idx="1">
            <a:schemeClr val="dk1"/>
          </a:lnRef>
          <a:fillRef idx="3">
            <a:schemeClr val="dk1"/>
          </a:fillRef>
          <a:effectRef idx="2">
            <a:schemeClr val="dk1"/>
          </a:effectRef>
          <a:fontRef idx="minor">
            <a:schemeClr val="lt1"/>
          </a:fontRef>
        </p:style>
        <p:txBody>
          <a:bodyPr wrap="square" rtlCol="0" anchor="ctr" anchorCtr="0">
            <a:noAutofit/>
            <a:scene3d>
              <a:camera prst="orthographicFront"/>
              <a:lightRig rig="soft" dir="t">
                <a:rot lat="0" lon="0" rev="15600000"/>
              </a:lightRig>
            </a:scene3d>
            <a:sp3d extrusionH="57150" prstMaterial="softEdge">
              <a:bevelT w="25400" h="38100"/>
            </a:sp3d>
          </a:bodyPr>
          <a:lstStyle/>
          <a:p>
            <a:pPr algn="ctr"/>
            <a:endParaRPr lang="en-DE" sz="8000" b="1" dirty="0">
              <a:ln/>
              <a:solidFill>
                <a:schemeClr val="accent4"/>
              </a:solidFill>
              <a:latin typeface="+mj-lt"/>
            </a:endParaRPr>
          </a:p>
        </p:txBody>
      </p:sp>
    </p:spTree>
    <p:extLst>
      <p:ext uri="{BB962C8B-B14F-4D97-AF65-F5344CB8AC3E}">
        <p14:creationId xmlns:p14="http://schemas.microsoft.com/office/powerpoint/2010/main" val="73085191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a:extLst>
            <a:ext uri="{FF2B5EF4-FFF2-40B4-BE49-F238E27FC236}">
              <a16:creationId xmlns:a16="http://schemas.microsoft.com/office/drawing/2014/main" id="{AB87662E-DE2E-54F8-DA39-CFFB953F141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B3570AA-A90D-A999-2A96-0BC20BC806AA}"/>
              </a:ext>
            </a:extLst>
          </p:cNvPr>
          <p:cNvSpPr txBox="1"/>
          <p:nvPr/>
        </p:nvSpPr>
        <p:spPr>
          <a:xfrm>
            <a:off x="223306" y="3103042"/>
            <a:ext cx="9838800" cy="1236996"/>
          </a:xfrm>
          <a:prstGeom prst="rect">
            <a:avLst/>
          </a:prstGeom>
          <a:ln/>
        </p:spPr>
        <p:style>
          <a:lnRef idx="1">
            <a:schemeClr val="dk1"/>
          </a:lnRef>
          <a:fillRef idx="3">
            <a:schemeClr val="dk1"/>
          </a:fillRef>
          <a:effectRef idx="2">
            <a:schemeClr val="dk1"/>
          </a:effectRef>
          <a:fontRef idx="minor">
            <a:schemeClr val="lt1"/>
          </a:fontRef>
        </p:style>
        <p:txBody>
          <a:bodyPr wrap="square" rtlCol="0" anchor="ctr" anchorCtr="0">
            <a:noAutofit/>
            <a:scene3d>
              <a:camera prst="orthographicFront"/>
              <a:lightRig rig="soft" dir="t">
                <a:rot lat="0" lon="0" rev="15600000"/>
              </a:lightRig>
            </a:scene3d>
            <a:sp3d extrusionH="57150" prstMaterial="softEdge">
              <a:bevelT w="25400" h="38100"/>
            </a:sp3d>
          </a:bodyPr>
          <a:lstStyle/>
          <a:p>
            <a:pPr algn="r"/>
            <a:r>
              <a:rPr lang="en-US" sz="7200" b="1" dirty="0">
                <a:ln/>
                <a:solidFill>
                  <a:schemeClr val="accent4"/>
                </a:solidFill>
                <a:latin typeface="+mj-lt"/>
              </a:rPr>
              <a:t>Literal vs Constructor</a:t>
            </a:r>
            <a:endParaRPr lang="en-GB" sz="6600" b="1" dirty="0">
              <a:ln/>
              <a:solidFill>
                <a:schemeClr val="accent4"/>
              </a:solidFill>
              <a:latin typeface="+mj-lt"/>
            </a:endParaRPr>
          </a:p>
        </p:txBody>
      </p:sp>
      <p:sp>
        <p:nvSpPr>
          <p:cNvPr id="25" name="TextBox 24">
            <a:extLst>
              <a:ext uri="{FF2B5EF4-FFF2-40B4-BE49-F238E27FC236}">
                <a16:creationId xmlns:a16="http://schemas.microsoft.com/office/drawing/2014/main" id="{3B872644-AB86-6698-EA3A-DB33B5028B17}"/>
              </a:ext>
            </a:extLst>
          </p:cNvPr>
          <p:cNvSpPr txBox="1"/>
          <p:nvPr/>
        </p:nvSpPr>
        <p:spPr>
          <a:xfrm>
            <a:off x="-10475910" y="2463702"/>
            <a:ext cx="8189910" cy="830997"/>
          </a:xfrm>
          <a:prstGeom prst="rect">
            <a:avLst/>
          </a:prstGeom>
        </p:spPr>
        <p:style>
          <a:lnRef idx="1">
            <a:schemeClr val="accent6"/>
          </a:lnRef>
          <a:fillRef idx="2">
            <a:schemeClr val="accent6"/>
          </a:fillRef>
          <a:effectRef idx="1">
            <a:schemeClr val="accent6"/>
          </a:effectRef>
          <a:fontRef idx="minor">
            <a:schemeClr val="dk1"/>
          </a:fontRef>
        </p:style>
        <p:txBody>
          <a:bodyPr wrap="square" rtlCol="0">
            <a:spAutoFit/>
          </a:bodyPr>
          <a:lstStyle/>
          <a:p>
            <a:r>
              <a:rPr lang="en-GB" sz="4800" dirty="0">
                <a:ln w="0"/>
                <a:solidFill>
                  <a:schemeClr val="tx1"/>
                </a:solidFill>
                <a:effectLst>
                  <a:outerShdw blurRad="38100" dist="19050" dir="2700000" algn="tl" rotWithShape="0">
                    <a:schemeClr val="dk1">
                      <a:alpha val="40000"/>
                    </a:schemeClr>
                  </a:outerShdw>
                </a:effectLst>
                <a:latin typeface="Patrick Hand" pitchFamily="2" charset="77"/>
              </a:rPr>
              <a:t>003_literal_vs_constructor</a:t>
            </a:r>
            <a:endParaRPr lang="en-DE" sz="4800" dirty="0">
              <a:ln w="0"/>
              <a:solidFill>
                <a:schemeClr val="tx1"/>
              </a:solidFill>
              <a:effectLst>
                <a:outerShdw blurRad="38100" dist="19050" dir="2700000" algn="tl" rotWithShape="0">
                  <a:schemeClr val="dk1">
                    <a:alpha val="40000"/>
                  </a:schemeClr>
                </a:outerShdw>
              </a:effectLst>
              <a:latin typeface="Patrick Hand" pitchFamily="2" charset="77"/>
            </a:endParaRPr>
          </a:p>
        </p:txBody>
      </p:sp>
      <p:pic>
        <p:nvPicPr>
          <p:cNvPr id="2" name="Picture 1">
            <a:extLst>
              <a:ext uri="{FF2B5EF4-FFF2-40B4-BE49-F238E27FC236}">
                <a16:creationId xmlns:a16="http://schemas.microsoft.com/office/drawing/2014/main" id="{D321882E-DEB4-935B-B260-4EC2A202AB0A}"/>
              </a:ext>
            </a:extLst>
          </p:cNvPr>
          <p:cNvPicPr preferRelativeResize="0">
            <a:picLocks/>
          </p:cNvPicPr>
          <p:nvPr/>
        </p:nvPicPr>
        <p:blipFill rotWithShape="1">
          <a:blip r:embed="rId3"/>
          <a:srcRect l="17598" t="31499" r="13684" b="22607"/>
          <a:stretch>
            <a:fillRect/>
          </a:stretch>
        </p:blipFill>
        <p:spPr>
          <a:xfrm>
            <a:off x="223306" y="4427536"/>
            <a:ext cx="9838800" cy="4680000"/>
          </a:xfrm>
          <a:prstGeom prst="rect">
            <a:avLst/>
          </a:prstGeom>
        </p:spPr>
      </p:pic>
      <p:pic>
        <p:nvPicPr>
          <p:cNvPr id="3" name="Picture 2">
            <a:extLst>
              <a:ext uri="{FF2B5EF4-FFF2-40B4-BE49-F238E27FC236}">
                <a16:creationId xmlns:a16="http://schemas.microsoft.com/office/drawing/2014/main" id="{74AD9930-9FA4-5923-77AB-E251A6EAF3DE}"/>
              </a:ext>
            </a:extLst>
          </p:cNvPr>
          <p:cNvPicPr>
            <a:picLocks noChangeAspect="1"/>
          </p:cNvPicPr>
          <p:nvPr/>
        </p:nvPicPr>
        <p:blipFill>
          <a:blip r:embed="rId4"/>
          <a:stretch>
            <a:fillRect/>
          </a:stretch>
        </p:blipFill>
        <p:spPr>
          <a:xfrm>
            <a:off x="332639" y="3196286"/>
            <a:ext cx="1063167" cy="1063167"/>
          </a:xfrm>
          <a:prstGeom prst="rect">
            <a:avLst/>
          </a:prstGeom>
        </p:spPr>
      </p:pic>
      <p:cxnSp>
        <p:nvCxnSpPr>
          <p:cNvPr id="5" name="Straight Connector 4">
            <a:extLst>
              <a:ext uri="{FF2B5EF4-FFF2-40B4-BE49-F238E27FC236}">
                <a16:creationId xmlns:a16="http://schemas.microsoft.com/office/drawing/2014/main" id="{0F10F09E-B4E0-4056-0BA9-DD57336018D2}"/>
              </a:ext>
            </a:extLst>
          </p:cNvPr>
          <p:cNvCxnSpPr>
            <a:cxnSpLocks/>
          </p:cNvCxnSpPr>
          <p:nvPr/>
        </p:nvCxnSpPr>
        <p:spPr>
          <a:xfrm>
            <a:off x="233306" y="6329373"/>
            <a:ext cx="9813810" cy="0"/>
          </a:xfrm>
          <a:prstGeom prst="line">
            <a:avLst/>
          </a:prstGeom>
          <a:ln w="38100">
            <a:solidFill>
              <a:schemeClr val="bg1"/>
            </a:solidFill>
            <a:headEnd type="none"/>
            <a:tailEnd type="none" w="lg" len="lg"/>
          </a:ln>
        </p:spPr>
        <p:style>
          <a:lnRef idx="1">
            <a:schemeClr val="accent1"/>
          </a:lnRef>
          <a:fillRef idx="0">
            <a:schemeClr val="accent1"/>
          </a:fillRef>
          <a:effectRef idx="0">
            <a:schemeClr val="accent1"/>
          </a:effectRef>
          <a:fontRef idx="minor">
            <a:schemeClr val="tx1"/>
          </a:fontRef>
        </p:style>
      </p:cxnSp>
      <p:sp>
        <p:nvSpPr>
          <p:cNvPr id="6" name="Right Arrow 5">
            <a:extLst>
              <a:ext uri="{FF2B5EF4-FFF2-40B4-BE49-F238E27FC236}">
                <a16:creationId xmlns:a16="http://schemas.microsoft.com/office/drawing/2014/main" id="{2892F6C6-138F-0F78-3659-F2E7F0035EBD}"/>
              </a:ext>
            </a:extLst>
          </p:cNvPr>
          <p:cNvSpPr/>
          <p:nvPr/>
        </p:nvSpPr>
        <p:spPr>
          <a:xfrm>
            <a:off x="4272551" y="14179650"/>
            <a:ext cx="1740310" cy="817570"/>
          </a:xfrm>
          <a:prstGeom prst="rightArrow">
            <a:avLst/>
          </a:prstGeom>
          <a:ln/>
        </p:spPr>
        <p:style>
          <a:lnRef idx="1">
            <a:schemeClr val="dk1"/>
          </a:lnRef>
          <a:fillRef idx="3">
            <a:schemeClr val="dk1"/>
          </a:fillRef>
          <a:effectRef idx="2">
            <a:schemeClr val="dk1"/>
          </a:effectRef>
          <a:fontRef idx="minor">
            <a:schemeClr val="lt1"/>
          </a:fontRef>
        </p:style>
        <p:txBody>
          <a:bodyPr wrap="square" rtlCol="0" anchor="ctr" anchorCtr="0">
            <a:noAutofit/>
            <a:scene3d>
              <a:camera prst="orthographicFront"/>
              <a:lightRig rig="soft" dir="t">
                <a:rot lat="0" lon="0" rev="15600000"/>
              </a:lightRig>
            </a:scene3d>
            <a:sp3d extrusionH="57150" prstMaterial="softEdge">
              <a:bevelT w="25400" h="38100"/>
            </a:sp3d>
          </a:bodyPr>
          <a:lstStyle/>
          <a:p>
            <a:pPr algn="ctr"/>
            <a:endParaRPr lang="en-DE" sz="8000" b="1" dirty="0">
              <a:ln/>
              <a:solidFill>
                <a:schemeClr val="accent4"/>
              </a:solidFill>
              <a:latin typeface="+mj-lt"/>
            </a:endParaRPr>
          </a:p>
        </p:txBody>
      </p:sp>
    </p:spTree>
    <p:extLst>
      <p:ext uri="{BB962C8B-B14F-4D97-AF65-F5344CB8AC3E}">
        <p14:creationId xmlns:p14="http://schemas.microsoft.com/office/powerpoint/2010/main" val="264030337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a:extLst>
            <a:ext uri="{FF2B5EF4-FFF2-40B4-BE49-F238E27FC236}">
              <a16:creationId xmlns:a16="http://schemas.microsoft.com/office/drawing/2014/main" id="{516A4D19-6F44-D7C7-60EC-E336007C4C8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446CFCD-C391-BAB4-5F67-0690FBD23474}"/>
              </a:ext>
            </a:extLst>
          </p:cNvPr>
          <p:cNvSpPr txBox="1"/>
          <p:nvPr/>
        </p:nvSpPr>
        <p:spPr>
          <a:xfrm>
            <a:off x="223306" y="3103042"/>
            <a:ext cx="9838800" cy="1236996"/>
          </a:xfrm>
          <a:prstGeom prst="rect">
            <a:avLst/>
          </a:prstGeom>
          <a:ln/>
        </p:spPr>
        <p:style>
          <a:lnRef idx="1">
            <a:schemeClr val="dk1"/>
          </a:lnRef>
          <a:fillRef idx="3">
            <a:schemeClr val="dk1"/>
          </a:fillRef>
          <a:effectRef idx="2">
            <a:schemeClr val="dk1"/>
          </a:effectRef>
          <a:fontRef idx="minor">
            <a:schemeClr val="lt1"/>
          </a:fontRef>
        </p:style>
        <p:txBody>
          <a:bodyPr wrap="square" rtlCol="0" anchor="ctr" anchorCtr="0">
            <a:noAutofit/>
            <a:scene3d>
              <a:camera prst="orthographicFront"/>
              <a:lightRig rig="soft" dir="t">
                <a:rot lat="0" lon="0" rev="15600000"/>
              </a:lightRig>
            </a:scene3d>
            <a:sp3d extrusionH="57150" prstMaterial="softEdge">
              <a:bevelT w="25400" h="38100"/>
            </a:sp3d>
          </a:bodyPr>
          <a:lstStyle/>
          <a:p>
            <a:pPr algn="ctr"/>
            <a:r>
              <a:rPr lang="en-US" sz="7200" dirty="0">
                <a:ln/>
                <a:solidFill>
                  <a:schemeClr val="accent4"/>
                </a:solidFill>
              </a:rPr>
              <a:t>Literal vs Constructor</a:t>
            </a:r>
            <a:endParaRPr lang="en-GB" sz="6600" dirty="0">
              <a:ln/>
              <a:solidFill>
                <a:schemeClr val="accent4"/>
              </a:solidFill>
            </a:endParaRPr>
          </a:p>
        </p:txBody>
      </p:sp>
      <p:sp>
        <p:nvSpPr>
          <p:cNvPr id="25" name="TextBox 24">
            <a:extLst>
              <a:ext uri="{FF2B5EF4-FFF2-40B4-BE49-F238E27FC236}">
                <a16:creationId xmlns:a16="http://schemas.microsoft.com/office/drawing/2014/main" id="{3D40EE94-63F8-DB68-6E2B-B840982D0F4C}"/>
              </a:ext>
            </a:extLst>
          </p:cNvPr>
          <p:cNvSpPr txBox="1"/>
          <p:nvPr/>
        </p:nvSpPr>
        <p:spPr>
          <a:xfrm>
            <a:off x="-10475910" y="2463702"/>
            <a:ext cx="8189910" cy="830997"/>
          </a:xfrm>
          <a:prstGeom prst="rect">
            <a:avLst/>
          </a:prstGeom>
        </p:spPr>
        <p:style>
          <a:lnRef idx="1">
            <a:schemeClr val="accent6"/>
          </a:lnRef>
          <a:fillRef idx="2">
            <a:schemeClr val="accent6"/>
          </a:fillRef>
          <a:effectRef idx="1">
            <a:schemeClr val="accent6"/>
          </a:effectRef>
          <a:fontRef idx="minor">
            <a:schemeClr val="dk1"/>
          </a:fontRef>
        </p:style>
        <p:txBody>
          <a:bodyPr wrap="square" rtlCol="0">
            <a:spAutoFit/>
          </a:bodyPr>
          <a:lstStyle/>
          <a:p>
            <a:r>
              <a:rPr lang="en-GB" sz="4800" dirty="0">
                <a:ln w="0"/>
                <a:solidFill>
                  <a:schemeClr val="tx1"/>
                </a:solidFill>
                <a:effectLst>
                  <a:outerShdw blurRad="38100" dist="19050" dir="2700000" algn="tl" rotWithShape="0">
                    <a:schemeClr val="dk1">
                      <a:alpha val="40000"/>
                    </a:schemeClr>
                  </a:outerShdw>
                </a:effectLst>
                <a:latin typeface="Patrick Hand" pitchFamily="2" charset="77"/>
              </a:rPr>
              <a:t>003_literal_vs_constructor</a:t>
            </a:r>
            <a:endParaRPr lang="en-DE" sz="4800" dirty="0">
              <a:ln w="0"/>
              <a:solidFill>
                <a:schemeClr val="tx1"/>
              </a:solidFill>
              <a:effectLst>
                <a:outerShdw blurRad="38100" dist="19050" dir="2700000" algn="tl" rotWithShape="0">
                  <a:schemeClr val="dk1">
                    <a:alpha val="40000"/>
                  </a:schemeClr>
                </a:outerShdw>
              </a:effectLst>
              <a:latin typeface="Patrick Hand" pitchFamily="2" charset="77"/>
            </a:endParaRPr>
          </a:p>
        </p:txBody>
      </p:sp>
      <p:sp>
        <p:nvSpPr>
          <p:cNvPr id="5" name="TextBox 4">
            <a:extLst>
              <a:ext uri="{FF2B5EF4-FFF2-40B4-BE49-F238E27FC236}">
                <a16:creationId xmlns:a16="http://schemas.microsoft.com/office/drawing/2014/main" id="{DABE5758-605A-6DEF-0CA3-987C90DA754F}"/>
              </a:ext>
            </a:extLst>
          </p:cNvPr>
          <p:cNvSpPr txBox="1"/>
          <p:nvPr/>
        </p:nvSpPr>
        <p:spPr>
          <a:xfrm>
            <a:off x="223306" y="4984251"/>
            <a:ext cx="9838800" cy="5351239"/>
          </a:xfrm>
          <a:prstGeom prst="rect">
            <a:avLst/>
          </a:prstGeom>
          <a:noFill/>
        </p:spPr>
        <p:txBody>
          <a:bodyPr wrap="square" rtlCol="0">
            <a:noAutofit/>
          </a:bodyPr>
          <a:lstStyle/>
          <a:p>
            <a:pPr algn="ctr"/>
            <a:r>
              <a:rPr lang="en-DE" sz="6600" dirty="0">
                <a:ln w="0"/>
                <a:effectLst>
                  <a:outerShdw blurRad="38100" dist="19050" dir="2700000" algn="tl" rotWithShape="0">
                    <a:schemeClr val="dk1">
                      <a:alpha val="40000"/>
                    </a:schemeClr>
                  </a:outerShdw>
                </a:effectLst>
                <a:latin typeface="Patrick Hand" pitchFamily="2" charset="77"/>
              </a:rPr>
              <a:t>Do you agree?</a:t>
            </a:r>
          </a:p>
          <a:p>
            <a:pPr algn="ctr"/>
            <a:r>
              <a:rPr lang="en-DE" sz="6600" dirty="0">
                <a:ln w="0"/>
                <a:effectLst>
                  <a:outerShdw blurRad="38100" dist="19050" dir="2700000" algn="tl" rotWithShape="0">
                    <a:schemeClr val="dk1">
                      <a:alpha val="40000"/>
                    </a:schemeClr>
                  </a:outerShdw>
                </a:effectLst>
                <a:latin typeface="Patrick Hand" pitchFamily="2" charset="77"/>
              </a:rPr>
              <a:t>What‘s your take on this?</a:t>
            </a:r>
          </a:p>
          <a:p>
            <a:pPr algn="ctr"/>
            <a:endParaRPr lang="en-DE" sz="6600" dirty="0">
              <a:ln w="0"/>
              <a:effectLst>
                <a:outerShdw blurRad="38100" dist="19050" dir="2700000" algn="tl" rotWithShape="0">
                  <a:schemeClr val="dk1">
                    <a:alpha val="40000"/>
                  </a:schemeClr>
                </a:outerShdw>
              </a:effectLst>
              <a:latin typeface="Patrick Hand" pitchFamily="2" charset="77"/>
            </a:endParaRPr>
          </a:p>
          <a:p>
            <a:pPr algn="ctr"/>
            <a:r>
              <a:rPr lang="en-DE" sz="6600" dirty="0">
                <a:ln w="0"/>
                <a:effectLst>
                  <a:outerShdw blurRad="38100" dist="19050" dir="2700000" algn="tl" rotWithShape="0">
                    <a:schemeClr val="dk1">
                      <a:alpha val="40000"/>
                    </a:schemeClr>
                  </a:outerShdw>
                </a:effectLst>
                <a:latin typeface="Patrick Hand" pitchFamily="2" charset="77"/>
              </a:rPr>
              <a:t>Drop a comment below!</a:t>
            </a:r>
          </a:p>
          <a:p>
            <a:pPr marL="685800" indent="-685800" algn="ctr">
              <a:buFont typeface="Arial" panose="020B0604020202020204" pitchFamily="34" charset="0"/>
              <a:buChar char="•"/>
            </a:pPr>
            <a:endParaRPr lang="en-GB" sz="6600" dirty="0">
              <a:ln w="0"/>
              <a:effectLst>
                <a:outerShdw blurRad="38100" dist="19050" dir="2700000" algn="tl" rotWithShape="0">
                  <a:schemeClr val="dk1">
                    <a:alpha val="40000"/>
                  </a:schemeClr>
                </a:outerShdw>
              </a:effectLst>
              <a:latin typeface="Patrick Hand" pitchFamily="2" charset="77"/>
            </a:endParaRPr>
          </a:p>
        </p:txBody>
      </p:sp>
    </p:spTree>
    <p:extLst>
      <p:ext uri="{BB962C8B-B14F-4D97-AF65-F5344CB8AC3E}">
        <p14:creationId xmlns:p14="http://schemas.microsoft.com/office/powerpoint/2010/main" val="102211373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a:extLst>
            <a:ext uri="{FF2B5EF4-FFF2-40B4-BE49-F238E27FC236}">
              <a16:creationId xmlns:a16="http://schemas.microsoft.com/office/drawing/2014/main" id="{FEEEF63F-05E6-DA35-C379-11D3F25F8CA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41F7EF2-9234-089A-91E3-BF5B46ED3083}"/>
              </a:ext>
            </a:extLst>
          </p:cNvPr>
          <p:cNvSpPr txBox="1"/>
          <p:nvPr/>
        </p:nvSpPr>
        <p:spPr>
          <a:xfrm>
            <a:off x="223306" y="3103042"/>
            <a:ext cx="9838800" cy="1236996"/>
          </a:xfrm>
          <a:prstGeom prst="rect">
            <a:avLst/>
          </a:prstGeom>
          <a:ln/>
        </p:spPr>
        <p:style>
          <a:lnRef idx="1">
            <a:schemeClr val="dk1"/>
          </a:lnRef>
          <a:fillRef idx="3">
            <a:schemeClr val="dk1"/>
          </a:fillRef>
          <a:effectRef idx="2">
            <a:schemeClr val="dk1"/>
          </a:effectRef>
          <a:fontRef idx="minor">
            <a:schemeClr val="lt1"/>
          </a:fontRef>
        </p:style>
        <p:txBody>
          <a:bodyPr wrap="square" rtlCol="0" anchor="ctr" anchorCtr="0">
            <a:noAutofit/>
            <a:scene3d>
              <a:camera prst="orthographicFront"/>
              <a:lightRig rig="soft" dir="t">
                <a:rot lat="0" lon="0" rev="15600000"/>
              </a:lightRig>
            </a:scene3d>
            <a:sp3d extrusionH="57150" prstMaterial="softEdge">
              <a:bevelT w="25400" h="38100"/>
            </a:sp3d>
          </a:bodyPr>
          <a:lstStyle/>
          <a:p>
            <a:pPr algn="r"/>
            <a:r>
              <a:rPr lang="en-US" sz="7200" dirty="0">
                <a:ln/>
                <a:solidFill>
                  <a:schemeClr val="accent4"/>
                </a:solidFill>
              </a:rPr>
              <a:t>No Array Constructor</a:t>
            </a:r>
            <a:endParaRPr lang="en-GB" sz="6600" dirty="0">
              <a:ln/>
              <a:solidFill>
                <a:schemeClr val="accent4"/>
              </a:solidFill>
            </a:endParaRPr>
          </a:p>
        </p:txBody>
      </p:sp>
      <p:sp>
        <p:nvSpPr>
          <p:cNvPr id="25" name="TextBox 24">
            <a:extLst>
              <a:ext uri="{FF2B5EF4-FFF2-40B4-BE49-F238E27FC236}">
                <a16:creationId xmlns:a16="http://schemas.microsoft.com/office/drawing/2014/main" id="{968BC9ED-1ECF-B702-5C76-31C24693B46D}"/>
              </a:ext>
            </a:extLst>
          </p:cNvPr>
          <p:cNvSpPr txBox="1"/>
          <p:nvPr/>
        </p:nvSpPr>
        <p:spPr>
          <a:xfrm>
            <a:off x="-7873383" y="3167085"/>
            <a:ext cx="7213726" cy="830997"/>
          </a:xfrm>
          <a:prstGeom prst="rect">
            <a:avLst/>
          </a:prstGeom>
        </p:spPr>
        <p:style>
          <a:lnRef idx="1">
            <a:schemeClr val="accent6"/>
          </a:lnRef>
          <a:fillRef idx="2">
            <a:schemeClr val="accent6"/>
          </a:fillRef>
          <a:effectRef idx="1">
            <a:schemeClr val="accent6"/>
          </a:effectRef>
          <a:fontRef idx="minor">
            <a:schemeClr val="dk1"/>
          </a:fontRef>
        </p:style>
        <p:txBody>
          <a:bodyPr wrap="square" rtlCol="0">
            <a:spAutoFit/>
          </a:bodyPr>
          <a:lstStyle/>
          <a:p>
            <a:r>
              <a:rPr lang="en-GB" sz="4800" dirty="0">
                <a:ln w="0"/>
                <a:solidFill>
                  <a:schemeClr val="tx1"/>
                </a:solidFill>
                <a:effectLst>
                  <a:outerShdw blurRad="38100" dist="19050" dir="2700000" algn="tl" rotWithShape="0">
                    <a:schemeClr val="dk1">
                      <a:alpha val="40000"/>
                    </a:schemeClr>
                  </a:outerShdw>
                </a:effectLst>
                <a:latin typeface="Patrick Hand" pitchFamily="2" charset="77"/>
              </a:rPr>
              <a:t>js_005_no_array_constructor</a:t>
            </a:r>
            <a:endParaRPr lang="en-DE" sz="4800" dirty="0">
              <a:ln w="0"/>
              <a:solidFill>
                <a:schemeClr val="tx1"/>
              </a:solidFill>
              <a:effectLst>
                <a:outerShdw blurRad="38100" dist="19050" dir="2700000" algn="tl" rotWithShape="0">
                  <a:schemeClr val="dk1">
                    <a:alpha val="40000"/>
                  </a:schemeClr>
                </a:outerShdw>
              </a:effectLst>
              <a:latin typeface="Patrick Hand" pitchFamily="2" charset="77"/>
            </a:endParaRPr>
          </a:p>
        </p:txBody>
      </p:sp>
      <p:pic>
        <p:nvPicPr>
          <p:cNvPr id="2" name="Picture 1">
            <a:extLst>
              <a:ext uri="{FF2B5EF4-FFF2-40B4-BE49-F238E27FC236}">
                <a16:creationId xmlns:a16="http://schemas.microsoft.com/office/drawing/2014/main" id="{8C98CF51-B431-EC78-9DD7-E4639D082A92}"/>
              </a:ext>
            </a:extLst>
          </p:cNvPr>
          <p:cNvPicPr>
            <a:picLocks noChangeAspect="1"/>
          </p:cNvPicPr>
          <p:nvPr/>
        </p:nvPicPr>
        <p:blipFill>
          <a:blip r:embed="rId3"/>
          <a:stretch>
            <a:fillRect/>
          </a:stretch>
        </p:blipFill>
        <p:spPr>
          <a:xfrm>
            <a:off x="312757" y="3190540"/>
            <a:ext cx="1062000" cy="1062000"/>
          </a:xfrm>
          <a:prstGeom prst="rect">
            <a:avLst/>
          </a:prstGeom>
        </p:spPr>
      </p:pic>
      <p:pic>
        <p:nvPicPr>
          <p:cNvPr id="6" name="Picture 5">
            <a:extLst>
              <a:ext uri="{FF2B5EF4-FFF2-40B4-BE49-F238E27FC236}">
                <a16:creationId xmlns:a16="http://schemas.microsoft.com/office/drawing/2014/main" id="{9CF2BB6E-30BB-3E21-3772-46C6D64098C1}"/>
              </a:ext>
            </a:extLst>
          </p:cNvPr>
          <p:cNvPicPr>
            <a:picLocks noChangeAspect="1"/>
          </p:cNvPicPr>
          <p:nvPr/>
        </p:nvPicPr>
        <p:blipFill rotWithShape="1">
          <a:blip r:embed="rId4"/>
          <a:srcRect l="20337" t="28776" r="15360" b="25613"/>
          <a:stretch>
            <a:fillRect/>
          </a:stretch>
        </p:blipFill>
        <p:spPr>
          <a:xfrm>
            <a:off x="223306" y="4427536"/>
            <a:ext cx="9838800" cy="5534325"/>
          </a:xfrm>
          <a:prstGeom prst="rect">
            <a:avLst/>
          </a:prstGeom>
        </p:spPr>
      </p:pic>
      <p:cxnSp>
        <p:nvCxnSpPr>
          <p:cNvPr id="7" name="Straight Connector 6">
            <a:extLst>
              <a:ext uri="{FF2B5EF4-FFF2-40B4-BE49-F238E27FC236}">
                <a16:creationId xmlns:a16="http://schemas.microsoft.com/office/drawing/2014/main" id="{28235F81-CBFD-9CF3-8A8E-9364918B8C5B}"/>
              </a:ext>
            </a:extLst>
          </p:cNvPr>
          <p:cNvCxnSpPr>
            <a:cxnSpLocks/>
          </p:cNvCxnSpPr>
          <p:nvPr/>
        </p:nvCxnSpPr>
        <p:spPr>
          <a:xfrm>
            <a:off x="233306" y="6953828"/>
            <a:ext cx="9813810" cy="0"/>
          </a:xfrm>
          <a:prstGeom prst="line">
            <a:avLst/>
          </a:prstGeom>
          <a:ln w="38100">
            <a:solidFill>
              <a:schemeClr val="bg1"/>
            </a:solidFill>
            <a:headEnd type="none"/>
            <a:tailEnd type="none" w="lg" len="lg"/>
          </a:ln>
        </p:spPr>
        <p:style>
          <a:lnRef idx="1">
            <a:schemeClr val="accent1"/>
          </a:lnRef>
          <a:fillRef idx="0">
            <a:schemeClr val="accent1"/>
          </a:fillRef>
          <a:effectRef idx="0">
            <a:schemeClr val="accent1"/>
          </a:effectRef>
          <a:fontRef idx="minor">
            <a:schemeClr val="tx1"/>
          </a:fontRef>
        </p:style>
      </p:cxnSp>
      <p:pic>
        <p:nvPicPr>
          <p:cNvPr id="8" name="Graphic 7" descr="Shield Tick with solid fill">
            <a:extLst>
              <a:ext uri="{FF2B5EF4-FFF2-40B4-BE49-F238E27FC236}">
                <a16:creationId xmlns:a16="http://schemas.microsoft.com/office/drawing/2014/main" id="{73389461-30C0-E0F2-7F7E-A6E5490DC8F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375427" y="7337712"/>
            <a:ext cx="914400" cy="914400"/>
          </a:xfrm>
          <a:prstGeom prst="rect">
            <a:avLst/>
          </a:prstGeom>
        </p:spPr>
      </p:pic>
      <p:pic>
        <p:nvPicPr>
          <p:cNvPr id="9" name="Graphic 8" descr="Close with solid fill">
            <a:extLst>
              <a:ext uri="{FF2B5EF4-FFF2-40B4-BE49-F238E27FC236}">
                <a16:creationId xmlns:a16="http://schemas.microsoft.com/office/drawing/2014/main" id="{F7017F99-371A-8860-96AA-8DCE2B2FEC4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375427" y="4852619"/>
            <a:ext cx="914400" cy="914400"/>
          </a:xfrm>
          <a:prstGeom prst="rect">
            <a:avLst/>
          </a:prstGeom>
        </p:spPr>
      </p:pic>
      <p:sp>
        <p:nvSpPr>
          <p:cNvPr id="10" name="Right Arrow 9">
            <a:extLst>
              <a:ext uri="{FF2B5EF4-FFF2-40B4-BE49-F238E27FC236}">
                <a16:creationId xmlns:a16="http://schemas.microsoft.com/office/drawing/2014/main" id="{F2D6D2E1-4ED0-DCDC-18D7-77E940B4F2D1}"/>
              </a:ext>
            </a:extLst>
          </p:cNvPr>
          <p:cNvSpPr/>
          <p:nvPr/>
        </p:nvSpPr>
        <p:spPr>
          <a:xfrm>
            <a:off x="4676714" y="10181489"/>
            <a:ext cx="931985" cy="685824"/>
          </a:xfrm>
          <a:prstGeom prst="rightArrow">
            <a:avLst/>
          </a:prstGeom>
          <a:ln/>
        </p:spPr>
        <p:style>
          <a:lnRef idx="1">
            <a:schemeClr val="dk1"/>
          </a:lnRef>
          <a:fillRef idx="3">
            <a:schemeClr val="dk1"/>
          </a:fillRef>
          <a:effectRef idx="2">
            <a:schemeClr val="dk1"/>
          </a:effectRef>
          <a:fontRef idx="minor">
            <a:schemeClr val="lt1"/>
          </a:fontRef>
        </p:style>
        <p:txBody>
          <a:bodyPr wrap="square" rtlCol="0" anchor="ctr" anchorCtr="0">
            <a:noAutofit/>
            <a:scene3d>
              <a:camera prst="orthographicFront"/>
              <a:lightRig rig="soft" dir="t">
                <a:rot lat="0" lon="0" rev="15600000"/>
              </a:lightRig>
            </a:scene3d>
            <a:sp3d extrusionH="57150" prstMaterial="softEdge">
              <a:bevelT w="25400" h="38100"/>
            </a:sp3d>
          </a:bodyPr>
          <a:lstStyle/>
          <a:p>
            <a:pPr marL="0" algn="l" defTabSz="457200" rtl="0" eaLnBrk="1" latinLnBrk="0" hangingPunct="1"/>
            <a:endParaRPr lang="en-DE" sz="7200" dirty="0">
              <a:ln/>
              <a:solidFill>
                <a:schemeClr val="accent4"/>
              </a:solidFill>
            </a:endParaRPr>
          </a:p>
        </p:txBody>
      </p:sp>
    </p:spTree>
    <p:extLst>
      <p:ext uri="{BB962C8B-B14F-4D97-AF65-F5344CB8AC3E}">
        <p14:creationId xmlns:p14="http://schemas.microsoft.com/office/powerpoint/2010/main" val="368471383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a:extLst>
            <a:ext uri="{FF2B5EF4-FFF2-40B4-BE49-F238E27FC236}">
              <a16:creationId xmlns:a16="http://schemas.microsoft.com/office/drawing/2014/main" id="{19714E5A-07D2-D682-6533-06E93CFF334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51C5440-3B7A-E64D-FCFD-928BA7469A9A}"/>
              </a:ext>
            </a:extLst>
          </p:cNvPr>
          <p:cNvSpPr txBox="1"/>
          <p:nvPr/>
        </p:nvSpPr>
        <p:spPr>
          <a:xfrm>
            <a:off x="223306" y="3103042"/>
            <a:ext cx="9838800" cy="1236996"/>
          </a:xfrm>
          <a:prstGeom prst="rect">
            <a:avLst/>
          </a:prstGeom>
          <a:ln/>
        </p:spPr>
        <p:style>
          <a:lnRef idx="1">
            <a:schemeClr val="dk1"/>
          </a:lnRef>
          <a:fillRef idx="3">
            <a:schemeClr val="dk1"/>
          </a:fillRef>
          <a:effectRef idx="2">
            <a:schemeClr val="dk1"/>
          </a:effectRef>
          <a:fontRef idx="minor">
            <a:schemeClr val="lt1"/>
          </a:fontRef>
        </p:style>
        <p:txBody>
          <a:bodyPr wrap="square" rtlCol="0" anchor="ctr" anchorCtr="0">
            <a:noAutofit/>
            <a:scene3d>
              <a:camera prst="orthographicFront"/>
              <a:lightRig rig="soft" dir="t">
                <a:rot lat="0" lon="0" rev="15600000"/>
              </a:lightRig>
            </a:scene3d>
            <a:sp3d extrusionH="57150" prstMaterial="softEdge">
              <a:bevelT w="25400" h="38100"/>
            </a:sp3d>
          </a:bodyPr>
          <a:lstStyle/>
          <a:p>
            <a:pPr algn="ctr"/>
            <a:r>
              <a:rPr lang="en-US" sz="7200" dirty="0">
                <a:ln/>
                <a:solidFill>
                  <a:schemeClr val="accent4"/>
                </a:solidFill>
              </a:rPr>
              <a:t>No Array Constructor</a:t>
            </a:r>
            <a:endParaRPr lang="en-GB" sz="6600" dirty="0">
              <a:ln/>
              <a:solidFill>
                <a:schemeClr val="accent4"/>
              </a:solidFill>
            </a:endParaRPr>
          </a:p>
        </p:txBody>
      </p:sp>
      <p:sp>
        <p:nvSpPr>
          <p:cNvPr id="25" name="TextBox 24">
            <a:extLst>
              <a:ext uri="{FF2B5EF4-FFF2-40B4-BE49-F238E27FC236}">
                <a16:creationId xmlns:a16="http://schemas.microsoft.com/office/drawing/2014/main" id="{792BF6A5-06E4-A0E1-6813-31071F20A33A}"/>
              </a:ext>
            </a:extLst>
          </p:cNvPr>
          <p:cNvSpPr txBox="1"/>
          <p:nvPr/>
        </p:nvSpPr>
        <p:spPr>
          <a:xfrm>
            <a:off x="-10475910" y="2463702"/>
            <a:ext cx="8189910" cy="830997"/>
          </a:xfrm>
          <a:prstGeom prst="rect">
            <a:avLst/>
          </a:prstGeom>
        </p:spPr>
        <p:style>
          <a:lnRef idx="1">
            <a:schemeClr val="accent6"/>
          </a:lnRef>
          <a:fillRef idx="2">
            <a:schemeClr val="accent6"/>
          </a:fillRef>
          <a:effectRef idx="1">
            <a:schemeClr val="accent6"/>
          </a:effectRef>
          <a:fontRef idx="minor">
            <a:schemeClr val="dk1"/>
          </a:fontRef>
        </p:style>
        <p:txBody>
          <a:bodyPr wrap="square" rtlCol="0">
            <a:spAutoFit/>
          </a:bodyPr>
          <a:lstStyle/>
          <a:p>
            <a:r>
              <a:rPr lang="en-GB" sz="4800" dirty="0">
                <a:ln w="0"/>
                <a:solidFill>
                  <a:schemeClr val="tx1"/>
                </a:solidFill>
                <a:effectLst>
                  <a:outerShdw blurRad="38100" dist="19050" dir="2700000" algn="tl" rotWithShape="0">
                    <a:schemeClr val="dk1">
                      <a:alpha val="40000"/>
                    </a:schemeClr>
                  </a:outerShdw>
                </a:effectLst>
                <a:latin typeface="Patrick Hand" pitchFamily="2" charset="77"/>
              </a:rPr>
              <a:t>003_literal_vs_constructor</a:t>
            </a:r>
            <a:endParaRPr lang="en-DE" sz="4800" dirty="0">
              <a:ln w="0"/>
              <a:solidFill>
                <a:schemeClr val="tx1"/>
              </a:solidFill>
              <a:effectLst>
                <a:outerShdw blurRad="38100" dist="19050" dir="2700000" algn="tl" rotWithShape="0">
                  <a:schemeClr val="dk1">
                    <a:alpha val="40000"/>
                  </a:schemeClr>
                </a:outerShdw>
              </a:effectLst>
              <a:latin typeface="Patrick Hand" pitchFamily="2" charset="77"/>
            </a:endParaRPr>
          </a:p>
        </p:txBody>
      </p:sp>
      <p:sp>
        <p:nvSpPr>
          <p:cNvPr id="5" name="TextBox 4">
            <a:extLst>
              <a:ext uri="{FF2B5EF4-FFF2-40B4-BE49-F238E27FC236}">
                <a16:creationId xmlns:a16="http://schemas.microsoft.com/office/drawing/2014/main" id="{79054432-C733-7733-BDE4-A1E88E4C2CF3}"/>
              </a:ext>
            </a:extLst>
          </p:cNvPr>
          <p:cNvSpPr txBox="1"/>
          <p:nvPr/>
        </p:nvSpPr>
        <p:spPr>
          <a:xfrm>
            <a:off x="223306" y="4984251"/>
            <a:ext cx="9838800" cy="5351239"/>
          </a:xfrm>
          <a:prstGeom prst="rect">
            <a:avLst/>
          </a:prstGeom>
          <a:noFill/>
        </p:spPr>
        <p:txBody>
          <a:bodyPr wrap="square" rtlCol="0">
            <a:noAutofit/>
          </a:bodyPr>
          <a:lstStyle/>
          <a:p>
            <a:pPr algn="ctr"/>
            <a:r>
              <a:rPr lang="en-DE" sz="6600" dirty="0">
                <a:ln w="0"/>
                <a:effectLst>
                  <a:outerShdw blurRad="38100" dist="19050" dir="2700000" algn="tl" rotWithShape="0">
                    <a:schemeClr val="dk1">
                      <a:alpha val="40000"/>
                    </a:schemeClr>
                  </a:outerShdw>
                </a:effectLst>
                <a:latin typeface="Patrick Hand" pitchFamily="2" charset="77"/>
              </a:rPr>
              <a:t>Do you agree?</a:t>
            </a:r>
          </a:p>
          <a:p>
            <a:pPr algn="ctr"/>
            <a:r>
              <a:rPr lang="en-DE" sz="6600" dirty="0">
                <a:ln w="0"/>
                <a:effectLst>
                  <a:outerShdw blurRad="38100" dist="19050" dir="2700000" algn="tl" rotWithShape="0">
                    <a:schemeClr val="dk1">
                      <a:alpha val="40000"/>
                    </a:schemeClr>
                  </a:outerShdw>
                </a:effectLst>
                <a:latin typeface="Patrick Hand" pitchFamily="2" charset="77"/>
              </a:rPr>
              <a:t>What‘s your take on this?</a:t>
            </a:r>
          </a:p>
          <a:p>
            <a:pPr algn="ctr"/>
            <a:endParaRPr lang="en-DE" sz="6600" dirty="0">
              <a:ln w="0"/>
              <a:effectLst>
                <a:outerShdw blurRad="38100" dist="19050" dir="2700000" algn="tl" rotWithShape="0">
                  <a:schemeClr val="dk1">
                    <a:alpha val="40000"/>
                  </a:schemeClr>
                </a:outerShdw>
              </a:effectLst>
              <a:latin typeface="Patrick Hand" pitchFamily="2" charset="77"/>
            </a:endParaRPr>
          </a:p>
          <a:p>
            <a:pPr algn="ctr"/>
            <a:r>
              <a:rPr lang="en-DE" sz="6600" dirty="0">
                <a:ln w="0"/>
                <a:effectLst>
                  <a:outerShdw blurRad="38100" dist="19050" dir="2700000" algn="tl" rotWithShape="0">
                    <a:schemeClr val="dk1">
                      <a:alpha val="40000"/>
                    </a:schemeClr>
                  </a:outerShdw>
                </a:effectLst>
                <a:latin typeface="Patrick Hand" pitchFamily="2" charset="77"/>
              </a:rPr>
              <a:t>Drop a comment below!</a:t>
            </a:r>
          </a:p>
          <a:p>
            <a:pPr marL="685800" indent="-685800" algn="ctr">
              <a:buFont typeface="Arial" panose="020B0604020202020204" pitchFamily="34" charset="0"/>
              <a:buChar char="•"/>
            </a:pPr>
            <a:endParaRPr lang="en-GB" sz="6600" dirty="0">
              <a:ln w="0"/>
              <a:effectLst>
                <a:outerShdw blurRad="38100" dist="19050" dir="2700000" algn="tl" rotWithShape="0">
                  <a:schemeClr val="dk1">
                    <a:alpha val="40000"/>
                  </a:schemeClr>
                </a:outerShdw>
              </a:effectLst>
              <a:latin typeface="Patrick Hand" pitchFamily="2" charset="77"/>
            </a:endParaRPr>
          </a:p>
        </p:txBody>
      </p:sp>
    </p:spTree>
    <p:extLst>
      <p:ext uri="{BB962C8B-B14F-4D97-AF65-F5344CB8AC3E}">
        <p14:creationId xmlns:p14="http://schemas.microsoft.com/office/powerpoint/2010/main" val="411771368"/>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31750">
          <a:solidFill>
            <a:schemeClr val="accent1">
              <a:shade val="15000"/>
            </a:schemeClr>
          </a:solidFill>
        </a:ln>
      </a:spPr>
      <a:bodyPr rtlCol="0" anchor="ctr"/>
      <a:lstStyle>
        <a:defPPr marL="0" algn="ctr" defTabSz="457200" rtl="0" eaLnBrk="1" latinLnBrk="0" hangingPunct="1">
          <a:defRPr dirty="0">
            <a:latin typeface="Patrick Hand" pitchFamily="2" charset="77"/>
          </a:defRPr>
        </a:defPPr>
      </a:lstStyle>
      <a:style>
        <a:lnRef idx="2">
          <a:schemeClr val="accent1">
            <a:shade val="15000"/>
          </a:schemeClr>
        </a:lnRef>
        <a:fillRef idx="1">
          <a:schemeClr val="accent1"/>
        </a:fillRef>
        <a:effectRef idx="0">
          <a:schemeClr val="accent1"/>
        </a:effectRef>
        <a:fontRef idx="minor">
          <a:schemeClr val="lt1"/>
        </a:fontRef>
      </a:style>
    </a:spDef>
    <a:lnDef>
      <a:spPr>
        <a:ln w="31750">
          <a:solidFill>
            <a:schemeClr val="tx1"/>
          </a:solidFill>
          <a:headEnd type="none"/>
          <a:tailEnd type="arrow" w="lg" len="lg"/>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sz="4000" dirty="0" smtClean="0">
            <a:latin typeface="Patrick Hand" pitchFamily="2" charset="77"/>
          </a:defRPr>
        </a:defPPr>
      </a:lstStyle>
    </a:txDef>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b1c9b508-7c6e-42bd-bedf-808292653d6c}" enabled="1" method="Standard" siteId="{2882be50-2012-4d88-ac86-544124e120c8}" contentBits="3" removed="0"/>
</clbl:labelList>
</file>

<file path=docProps/app.xml><?xml version="1.0" encoding="utf-8"?>
<Properties xmlns="http://schemas.openxmlformats.org/officeDocument/2006/extended-properties" xmlns:vt="http://schemas.openxmlformats.org/officeDocument/2006/docPropsVTypes">
  <Template>Office 2013 - 2022 Theme</Template>
  <TotalTime>104909</TotalTime>
  <Words>1321</Words>
  <Application>Microsoft Macintosh PowerPoint</Application>
  <PresentationFormat>Custom</PresentationFormat>
  <Paragraphs>282</Paragraphs>
  <Slides>78</Slides>
  <Notes>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78</vt:i4>
      </vt:variant>
    </vt:vector>
  </HeadingPairs>
  <TitlesOfParts>
    <vt:vector size="86" baseType="lpstr">
      <vt:lpstr>Aptos</vt:lpstr>
      <vt:lpstr>Arial</vt:lpstr>
      <vt:lpstr>Arial Narrow</vt:lpstr>
      <vt:lpstr>Calibri</vt:lpstr>
      <vt:lpstr>Calibri Light</vt:lpstr>
      <vt:lpstr>Monaco</vt:lpstr>
      <vt:lpstr>Patrick Hand</vt:lpstr>
      <vt:lpstr>Office 2013 - 2022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Salehi Oshtorjani, Ebrahim (K-DACT/F)</dc:creator>
  <cp:lastModifiedBy>Salehi Oshtorjani, Ebrahim (K-DACT/F)</cp:lastModifiedBy>
  <cp:revision>858</cp:revision>
  <cp:lastPrinted>2025-12-17T08:49:37Z</cp:lastPrinted>
  <dcterms:created xsi:type="dcterms:W3CDTF">2025-12-17T08:13:25Z</dcterms:created>
  <dcterms:modified xsi:type="dcterms:W3CDTF">2026-04-04T17:31:49Z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Atlas:8</vt:lpwstr>
  </property>
  <property fmtid="{D5CDD505-2E9C-101B-9397-08002B2CF9AE}" pid="3" name="ClassificationContentMarkingFooterText">
    <vt:lpwstr>INTERNAL</vt:lpwstr>
  </property>
</Properties>
</file>