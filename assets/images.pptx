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notesSlides/notesSlide2.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27"/>
  </p:notesMasterIdLst>
  <p:handoutMasterIdLst>
    <p:handoutMasterId r:id="rId28"/>
  </p:handoutMasterIdLst>
  <p:sldIdLst>
    <p:sldId id="278" r:id="rId2"/>
    <p:sldId id="279" r:id="rId3"/>
    <p:sldId id="280" r:id="rId4"/>
    <p:sldId id="281" r:id="rId5"/>
    <p:sldId id="288" r:id="rId6"/>
    <p:sldId id="289" r:id="rId7"/>
    <p:sldId id="290" r:id="rId8"/>
    <p:sldId id="291" r:id="rId9"/>
    <p:sldId id="309" r:id="rId10"/>
    <p:sldId id="292" r:id="rId11"/>
    <p:sldId id="293" r:id="rId12"/>
    <p:sldId id="294" r:id="rId13"/>
    <p:sldId id="306" r:id="rId14"/>
    <p:sldId id="296" r:id="rId15"/>
    <p:sldId id="297" r:id="rId16"/>
    <p:sldId id="298" r:id="rId17"/>
    <p:sldId id="299" r:id="rId18"/>
    <p:sldId id="300" r:id="rId19"/>
    <p:sldId id="301" r:id="rId20"/>
    <p:sldId id="302" r:id="rId21"/>
    <p:sldId id="303" r:id="rId22"/>
    <p:sldId id="304" r:id="rId23"/>
    <p:sldId id="305" r:id="rId24"/>
    <p:sldId id="307" r:id="rId25"/>
    <p:sldId id="308" r:id="rId26"/>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5361"/>
    <p:restoredTop sz="96158"/>
  </p:normalViewPr>
  <p:slideViewPr>
    <p:cSldViewPr snapToGrid="0">
      <p:cViewPr>
        <p:scale>
          <a:sx n="86" d="100"/>
          <a:sy n="86" d="100"/>
        </p:scale>
        <p:origin x="944" y="-976"/>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08.02.26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08.02.26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6</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2/8/26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2/8/26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2/8/26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2/8/26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2/8/26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2/8/26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2/8/26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2/8/26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7.png"/><Relationship Id="rId7" Type="http://schemas.openxmlformats.org/officeDocument/2006/relationships/image" Target="../media/image10.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8.png"/><Relationship Id="rId9" Type="http://schemas.openxmlformats.org/officeDocument/2006/relationships/image" Target="../media/image12.svg"/></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13.png"/><Relationship Id="rId7" Type="http://schemas.openxmlformats.org/officeDocument/2006/relationships/image" Target="../media/image11.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5.pn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14.png"/><Relationship Id="rId9" Type="http://schemas.openxmlformats.org/officeDocument/2006/relationships/image" Target="../media/image12.sv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3.png"/><Relationship Id="rId7" Type="http://schemas.openxmlformats.org/officeDocument/2006/relationships/image" Target="../media/image11.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2.sv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12.sv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29.png"/><Relationship Id="rId7" Type="http://schemas.openxmlformats.org/officeDocument/2006/relationships/image" Target="../media/image10.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30.png"/><Relationship Id="rId4" Type="http://schemas.openxmlformats.org/officeDocument/2006/relationships/image" Target="../media/image17.png"/><Relationship Id="rId9" Type="http://schemas.openxmlformats.org/officeDocument/2006/relationships/image" Target="../media/image12.svg"/></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4740755"/>
            <a:ext cx="9838800" cy="1433029"/>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600" b="1" spc="50" dirty="0">
                <a:ln w="0"/>
                <a:solidFill>
                  <a:schemeClr val="bg2"/>
                </a:solidFill>
                <a:effectLst>
                  <a:innerShdw blurRad="63500" dist="50800" dir="13500000">
                    <a:srgbClr val="000000">
                      <a:alpha val="50000"/>
                    </a:srgbClr>
                  </a:innerShdw>
                </a:effectLst>
                <a:latin typeface="Patrick Hand" pitchFamily="2" charset="77"/>
              </a:rPr>
              <a:t>Avoid </a:t>
            </a:r>
            <a:r>
              <a:rPr lang="en-US" sz="6600" b="1" spc="50" dirty="0" err="1">
                <a:ln w="0"/>
                <a:solidFill>
                  <a:schemeClr val="bg2"/>
                </a:solidFill>
                <a:effectLst>
                  <a:innerShdw blurRad="63500" dist="50800" dir="13500000">
                    <a:srgbClr val="000000">
                      <a:alpha val="50000"/>
                    </a:srgbClr>
                  </a:innerShdw>
                </a:effectLst>
                <a:latin typeface="Patrick Hand" pitchFamily="2" charset="77"/>
              </a:rPr>
              <a:t>KeyError</a:t>
            </a:r>
            <a:r>
              <a:rPr lang="en-US" sz="6600" b="1" spc="50" dirty="0">
                <a:ln w="0"/>
                <a:solidFill>
                  <a:schemeClr val="bg2"/>
                </a:solidFill>
                <a:effectLst>
                  <a:innerShdw blurRad="63500" dist="50800" dir="13500000">
                    <a:srgbClr val="000000">
                      <a:alpha val="50000"/>
                    </a:srgbClr>
                  </a:innerShdw>
                </a:effectLst>
                <a:latin typeface="Patrick Hand" pitchFamily="2" charset="77"/>
              </a:rPr>
              <a:t> with .get</a:t>
            </a:r>
            <a:endParaRPr lang="en-GB"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264001" y="4894976"/>
            <a:ext cx="1063167" cy="1063167"/>
          </a:xfrm>
          <a:prstGeom prst="rect">
            <a:avLst/>
          </a:prstGeom>
        </p:spPr>
      </p:pic>
      <p:sp>
        <p:nvSpPr>
          <p:cNvPr id="9" name="TextBox 8">
            <a:extLst>
              <a:ext uri="{FF2B5EF4-FFF2-40B4-BE49-F238E27FC236}">
                <a16:creationId xmlns:a16="http://schemas.microsoft.com/office/drawing/2014/main" id="{0A7AC106-07E4-D068-1578-18FAC0C9E102}"/>
              </a:ext>
            </a:extLst>
          </p:cNvPr>
          <p:cNvSpPr txBox="1"/>
          <p:nvPr/>
        </p:nvSpPr>
        <p:spPr>
          <a:xfrm>
            <a:off x="3238114" y="13874103"/>
            <a:ext cx="3809184" cy="923330"/>
          </a:xfrm>
          <a:prstGeom prst="rect">
            <a:avLst/>
          </a:prstGeom>
          <a:noFill/>
        </p:spPr>
        <p:txBody>
          <a:bodyPr wrap="none" rtlCol="0">
            <a:spAutoFit/>
          </a:bodyPr>
          <a:lstStyle/>
          <a:p>
            <a:r>
              <a:rPr lang="en-GB" sz="5400" b="1" dirty="0"/>
              <a:t>Safe Access: </a:t>
            </a:r>
            <a:endParaRPr lang="en-DE" sz="5400" b="1" dirty="0"/>
          </a:p>
        </p:txBody>
      </p:sp>
      <p:sp>
        <p:nvSpPr>
          <p:cNvPr id="13" name="TextBox 12">
            <a:extLst>
              <a:ext uri="{FF2B5EF4-FFF2-40B4-BE49-F238E27FC236}">
                <a16:creationId xmlns:a16="http://schemas.microsoft.com/office/drawing/2014/main" id="{9FD6638E-EA6F-32B1-4BFA-0CBD50D4D970}"/>
              </a:ext>
            </a:extLst>
          </p:cNvPr>
          <p:cNvSpPr txBox="1"/>
          <p:nvPr/>
        </p:nvSpPr>
        <p:spPr>
          <a:xfrm>
            <a:off x="1371052" y="15015453"/>
            <a:ext cx="7543309" cy="1938992"/>
          </a:xfrm>
          <a:prstGeom prst="rect">
            <a:avLst/>
          </a:prstGeom>
          <a:noFill/>
        </p:spPr>
        <p:txBody>
          <a:bodyPr wrap="square" rtlCol="0">
            <a:spAutoFit/>
          </a:bodyPr>
          <a:lstStyle/>
          <a:p>
            <a:pPr algn="ctr"/>
            <a:r>
              <a:rPr lang="en-GB" sz="6000" dirty="0">
                <a:latin typeface="Patrick Hand" pitchFamily="2" charset="77"/>
              </a:rPr>
              <a:t>Provide a default value if the key doesn’t exist</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102795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18372" y="11444957"/>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18372" y="9030758"/>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D3C74BE-8F9A-C3BA-F073-3F00A5C2D8DD}"/>
              </a:ext>
            </a:extLst>
          </p:cNvPr>
          <p:cNvSpPr txBox="1"/>
          <p:nvPr/>
        </p:nvSpPr>
        <p:spPr>
          <a:xfrm>
            <a:off x="223306" y="4882583"/>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2"/>
          <a:stretch>
            <a:fillRect/>
          </a:stretch>
        </p:blipFill>
        <p:spPr>
          <a:xfrm>
            <a:off x="290127" y="4945362"/>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0" y="12736086"/>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89278" y="11191463"/>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89278" y="8493978"/>
            <a:ext cx="914400" cy="914400"/>
          </a:xfrm>
          <a:prstGeom prst="rect">
            <a:avLst/>
          </a:prstGeom>
        </p:spPr>
      </p:pic>
    </p:spTree>
    <p:extLst>
      <p:ext uri="{BB962C8B-B14F-4D97-AF65-F5344CB8AC3E}">
        <p14:creationId xmlns:p14="http://schemas.microsoft.com/office/powerpoint/2010/main" val="35926376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4693304"/>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Remove Fields with Omit</a:t>
            </a:r>
            <a:endParaRPr lang="en-GB" sz="48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223306" y="10049621"/>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Create new models by excluding specific properties</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4788788"/>
            <a:ext cx="1062000" cy="10620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223306" y="4911964"/>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GB" sz="6600" b="1" dirty="0">
                <a:ln w="0"/>
                <a:solidFill>
                  <a:schemeClr val="tx1"/>
                </a:solidFill>
                <a:effectLst>
                  <a:outerShdw blurRad="38100" dist="19050" dir="2700000" algn="tl" rotWithShape="0">
                    <a:schemeClr val="dk1">
                      <a:alpha val="40000"/>
                    </a:schemeClr>
                  </a:outerShdw>
                </a:effectLst>
                <a:latin typeface="+mj-lt"/>
              </a:rPr>
              <a:t>Pick what you need</a:t>
            </a: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321693" y="5007448"/>
            <a:ext cx="1062000" cy="1062000"/>
          </a:xfrm>
          <a:prstGeom prst="rect">
            <a:avLst/>
          </a:prstGeom>
        </p:spPr>
      </p:pic>
    </p:spTree>
    <p:extLst>
      <p:ext uri="{BB962C8B-B14F-4D97-AF65-F5344CB8AC3E}">
        <p14:creationId xmlns:p14="http://schemas.microsoft.com/office/powerpoint/2010/main" val="26233533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471318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Quick Maps with Record</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3426961"/>
            <a:ext cx="9610887" cy="2767913"/>
          </a:xfrm>
          <a:prstGeom prst="rect">
            <a:avLst/>
          </a:prstGeom>
          <a:noFill/>
        </p:spPr>
        <p:txBody>
          <a:bodyPr wrap="square" rtlCol="0">
            <a:noAutofit/>
          </a:bodyPr>
          <a:lstStyle/>
          <a:p>
            <a:pPr algn="ctr"/>
            <a:r>
              <a:rPr lang="en-GB"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Define Key-Value pairs with specific types</a:t>
            </a:r>
            <a:endParaRPr lang="en-DE"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4808666"/>
            <a:ext cx="1062000" cy="1062000"/>
          </a:xfrm>
          <a:prstGeom prst="rect">
            <a:avLst/>
          </a:prstGeom>
        </p:spPr>
      </p:pic>
    </p:spTree>
    <p:extLst>
      <p:ext uri="{BB962C8B-B14F-4D97-AF65-F5344CB8AC3E}">
        <p14:creationId xmlns:p14="http://schemas.microsoft.com/office/powerpoint/2010/main" val="28755557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67443</TotalTime>
  <Words>394</Words>
  <Application>Microsoft Macintosh PowerPoint</Application>
  <PresentationFormat>Custom</PresentationFormat>
  <Paragraphs>106</Paragraphs>
  <Slides>25</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Aptos</vt:lpstr>
      <vt:lpstr>Arial</vt:lpstr>
      <vt:lpstr>Arial Narrow</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600</cp:revision>
  <cp:lastPrinted>2025-12-17T08:49:37Z</cp:lastPrinted>
  <dcterms:created xsi:type="dcterms:W3CDTF">2025-12-17T08:13:25Z</dcterms:created>
  <dcterms:modified xsi:type="dcterms:W3CDTF">2026-02-10T21:49:57Z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