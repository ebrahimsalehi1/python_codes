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22"/>
  </p:notesMasterIdLst>
  <p:handoutMasterIdLst>
    <p:handoutMasterId r:id="rId123"/>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 id="394" r:id="rId109"/>
    <p:sldId id="397" r:id="rId110"/>
    <p:sldId id="398" r:id="rId111"/>
    <p:sldId id="396" r:id="rId112"/>
    <p:sldId id="395" r:id="rId113"/>
    <p:sldId id="399" r:id="rId114"/>
    <p:sldId id="402" r:id="rId115"/>
    <p:sldId id="404" r:id="rId116"/>
    <p:sldId id="405" r:id="rId117"/>
    <p:sldId id="403" r:id="rId118"/>
    <p:sldId id="401" r:id="rId119"/>
    <p:sldId id="400" r:id="rId120"/>
    <p:sldId id="406" r:id="rId121"/>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019"/>
    <p:restoredTop sz="96069"/>
  </p:normalViewPr>
  <p:slideViewPr>
    <p:cSldViewPr snapToGrid="0">
      <p:cViewPr>
        <p:scale>
          <a:sx n="65" d="100"/>
          <a:sy n="65" d="100"/>
        </p:scale>
        <p:origin x="2928" y="1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handoutMaster" Target="handoutMasters/handoutMaster1.xml"/><Relationship Id="rId128" Type="http://schemas.microsoft.com/office/2018/10/relationships/authors" Target="author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27.04.26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27.04.26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4/27/26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4/27/26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4/27/26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4/27/26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4/27/26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10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1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11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1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7.png"/></Relationships>
</file>

<file path=ppt/slides/_rels/slide11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2123658"/>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a:p>
            <a:pPr marL="0" algn="ctr"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1A77F216-E418-00C9-1049-F50574E39566}"/>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6E074C3-0CAA-A324-B81C-37036A864D1D}"/>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E4D2B8DC-09E8-1AE2-705D-1A5A27BD3B3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06B918B-EE17-32DE-B1CB-5442C67D1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D0571F-8EE4-1EBD-730E-A111FCABBE3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974D622B-F709-2C65-8E32-13ACB2BFBEBE}"/>
              </a:ext>
            </a:extLst>
          </p:cNvPr>
          <p:cNvSpPr txBox="1"/>
          <p:nvPr/>
        </p:nvSpPr>
        <p:spPr>
          <a:xfrm>
            <a:off x="223307" y="4240331"/>
            <a:ext cx="9838800" cy="907866"/>
          </a:xfrm>
          <a:prstGeom prst="rect">
            <a:avLst/>
          </a:prstGeom>
          <a:noFill/>
        </p:spPr>
        <p:txBody>
          <a:bodyPr wrap="square" rtlCol="0">
            <a:noAutofit/>
          </a:bodyPr>
          <a:lstStyle/>
          <a:p>
            <a:pPr algn="ctr"/>
            <a:r>
              <a:rPr lang="en-DE" sz="4800" dirty="0">
                <a:ln w="0"/>
                <a:effectLst>
                  <a:outerShdw blurRad="38100" dist="19050" dir="2700000" algn="tl" rotWithShape="0">
                    <a:schemeClr val="dk1">
                      <a:alpha val="40000"/>
                    </a:schemeClr>
                  </a:outerShdw>
                </a:effectLst>
                <a:latin typeface="Patrick Hand" pitchFamily="2" charset="77"/>
              </a:rPr>
              <a:t>Suppose we have tables like those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CC7B958-223E-6D38-B69C-8FC5D3E32BC1}"/>
              </a:ext>
            </a:extLst>
          </p:cNvPr>
          <p:cNvPicPr>
            <a:picLocks noChangeAspect="1"/>
          </p:cNvPicPr>
          <p:nvPr/>
        </p:nvPicPr>
        <p:blipFill>
          <a:blip r:embed="rId4"/>
          <a:stretch>
            <a:fillRect/>
          </a:stretch>
        </p:blipFill>
        <p:spPr>
          <a:xfrm>
            <a:off x="3564900" y="5163011"/>
            <a:ext cx="3155613" cy="6650661"/>
          </a:xfrm>
          <a:prstGeom prst="rect">
            <a:avLst/>
          </a:prstGeom>
        </p:spPr>
      </p:pic>
    </p:spTree>
    <p:extLst>
      <p:ext uri="{BB962C8B-B14F-4D97-AF65-F5344CB8AC3E}">
        <p14:creationId xmlns:p14="http://schemas.microsoft.com/office/powerpoint/2010/main" val="9293311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586F522A-0602-2906-B7B3-16179D891D9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334AC12-1C42-38E2-2851-D9DF3382B2F5}"/>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3FAEBD5C-4607-278E-D4EB-34CA55E2D02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8FB5C3F3-86A4-7513-4524-38B684BC7C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E8145E-9860-3AC4-534C-82A753D268FD}"/>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FD57C18A-FEF4-34C6-6D39-7AFBCEAE9E1A}"/>
              </a:ext>
            </a:extLst>
          </p:cNvPr>
          <p:cNvPicPr preferRelativeResize="0">
            <a:picLocks/>
          </p:cNvPicPr>
          <p:nvPr/>
        </p:nvPicPr>
        <p:blipFill rotWithShape="1">
          <a:blip r:embed="rId4"/>
          <a:srcRect l="20848" t="21625" r="14176" b="17941"/>
          <a:stretch>
            <a:fillRect/>
          </a:stretch>
        </p:blipFill>
        <p:spPr>
          <a:xfrm>
            <a:off x="223307" y="4267093"/>
            <a:ext cx="9838800" cy="7200000"/>
          </a:xfrm>
          <a:prstGeom prst="rect">
            <a:avLst/>
          </a:prstGeom>
        </p:spPr>
      </p:pic>
    </p:spTree>
    <p:extLst>
      <p:ext uri="{BB962C8B-B14F-4D97-AF65-F5344CB8AC3E}">
        <p14:creationId xmlns:p14="http://schemas.microsoft.com/office/powerpoint/2010/main" val="25571255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E2D970CC-B676-9454-A473-FBB44BB534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698ADD4-88BC-A441-F2E9-698DC1B7B222}"/>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123B542-9945-14E2-DBA1-8A167F35635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4871B75-3E51-F348-F46D-509306BFD2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2A657B-387D-719D-E19B-B442E658578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F1C90A2A-5A33-A120-090F-9BAFF7EE783C}"/>
              </a:ext>
            </a:extLst>
          </p:cNvPr>
          <p:cNvPicPr preferRelativeResize="0">
            <a:picLocks/>
          </p:cNvPicPr>
          <p:nvPr/>
        </p:nvPicPr>
        <p:blipFill rotWithShape="1">
          <a:blip r:embed="rId4"/>
          <a:srcRect l="19087" t="20868" r="13274" b="13187"/>
          <a:stretch>
            <a:fillRect/>
          </a:stretch>
        </p:blipFill>
        <p:spPr>
          <a:xfrm>
            <a:off x="223306" y="4267093"/>
            <a:ext cx="9838800" cy="7200000"/>
          </a:xfrm>
          <a:prstGeom prst="rect">
            <a:avLst/>
          </a:prstGeom>
        </p:spPr>
      </p:pic>
    </p:spTree>
    <p:extLst>
      <p:ext uri="{BB962C8B-B14F-4D97-AF65-F5344CB8AC3E}">
        <p14:creationId xmlns:p14="http://schemas.microsoft.com/office/powerpoint/2010/main" val="30955877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DB73D324-B0DF-5D16-5FC6-9A3B172F926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9A19712-FF23-D81E-CEE1-3A700BEBB088}"/>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489986B-77EB-F8AD-993D-5EE8BFAC703B}"/>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66702D84-56B8-4E77-029C-4E8EB4FDF1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746F5D-CAD8-0012-2AEB-FE451F484C24}"/>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12EF576-0886-C53C-D075-F6B84AD1B68E}"/>
              </a:ext>
            </a:extLst>
          </p:cNvPr>
          <p:cNvPicPr preferRelativeResize="0">
            <a:picLocks/>
          </p:cNvPicPr>
          <p:nvPr/>
        </p:nvPicPr>
        <p:blipFill rotWithShape="1">
          <a:blip r:embed="rId4"/>
          <a:srcRect l="16924" t="20672" r="11645" b="13017"/>
          <a:stretch>
            <a:fillRect/>
          </a:stretch>
        </p:blipFill>
        <p:spPr>
          <a:xfrm>
            <a:off x="223306" y="4267093"/>
            <a:ext cx="9838800" cy="7200000"/>
          </a:xfrm>
          <a:prstGeom prst="rect">
            <a:avLst/>
          </a:prstGeom>
        </p:spPr>
      </p:pic>
      <p:cxnSp>
        <p:nvCxnSpPr>
          <p:cNvPr id="8" name="Straight Connector 7">
            <a:extLst>
              <a:ext uri="{FF2B5EF4-FFF2-40B4-BE49-F238E27FC236}">
                <a16:creationId xmlns:a16="http://schemas.microsoft.com/office/drawing/2014/main" id="{243B303D-9B0A-61B2-A9B1-A580F8EB1153}"/>
              </a:ext>
            </a:extLst>
          </p:cNvPr>
          <p:cNvCxnSpPr>
            <a:cxnSpLocks/>
          </p:cNvCxnSpPr>
          <p:nvPr/>
        </p:nvCxnSpPr>
        <p:spPr>
          <a:xfrm>
            <a:off x="241328" y="670276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201836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AF41DB3E-00E3-61C9-3D1E-3C8BC04AC56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95DB8D-ED65-3039-D5CE-2F64B9E1FA50}"/>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21D3F987-D2E0-B04C-02BF-A618AD5F2839}"/>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DB87CEE-C41B-A19F-4BCB-1A342CDFB193}"/>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0D78EC8D-3E5B-E13A-6260-F777FAAD47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C12E81E-7D8C-4A66-284D-6F5B12A4A16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03633924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5D143B38-B045-6F60-B635-5E79B2E1A248}"/>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1DBA93F0-C501-949C-5D77-1F8F64DE7FA1}"/>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97B13EF-31CE-C934-B0E0-0D286FA9B713}"/>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27845FB6-9D60-D7A5-B4EB-CE92EE9CC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4170394-402A-5F18-BF87-37446A4E9E0D}"/>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40B25F80-745F-3A58-6E4B-CFA952BA7B35}"/>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declare the column as a primary key. In this case, </a:t>
            </a:r>
          </a:p>
          <a:p>
            <a:pPr algn="ctr"/>
            <a:r>
              <a:rPr lang="en-GB" sz="6000" dirty="0">
                <a:ln w="0"/>
                <a:effectLst>
                  <a:outerShdw blurRad="38100" dist="19050" dir="2700000" algn="tl" rotWithShape="0">
                    <a:schemeClr val="dk1">
                      <a:alpha val="40000"/>
                    </a:schemeClr>
                  </a:outerShdw>
                </a:effectLst>
                <a:latin typeface="Patrick Hand" pitchFamily="2" charset="77"/>
              </a:rPr>
              <a:t>you must handle IDs yourself.</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ACDAE40F-7130-9FAC-BC07-EF8D981B6140}"/>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60021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E9EA150-3EFD-13EA-7493-77672DDF7D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3113D33-51D7-0193-90A9-0488B2371DDC}"/>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8580038-C0B5-ADA8-9356-9128DBCC4E4F}"/>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71A6C284-3AEE-6985-A9C0-04C8A369CD8B}"/>
              </a:ext>
            </a:extLst>
          </p:cNvPr>
          <p:cNvSpPr txBox="1"/>
          <p:nvPr/>
        </p:nvSpPr>
        <p:spPr>
          <a:xfrm>
            <a:off x="223306" y="7909999"/>
            <a:ext cx="8015528"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100 }</a:t>
            </a:r>
            <a:endParaRPr lang="en-DE" sz="4800" dirty="0"/>
          </a:p>
        </p:txBody>
      </p:sp>
      <p:pic>
        <p:nvPicPr>
          <p:cNvPr id="8" name="Picture 2" descr="TypeORM Logo">
            <a:extLst>
              <a:ext uri="{FF2B5EF4-FFF2-40B4-BE49-F238E27FC236}">
                <a16:creationId xmlns:a16="http://schemas.microsoft.com/office/drawing/2014/main" id="{7D554DB2-67D8-93CC-8974-0D17E6213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C904D608-AF7F-A837-E53E-2B276AA039D3}"/>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E27B72A9-A6D3-402B-3ABF-957D49F20578}"/>
              </a:ext>
            </a:extLst>
          </p:cNvPr>
          <p:cNvPicPr preferRelativeResize="0">
            <a:picLocks/>
          </p:cNvPicPr>
          <p:nvPr/>
        </p:nvPicPr>
        <p:blipFill rotWithShape="1">
          <a:blip r:embed="rId4"/>
          <a:srcRect l="20575" t="30963" r="15943" b="20711"/>
          <a:stretch>
            <a:fillRect/>
          </a:stretch>
        </p:blipFill>
        <p:spPr>
          <a:xfrm>
            <a:off x="223307" y="4338348"/>
            <a:ext cx="9838800" cy="3600000"/>
          </a:xfrm>
          <a:prstGeom prst="rect">
            <a:avLst/>
          </a:prstGeom>
        </p:spPr>
      </p:pic>
      <p:sp>
        <p:nvSpPr>
          <p:cNvPr id="14" name="TextBox 13">
            <a:extLst>
              <a:ext uri="{FF2B5EF4-FFF2-40B4-BE49-F238E27FC236}">
                <a16:creationId xmlns:a16="http://schemas.microsoft.com/office/drawing/2014/main" id="{08628A14-3577-6D24-D5F1-DA081CE9A11B}"/>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647015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136FD7F5-8C85-ABC2-0850-90FC12DE658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EBD9695-F098-531C-A737-A4883EA8A3FE}"/>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AEFFD053-4B66-D217-E3F4-1B1C618F853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87D3F73-D2A0-74B1-19FD-6034327F1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6BEAC00-8B60-AE2E-EC92-381263D32A7B}"/>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the IDs automatically.</a:t>
            </a:r>
          </a:p>
          <a:p>
            <a:pPr algn="ctr"/>
            <a:r>
              <a:rPr lang="en-GB" sz="6000" dirty="0">
                <a:ln w="0"/>
                <a:effectLst>
                  <a:outerShdw blurRad="38100" dist="19050" dir="2700000" algn="tl" rotWithShape="0">
                    <a:schemeClr val="dk1">
                      <a:alpha val="40000"/>
                    </a:schemeClr>
                  </a:outerShdw>
                </a:effectLst>
                <a:latin typeface="Patrick Hand" pitchFamily="2" charset="77"/>
              </a:rPr>
              <a:t>Generated IDs will be 1,2,3,…</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BDCE7B94-7BF7-2313-8E78-733CBD54FED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F01E49CD-FA71-B4C5-72ED-3E825F21E37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19909104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1025F92-4B24-A9AA-F61F-17661046CCD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F4D8309-3C40-D5F9-E772-BFC5E3B3CC43}"/>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80854EA5-788C-7F04-58C8-64D128396DBD}"/>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B483F32-118D-6A22-C0D5-5214F3A7357C}"/>
              </a:ext>
            </a:extLst>
          </p:cNvPr>
          <p:cNvSpPr txBox="1"/>
          <p:nvPr/>
        </p:nvSpPr>
        <p:spPr>
          <a:xfrm>
            <a:off x="223306" y="7909999"/>
            <a:ext cx="7390356"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 }</a:t>
            </a:r>
            <a:endParaRPr lang="en-DE" sz="4800" dirty="0"/>
          </a:p>
        </p:txBody>
      </p:sp>
      <p:pic>
        <p:nvPicPr>
          <p:cNvPr id="7" name="Picture 6">
            <a:extLst>
              <a:ext uri="{FF2B5EF4-FFF2-40B4-BE49-F238E27FC236}">
                <a16:creationId xmlns:a16="http://schemas.microsoft.com/office/drawing/2014/main" id="{8DD87DB2-1D9D-9F61-083A-7802C22ABD14}"/>
              </a:ext>
            </a:extLst>
          </p:cNvPr>
          <p:cNvPicPr preferRelativeResize="0">
            <a:picLocks/>
          </p:cNvPicPr>
          <p:nvPr/>
        </p:nvPicPr>
        <p:blipFill rotWithShape="1">
          <a:blip r:embed="rId3"/>
          <a:srcRect l="23314" t="30266" r="17241" b="25977"/>
          <a:stretch>
            <a:fillRect/>
          </a:stretch>
        </p:blipFill>
        <p:spPr>
          <a:xfrm>
            <a:off x="223306" y="4318001"/>
            <a:ext cx="9838800" cy="3600000"/>
          </a:xfrm>
          <a:prstGeom prst="rect">
            <a:avLst/>
          </a:prstGeom>
        </p:spPr>
      </p:pic>
      <p:pic>
        <p:nvPicPr>
          <p:cNvPr id="8" name="Picture 2" descr="TypeORM Logo">
            <a:extLst>
              <a:ext uri="{FF2B5EF4-FFF2-40B4-BE49-F238E27FC236}">
                <a16:creationId xmlns:a16="http://schemas.microsoft.com/office/drawing/2014/main" id="{66E3172C-DDCB-CED3-533A-D7CE5F9DC9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08BAED20-AD48-E6BF-77A0-5B32808BEABA}"/>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E587F6C4-E69B-A599-9956-C7078E3D727F}"/>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20736917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AF106E38-F375-1A20-BD22-679297B6481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6404838-69AB-03CC-F89E-2D5E86685FE4}"/>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9A2E1807-CF46-F913-3973-5773D655362F}"/>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CEDC324-946A-2179-08C7-B6CFB341AA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A7208C-E8B1-4A04-C20C-44CB84E6A816}"/>
              </a:ext>
            </a:extLst>
          </p:cNvPr>
          <p:cNvSpPr txBox="1"/>
          <p:nvPr/>
        </p:nvSpPr>
        <p:spPr>
          <a:xfrm>
            <a:off x="223307" y="4348767"/>
            <a:ext cx="9838800" cy="6663790"/>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UUIDs automatically.</a:t>
            </a:r>
          </a:p>
          <a:p>
            <a:pPr algn="ct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3" name="Right Arrow 2">
            <a:extLst>
              <a:ext uri="{FF2B5EF4-FFF2-40B4-BE49-F238E27FC236}">
                <a16:creationId xmlns:a16="http://schemas.microsoft.com/office/drawing/2014/main" id="{649EA0F4-C162-1CF2-01D9-93379810675E}"/>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DF5AC384-A632-6DBD-FD91-6B5AF493058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2906740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2DD0C7A-F266-CA91-BA01-AB3C2A4024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5A15CC9-9DED-ECA5-9921-AF2898BA1FEA}"/>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416976C1-6AAD-AD05-2B23-158BCF90BF6B}"/>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E3F4450-C86A-72AE-69B3-9AF9A40F300B}"/>
              </a:ext>
            </a:extLst>
          </p:cNvPr>
          <p:cNvSpPr txBox="1"/>
          <p:nvPr/>
        </p:nvSpPr>
        <p:spPr>
          <a:xfrm>
            <a:off x="223307" y="7919600"/>
            <a:ext cx="9838800" cy="4705970"/>
          </a:xfrm>
          <a:prstGeom prst="rect">
            <a:avLst/>
          </a:prstGeom>
          <a:noFill/>
        </p:spPr>
        <p:txBody>
          <a:bodyPr wrap="square" rtlCol="0">
            <a:no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 </a:t>
            </a:r>
          </a:p>
          <a:p>
            <a:r>
              <a:rPr lang="en-GB" sz="4800" dirty="0">
                <a:ln w="0"/>
                <a:effectLst>
                  <a:outerShdw blurRad="38100" dist="19050" dir="2700000" algn="tl" rotWithShape="0">
                    <a:schemeClr val="dk1">
                      <a:alpha val="40000"/>
                    </a:schemeClr>
                  </a:outerShdw>
                </a:effectLst>
              </a:rPr>
              <a:t>User {</a:t>
            </a:r>
          </a:p>
          <a:p>
            <a:r>
              <a:rPr lang="en-GB" sz="4800" dirty="0">
                <a:ln w="0"/>
                <a:effectLst>
                  <a:outerShdw blurRad="38100" dist="19050" dir="2700000" algn="tl" rotWithShape="0">
                    <a:schemeClr val="dk1">
                      <a:alpha val="40000"/>
                    </a:schemeClr>
                  </a:outerShdw>
                </a:effectLst>
              </a:rPr>
              <a:t>  username: '</a:t>
            </a:r>
            <a:r>
              <a:rPr lang="en-GB" sz="4800" dirty="0" err="1">
                <a:ln w="0"/>
                <a:effectLst>
                  <a:outerShdw blurRad="38100" dist="19050" dir="2700000" algn="tl" rotWithShape="0">
                    <a:schemeClr val="dk1">
                      <a:alpha val="40000"/>
                    </a:schemeClr>
                  </a:outerShdw>
                </a:effectLst>
              </a:rPr>
              <a:t>ebrahim</a:t>
            </a:r>
            <a:r>
              <a:rPr lang="en-GB" sz="4800" dirty="0">
                <a:ln w="0"/>
                <a:effectLst>
                  <a:outerShdw blurRad="38100" dist="19050" dir="2700000" algn="tl" rotWithShape="0">
                    <a:schemeClr val="dk1">
                      <a:alpha val="40000"/>
                    </a:schemeClr>
                  </a:outerShdw>
                </a:effectLst>
              </a:rPr>
              <a:t>',</a:t>
            </a:r>
          </a:p>
          <a:p>
            <a:r>
              <a:rPr lang="en-GB" sz="4800" dirty="0">
                <a:ln w="0"/>
                <a:effectLst>
                  <a:outerShdw blurRad="38100" dist="19050" dir="2700000" algn="tl" rotWithShape="0">
                    <a:schemeClr val="dk1">
                      <a:alpha val="40000"/>
                    </a:schemeClr>
                  </a:outerShdw>
                </a:effectLst>
              </a:rPr>
              <a:t>  id: '33e47825-8a2a-4c45-8199-984adb199f12'</a:t>
            </a:r>
          </a:p>
          <a:p>
            <a:r>
              <a:rPr lang="en-GB" sz="4800" dirty="0">
                <a:ln w="0"/>
                <a:effectLst>
                  <a:outerShdw blurRad="38100" dist="19050" dir="2700000" algn="tl" rotWithShape="0">
                    <a:schemeClr val="dk1">
                      <a:alpha val="40000"/>
                    </a:schemeClr>
                  </a:outerShdw>
                </a:effectLst>
              </a:rPr>
              <a:t>}</a:t>
            </a:r>
          </a:p>
        </p:txBody>
      </p:sp>
      <p:pic>
        <p:nvPicPr>
          <p:cNvPr id="7" name="Picture 6">
            <a:extLst>
              <a:ext uri="{FF2B5EF4-FFF2-40B4-BE49-F238E27FC236}">
                <a16:creationId xmlns:a16="http://schemas.microsoft.com/office/drawing/2014/main" id="{11D9A8D3-7F33-E585-44B1-E30A713182D8}"/>
              </a:ext>
            </a:extLst>
          </p:cNvPr>
          <p:cNvPicPr>
            <a:picLocks/>
          </p:cNvPicPr>
          <p:nvPr/>
        </p:nvPicPr>
        <p:blipFill>
          <a:blip r:embed="rId3"/>
          <a:srcRect l="19449" t="32735" r="15887" b="20962"/>
          <a:stretch>
            <a:fillRect/>
          </a:stretch>
        </p:blipFill>
        <p:spPr>
          <a:xfrm>
            <a:off x="223307" y="4309774"/>
            <a:ext cx="9838800" cy="3600000"/>
          </a:xfrm>
          <a:prstGeom prst="rect">
            <a:avLst/>
          </a:prstGeom>
        </p:spPr>
      </p:pic>
      <p:pic>
        <p:nvPicPr>
          <p:cNvPr id="8" name="Picture 2" descr="TypeORM Logo">
            <a:extLst>
              <a:ext uri="{FF2B5EF4-FFF2-40B4-BE49-F238E27FC236}">
                <a16:creationId xmlns:a16="http://schemas.microsoft.com/office/drawing/2014/main" id="{8F995695-E53B-1A5C-A014-735AB0C03A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AD3E362D-6122-0DB5-75C1-56F46D847C1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0" name="TextBox 9">
            <a:extLst>
              <a:ext uri="{FF2B5EF4-FFF2-40B4-BE49-F238E27FC236}">
                <a16:creationId xmlns:a16="http://schemas.microsoft.com/office/drawing/2014/main" id="{F9E05CDE-8574-E2AA-38E6-C12F4A11FE2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502895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C5DC4634-740A-DEF7-A312-070EC4A940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CB5153A-1CA2-5FAD-B3C5-AF8582611DE7}"/>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D5DB766-F3E5-C6C8-0861-5B7F3D9EE9B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9E340DC7-2BC8-6329-FB90-3F241C077102}"/>
              </a:ext>
            </a:extLst>
          </p:cNvPr>
          <p:cNvSpPr txBox="1"/>
          <p:nvPr/>
        </p:nvSpPr>
        <p:spPr>
          <a:xfrm>
            <a:off x="223306" y="6693021"/>
            <a:ext cx="9838800" cy="4901958"/>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if you want to keep your data secure and scalable.</a:t>
            </a:r>
          </a:p>
        </p:txBody>
      </p:sp>
      <p:pic>
        <p:nvPicPr>
          <p:cNvPr id="6" name="Picture 2" descr="TypeORM Logo">
            <a:extLst>
              <a:ext uri="{FF2B5EF4-FFF2-40B4-BE49-F238E27FC236}">
                <a16:creationId xmlns:a16="http://schemas.microsoft.com/office/drawing/2014/main" id="{3EF45B22-494A-B916-B060-10B0795C70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7" name="Right Arrow 6">
            <a:extLst>
              <a:ext uri="{FF2B5EF4-FFF2-40B4-BE49-F238E27FC236}">
                <a16:creationId xmlns:a16="http://schemas.microsoft.com/office/drawing/2014/main" id="{1708CAFC-5D12-3159-B21D-D43EE345DA84}"/>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6506279D-1E74-9E20-60C8-79F3E3A9D01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3651780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E786D623-92F5-2541-992D-19EFA1EA7AE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2260D41-138B-1F78-0C59-948840D9D646}"/>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355EB5B-8C35-F9BC-CDC1-C12CDD03FF6A}"/>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1D324EFE-3C70-4985-2265-80E8B7761939}"/>
              </a:ext>
            </a:extLst>
          </p:cNvPr>
          <p:cNvSpPr txBox="1"/>
          <p:nvPr/>
        </p:nvSpPr>
        <p:spPr>
          <a:xfrm>
            <a:off x="223307" y="717881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6" name="Picture 2" descr="TypeORM Logo">
            <a:extLst>
              <a:ext uri="{FF2B5EF4-FFF2-40B4-BE49-F238E27FC236}">
                <a16:creationId xmlns:a16="http://schemas.microsoft.com/office/drawing/2014/main" id="{D4680794-1596-CA35-55FA-64A91790A9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CFA82A-630F-9CF2-0108-611C193DD8A0}"/>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8725909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123846</TotalTime>
  <Words>2278</Words>
  <Application>Microsoft Macintosh PowerPoint</Application>
  <PresentationFormat>Custom</PresentationFormat>
  <Paragraphs>423</Paragraphs>
  <Slides>120</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120</vt:i4>
      </vt:variant>
    </vt:vector>
  </HeadingPairs>
  <TitlesOfParts>
    <vt:vector size="129"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1021</cp:revision>
  <cp:lastPrinted>2025-12-17T08:49:37Z</cp:lastPrinted>
  <dcterms:created xsi:type="dcterms:W3CDTF">2025-12-17T08:13:25Z</dcterms:created>
  <dcterms:modified xsi:type="dcterms:W3CDTF">2026-05-01T20:29:57Z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